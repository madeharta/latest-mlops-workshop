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0"/>
  </p:notesMasterIdLst>
  <p:sldIdLst>
    <p:sldId id="256" r:id="rId2"/>
    <p:sldId id="321" r:id="rId3"/>
    <p:sldId id="322" r:id="rId4"/>
    <p:sldId id="394" r:id="rId5"/>
    <p:sldId id="395" r:id="rId6"/>
    <p:sldId id="403" r:id="rId7"/>
    <p:sldId id="396" r:id="rId8"/>
    <p:sldId id="397" r:id="rId9"/>
    <p:sldId id="323" r:id="rId10"/>
    <p:sldId id="325" r:id="rId11"/>
    <p:sldId id="326" r:id="rId12"/>
    <p:sldId id="328" r:id="rId13"/>
    <p:sldId id="327" r:id="rId14"/>
    <p:sldId id="329" r:id="rId15"/>
    <p:sldId id="402" r:id="rId16"/>
    <p:sldId id="404" r:id="rId17"/>
    <p:sldId id="332" r:id="rId18"/>
    <p:sldId id="333" r:id="rId19"/>
    <p:sldId id="330" r:id="rId20"/>
    <p:sldId id="387" r:id="rId21"/>
    <p:sldId id="388" r:id="rId22"/>
    <p:sldId id="389" r:id="rId23"/>
    <p:sldId id="400" r:id="rId24"/>
    <p:sldId id="401" r:id="rId25"/>
    <p:sldId id="390" r:id="rId26"/>
    <p:sldId id="391" r:id="rId27"/>
    <p:sldId id="331" r:id="rId28"/>
    <p:sldId id="393" r:id="rId29"/>
    <p:sldId id="392" r:id="rId30"/>
    <p:sldId id="398" r:id="rId31"/>
    <p:sldId id="346" r:id="rId32"/>
    <p:sldId id="347" r:id="rId33"/>
    <p:sldId id="348" r:id="rId34"/>
    <p:sldId id="349" r:id="rId35"/>
    <p:sldId id="350" r:id="rId36"/>
    <p:sldId id="351" r:id="rId37"/>
    <p:sldId id="352" r:id="rId38"/>
    <p:sldId id="353" r:id="rId39"/>
    <p:sldId id="354" r:id="rId40"/>
    <p:sldId id="357" r:id="rId41"/>
    <p:sldId id="360" r:id="rId42"/>
    <p:sldId id="361" r:id="rId43"/>
    <p:sldId id="405" r:id="rId44"/>
    <p:sldId id="406" r:id="rId45"/>
    <p:sldId id="407" r:id="rId46"/>
    <p:sldId id="408" r:id="rId47"/>
    <p:sldId id="363" r:id="rId48"/>
    <p:sldId id="365" r:id="rId49"/>
    <p:sldId id="366" r:id="rId50"/>
    <p:sldId id="367" r:id="rId51"/>
    <p:sldId id="410" r:id="rId52"/>
    <p:sldId id="411" r:id="rId53"/>
    <p:sldId id="412" r:id="rId54"/>
    <p:sldId id="368" r:id="rId55"/>
    <p:sldId id="369" r:id="rId56"/>
    <p:sldId id="409" r:id="rId57"/>
    <p:sldId id="399" r:id="rId58"/>
    <p:sldId id="337" r:id="rId59"/>
    <p:sldId id="338" r:id="rId60"/>
    <p:sldId id="339" r:id="rId61"/>
    <p:sldId id="340" r:id="rId62"/>
    <p:sldId id="341" r:id="rId63"/>
    <p:sldId id="372" r:id="rId64"/>
    <p:sldId id="373" r:id="rId65"/>
    <p:sldId id="413" r:id="rId66"/>
    <p:sldId id="414" r:id="rId67"/>
    <p:sldId id="415" r:id="rId68"/>
    <p:sldId id="284" r:id="rId69"/>
  </p:sldIdLst>
  <p:sldSz cx="24384000" cy="13716000"/>
  <p:notesSz cx="13716000" cy="24384000"/>
  <p:embeddedFontLst>
    <p:embeddedFont>
      <p:font typeface="Consolas" panose="020B0609020204030204" pitchFamily="49" charset="0"/>
      <p:regular r:id="rId71"/>
      <p:bold r:id="rId72"/>
      <p:italic r:id="rId73"/>
      <p:boldItalic r:id="rId74"/>
    </p:embeddedFont>
    <p:embeddedFont>
      <p:font typeface="Liter" panose="02000503030000020004" pitchFamily="2" charset="0"/>
      <p:regular r:id="rId75"/>
    </p:embeddedFont>
    <p:embeddedFont>
      <p:font typeface="Quattrocento Sans" panose="020B0502050000020003" pitchFamily="34" charset="0"/>
      <p:regular r:id="rId76"/>
      <p:bold r:id="rId77"/>
      <p:italic r:id="rId78"/>
      <p:boldItalic r:id="rId7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F0EE"/>
    <a:srgbClr val="FFC0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01"/>
    <p:restoredTop sz="94610"/>
  </p:normalViewPr>
  <p:slideViewPr>
    <p:cSldViewPr snapToGrid="0" snapToObjects="1">
      <p:cViewPr varScale="1">
        <p:scale>
          <a:sx n="47" d="100"/>
          <a:sy n="47" d="100"/>
        </p:scale>
        <p:origin x="304"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4.fntdata"/><Relationship Id="rId79"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fntdata"/><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font" Target="fonts/font5.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3.fntdata"/><Relationship Id="rId78" Type="http://schemas.openxmlformats.org/officeDocument/2006/relationships/font" Target="fonts/font8.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font" Target="fonts/font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996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All four sessions use ONE pipeline. Each session adds one link to the chain; they are not separate exercises.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Bridge from Day 1 (maturity, privacy, MLSecOps) and Day 2 (data, versioning, containers). DVC was covered on Day 2, so today the data is already in the repo.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C64FA-D3CA-6ADD-0491-708E344FB4AA}"/>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AE4A054B-8E01-1D91-D110-1DF1640B54C0}"/>
              </a:ext>
            </a:extLst>
          </p:cNvPr>
          <p:cNvSpPr>
            <a:spLocks noGrp="1"/>
          </p:cNvSpPr>
          <p:nvPr>
            <p:ph type="body" idx="1"/>
          </p:nvPr>
        </p:nvSpPr>
        <p:spPr>
          <a:xfrm>
            <a:off x="685800" y="4400550"/>
            <a:ext cx="5486400" cy="3600450"/>
          </a:xfrm>
        </p:spPr>
        <p:txBody>
          <a:bodyPr/>
          <a:lstStyle/>
          <a:p>
            <a:r>
              <a:rPr lang="en-US"/>
              <a:t>The environment is assumed ready. Run make preflight on every machine before the day (and PROJECT_ID=&lt;id&gt; make preflight-cloud with a participant account). If a participant cannot run make test, hand them to an assistant (Tara/Naufal) so the session keeps moving. Windows without WSL/Git Bash has no make: run the python commands shown in the README directly.</a:t>
            </a:r>
          </a:p>
        </p:txBody>
      </p:sp>
    </p:spTree>
    <p:extLst>
      <p:ext uri="{BB962C8B-B14F-4D97-AF65-F5344CB8AC3E}">
        <p14:creationId xmlns:p14="http://schemas.microsoft.com/office/powerpoint/2010/main" val="1301739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3118B-A40D-DE9E-637F-08BFAA22640D}"/>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66916298-8940-908B-66D2-811BCF7689C4}"/>
              </a:ext>
            </a:extLst>
          </p:cNvPr>
          <p:cNvSpPr>
            <a:spLocks noGrp="1"/>
          </p:cNvSpPr>
          <p:nvPr>
            <p:ph type="body" idx="1"/>
          </p:nvPr>
        </p:nvSpPr>
        <p:spPr>
          <a:xfrm>
            <a:off x="685800" y="4400550"/>
            <a:ext cx="5486400" cy="3600450"/>
          </a:xfrm>
        </p:spPr>
        <p:txBody>
          <a:bodyPr/>
          <a:lstStyle/>
          <a:p>
            <a:r>
              <a:rPr lang="en-US"/>
              <a:t>The environment is assumed ready. Run make preflight on every machine before the day (and PROJECT_ID=&lt;id&gt; make preflight-cloud with a participant account). If a participant cannot run make test, hand them to an assistant (Tara/Naufal) so the session keeps moving. Windows without WSL/Git Bash has no make: run the python commands shown in the README directly.</a:t>
            </a:r>
          </a:p>
        </p:txBody>
      </p:sp>
    </p:spTree>
    <p:extLst>
      <p:ext uri="{BB962C8B-B14F-4D97-AF65-F5344CB8AC3E}">
        <p14:creationId xmlns:p14="http://schemas.microsoft.com/office/powerpoint/2010/main" val="837330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E03ED-A37E-6B38-C98B-BE7419B97D7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D20343AA-3A77-BA67-1AA4-47AB188767DB}"/>
              </a:ext>
            </a:extLst>
          </p:cNvPr>
          <p:cNvSpPr>
            <a:spLocks noGrp="1"/>
          </p:cNvSpPr>
          <p:nvPr>
            <p:ph type="body" idx="1"/>
          </p:nvPr>
        </p:nvSpPr>
        <p:spPr>
          <a:xfrm>
            <a:off x="685800" y="4400550"/>
            <a:ext cx="5486400" cy="3600450"/>
          </a:xfrm>
        </p:spPr>
        <p:txBody>
          <a:bodyPr/>
          <a:lstStyle/>
          <a:p>
            <a:r>
              <a:rPr lang="en-US"/>
              <a:t>The environment is assumed ready. Run make preflight on every machine before the day (and PROJECT_ID=&lt;id&gt; make preflight-cloud with a participant account). If a participant cannot run make test, hand them to an assistant (Tara/Naufal) so the session keeps moving. Windows without WSL/Git Bash has no make: run the python commands shown in the README directly.</a:t>
            </a:r>
          </a:p>
        </p:txBody>
      </p:sp>
    </p:spTree>
    <p:extLst>
      <p:ext uri="{BB962C8B-B14F-4D97-AF65-F5344CB8AC3E}">
        <p14:creationId xmlns:p14="http://schemas.microsoft.com/office/powerpoint/2010/main" val="3537844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727D7-9BAB-4783-6699-0605DA39FFFA}"/>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39E54C40-DFD1-C630-9048-1033A26E8DC8}"/>
              </a:ext>
            </a:extLst>
          </p:cNvPr>
          <p:cNvSpPr>
            <a:spLocks noGrp="1"/>
          </p:cNvSpPr>
          <p:nvPr>
            <p:ph type="body" idx="1"/>
          </p:nvPr>
        </p:nvSpPr>
        <p:spPr>
          <a:xfrm>
            <a:off x="685800" y="4400550"/>
            <a:ext cx="5486400" cy="3600450"/>
          </a:xfrm>
        </p:spPr>
        <p:txBody>
          <a:bodyPr/>
          <a:lstStyle/>
          <a:p>
            <a:r>
              <a:rPr lang="en-US"/>
              <a:t>The environment is assumed ready. Run make preflight on every machine before the day (and PROJECT_ID=&lt;id&gt; make preflight-cloud with a participant account). If a participant cannot run make test, hand them to an assistant (Tara/Naufal) so the session keeps moving. Windows without WSL/Git Bash has no make: run the python commands shown in the README directly.</a:t>
            </a:r>
          </a:p>
        </p:txBody>
      </p:sp>
    </p:spTree>
    <p:extLst>
      <p:ext uri="{BB962C8B-B14F-4D97-AF65-F5344CB8AC3E}">
        <p14:creationId xmlns:p14="http://schemas.microsoft.com/office/powerpoint/2010/main" val="7582316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BE993-5091-8CCB-63F8-69BBB3359D55}"/>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A12F14FB-D6A6-6C51-CE11-22D7EC396C12}"/>
              </a:ext>
            </a:extLst>
          </p:cNvPr>
          <p:cNvSpPr>
            <a:spLocks noGrp="1"/>
          </p:cNvSpPr>
          <p:nvPr>
            <p:ph type="body" idx="1"/>
          </p:nvPr>
        </p:nvSpPr>
        <p:spPr>
          <a:xfrm>
            <a:off x="685800" y="4400550"/>
            <a:ext cx="5486400" cy="3600450"/>
          </a:xfrm>
        </p:spPr>
        <p:txBody>
          <a:bodyPr/>
          <a:lstStyle/>
          <a:p>
            <a:r>
              <a:rPr lang="en-US"/>
              <a:t>The environment is assumed ready. Run make preflight on every machine before the day (and PROJECT_ID=&lt;id&gt; make preflight-cloud with a participant account). If a participant cannot run make test, hand them to an assistant (Tara/Naufal) so the session keeps moving. Windows without WSL/Git Bash has no make: run the python commands shown in the README directly.</a:t>
            </a:r>
          </a:p>
        </p:txBody>
      </p:sp>
    </p:spTree>
    <p:extLst>
      <p:ext uri="{BB962C8B-B14F-4D97-AF65-F5344CB8AC3E}">
        <p14:creationId xmlns:p14="http://schemas.microsoft.com/office/powerpoint/2010/main" val="3741003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The environment is assumed ready. Run make preflight on every machine before the day (and PROJECT_ID=&lt;id&gt; make preflight-cloud with a participant account). If a participant cannot run make test, hand them to an assistant (Tara/Naufal) so the session keeps moving. Windows without WSL/Git Bash has no make: run the python commands shown in the README directly.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Key point: software has one source of change (code); ML has two (code and data). That is why ML needs CT: retraining when the data changes, not only when the code changes.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A real gotcha found while testing on MLflow 3.16. Do not switch to file:// even if an older tutorial uses it.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59A20-1908-F653-86C8-D58EC3557CB5}"/>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D82D65E6-E37E-3DDF-2E2C-3B9F4137F597}"/>
              </a:ext>
            </a:extLst>
          </p:cNvPr>
          <p:cNvSpPr>
            <a:spLocks noGrp="1"/>
          </p:cNvSpPr>
          <p:nvPr>
            <p:ph type="body" idx="1"/>
          </p:nvPr>
        </p:nvSpPr>
        <p:spPr>
          <a:xfrm>
            <a:off x="685800" y="4400550"/>
            <a:ext cx="5486400" cy="3600450"/>
          </a:xfrm>
        </p:spPr>
        <p:txBody>
          <a:bodyPr/>
          <a:lstStyle/>
          <a:p>
            <a:r>
              <a:rPr lang="en-US"/>
              <a:t>A real gotcha found while testing on MLflow 3.16. Do not switch to file:// even if an older tutorial uses it.</a:t>
            </a:r>
          </a:p>
        </p:txBody>
      </p:sp>
    </p:spTree>
    <p:extLst>
      <p:ext uri="{BB962C8B-B14F-4D97-AF65-F5344CB8AC3E}">
        <p14:creationId xmlns:p14="http://schemas.microsoft.com/office/powerpoint/2010/main" val="4239747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953B4-8DD8-52F7-5C84-F7A950ECF914}"/>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69F4980D-3BFC-560C-F9FC-1F042A7D6754}"/>
              </a:ext>
            </a:extLst>
          </p:cNvPr>
          <p:cNvSpPr>
            <a:spLocks noGrp="1"/>
          </p:cNvSpPr>
          <p:nvPr>
            <p:ph type="body" idx="1"/>
          </p:nvPr>
        </p:nvSpPr>
        <p:spPr>
          <a:xfrm>
            <a:off x="685800" y="4400550"/>
            <a:ext cx="5486400" cy="3600450"/>
          </a:xfrm>
        </p:spPr>
        <p:txBody>
          <a:bodyPr/>
          <a:lstStyle/>
          <a:p>
            <a:r>
              <a:rPr lang="en-US"/>
              <a:t>A real gotcha found while testing on MLflow 3.16. Do not switch to file:// even if an older tutorial uses it.</a:t>
            </a:r>
          </a:p>
        </p:txBody>
      </p:sp>
    </p:spTree>
    <p:extLst>
      <p:ext uri="{BB962C8B-B14F-4D97-AF65-F5344CB8AC3E}">
        <p14:creationId xmlns:p14="http://schemas.microsoft.com/office/powerpoint/2010/main" val="21492977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~10 minutes. The figures below are real output from the repo. Re-running creates versions 2, 3, … — that is expected.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In MLflow 3.16, switch the toggle to 'Model training' (top left). Add metric columns with the Columns button. The MLflow Assistant panel on the right can be closed.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Use model_info.model_uri (MLflow 3). The older runs:/&lt;id&gt;/model pattern still works but prints a warning.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C17EA-EF20-D474-7D58-4150C3DE6959}"/>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7F3B79ED-2164-6BA8-9C1F-C42EF55D7DF6}"/>
              </a:ext>
            </a:extLst>
          </p:cNvPr>
          <p:cNvSpPr>
            <a:spLocks noGrp="1"/>
          </p:cNvSpPr>
          <p:nvPr>
            <p:ph type="body" idx="1"/>
          </p:nvPr>
        </p:nvSpPr>
        <p:spPr>
          <a:xfrm>
            <a:off x="685800" y="4400550"/>
            <a:ext cx="5486400" cy="3600450"/>
          </a:xfrm>
        </p:spPr>
        <p:txBody>
          <a:bodyPr/>
          <a:lstStyle/>
          <a:p>
            <a:r>
              <a:rPr lang="en-US"/>
              <a:t>Use model_info.model_uri (MLflow 3). The older runs:/&lt;id&gt;/model pattern still works but prints a warning.</a:t>
            </a:r>
          </a:p>
        </p:txBody>
      </p:sp>
    </p:spTree>
    <p:extLst>
      <p:ext uri="{BB962C8B-B14F-4D97-AF65-F5344CB8AC3E}">
        <p14:creationId xmlns:p14="http://schemas.microsoft.com/office/powerpoint/2010/main" val="3457639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AA624-D1BA-082C-9ACB-C2C90780E39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A149E381-7AC2-132C-1B0E-6E4EA286F0DA}"/>
              </a:ext>
            </a:extLst>
          </p:cNvPr>
          <p:cNvSpPr>
            <a:spLocks noGrp="1"/>
          </p:cNvSpPr>
          <p:nvPr>
            <p:ph type="body" idx="1"/>
          </p:nvPr>
        </p:nvSpPr>
        <p:spPr>
          <a:xfrm>
            <a:off x="685800" y="4400550"/>
            <a:ext cx="5486400" cy="3600450"/>
          </a:xfrm>
        </p:spPr>
        <p:txBody>
          <a:bodyPr/>
          <a:lstStyle/>
          <a:p>
            <a:r>
              <a:rPr lang="en-US"/>
              <a:t>Use model_info.model_uri (MLflow 3). The older runs:/&lt;id&gt;/model pattern still works but prints a warning.</a:t>
            </a:r>
          </a:p>
        </p:txBody>
      </p:sp>
    </p:spTree>
    <p:extLst>
      <p:ext uri="{BB962C8B-B14F-4D97-AF65-F5344CB8AC3E}">
        <p14:creationId xmlns:p14="http://schemas.microsoft.com/office/powerpoint/2010/main" val="38401257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Pydantic v2: use examples=[...] and model_dump(). The old style (example=, .dict()) still runs but emits warnings.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model_version is no longer hard-coded: it comes from the version actually loaded. This matters in the incident drill in Session 4.</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Time: ~10 minutes. make serve uses --reload and writes prediction logs to logs/predictions.jsonl (used in Session 3). Debugging demo: press F5 in VS Code, set a breakpoint on 'proba = model.predict_proba(df)[0][1]' in api/app.py, send the curl request and inspect df. If participants share one network, give each a unique port (e.g. --port 8000 + last digits of their ID) to avoid clashes.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Demo: open /predict → Try it out (the body is pre-filled from the examples) → Execute. Swagger shows the curl command, request URL and response; model_version shows which version is serving. Network note: Swagger UI loads its CSS/JS from the jsdelivr CDN. If the office network blocks it, /docs will be blank, so keep curl as a fallback.</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Container basics were covered on Day 2. The point here: the image must not depend on the developer's mlflow.db.</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Time: ~10 minutes. Extra demo: docker exec -it api /bin/bash, then ls models/ to show model.pkl inside the image. The image uses api/requirements.txt, which does NOT include mlflow. The image runtime was tested; docker build itself could not be run in the authoring sandbox, so test it on the classroom machines.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Monitoring tells you WHEN to replace a model; the release strategy decides HOW to replace it safely.</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On Cloud Run, JSON lines on stdout are picked up by Cloud Logging automatically. For sensitive DJP data, never log identifiers (NPWP, names); mask or hash them first.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Time: ~15 minutes. For logs/predictions.jsonl to contain data, send some requests from production.csv while make serve is running (or run make drill-check).</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The table is sorted by Data Drift so the drifted columns appear first.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287B8-6A22-E4BF-23D5-0B3D8CECCCD7}"/>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728E13CE-D508-99A3-F826-3CF078C086BB}"/>
              </a:ext>
            </a:extLst>
          </p:cNvPr>
          <p:cNvSpPr>
            <a:spLocks noGrp="1"/>
          </p:cNvSpPr>
          <p:nvPr>
            <p:ph type="body" idx="1"/>
          </p:nvPr>
        </p:nvSpPr>
        <p:spPr>
          <a:xfrm>
            <a:off x="685800" y="4400550"/>
            <a:ext cx="5486400" cy="3600450"/>
          </a:xfrm>
        </p:spPr>
        <p:txBody>
          <a:bodyPr/>
          <a:lstStyle/>
          <a:p>
            <a:r>
              <a:rPr lang="en-US"/>
              <a:t>The table is sorted by Data Drift so the drifted columns appear first.</a:t>
            </a:r>
          </a:p>
        </p:txBody>
      </p:sp>
    </p:spTree>
    <p:extLst>
      <p:ext uri="{BB962C8B-B14F-4D97-AF65-F5344CB8AC3E}">
        <p14:creationId xmlns:p14="http://schemas.microsoft.com/office/powerpoint/2010/main" val="1871358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7CD5B-DE85-7FB8-A74B-98A7E1163759}"/>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1527C848-CA59-966A-3680-092F4D0171E5}"/>
              </a:ext>
            </a:extLst>
          </p:cNvPr>
          <p:cNvSpPr>
            <a:spLocks noGrp="1"/>
          </p:cNvSpPr>
          <p:nvPr>
            <p:ph type="body" idx="1"/>
          </p:nvPr>
        </p:nvSpPr>
        <p:spPr>
          <a:xfrm>
            <a:off x="685800" y="4400550"/>
            <a:ext cx="5486400" cy="3600450"/>
          </a:xfrm>
        </p:spPr>
        <p:txBody>
          <a:bodyPr/>
          <a:lstStyle/>
          <a:p>
            <a:r>
              <a:rPr lang="en-US"/>
              <a:t>The table is sorted by Data Drift so the drifted columns appear first.</a:t>
            </a:r>
          </a:p>
        </p:txBody>
      </p:sp>
    </p:spTree>
    <p:extLst>
      <p:ext uri="{BB962C8B-B14F-4D97-AF65-F5344CB8AC3E}">
        <p14:creationId xmlns:p14="http://schemas.microsoft.com/office/powerpoint/2010/main" val="31259660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1F927-6BF7-3B5E-76DC-B7FCC08C3B86}"/>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AD01C2CA-1E33-F0C2-ADDA-83808CAA734D}"/>
              </a:ext>
            </a:extLst>
          </p:cNvPr>
          <p:cNvSpPr>
            <a:spLocks noGrp="1"/>
          </p:cNvSpPr>
          <p:nvPr>
            <p:ph type="body" idx="1"/>
          </p:nvPr>
        </p:nvSpPr>
        <p:spPr>
          <a:xfrm>
            <a:off x="685800" y="4400550"/>
            <a:ext cx="5486400" cy="3600450"/>
          </a:xfrm>
        </p:spPr>
        <p:txBody>
          <a:bodyPr/>
          <a:lstStyle/>
          <a:p>
            <a:r>
              <a:rPr lang="en-US"/>
              <a:t>The table is sorted by Data Drift so the drifted columns appear first.</a:t>
            </a:r>
          </a:p>
        </p:txBody>
      </p:sp>
    </p:spTree>
    <p:extLst>
      <p:ext uri="{BB962C8B-B14F-4D97-AF65-F5344CB8AC3E}">
        <p14:creationId xmlns:p14="http://schemas.microsoft.com/office/powerpoint/2010/main" val="22957854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This closes the MLOps loop: monitoring (Session 3) triggers retraining (Session 1), which is released again (Session 2).</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267C8-7E1C-AF1A-E337-57FC9FAC4213}"/>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6CDB788E-1906-EB31-9D93-95E378B02703}"/>
              </a:ext>
            </a:extLst>
          </p:cNvPr>
          <p:cNvSpPr>
            <a:spLocks noGrp="1"/>
          </p:cNvSpPr>
          <p:nvPr>
            <p:ph type="body" idx="1"/>
          </p:nvPr>
        </p:nvSpPr>
        <p:spPr>
          <a:xfrm>
            <a:off x="685800" y="4400550"/>
            <a:ext cx="5486400" cy="3600450"/>
          </a:xfrm>
        </p:spPr>
        <p:txBody>
          <a:bodyPr/>
          <a:lstStyle/>
          <a:p>
            <a:r>
              <a:rPr lang="en-US"/>
              <a:t>Time: ~15 minutes. For logs/predictions.jsonl to contain data, send some requests from production.csv while make serve is running (or run make drill-check).</a:t>
            </a:r>
          </a:p>
        </p:txBody>
      </p:sp>
    </p:spTree>
    <p:extLst>
      <p:ext uri="{BB962C8B-B14F-4D97-AF65-F5344CB8AC3E}">
        <p14:creationId xmlns:p14="http://schemas.microsoft.com/office/powerpoint/2010/main" val="41817188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The CT triggers connect to monitoring in Session 3.</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Every arrow between these steps lives in someone's head. If monitor.py reports drift in 3/8 columns, nothing happens automatically -- exactly Level 0 of the maturity model from Day 1.</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For basic orchestration all four are interchangeable. The difference is the infrastructure needed to run them. If DJP already operates Airflow for data pipelines, reusing it is usually the right call.</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rPr lang="en-US"/>
              <a:t>No ML logic is rewritten: every task calls a script that already exists. Note the gate: the original course code released a retrained model without one. Design note: here training moves @champion and the flow restores it if the gate fails; in production, register the candidate as @challenger and promote it only after the gate.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BAC649F-251B-CB82-C32F-9F92C27F5F8D}"/>
              </a:ext>
            </a:extLst>
          </p:cNvPr>
          <p:cNvGrpSpPr/>
          <p:nvPr userDrawn="1"/>
        </p:nvGrpSpPr>
        <p:grpSpPr>
          <a:xfrm>
            <a:off x="-1" y="13553886"/>
            <a:ext cx="24384001" cy="207221"/>
            <a:chOff x="-1" y="13553886"/>
            <a:chExt cx="24384001" cy="207221"/>
          </a:xfrm>
        </p:grpSpPr>
        <p:grpSp>
          <p:nvGrpSpPr>
            <p:cNvPr id="3" name="Google Shape;84;p13">
              <a:extLst>
                <a:ext uri="{FF2B5EF4-FFF2-40B4-BE49-F238E27FC236}">
                  <a16:creationId xmlns:a16="http://schemas.microsoft.com/office/drawing/2014/main" id="{26B07CEB-60BC-47D2-AFD5-21EDC93BC872}"/>
                </a:ext>
              </a:extLst>
            </p:cNvPr>
            <p:cNvGrpSpPr/>
            <p:nvPr/>
          </p:nvGrpSpPr>
          <p:grpSpPr>
            <a:xfrm>
              <a:off x="-1" y="13553886"/>
              <a:ext cx="24384001" cy="207221"/>
              <a:chOff x="0" y="-19050"/>
              <a:chExt cx="2709333" cy="336844"/>
            </a:xfrm>
          </p:grpSpPr>
          <p:sp>
            <p:nvSpPr>
              <p:cNvPr id="5" name="Google Shape;85;p13">
                <a:extLst>
                  <a:ext uri="{FF2B5EF4-FFF2-40B4-BE49-F238E27FC236}">
                    <a16:creationId xmlns:a16="http://schemas.microsoft.com/office/drawing/2014/main" id="{0A4A7D0C-984B-F94D-1447-14BD90225C03}"/>
                  </a:ext>
                </a:extLst>
              </p:cNvPr>
              <p:cNvSpPr/>
              <p:nvPr/>
            </p:nvSpPr>
            <p:spPr>
              <a:xfrm>
                <a:off x="0" y="0"/>
                <a:ext cx="2709333" cy="317794"/>
              </a:xfrm>
              <a:custGeom>
                <a:avLst/>
                <a:gdLst/>
                <a:ahLst/>
                <a:cxnLst/>
                <a:rect l="l" t="t" r="r" b="b"/>
                <a:pathLst>
                  <a:path w="2709333" h="317794" extrusionOk="0">
                    <a:moveTo>
                      <a:pt x="0" y="0"/>
                    </a:moveTo>
                    <a:lnTo>
                      <a:pt x="2709333" y="0"/>
                    </a:lnTo>
                    <a:lnTo>
                      <a:pt x="2709333" y="317794"/>
                    </a:lnTo>
                    <a:lnTo>
                      <a:pt x="0" y="317794"/>
                    </a:lnTo>
                    <a:close/>
                  </a:path>
                </a:pathLst>
              </a:custGeom>
              <a:solidFill>
                <a:srgbClr val="FFC054"/>
              </a:solidFill>
              <a:ln>
                <a:noFill/>
              </a:ln>
            </p:spPr>
            <p:txBody>
              <a:bodyPr/>
              <a:lstStyle/>
              <a:p>
                <a:endParaRPr lang="en-US"/>
              </a:p>
            </p:txBody>
          </p:sp>
          <p:sp>
            <p:nvSpPr>
              <p:cNvPr id="6" name="Google Shape;86;p13">
                <a:extLst>
                  <a:ext uri="{FF2B5EF4-FFF2-40B4-BE49-F238E27FC236}">
                    <a16:creationId xmlns:a16="http://schemas.microsoft.com/office/drawing/2014/main" id="{5592270F-4A62-E0B7-9656-5186013083E2}"/>
                  </a:ext>
                </a:extLst>
              </p:cNvPr>
              <p:cNvSpPr txBox="1"/>
              <p:nvPr/>
            </p:nvSpPr>
            <p:spPr>
              <a:xfrm>
                <a:off x="0" y="-19050"/>
                <a:ext cx="2709333" cy="336844"/>
              </a:xfrm>
              <a:prstGeom prst="rect">
                <a:avLst/>
              </a:prstGeom>
              <a:noFill/>
              <a:ln>
                <a:noFill/>
              </a:ln>
            </p:spPr>
            <p:txBody>
              <a:bodyPr spcFirstLastPara="1" wrap="square" lIns="50800" tIns="50800" rIns="50800" bIns="50800" anchor="ctr" anchorCtr="0">
                <a:noAutofit/>
              </a:bodyPr>
              <a:lstStyle/>
              <a:p>
                <a:pPr marL="0" marR="0" lvl="0" indent="0" algn="ctr" rtl="0">
                  <a:lnSpc>
                    <a:spcPct val="151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4" name="Google Shape;92;p13">
              <a:extLst>
                <a:ext uri="{FF2B5EF4-FFF2-40B4-BE49-F238E27FC236}">
                  <a16:creationId xmlns:a16="http://schemas.microsoft.com/office/drawing/2014/main" id="{B1E45AF4-C425-DE2A-E3B3-E6D24A28A05E}"/>
                </a:ext>
              </a:extLst>
            </p:cNvPr>
            <p:cNvPicPr preferRelativeResize="0"/>
            <p:nvPr/>
          </p:nvPicPr>
          <p:blipFill rotWithShape="1">
            <a:blip r:embed="rId2">
              <a:alphaModFix/>
            </a:blip>
            <a:srcRect l="1793" t="50150" b="37018"/>
            <a:stretch>
              <a:fillRect/>
            </a:stretch>
          </p:blipFill>
          <p:spPr>
            <a:xfrm>
              <a:off x="11163300" y="13565605"/>
              <a:ext cx="13220700" cy="195502"/>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24E6350-3D3D-1E37-72AD-314716CD60A1}"/>
              </a:ext>
            </a:extLst>
          </p:cNvPr>
          <p:cNvGrpSpPr/>
          <p:nvPr userDrawn="1"/>
        </p:nvGrpSpPr>
        <p:grpSpPr>
          <a:xfrm>
            <a:off x="14917928" y="-140886"/>
            <a:ext cx="9076518" cy="1589462"/>
            <a:chOff x="12012098" y="-45108"/>
            <a:chExt cx="11833059" cy="2072182"/>
          </a:xfrm>
        </p:grpSpPr>
        <p:pic>
          <p:nvPicPr>
            <p:cNvPr id="3" name="Google Shape;91;p13">
              <a:extLst>
                <a:ext uri="{FF2B5EF4-FFF2-40B4-BE49-F238E27FC236}">
                  <a16:creationId xmlns:a16="http://schemas.microsoft.com/office/drawing/2014/main" id="{A1DA2E9A-E328-2C20-18DD-0DBED61D6E22}"/>
                </a:ext>
              </a:extLst>
            </p:cNvPr>
            <p:cNvPicPr preferRelativeResize="0"/>
            <p:nvPr userDrawn="1"/>
          </p:nvPicPr>
          <p:blipFill>
            <a:blip r:embed="rId3">
              <a:alphaModFix/>
            </a:blip>
            <a:stretch>
              <a:fillRect/>
            </a:stretch>
          </p:blipFill>
          <p:spPr>
            <a:xfrm>
              <a:off x="21813431" y="437612"/>
              <a:ext cx="2031726" cy="1015864"/>
            </a:xfrm>
            <a:prstGeom prst="rect">
              <a:avLst/>
            </a:prstGeom>
            <a:noFill/>
            <a:ln>
              <a:noFill/>
            </a:ln>
          </p:spPr>
        </p:pic>
        <p:pic>
          <p:nvPicPr>
            <p:cNvPr id="5" name="Graphic 4">
              <a:extLst>
                <a:ext uri="{FF2B5EF4-FFF2-40B4-BE49-F238E27FC236}">
                  <a16:creationId xmlns:a16="http://schemas.microsoft.com/office/drawing/2014/main" id="{95C5D423-B692-4648-BFC4-DCACDE1D097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012098" y="-45108"/>
              <a:ext cx="5529981" cy="2072182"/>
            </a:xfrm>
            <a:prstGeom prst="rect">
              <a:avLst/>
            </a:prstGeom>
          </p:spPr>
        </p:pic>
        <p:pic>
          <p:nvPicPr>
            <p:cNvPr id="7" name="Picture 6">
              <a:extLst>
                <a:ext uri="{FF2B5EF4-FFF2-40B4-BE49-F238E27FC236}">
                  <a16:creationId xmlns:a16="http://schemas.microsoft.com/office/drawing/2014/main" id="{FA079418-9FDA-D17C-1D50-4DEB6C92558C}"/>
                </a:ext>
              </a:extLst>
            </p:cNvPr>
            <p:cNvPicPr>
              <a:picLocks noChangeAspect="1"/>
            </p:cNvPicPr>
            <p:nvPr userDrawn="1"/>
          </p:nvPicPr>
          <p:blipFill>
            <a:blip r:embed="rId6"/>
            <a:stretch>
              <a:fillRect/>
            </a:stretch>
          </p:blipFill>
          <p:spPr>
            <a:xfrm>
              <a:off x="17272000" y="475287"/>
              <a:ext cx="4086225" cy="1114425"/>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png"/><Relationship Id="rId7"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github.com/madeharta/latest-mlops-workshop"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domain:por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mlflow.org/docs/latest/ml/tracking/autolog/" TargetMode="External"/><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mlflow.org/docs/latest/ml/tracking/tracking-api/"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F34F4B97-0EEF-A69C-628D-34AC64BE3786}"/>
              </a:ext>
            </a:extLst>
          </p:cNvPr>
          <p:cNvPicPr>
            <a:picLocks noChangeAspect="1"/>
          </p:cNvPicPr>
          <p:nvPr/>
        </p:nvPicPr>
        <p:blipFill>
          <a:blip r:embed="rId3"/>
          <a:stretch>
            <a:fillRect/>
          </a:stretch>
        </p:blipFill>
        <p:spPr>
          <a:xfrm>
            <a:off x="-374909" y="-45109"/>
            <a:ext cx="13610713" cy="13610713"/>
          </a:xfrm>
          <a:prstGeom prst="rect">
            <a:avLst/>
          </a:prstGeom>
        </p:spPr>
      </p:pic>
      <p:sp>
        <p:nvSpPr>
          <p:cNvPr id="3" name="Shape 0"/>
          <p:cNvSpPr/>
          <p:nvPr/>
        </p:nvSpPr>
        <p:spPr>
          <a:xfrm>
            <a:off x="9475983" y="0"/>
            <a:ext cx="2540000" cy="13716000"/>
          </a:xfrm>
          <a:prstGeom prst="rect">
            <a:avLst/>
          </a:prstGeom>
          <a:gradFill flip="none" rotWithShape="1">
            <a:gsLst>
              <a:gs pos="0">
                <a:srgbClr val="F7F5F0">
                  <a:alpha val="0"/>
                </a:srgbClr>
              </a:gs>
              <a:gs pos="100000">
                <a:srgbClr val="F7F5F0"/>
              </a:gs>
            </a:gsLst>
            <a:lin ang="0" scaled="1"/>
          </a:gradFill>
          <a:ln/>
        </p:spPr>
        <p:txBody>
          <a:bodyPr/>
          <a:lstStyle/>
          <a:p>
            <a:endParaRPr lang="en-ID"/>
          </a:p>
        </p:txBody>
      </p:sp>
      <p:sp>
        <p:nvSpPr>
          <p:cNvPr id="4" name="Shape 1"/>
          <p:cNvSpPr/>
          <p:nvPr/>
        </p:nvSpPr>
        <p:spPr>
          <a:xfrm>
            <a:off x="11885356" y="0"/>
            <a:ext cx="14224000" cy="13716000"/>
          </a:xfrm>
          <a:prstGeom prst="rect">
            <a:avLst/>
          </a:prstGeom>
          <a:gradFill flip="none" rotWithShape="1">
            <a:gsLst>
              <a:gs pos="0">
                <a:srgbClr val="EFF0EE"/>
              </a:gs>
              <a:gs pos="50000">
                <a:schemeClr val="bg1"/>
              </a:gs>
              <a:gs pos="100000">
                <a:schemeClr val="bg1"/>
              </a:gs>
            </a:gsLst>
            <a:lin ang="0" scaled="1"/>
            <a:tileRect/>
          </a:gradFill>
          <a:ln/>
        </p:spPr>
        <p:txBody>
          <a:bodyPr/>
          <a:lstStyle/>
          <a:p>
            <a:endParaRPr lang="en-ID"/>
          </a:p>
        </p:txBody>
      </p:sp>
      <p:sp>
        <p:nvSpPr>
          <p:cNvPr id="6" name="Text 2"/>
          <p:cNvSpPr/>
          <p:nvPr/>
        </p:nvSpPr>
        <p:spPr>
          <a:xfrm>
            <a:off x="12415157" y="3100049"/>
            <a:ext cx="11430000" cy="508000"/>
          </a:xfrm>
          <a:prstGeom prst="rect">
            <a:avLst/>
          </a:prstGeom>
          <a:noFill/>
          <a:ln/>
        </p:spPr>
        <p:txBody>
          <a:bodyPr wrap="none" lIns="0" tIns="0" rIns="0" bIns="0" rtlCol="0" anchor="ctr"/>
          <a:lstStyle/>
          <a:p>
            <a:pPr algn="l">
              <a:lnSpc>
                <a:spcPct val="120000"/>
              </a:lnSpc>
            </a:pPr>
            <a:r>
              <a:rPr lang="en-US" sz="2000" b="1" kern="0" spc="400" dirty="0">
                <a:solidFill>
                  <a:srgbClr val="D4A03A"/>
                </a:solidFill>
                <a:latin typeface="Liter" pitchFamily="34" charset="0"/>
                <a:ea typeface="Liter" pitchFamily="34" charset="-122"/>
                <a:cs typeface="Liter" pitchFamily="34" charset="-120"/>
              </a:rPr>
              <a:t>PUSILKOM UI TRAINING</a:t>
            </a:r>
            <a:endParaRPr lang="en-US" sz="2000" dirty="0"/>
          </a:p>
        </p:txBody>
      </p:sp>
      <p:sp>
        <p:nvSpPr>
          <p:cNvPr id="7" name="Text 3"/>
          <p:cNvSpPr/>
          <p:nvPr/>
        </p:nvSpPr>
        <p:spPr>
          <a:xfrm>
            <a:off x="12415157" y="3696292"/>
            <a:ext cx="11430000" cy="1348886"/>
          </a:xfrm>
          <a:prstGeom prst="rect">
            <a:avLst/>
          </a:prstGeom>
          <a:noFill/>
          <a:ln/>
        </p:spPr>
        <p:txBody>
          <a:bodyPr wrap="square" lIns="0" tIns="0" rIns="0" bIns="0" rtlCol="0" anchor="t"/>
          <a:lstStyle/>
          <a:p>
            <a:pPr>
              <a:lnSpc>
                <a:spcPct val="115000"/>
              </a:lnSpc>
            </a:pPr>
            <a:r>
              <a:rPr lang="en-US" sz="3400" b="1" dirty="0">
                <a:solidFill>
                  <a:srgbClr val="1B2A4A"/>
                </a:solidFill>
                <a:latin typeface="Liter" pitchFamily="34" charset="0"/>
                <a:ea typeface="Liter" pitchFamily="34" charset="-122"/>
                <a:cs typeface="Liter" pitchFamily="34" charset="-120"/>
              </a:rPr>
              <a:t>Directorate General of Taxes (DJP)</a:t>
            </a:r>
            <a:br>
              <a:rPr lang="en-US" sz="3600" b="1" dirty="0">
                <a:solidFill>
                  <a:srgbClr val="1B2A4A"/>
                </a:solidFill>
                <a:latin typeface="Liter" pitchFamily="34" charset="0"/>
                <a:ea typeface="Liter" pitchFamily="34" charset="-122"/>
                <a:cs typeface="Liter" pitchFamily="34" charset="-120"/>
              </a:rPr>
            </a:br>
            <a:r>
              <a:rPr lang="en-US" sz="3400" b="1" dirty="0" err="1">
                <a:solidFill>
                  <a:srgbClr val="1B2A4A"/>
                </a:solidFill>
                <a:latin typeface="Liter" pitchFamily="34" charset="0"/>
                <a:ea typeface="Liter" pitchFamily="34" charset="-122"/>
                <a:cs typeface="Liter" pitchFamily="34" charset="-120"/>
              </a:rPr>
              <a:t>MLOps Planning and Design</a:t>
            </a:r>
            <a:endParaRPr lang="en-US" sz="3600" dirty="0"/>
          </a:p>
        </p:txBody>
      </p:sp>
      <p:sp>
        <p:nvSpPr>
          <p:cNvPr id="8" name="Shape 4"/>
          <p:cNvSpPr/>
          <p:nvPr/>
        </p:nvSpPr>
        <p:spPr>
          <a:xfrm>
            <a:off x="12415157" y="10363213"/>
            <a:ext cx="1524000" cy="50800"/>
          </a:xfrm>
          <a:prstGeom prst="rect">
            <a:avLst/>
          </a:prstGeom>
          <a:solidFill>
            <a:srgbClr val="D4A03A"/>
          </a:solidFill>
          <a:ln/>
        </p:spPr>
        <p:txBody>
          <a:bodyPr/>
          <a:lstStyle/>
          <a:p>
            <a:endParaRPr lang="en-ID"/>
          </a:p>
        </p:txBody>
      </p:sp>
      <p:sp>
        <p:nvSpPr>
          <p:cNvPr id="9" name="Text 5"/>
          <p:cNvSpPr/>
          <p:nvPr/>
        </p:nvSpPr>
        <p:spPr>
          <a:xfrm>
            <a:off x="12415157" y="10744213"/>
            <a:ext cx="11430000" cy="457200"/>
          </a:xfrm>
          <a:prstGeom prst="rect">
            <a:avLst/>
          </a:prstGeom>
          <a:noFill/>
          <a:ln/>
        </p:spPr>
        <p:txBody>
          <a:bodyPr wrap="none" lIns="0" tIns="0" rIns="0" bIns="0" rtlCol="0" anchor="ctr"/>
          <a:lstStyle/>
          <a:p>
            <a:pPr algn="l">
              <a:lnSpc>
                <a:spcPct val="120000"/>
              </a:lnSpc>
            </a:pPr>
            <a:r>
              <a:rPr lang="en-US" sz="1800" dirty="0">
                <a:solidFill>
                  <a:srgbClr val="6B7B8D"/>
                </a:solidFill>
                <a:latin typeface="Quattrocento Sans" pitchFamily="34" charset="0"/>
                <a:ea typeface="Quattrocento Sans" pitchFamily="34" charset="-122"/>
                <a:cs typeface="Quattrocento Sans" pitchFamily="34" charset="-120"/>
              </a:rPr>
              <a:t>Copyright 2026 | Pusilkom UI · supported by GIZ</a:t>
            </a:r>
            <a:endParaRPr lang="en-US" sz="1800" dirty="0"/>
          </a:p>
        </p:txBody>
      </p:sp>
      <p:pic>
        <p:nvPicPr>
          <p:cNvPr id="11" name="Google Shape;91;p13">
            <a:extLst>
              <a:ext uri="{FF2B5EF4-FFF2-40B4-BE49-F238E27FC236}">
                <a16:creationId xmlns:a16="http://schemas.microsoft.com/office/drawing/2014/main" id="{D8487DDC-E021-F2A2-0F68-77A2BEAC07AC}"/>
              </a:ext>
            </a:extLst>
          </p:cNvPr>
          <p:cNvPicPr preferRelativeResize="0"/>
          <p:nvPr/>
        </p:nvPicPr>
        <p:blipFill>
          <a:blip r:embed="rId4">
            <a:alphaModFix/>
          </a:blip>
          <a:stretch>
            <a:fillRect/>
          </a:stretch>
        </p:blipFill>
        <p:spPr>
          <a:xfrm>
            <a:off x="21813431" y="437612"/>
            <a:ext cx="2031726" cy="1015864"/>
          </a:xfrm>
          <a:prstGeom prst="rect">
            <a:avLst/>
          </a:prstGeom>
          <a:noFill/>
          <a:ln>
            <a:noFill/>
          </a:ln>
        </p:spPr>
      </p:pic>
      <p:grpSp>
        <p:nvGrpSpPr>
          <p:cNvPr id="19" name="Group 18">
            <a:extLst>
              <a:ext uri="{FF2B5EF4-FFF2-40B4-BE49-F238E27FC236}">
                <a16:creationId xmlns:a16="http://schemas.microsoft.com/office/drawing/2014/main" id="{1FB41283-4F5E-4832-F97D-B4575DE3AED6}"/>
              </a:ext>
            </a:extLst>
          </p:cNvPr>
          <p:cNvGrpSpPr/>
          <p:nvPr/>
        </p:nvGrpSpPr>
        <p:grpSpPr>
          <a:xfrm>
            <a:off x="-1" y="13553886"/>
            <a:ext cx="24384001" cy="207221"/>
            <a:chOff x="-1" y="13553886"/>
            <a:chExt cx="24384001" cy="207221"/>
          </a:xfrm>
        </p:grpSpPr>
        <p:grpSp>
          <p:nvGrpSpPr>
            <p:cNvPr id="14" name="Google Shape;84;p13">
              <a:extLst>
                <a:ext uri="{FF2B5EF4-FFF2-40B4-BE49-F238E27FC236}">
                  <a16:creationId xmlns:a16="http://schemas.microsoft.com/office/drawing/2014/main" id="{66E143CB-EAA5-FA02-7EFE-355E3998D2CB}"/>
                </a:ext>
              </a:extLst>
            </p:cNvPr>
            <p:cNvGrpSpPr/>
            <p:nvPr/>
          </p:nvGrpSpPr>
          <p:grpSpPr>
            <a:xfrm>
              <a:off x="-1" y="13553886"/>
              <a:ext cx="24384001" cy="207221"/>
              <a:chOff x="0" y="-19050"/>
              <a:chExt cx="2709333" cy="336844"/>
            </a:xfrm>
          </p:grpSpPr>
          <p:sp>
            <p:nvSpPr>
              <p:cNvPr id="15" name="Google Shape;85;p13">
                <a:extLst>
                  <a:ext uri="{FF2B5EF4-FFF2-40B4-BE49-F238E27FC236}">
                    <a16:creationId xmlns:a16="http://schemas.microsoft.com/office/drawing/2014/main" id="{78A036D7-D328-9BF3-71F3-A3DB79CED78C}"/>
                  </a:ext>
                </a:extLst>
              </p:cNvPr>
              <p:cNvSpPr/>
              <p:nvPr/>
            </p:nvSpPr>
            <p:spPr>
              <a:xfrm>
                <a:off x="0" y="0"/>
                <a:ext cx="2709333" cy="317794"/>
              </a:xfrm>
              <a:custGeom>
                <a:avLst/>
                <a:gdLst/>
                <a:ahLst/>
                <a:cxnLst/>
                <a:rect l="l" t="t" r="r" b="b"/>
                <a:pathLst>
                  <a:path w="2709333" h="317794" extrusionOk="0">
                    <a:moveTo>
                      <a:pt x="0" y="0"/>
                    </a:moveTo>
                    <a:lnTo>
                      <a:pt x="2709333" y="0"/>
                    </a:lnTo>
                    <a:lnTo>
                      <a:pt x="2709333" y="317794"/>
                    </a:lnTo>
                    <a:lnTo>
                      <a:pt x="0" y="317794"/>
                    </a:lnTo>
                    <a:close/>
                  </a:path>
                </a:pathLst>
              </a:custGeom>
              <a:solidFill>
                <a:srgbClr val="FFC054"/>
              </a:solidFill>
              <a:ln>
                <a:noFill/>
              </a:ln>
            </p:spPr>
            <p:txBody>
              <a:bodyPr/>
              <a:lstStyle/>
              <a:p>
                <a:endParaRPr lang="en-US"/>
              </a:p>
            </p:txBody>
          </p:sp>
          <p:sp>
            <p:nvSpPr>
              <p:cNvPr id="16" name="Google Shape;86;p13">
                <a:extLst>
                  <a:ext uri="{FF2B5EF4-FFF2-40B4-BE49-F238E27FC236}">
                    <a16:creationId xmlns:a16="http://schemas.microsoft.com/office/drawing/2014/main" id="{0906CBBF-B79D-1E07-79D3-18AA79E0788F}"/>
                  </a:ext>
                </a:extLst>
              </p:cNvPr>
              <p:cNvSpPr txBox="1"/>
              <p:nvPr/>
            </p:nvSpPr>
            <p:spPr>
              <a:xfrm>
                <a:off x="0" y="-19050"/>
                <a:ext cx="2709333" cy="336844"/>
              </a:xfrm>
              <a:prstGeom prst="rect">
                <a:avLst/>
              </a:prstGeom>
              <a:noFill/>
              <a:ln>
                <a:noFill/>
              </a:ln>
            </p:spPr>
            <p:txBody>
              <a:bodyPr spcFirstLastPara="1" wrap="square" lIns="50800" tIns="50800" rIns="50800" bIns="50800" anchor="ctr" anchorCtr="0">
                <a:noAutofit/>
              </a:bodyPr>
              <a:lstStyle/>
              <a:p>
                <a:pPr marL="0" marR="0" lvl="0" indent="0" algn="ctr" rtl="0">
                  <a:lnSpc>
                    <a:spcPct val="151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7" name="Google Shape;92;p13">
              <a:extLst>
                <a:ext uri="{FF2B5EF4-FFF2-40B4-BE49-F238E27FC236}">
                  <a16:creationId xmlns:a16="http://schemas.microsoft.com/office/drawing/2014/main" id="{3F596870-3E0C-A86D-3075-3028D8BD87CE}"/>
                </a:ext>
              </a:extLst>
            </p:cNvPr>
            <p:cNvPicPr preferRelativeResize="0"/>
            <p:nvPr/>
          </p:nvPicPr>
          <p:blipFill rotWithShape="1">
            <a:blip r:embed="rId5">
              <a:alphaModFix/>
            </a:blip>
            <a:srcRect l="1793" t="50150" b="37018"/>
            <a:stretch>
              <a:fillRect/>
            </a:stretch>
          </p:blipFill>
          <p:spPr>
            <a:xfrm>
              <a:off x="11163300" y="13565605"/>
              <a:ext cx="13220700" cy="195502"/>
            </a:xfrm>
            <a:prstGeom prst="rect">
              <a:avLst/>
            </a:prstGeom>
            <a:noFill/>
            <a:ln>
              <a:noFill/>
            </a:ln>
          </p:spPr>
        </p:pic>
      </p:grpSp>
      <p:sp>
        <p:nvSpPr>
          <p:cNvPr id="10" name="Text 3">
            <a:extLst>
              <a:ext uri="{FF2B5EF4-FFF2-40B4-BE49-F238E27FC236}">
                <a16:creationId xmlns:a16="http://schemas.microsoft.com/office/drawing/2014/main" id="{84670CC4-DEBE-95F5-204C-18973E95773A}"/>
              </a:ext>
            </a:extLst>
          </p:cNvPr>
          <p:cNvSpPr/>
          <p:nvPr/>
        </p:nvSpPr>
        <p:spPr>
          <a:xfrm>
            <a:off x="12415157" y="5486400"/>
            <a:ext cx="11430000" cy="2468880"/>
          </a:xfrm>
          <a:prstGeom prst="rect">
            <a:avLst/>
          </a:prstGeom>
          <a:noFill/>
          <a:ln/>
        </p:spPr>
        <p:txBody>
          <a:bodyPr wrap="square" lIns="0" tIns="0" rIns="0" bIns="0" rtlCol="0" anchor="t"/>
          <a:lstStyle/>
          <a:p>
            <a:pPr>
              <a:lnSpc>
                <a:spcPct val="115000"/>
              </a:lnSpc>
            </a:pPr>
            <a:r>
              <a:rPr lang="en-US" sz="6200" b="1" dirty="0">
                <a:solidFill>
                  <a:srgbClr val="1B2A4A"/>
                </a:solidFill>
                <a:latin typeface="Liter" pitchFamily="34" charset="0"/>
                <a:ea typeface="Liter" pitchFamily="34" charset="-122"/>
                <a:cs typeface="Liter" pitchFamily="34" charset="-120"/>
              </a:rPr>
              <a:t>Day 3: From Pipeline to Production</a:t>
            </a:r>
            <a:endParaRPr lang="en-US" sz="7500" dirty="0"/>
          </a:p>
        </p:txBody>
      </p:sp>
      <p:pic>
        <p:nvPicPr>
          <p:cNvPr id="5" name="Graphic 4">
            <a:extLst>
              <a:ext uri="{FF2B5EF4-FFF2-40B4-BE49-F238E27FC236}">
                <a16:creationId xmlns:a16="http://schemas.microsoft.com/office/drawing/2014/main" id="{B66AC60A-DD20-62BA-5EFE-DB693434A43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012098" y="-45108"/>
            <a:ext cx="5529981" cy="2072182"/>
          </a:xfrm>
          <a:prstGeom prst="rect">
            <a:avLst/>
          </a:prstGeom>
        </p:spPr>
      </p:pic>
      <p:pic>
        <p:nvPicPr>
          <p:cNvPr id="13" name="Picture 12">
            <a:extLst>
              <a:ext uri="{FF2B5EF4-FFF2-40B4-BE49-F238E27FC236}">
                <a16:creationId xmlns:a16="http://schemas.microsoft.com/office/drawing/2014/main" id="{572E20A7-3485-1EF4-4916-52561EB870E7}"/>
              </a:ext>
            </a:extLst>
          </p:cNvPr>
          <p:cNvPicPr>
            <a:picLocks noChangeAspect="1"/>
          </p:cNvPicPr>
          <p:nvPr/>
        </p:nvPicPr>
        <p:blipFill>
          <a:blip r:embed="rId8"/>
          <a:stretch>
            <a:fillRect/>
          </a:stretch>
        </p:blipFill>
        <p:spPr>
          <a:xfrm>
            <a:off x="17272000" y="475287"/>
            <a:ext cx="4086225" cy="1114425"/>
          </a:xfrm>
          <a:prstGeom prst="rect">
            <a:avLst/>
          </a:prstGeom>
        </p:spPr>
      </p:pic>
      <p:sp>
        <p:nvSpPr>
          <p:cNvPr id="21" name="TextBox 20"/>
          <p:cNvSpPr txBox="1"/>
          <p:nvPr/>
        </p:nvSpPr>
        <p:spPr>
          <a:xfrm>
            <a:off x="12417552" y="8183879"/>
            <a:ext cx="11247120" cy="1097280"/>
          </a:xfrm>
          <a:prstGeom prst="rect">
            <a:avLst/>
          </a:prstGeom>
          <a:noFill/>
        </p:spPr>
        <p:txBody>
          <a:bodyPr wrap="square" lIns="0" tIns="0" rIns="0" bIns="0" anchor="t">
            <a:spAutoFit/>
          </a:bodyPr>
          <a:lstStyle/>
          <a:p>
            <a:pPr algn="l">
              <a:lnSpc>
                <a:spcPct val="125000"/>
              </a:lnSpc>
              <a:spcAft>
                <a:spcPts val="600"/>
              </a:spcAft>
            </a:pPr>
            <a:r>
              <a:rPr sz="2400" b="0" i="0">
                <a:solidFill>
                  <a:srgbClr val="6B7B8D"/>
                </a:solidFill>
                <a:latin typeface="Quattrocento Sans"/>
              </a:rPr>
              <a:t>CI/CD/CT Design · Deployment Strategies · Monitoring &amp; Observability · Incident Handling</a:t>
            </a:r>
          </a:p>
        </p:txBody>
      </p:sp>
      <p:sp>
        <p:nvSpPr>
          <p:cNvPr id="22" name="TextBox 21"/>
          <p:cNvSpPr txBox="1"/>
          <p:nvPr/>
        </p:nvSpPr>
        <p:spPr>
          <a:xfrm>
            <a:off x="12417552" y="9418320"/>
            <a:ext cx="11247120" cy="430887"/>
          </a:xfrm>
          <a:prstGeom prst="rect">
            <a:avLst/>
          </a:prstGeom>
          <a:noFill/>
        </p:spPr>
        <p:txBody>
          <a:bodyPr wrap="square" lIns="0" tIns="0" rIns="0" bIns="0" anchor="t">
            <a:spAutoFit/>
          </a:bodyPr>
          <a:lstStyle/>
          <a:p>
            <a:pPr algn="l">
              <a:lnSpc>
                <a:spcPct val="100000"/>
              </a:lnSpc>
              <a:spcAft>
                <a:spcPts val="600"/>
              </a:spcAft>
            </a:pPr>
            <a:r>
              <a:rPr sz="2800" b="1" i="0" dirty="0">
                <a:solidFill>
                  <a:srgbClr val="1B2A4A"/>
                </a:solidFill>
                <a:latin typeface="Quattrocento Sans"/>
              </a:rPr>
              <a:t>Made </a:t>
            </a:r>
            <a:r>
              <a:rPr sz="2800" b="1" i="0" dirty="0" err="1">
                <a:solidFill>
                  <a:srgbClr val="1B2A4A"/>
                </a:solidFill>
                <a:latin typeface="Quattrocento Sans"/>
              </a:rPr>
              <a:t>Harta</a:t>
            </a:r>
            <a:r>
              <a:rPr sz="2800" b="1" i="0" dirty="0">
                <a:solidFill>
                  <a:srgbClr val="1B2A4A"/>
                </a:solidFill>
                <a:latin typeface="Quattrocento Sans"/>
              </a:rPr>
              <a:t> </a:t>
            </a:r>
            <a:r>
              <a:rPr sz="2800" b="1" i="0" dirty="0" err="1">
                <a:solidFill>
                  <a:srgbClr val="1B2A4A"/>
                </a:solidFill>
                <a:latin typeface="Quattrocento Sans"/>
              </a:rPr>
              <a:t>Dwijaksara</a:t>
            </a:r>
            <a:r>
              <a:rPr lang="en-US" sz="2800" b="1" i="0" dirty="0">
                <a:solidFill>
                  <a:srgbClr val="1B2A4A"/>
                </a:solidFill>
                <a:latin typeface="Quattrocento Sans"/>
              </a:rPr>
              <a:t>, Ph.D.</a:t>
            </a:r>
            <a:endParaRPr sz="2800" b="1" i="0" dirty="0">
              <a:solidFill>
                <a:srgbClr val="1B2A4A"/>
              </a:solidFill>
              <a:latin typeface="Quattrocento Sans"/>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1649562" y="2597030"/>
            <a:ext cx="5080000" cy="381000"/>
          </a:xfrm>
          <a:prstGeom prst="rect">
            <a:avLst/>
          </a:prstGeom>
          <a:noFill/>
          <a:ln/>
        </p:spPr>
        <p:txBody>
          <a:bodyPr wrap="none" lIns="0" tIns="0" rIns="0" bIns="0" rtlCol="0" anchor="ctr"/>
          <a:lstStyle/>
          <a:p>
            <a:pPr algn="l">
              <a:lnSpc>
                <a:spcPct val="120000"/>
              </a:lnSpc>
            </a:pPr>
            <a:r>
              <a:rPr lang="en-US" sz="1600" b="1" kern="0" spc="400" dirty="0">
                <a:solidFill>
                  <a:srgbClr val="D4A03A"/>
                </a:solidFill>
                <a:latin typeface="Liter" pitchFamily="34" charset="0"/>
                <a:ea typeface="Liter" pitchFamily="34" charset="-122"/>
                <a:cs typeface="Liter" pitchFamily="34" charset="-120"/>
              </a:rPr>
              <a:t>OVERVIEW</a:t>
            </a:r>
            <a:endParaRPr lang="en-US" sz="1600" dirty="0"/>
          </a:p>
        </p:txBody>
      </p:sp>
      <p:sp>
        <p:nvSpPr>
          <p:cNvPr id="6" name="Text 3"/>
          <p:cNvSpPr/>
          <p:nvPr/>
        </p:nvSpPr>
        <p:spPr>
          <a:xfrm>
            <a:off x="1649562" y="3105030"/>
            <a:ext cx="12801600" cy="1016000"/>
          </a:xfrm>
          <a:prstGeom prst="rect">
            <a:avLst/>
          </a:prstGeom>
          <a:noFill/>
          <a:ln/>
        </p:spPr>
        <p:txBody>
          <a:bodyPr wrap="none" lIns="0" tIns="0" rIns="0" bIns="0" rtlCol="0" anchor="ctr"/>
          <a:lstStyle/>
          <a:p>
            <a:pPr algn="l">
              <a:lnSpc>
                <a:spcPct val="110000"/>
              </a:lnSpc>
            </a:pPr>
            <a:r>
              <a:rPr lang="en-US" sz="7200" kern="0" spc="200" dirty="0">
                <a:solidFill>
                  <a:srgbClr val="1B2A4A"/>
                </a:solidFill>
                <a:latin typeface="Liter" pitchFamily="34" charset="0"/>
                <a:ea typeface="Liter" pitchFamily="34" charset="-122"/>
                <a:cs typeface="Liter" pitchFamily="34" charset="-120"/>
              </a:rPr>
              <a:t>Day 3 Agenda</a:t>
            </a:r>
            <a:endParaRPr lang="en-US" sz="7200" dirty="0"/>
          </a:p>
        </p:txBody>
      </p:sp>
      <p:sp>
        <p:nvSpPr>
          <p:cNvPr id="7" name="Shape 4"/>
          <p:cNvSpPr/>
          <p:nvPr/>
        </p:nvSpPr>
        <p:spPr>
          <a:xfrm>
            <a:off x="1649562" y="4375030"/>
            <a:ext cx="1016000" cy="50800"/>
          </a:xfrm>
          <a:prstGeom prst="rect">
            <a:avLst/>
          </a:prstGeom>
          <a:solidFill>
            <a:srgbClr val="D4A03A"/>
          </a:solidFill>
          <a:ln/>
        </p:spPr>
        <p:txBody>
          <a:bodyPr/>
          <a:lstStyle/>
          <a:p>
            <a:endParaRPr lang="en-ID"/>
          </a:p>
        </p:txBody>
      </p:sp>
      <p:sp>
        <p:nvSpPr>
          <p:cNvPr id="8" name="TextBox 7"/>
          <p:cNvSpPr txBox="1"/>
          <p:nvPr/>
        </p:nvSpPr>
        <p:spPr>
          <a:xfrm>
            <a:off x="1645920" y="5257800"/>
            <a:ext cx="1280160" cy="1097280"/>
          </a:xfrm>
          <a:prstGeom prst="rect">
            <a:avLst/>
          </a:prstGeom>
          <a:noFill/>
        </p:spPr>
        <p:txBody>
          <a:bodyPr wrap="square" lIns="0" tIns="0" rIns="0" bIns="0" anchor="ctr">
            <a:spAutoFit/>
          </a:bodyPr>
          <a:lstStyle/>
          <a:p>
            <a:pPr algn="l">
              <a:lnSpc>
                <a:spcPct val="120000"/>
              </a:lnSpc>
              <a:spcAft>
                <a:spcPts val="600"/>
              </a:spcAft>
            </a:pPr>
            <a:r>
              <a:rPr sz="4800" b="0" i="0">
                <a:solidFill>
                  <a:srgbClr val="D4A03A"/>
                </a:solidFill>
                <a:latin typeface="Liter"/>
              </a:rPr>
              <a:t>01</a:t>
            </a:r>
          </a:p>
        </p:txBody>
      </p:sp>
      <p:sp>
        <p:nvSpPr>
          <p:cNvPr id="9" name="TextBox 8"/>
          <p:cNvSpPr txBox="1"/>
          <p:nvPr/>
        </p:nvSpPr>
        <p:spPr>
          <a:xfrm>
            <a:off x="3108960" y="5303520"/>
            <a:ext cx="12344400" cy="530915"/>
          </a:xfrm>
          <a:prstGeom prst="rect">
            <a:avLst/>
          </a:prstGeom>
          <a:noFill/>
        </p:spPr>
        <p:txBody>
          <a:bodyPr wrap="square" lIns="0" tIns="0" rIns="0" bIns="0" anchor="t">
            <a:spAutoFit/>
          </a:bodyPr>
          <a:lstStyle/>
          <a:p>
            <a:pPr algn="l">
              <a:lnSpc>
                <a:spcPct val="120000"/>
              </a:lnSpc>
              <a:spcAft>
                <a:spcPts val="600"/>
              </a:spcAft>
            </a:pPr>
            <a:r>
              <a:rPr sz="3000" b="1" i="0" dirty="0">
                <a:solidFill>
                  <a:srgbClr val="1B2A4A"/>
                </a:solidFill>
                <a:latin typeface="Liter"/>
              </a:rPr>
              <a:t>CI/CD</a:t>
            </a:r>
            <a:r>
              <a:rPr lang="en-US" sz="3000" b="1" i="0" dirty="0">
                <a:solidFill>
                  <a:srgbClr val="1B2A4A"/>
                </a:solidFill>
                <a:latin typeface="Liter"/>
              </a:rPr>
              <a:t>/CT</a:t>
            </a:r>
            <a:r>
              <a:rPr sz="3000" b="1" i="0" dirty="0">
                <a:solidFill>
                  <a:srgbClr val="1B2A4A"/>
                </a:solidFill>
                <a:latin typeface="Liter"/>
              </a:rPr>
              <a:t> Design for Machine Learning</a:t>
            </a:r>
          </a:p>
        </p:txBody>
      </p:sp>
      <p:sp>
        <p:nvSpPr>
          <p:cNvPr id="10" name="TextBox 9"/>
          <p:cNvSpPr txBox="1"/>
          <p:nvPr/>
        </p:nvSpPr>
        <p:spPr>
          <a:xfrm>
            <a:off x="3108960" y="5989320"/>
            <a:ext cx="12344400" cy="384144"/>
          </a:xfrm>
          <a:prstGeom prst="rect">
            <a:avLst/>
          </a:prstGeom>
          <a:noFill/>
        </p:spPr>
        <p:txBody>
          <a:bodyPr wrap="square" lIns="0" tIns="0" rIns="0" bIns="0" anchor="t">
            <a:spAutoFit/>
          </a:bodyPr>
          <a:lstStyle/>
          <a:p>
            <a:pPr>
              <a:lnSpc>
                <a:spcPct val="120000"/>
              </a:lnSpc>
              <a:spcAft>
                <a:spcPts val="600"/>
              </a:spcAft>
            </a:pPr>
            <a:r>
              <a:rPr sz="2200" b="0" i="0" dirty="0" err="1">
                <a:solidFill>
                  <a:srgbClr val="6B7B8D"/>
                </a:solidFill>
                <a:latin typeface="Quattrocento Sans"/>
              </a:rPr>
              <a:t>MLflow</a:t>
            </a:r>
            <a:r>
              <a:rPr sz="2200" b="0" i="0" dirty="0">
                <a:solidFill>
                  <a:srgbClr val="6B7B8D"/>
                </a:solidFill>
                <a:latin typeface="Quattrocento Sans"/>
              </a:rPr>
              <a:t> </a:t>
            </a:r>
            <a:r>
              <a:rPr lang="en-US" sz="2200" b="0" i="0" dirty="0">
                <a:solidFill>
                  <a:srgbClr val="6B7B8D"/>
                </a:solidFill>
                <a:latin typeface="Quattrocento Sans"/>
              </a:rPr>
              <a:t>model </a:t>
            </a:r>
            <a:r>
              <a:rPr sz="2200" b="0" i="0" dirty="0">
                <a:solidFill>
                  <a:srgbClr val="6B7B8D"/>
                </a:solidFill>
                <a:latin typeface="Quattrocento Sans"/>
              </a:rPr>
              <a:t>tracking &amp; </a:t>
            </a:r>
            <a:r>
              <a:rPr lang="en-US" sz="2200" b="0" i="0" dirty="0">
                <a:solidFill>
                  <a:srgbClr val="6B7B8D"/>
                </a:solidFill>
                <a:latin typeface="Quattrocento Sans"/>
              </a:rPr>
              <a:t>model </a:t>
            </a:r>
            <a:r>
              <a:rPr sz="2200" b="0" i="0" dirty="0">
                <a:solidFill>
                  <a:srgbClr val="6B7B8D"/>
                </a:solidFill>
                <a:latin typeface="Quattrocento Sans"/>
              </a:rPr>
              <a:t>registry</a:t>
            </a:r>
            <a:r>
              <a:rPr lang="en-US" sz="2200" b="0" i="0" dirty="0">
                <a:solidFill>
                  <a:srgbClr val="6B7B8D"/>
                </a:solidFill>
                <a:latin typeface="Quattrocento Sans"/>
              </a:rPr>
              <a:t>, alias @</a:t>
            </a:r>
            <a:r>
              <a:rPr lang="en-ID" sz="2200" dirty="0">
                <a:solidFill>
                  <a:srgbClr val="6B7B8D"/>
                </a:solidFill>
                <a:latin typeface="Quattrocento Sans"/>
              </a:rPr>
              <a:t>champion</a:t>
            </a:r>
            <a:endParaRPr sz="2200" b="0" i="0" dirty="0">
              <a:solidFill>
                <a:srgbClr val="6B7B8D"/>
              </a:solidFill>
              <a:latin typeface="Quattrocento Sans"/>
            </a:endParaRPr>
          </a:p>
        </p:txBody>
      </p:sp>
      <p:sp>
        <p:nvSpPr>
          <p:cNvPr id="11" name="TextBox 10"/>
          <p:cNvSpPr txBox="1"/>
          <p:nvPr/>
        </p:nvSpPr>
        <p:spPr>
          <a:xfrm>
            <a:off x="16093440" y="5257800"/>
            <a:ext cx="6583680" cy="1097280"/>
          </a:xfrm>
          <a:prstGeom prst="rect">
            <a:avLst/>
          </a:prstGeom>
          <a:noFill/>
        </p:spPr>
        <p:txBody>
          <a:bodyPr wrap="square" lIns="0" tIns="0" rIns="0" bIns="0" anchor="ctr">
            <a:spAutoFit/>
          </a:bodyPr>
          <a:lstStyle/>
          <a:p>
            <a:pPr algn="r">
              <a:lnSpc>
                <a:spcPct val="120000"/>
              </a:lnSpc>
              <a:spcAft>
                <a:spcPts val="600"/>
              </a:spcAft>
            </a:pPr>
            <a:r>
              <a:rPr sz="3200" b="0" i="0">
                <a:solidFill>
                  <a:srgbClr val="1B2A4A"/>
                </a:solidFill>
                <a:latin typeface="Liter"/>
              </a:rPr>
              <a:t>08:30–10:30</a:t>
            </a:r>
          </a:p>
        </p:txBody>
      </p:sp>
      <p:sp>
        <p:nvSpPr>
          <p:cNvPr id="12" name="Rectangle 11"/>
          <p:cNvSpPr/>
          <p:nvPr/>
        </p:nvSpPr>
        <p:spPr>
          <a:xfrm>
            <a:off x="1645920" y="6766560"/>
            <a:ext cx="2103120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645920" y="7040880"/>
            <a:ext cx="1280160" cy="1097280"/>
          </a:xfrm>
          <a:prstGeom prst="rect">
            <a:avLst/>
          </a:prstGeom>
          <a:noFill/>
        </p:spPr>
        <p:txBody>
          <a:bodyPr wrap="square" lIns="0" tIns="0" rIns="0" bIns="0" anchor="ctr">
            <a:spAutoFit/>
          </a:bodyPr>
          <a:lstStyle/>
          <a:p>
            <a:pPr algn="l">
              <a:lnSpc>
                <a:spcPct val="120000"/>
              </a:lnSpc>
              <a:spcAft>
                <a:spcPts val="600"/>
              </a:spcAft>
            </a:pPr>
            <a:r>
              <a:rPr sz="4800" b="0" i="0">
                <a:solidFill>
                  <a:srgbClr val="D4A03A"/>
                </a:solidFill>
                <a:latin typeface="Liter"/>
              </a:rPr>
              <a:t>02</a:t>
            </a:r>
          </a:p>
        </p:txBody>
      </p:sp>
      <p:sp>
        <p:nvSpPr>
          <p:cNvPr id="14" name="TextBox 13"/>
          <p:cNvSpPr txBox="1"/>
          <p:nvPr/>
        </p:nvSpPr>
        <p:spPr>
          <a:xfrm>
            <a:off x="3108960" y="7086600"/>
            <a:ext cx="12344400" cy="640080"/>
          </a:xfrm>
          <a:prstGeom prst="rect">
            <a:avLst/>
          </a:prstGeom>
          <a:noFill/>
        </p:spPr>
        <p:txBody>
          <a:bodyPr wrap="square" lIns="0" tIns="0" rIns="0" bIns="0" anchor="t">
            <a:spAutoFit/>
          </a:bodyPr>
          <a:lstStyle/>
          <a:p>
            <a:pPr algn="l">
              <a:lnSpc>
                <a:spcPct val="120000"/>
              </a:lnSpc>
              <a:spcAft>
                <a:spcPts val="600"/>
              </a:spcAft>
            </a:pPr>
            <a:r>
              <a:rPr sz="3000" b="1" i="0">
                <a:solidFill>
                  <a:srgbClr val="1B2A4A"/>
                </a:solidFill>
                <a:latin typeface="Liter"/>
              </a:rPr>
              <a:t>Machine Learning Deployment Strategies</a:t>
            </a:r>
          </a:p>
        </p:txBody>
      </p:sp>
      <p:sp>
        <p:nvSpPr>
          <p:cNvPr id="15" name="TextBox 14"/>
          <p:cNvSpPr txBox="1"/>
          <p:nvPr/>
        </p:nvSpPr>
        <p:spPr>
          <a:xfrm>
            <a:off x="3108960" y="7772400"/>
            <a:ext cx="12344400" cy="384144"/>
          </a:xfrm>
          <a:prstGeom prst="rect">
            <a:avLst/>
          </a:prstGeom>
          <a:noFill/>
        </p:spPr>
        <p:txBody>
          <a:bodyPr wrap="square" lIns="0" tIns="0" rIns="0" bIns="0" anchor="t">
            <a:spAutoFit/>
          </a:bodyPr>
          <a:lstStyle/>
          <a:p>
            <a:pPr algn="l">
              <a:lnSpc>
                <a:spcPct val="120000"/>
              </a:lnSpc>
              <a:spcAft>
                <a:spcPts val="600"/>
              </a:spcAft>
            </a:pPr>
            <a:r>
              <a:rPr sz="2200" b="0" i="0" dirty="0">
                <a:solidFill>
                  <a:srgbClr val="6B7B8D"/>
                </a:solidFill>
                <a:latin typeface="Quattrocento Sans"/>
              </a:rPr>
              <a:t>Serving with </a:t>
            </a:r>
            <a:r>
              <a:rPr sz="2200" b="0" i="0" dirty="0" err="1">
                <a:solidFill>
                  <a:srgbClr val="6B7B8D"/>
                </a:solidFill>
                <a:latin typeface="Quattrocento Sans"/>
              </a:rPr>
              <a:t>FastAPI</a:t>
            </a:r>
            <a:r>
              <a:rPr lang="en-US" sz="2200" dirty="0">
                <a:solidFill>
                  <a:srgbClr val="6B7B8D"/>
                </a:solidFill>
                <a:latin typeface="Quattrocento Sans"/>
              </a:rPr>
              <a:t> and</a:t>
            </a:r>
            <a:r>
              <a:rPr sz="2200" b="0" i="0" dirty="0">
                <a:solidFill>
                  <a:srgbClr val="6B7B8D"/>
                </a:solidFill>
                <a:latin typeface="Quattrocento Sans"/>
              </a:rPr>
              <a:t> </a:t>
            </a:r>
            <a:r>
              <a:rPr lang="en-US" sz="2200" dirty="0" err="1">
                <a:solidFill>
                  <a:srgbClr val="6B7B8D"/>
                </a:solidFill>
                <a:latin typeface="Quattrocento Sans"/>
              </a:rPr>
              <a:t>C</a:t>
            </a:r>
            <a:r>
              <a:rPr sz="2200" b="0" i="0" dirty="0" err="1">
                <a:solidFill>
                  <a:srgbClr val="6B7B8D"/>
                </a:solidFill>
                <a:latin typeface="Quattrocento Sans"/>
              </a:rPr>
              <a:t>ontainerisation</a:t>
            </a:r>
            <a:endParaRPr sz="2200" b="0" i="0" dirty="0">
              <a:solidFill>
                <a:srgbClr val="6B7B8D"/>
              </a:solidFill>
              <a:latin typeface="Quattrocento Sans"/>
            </a:endParaRPr>
          </a:p>
        </p:txBody>
      </p:sp>
      <p:sp>
        <p:nvSpPr>
          <p:cNvPr id="16" name="TextBox 15"/>
          <p:cNvSpPr txBox="1"/>
          <p:nvPr/>
        </p:nvSpPr>
        <p:spPr>
          <a:xfrm>
            <a:off x="16093440" y="7040880"/>
            <a:ext cx="6583680" cy="1097280"/>
          </a:xfrm>
          <a:prstGeom prst="rect">
            <a:avLst/>
          </a:prstGeom>
          <a:noFill/>
        </p:spPr>
        <p:txBody>
          <a:bodyPr wrap="square" lIns="0" tIns="0" rIns="0" bIns="0" anchor="ctr">
            <a:spAutoFit/>
          </a:bodyPr>
          <a:lstStyle/>
          <a:p>
            <a:pPr algn="r">
              <a:lnSpc>
                <a:spcPct val="120000"/>
              </a:lnSpc>
              <a:spcAft>
                <a:spcPts val="600"/>
              </a:spcAft>
            </a:pPr>
            <a:r>
              <a:rPr sz="3200" b="0" i="0">
                <a:solidFill>
                  <a:srgbClr val="1B2A4A"/>
                </a:solidFill>
                <a:latin typeface="Liter"/>
              </a:rPr>
              <a:t>10:45–12:00</a:t>
            </a:r>
          </a:p>
        </p:txBody>
      </p:sp>
      <p:sp>
        <p:nvSpPr>
          <p:cNvPr id="17" name="Rectangle 16"/>
          <p:cNvSpPr/>
          <p:nvPr/>
        </p:nvSpPr>
        <p:spPr>
          <a:xfrm>
            <a:off x="1645920" y="8549640"/>
            <a:ext cx="2103120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45920" y="8823960"/>
            <a:ext cx="1280160" cy="1097280"/>
          </a:xfrm>
          <a:prstGeom prst="rect">
            <a:avLst/>
          </a:prstGeom>
          <a:noFill/>
        </p:spPr>
        <p:txBody>
          <a:bodyPr wrap="square" lIns="0" tIns="0" rIns="0" bIns="0" anchor="ctr">
            <a:spAutoFit/>
          </a:bodyPr>
          <a:lstStyle/>
          <a:p>
            <a:pPr algn="l">
              <a:lnSpc>
                <a:spcPct val="120000"/>
              </a:lnSpc>
              <a:spcAft>
                <a:spcPts val="600"/>
              </a:spcAft>
            </a:pPr>
            <a:r>
              <a:rPr sz="4800" b="0" i="0">
                <a:solidFill>
                  <a:srgbClr val="D4A03A"/>
                </a:solidFill>
                <a:latin typeface="Liter"/>
              </a:rPr>
              <a:t>03</a:t>
            </a:r>
          </a:p>
        </p:txBody>
      </p:sp>
      <p:sp>
        <p:nvSpPr>
          <p:cNvPr id="19" name="TextBox 18"/>
          <p:cNvSpPr txBox="1"/>
          <p:nvPr/>
        </p:nvSpPr>
        <p:spPr>
          <a:xfrm>
            <a:off x="3108960" y="8869680"/>
            <a:ext cx="12344400" cy="640080"/>
          </a:xfrm>
          <a:prstGeom prst="rect">
            <a:avLst/>
          </a:prstGeom>
          <a:noFill/>
        </p:spPr>
        <p:txBody>
          <a:bodyPr wrap="square" lIns="0" tIns="0" rIns="0" bIns="0" anchor="t">
            <a:spAutoFit/>
          </a:bodyPr>
          <a:lstStyle/>
          <a:p>
            <a:pPr algn="l">
              <a:lnSpc>
                <a:spcPct val="120000"/>
              </a:lnSpc>
              <a:spcAft>
                <a:spcPts val="600"/>
              </a:spcAft>
            </a:pPr>
            <a:r>
              <a:rPr sz="3000" b="1" i="0">
                <a:solidFill>
                  <a:srgbClr val="1B2A4A"/>
                </a:solidFill>
                <a:latin typeface="Liter"/>
              </a:rPr>
              <a:t>Monitoring and Observability</a:t>
            </a:r>
          </a:p>
        </p:txBody>
      </p:sp>
      <p:sp>
        <p:nvSpPr>
          <p:cNvPr id="20" name="TextBox 19"/>
          <p:cNvSpPr txBox="1"/>
          <p:nvPr/>
        </p:nvSpPr>
        <p:spPr>
          <a:xfrm>
            <a:off x="3108960" y="9555480"/>
            <a:ext cx="12344400" cy="548640"/>
          </a:xfrm>
          <a:prstGeom prst="rect">
            <a:avLst/>
          </a:prstGeom>
          <a:noFill/>
        </p:spPr>
        <p:txBody>
          <a:bodyPr wrap="square" lIns="0" tIns="0" rIns="0" bIns="0" anchor="t">
            <a:spAutoFit/>
          </a:bodyPr>
          <a:lstStyle/>
          <a:p>
            <a:pPr algn="l">
              <a:lnSpc>
                <a:spcPct val="120000"/>
              </a:lnSpc>
              <a:spcAft>
                <a:spcPts val="600"/>
              </a:spcAft>
            </a:pPr>
            <a:r>
              <a:rPr sz="2200" b="0" i="0">
                <a:solidFill>
                  <a:srgbClr val="6B7B8D"/>
                </a:solidFill>
                <a:latin typeface="Quattrocento Sans"/>
              </a:rPr>
              <a:t>Structured logging, data drift detection with Evidently AI, retraining policy</a:t>
            </a:r>
          </a:p>
        </p:txBody>
      </p:sp>
      <p:sp>
        <p:nvSpPr>
          <p:cNvPr id="21" name="TextBox 20"/>
          <p:cNvSpPr txBox="1"/>
          <p:nvPr/>
        </p:nvSpPr>
        <p:spPr>
          <a:xfrm>
            <a:off x="16093440" y="8823960"/>
            <a:ext cx="6583680" cy="1097280"/>
          </a:xfrm>
          <a:prstGeom prst="rect">
            <a:avLst/>
          </a:prstGeom>
          <a:noFill/>
        </p:spPr>
        <p:txBody>
          <a:bodyPr wrap="square" lIns="0" tIns="0" rIns="0" bIns="0" anchor="ctr">
            <a:spAutoFit/>
          </a:bodyPr>
          <a:lstStyle/>
          <a:p>
            <a:pPr algn="r">
              <a:lnSpc>
                <a:spcPct val="120000"/>
              </a:lnSpc>
              <a:spcAft>
                <a:spcPts val="600"/>
              </a:spcAft>
            </a:pPr>
            <a:r>
              <a:rPr sz="3200" b="0" i="0">
                <a:solidFill>
                  <a:srgbClr val="1B2A4A"/>
                </a:solidFill>
                <a:latin typeface="Liter"/>
              </a:rPr>
              <a:t>13:15–14:45</a:t>
            </a:r>
          </a:p>
        </p:txBody>
      </p:sp>
      <p:sp>
        <p:nvSpPr>
          <p:cNvPr id="22" name="Rectangle 21"/>
          <p:cNvSpPr/>
          <p:nvPr/>
        </p:nvSpPr>
        <p:spPr>
          <a:xfrm>
            <a:off x="1645920" y="10332720"/>
            <a:ext cx="2103120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10607040"/>
            <a:ext cx="1280160" cy="1097280"/>
          </a:xfrm>
          <a:prstGeom prst="rect">
            <a:avLst/>
          </a:prstGeom>
          <a:noFill/>
        </p:spPr>
        <p:txBody>
          <a:bodyPr wrap="square" lIns="0" tIns="0" rIns="0" bIns="0" anchor="ctr">
            <a:spAutoFit/>
          </a:bodyPr>
          <a:lstStyle/>
          <a:p>
            <a:pPr algn="l">
              <a:lnSpc>
                <a:spcPct val="120000"/>
              </a:lnSpc>
              <a:spcAft>
                <a:spcPts val="600"/>
              </a:spcAft>
            </a:pPr>
            <a:r>
              <a:rPr sz="4800" b="0" i="0">
                <a:solidFill>
                  <a:srgbClr val="D4A03A"/>
                </a:solidFill>
                <a:latin typeface="Liter"/>
              </a:rPr>
              <a:t>04</a:t>
            </a:r>
          </a:p>
        </p:txBody>
      </p:sp>
      <p:sp>
        <p:nvSpPr>
          <p:cNvPr id="24" name="TextBox 23"/>
          <p:cNvSpPr txBox="1"/>
          <p:nvPr/>
        </p:nvSpPr>
        <p:spPr>
          <a:xfrm>
            <a:off x="3108960" y="10652760"/>
            <a:ext cx="12344400" cy="530915"/>
          </a:xfrm>
          <a:prstGeom prst="rect">
            <a:avLst/>
          </a:prstGeom>
          <a:noFill/>
        </p:spPr>
        <p:txBody>
          <a:bodyPr wrap="square" lIns="0" tIns="0" rIns="0" bIns="0" anchor="t">
            <a:spAutoFit/>
          </a:bodyPr>
          <a:lstStyle/>
          <a:p>
            <a:pPr algn="l">
              <a:lnSpc>
                <a:spcPct val="120000"/>
              </a:lnSpc>
              <a:spcAft>
                <a:spcPts val="600"/>
              </a:spcAft>
            </a:pPr>
            <a:r>
              <a:rPr lang="en-US" sz="3000" b="1" i="0" dirty="0">
                <a:solidFill>
                  <a:srgbClr val="1B2A4A"/>
                </a:solidFill>
                <a:latin typeface="Liter"/>
              </a:rPr>
              <a:t>Orchestration and </a:t>
            </a:r>
            <a:r>
              <a:rPr sz="3000" b="1" i="0" dirty="0">
                <a:solidFill>
                  <a:srgbClr val="1B2A4A"/>
                </a:solidFill>
                <a:latin typeface="Liter"/>
              </a:rPr>
              <a:t>Incident Handling</a:t>
            </a:r>
          </a:p>
        </p:txBody>
      </p:sp>
      <p:sp>
        <p:nvSpPr>
          <p:cNvPr id="25" name="TextBox 24"/>
          <p:cNvSpPr txBox="1"/>
          <p:nvPr/>
        </p:nvSpPr>
        <p:spPr>
          <a:xfrm>
            <a:off x="3108960" y="11338560"/>
            <a:ext cx="12344400" cy="384144"/>
          </a:xfrm>
          <a:prstGeom prst="rect">
            <a:avLst/>
          </a:prstGeom>
          <a:noFill/>
        </p:spPr>
        <p:txBody>
          <a:bodyPr wrap="square" lIns="0" tIns="0" rIns="0" bIns="0" anchor="t">
            <a:spAutoFit/>
          </a:bodyPr>
          <a:lstStyle/>
          <a:p>
            <a:pPr>
              <a:lnSpc>
                <a:spcPct val="120000"/>
              </a:lnSpc>
              <a:spcAft>
                <a:spcPts val="600"/>
              </a:spcAft>
            </a:pPr>
            <a:r>
              <a:rPr lang="en-ID" sz="2200" dirty="0">
                <a:solidFill>
                  <a:srgbClr val="6B7B8D"/>
                </a:solidFill>
                <a:latin typeface="Quattrocento Sans"/>
              </a:rPr>
              <a:t>orchestration with Prefect and incident response</a:t>
            </a:r>
            <a:endParaRPr sz="2200" b="0" i="0" dirty="0">
              <a:solidFill>
                <a:srgbClr val="6B7B8D"/>
              </a:solidFill>
              <a:latin typeface="Quattrocento Sans"/>
            </a:endParaRPr>
          </a:p>
        </p:txBody>
      </p:sp>
      <p:sp>
        <p:nvSpPr>
          <p:cNvPr id="26" name="TextBox 25"/>
          <p:cNvSpPr txBox="1"/>
          <p:nvPr/>
        </p:nvSpPr>
        <p:spPr>
          <a:xfrm>
            <a:off x="16093440" y="10607040"/>
            <a:ext cx="6583680" cy="1097280"/>
          </a:xfrm>
          <a:prstGeom prst="rect">
            <a:avLst/>
          </a:prstGeom>
          <a:noFill/>
        </p:spPr>
        <p:txBody>
          <a:bodyPr wrap="square" lIns="0" tIns="0" rIns="0" bIns="0" anchor="ctr">
            <a:spAutoFit/>
          </a:bodyPr>
          <a:lstStyle/>
          <a:p>
            <a:pPr algn="r">
              <a:lnSpc>
                <a:spcPct val="120000"/>
              </a:lnSpc>
              <a:spcAft>
                <a:spcPts val="600"/>
              </a:spcAft>
            </a:pPr>
            <a:r>
              <a:rPr sz="3200" b="0" i="0">
                <a:solidFill>
                  <a:srgbClr val="1B2A4A"/>
                </a:solidFill>
                <a:latin typeface="Liter"/>
              </a:rPr>
              <a:t>15:00–16:00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Where Day 3 Fits in the Programme</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CONTEXT</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3</a:t>
            </a:r>
          </a:p>
        </p:txBody>
      </p:sp>
      <p:sp>
        <p:nvSpPr>
          <p:cNvPr id="6" name="Rounded Rectangle 5"/>
          <p:cNvSpPr/>
          <p:nvPr/>
        </p:nvSpPr>
        <p:spPr>
          <a:xfrm>
            <a:off x="1014984" y="2514600"/>
            <a:ext cx="7174992" cy="8229600"/>
          </a:xfrm>
          <a:prstGeom prst="roundRect">
            <a:avLst>
              <a:gd name="adj" fmla="val 446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563624" y="3017520"/>
            <a:ext cx="822960" cy="73152"/>
          </a:xfrm>
          <a:prstGeom prst="rect">
            <a:avLst/>
          </a:prstGeom>
          <a:solidFill>
            <a:srgbClr val="4A5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63624" y="3246120"/>
            <a:ext cx="6077712" cy="82296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Day 1</a:t>
            </a:r>
          </a:p>
        </p:txBody>
      </p:sp>
      <p:sp>
        <p:nvSpPr>
          <p:cNvPr id="9" name="TextBox 8"/>
          <p:cNvSpPr txBox="1"/>
          <p:nvPr/>
        </p:nvSpPr>
        <p:spPr>
          <a:xfrm>
            <a:off x="1563624" y="4160520"/>
            <a:ext cx="6077712" cy="914400"/>
          </a:xfrm>
          <a:prstGeom prst="rect">
            <a:avLst/>
          </a:prstGeom>
          <a:noFill/>
        </p:spPr>
        <p:txBody>
          <a:bodyPr wrap="square" lIns="0" tIns="0" rIns="0" bIns="0" anchor="t">
            <a:spAutoFit/>
          </a:bodyPr>
          <a:lstStyle/>
          <a:p>
            <a:pPr algn="l">
              <a:lnSpc>
                <a:spcPct val="120000"/>
              </a:lnSpc>
              <a:spcAft>
                <a:spcPts val="600"/>
              </a:spcAft>
            </a:pPr>
            <a:r>
              <a:rPr sz="2600" b="0" i="1">
                <a:solidFill>
                  <a:srgbClr val="6B7B8D"/>
                </a:solidFill>
                <a:latin typeface="Quattrocento Sans"/>
              </a:rPr>
              <a:t>Foundations &amp; governance</a:t>
            </a:r>
          </a:p>
        </p:txBody>
      </p:sp>
      <p:sp>
        <p:nvSpPr>
          <p:cNvPr id="10" name="TextBox 9"/>
          <p:cNvSpPr txBox="1"/>
          <p:nvPr/>
        </p:nvSpPr>
        <p:spPr>
          <a:xfrm>
            <a:off x="1563624" y="5212079"/>
            <a:ext cx="6077712" cy="5166360"/>
          </a:xfrm>
          <a:prstGeom prst="rect">
            <a:avLst/>
          </a:prstGeom>
          <a:noFill/>
        </p:spPr>
        <p:txBody>
          <a:bodyPr wrap="square" lIns="0" tIns="0" rIns="0" bIns="0" anchor="t">
            <a:spAutoFit/>
          </a:bodyPr>
          <a:lstStyle/>
          <a:p>
            <a:pPr marL="452754" indent="-452754" algn="l">
              <a:lnSpc>
                <a:spcPct val="120000"/>
              </a:lnSpc>
              <a:spcAft>
                <a:spcPts val="1200"/>
              </a:spcAft>
              <a:buClr>
                <a:srgbClr val="4A5B7A"/>
              </a:buClr>
              <a:buFont typeface="Arial"/>
              <a:buChar char="•"/>
            </a:pPr>
            <a:r>
              <a:rPr sz="3100" b="0" i="0">
                <a:solidFill>
                  <a:srgbClr val="1E293B"/>
                </a:solidFill>
                <a:latin typeface="Quattrocento Sans"/>
              </a:rPr>
              <a:t>DevOps vs MLOps</a:t>
            </a:r>
          </a:p>
          <a:p>
            <a:pPr marL="452754" indent="-452754" algn="l">
              <a:lnSpc>
                <a:spcPct val="120000"/>
              </a:lnSpc>
              <a:spcAft>
                <a:spcPts val="1200"/>
              </a:spcAft>
              <a:buClr>
                <a:srgbClr val="4A5B7A"/>
              </a:buClr>
              <a:buFont typeface="Arial"/>
              <a:buChar char="•"/>
            </a:pPr>
            <a:r>
              <a:rPr sz="3100" b="0" i="0">
                <a:solidFill>
                  <a:srgbClr val="1E293B"/>
                </a:solidFill>
                <a:latin typeface="Quattrocento Sans"/>
              </a:rPr>
              <a:t>Data privacy</a:t>
            </a:r>
          </a:p>
          <a:p>
            <a:pPr marL="452754" indent="-452754" algn="l">
              <a:lnSpc>
                <a:spcPct val="120000"/>
              </a:lnSpc>
              <a:spcAft>
                <a:spcPts val="1200"/>
              </a:spcAft>
              <a:buClr>
                <a:srgbClr val="4A5B7A"/>
              </a:buClr>
              <a:buFont typeface="Arial"/>
              <a:buChar char="•"/>
            </a:pPr>
            <a:r>
              <a:rPr sz="3100" b="0" i="0">
                <a:solidFill>
                  <a:srgbClr val="1E293B"/>
                </a:solidFill>
                <a:latin typeface="Quattrocento Sans"/>
              </a:rPr>
              <a:t>MLOps maturity assessment</a:t>
            </a:r>
          </a:p>
          <a:p>
            <a:pPr marL="452754" indent="-452754" algn="l">
              <a:lnSpc>
                <a:spcPct val="120000"/>
              </a:lnSpc>
              <a:spcAft>
                <a:spcPts val="1200"/>
              </a:spcAft>
              <a:buClr>
                <a:srgbClr val="4A5B7A"/>
              </a:buClr>
              <a:buFont typeface="Arial"/>
              <a:buChar char="•"/>
            </a:pPr>
            <a:r>
              <a:rPr sz="3100" b="0" i="0">
                <a:solidFill>
                  <a:srgbClr val="1E293B"/>
                </a:solidFill>
                <a:latin typeface="Quattrocento Sans"/>
              </a:rPr>
              <a:t>MLSecOps</a:t>
            </a:r>
          </a:p>
        </p:txBody>
      </p:sp>
      <p:sp>
        <p:nvSpPr>
          <p:cNvPr id="11" name="Rounded Rectangle 10"/>
          <p:cNvSpPr/>
          <p:nvPr/>
        </p:nvSpPr>
        <p:spPr>
          <a:xfrm>
            <a:off x="8601456" y="2514600"/>
            <a:ext cx="7174992" cy="8229600"/>
          </a:xfrm>
          <a:prstGeom prst="roundRect">
            <a:avLst>
              <a:gd name="adj" fmla="val 446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50096" y="3017520"/>
            <a:ext cx="822960" cy="7315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50096" y="3246120"/>
            <a:ext cx="6077712" cy="82296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Day 2</a:t>
            </a:r>
          </a:p>
        </p:txBody>
      </p:sp>
      <p:sp>
        <p:nvSpPr>
          <p:cNvPr id="14" name="TextBox 13"/>
          <p:cNvSpPr txBox="1"/>
          <p:nvPr/>
        </p:nvSpPr>
        <p:spPr>
          <a:xfrm>
            <a:off x="9150096" y="4160520"/>
            <a:ext cx="6077712" cy="914400"/>
          </a:xfrm>
          <a:prstGeom prst="rect">
            <a:avLst/>
          </a:prstGeom>
          <a:noFill/>
        </p:spPr>
        <p:txBody>
          <a:bodyPr wrap="square" lIns="0" tIns="0" rIns="0" bIns="0" anchor="t">
            <a:spAutoFit/>
          </a:bodyPr>
          <a:lstStyle/>
          <a:p>
            <a:pPr algn="l">
              <a:lnSpc>
                <a:spcPct val="120000"/>
              </a:lnSpc>
              <a:spcAft>
                <a:spcPts val="600"/>
              </a:spcAft>
            </a:pPr>
            <a:r>
              <a:rPr sz="2600" b="0" i="1">
                <a:solidFill>
                  <a:srgbClr val="6B7B8D"/>
                </a:solidFill>
                <a:latin typeface="Quattrocento Sans"/>
              </a:rPr>
              <a:t>Data &amp; reproducibility</a:t>
            </a:r>
          </a:p>
        </p:txBody>
      </p:sp>
      <p:sp>
        <p:nvSpPr>
          <p:cNvPr id="15" name="TextBox 14"/>
          <p:cNvSpPr txBox="1"/>
          <p:nvPr/>
        </p:nvSpPr>
        <p:spPr>
          <a:xfrm>
            <a:off x="9150096" y="5212079"/>
            <a:ext cx="6077712" cy="5166360"/>
          </a:xfrm>
          <a:prstGeom prst="rect">
            <a:avLst/>
          </a:prstGeom>
          <a:noFill/>
        </p:spPr>
        <p:txBody>
          <a:bodyPr wrap="square" lIns="0" tIns="0" rIns="0" bIns="0" anchor="t">
            <a:spAutoFit/>
          </a:bodyPr>
          <a:lstStyle/>
          <a:p>
            <a:pPr marL="452754" indent="-452754" algn="l">
              <a:lnSpc>
                <a:spcPct val="120000"/>
              </a:lnSpc>
              <a:spcAft>
                <a:spcPts val="1200"/>
              </a:spcAft>
              <a:buClr>
                <a:srgbClr val="1B2A4A"/>
              </a:buClr>
              <a:buFont typeface="Arial"/>
              <a:buChar char="•"/>
            </a:pPr>
            <a:r>
              <a:rPr sz="3100" b="0" i="0">
                <a:solidFill>
                  <a:srgbClr val="1E293B"/>
                </a:solidFill>
                <a:latin typeface="Quattrocento Sans"/>
              </a:rPr>
              <a:t>Data management &amp; feature stores</a:t>
            </a:r>
          </a:p>
          <a:p>
            <a:pPr marL="452754" indent="-452754" algn="l">
              <a:lnSpc>
                <a:spcPct val="120000"/>
              </a:lnSpc>
              <a:spcAft>
                <a:spcPts val="1200"/>
              </a:spcAft>
              <a:buClr>
                <a:srgbClr val="1B2A4A"/>
              </a:buClr>
              <a:buFont typeface="Arial"/>
              <a:buChar char="•"/>
            </a:pPr>
            <a:r>
              <a:rPr sz="3100" b="0" i="0">
                <a:solidFill>
                  <a:srgbClr val="1E293B"/>
                </a:solidFill>
                <a:latin typeface="Quattrocento Sans"/>
              </a:rPr>
              <a:t>Data pipelines</a:t>
            </a:r>
          </a:p>
          <a:p>
            <a:pPr marL="452754" indent="-452754" algn="l">
              <a:lnSpc>
                <a:spcPct val="120000"/>
              </a:lnSpc>
              <a:spcAft>
                <a:spcPts val="1200"/>
              </a:spcAft>
              <a:buClr>
                <a:srgbClr val="1B2A4A"/>
              </a:buClr>
              <a:buFont typeface="Arial"/>
              <a:buChar char="•"/>
            </a:pPr>
            <a:r>
              <a:rPr sz="3100" b="0" i="0">
                <a:solidFill>
                  <a:srgbClr val="1E293B"/>
                </a:solidFill>
                <a:latin typeface="Quattrocento Sans"/>
              </a:rPr>
              <a:t>Reproducibility &amp; versioning (DVC)</a:t>
            </a:r>
          </a:p>
          <a:p>
            <a:pPr marL="452754" indent="-452754" algn="l">
              <a:lnSpc>
                <a:spcPct val="120000"/>
              </a:lnSpc>
              <a:spcAft>
                <a:spcPts val="1200"/>
              </a:spcAft>
              <a:buClr>
                <a:srgbClr val="1B2A4A"/>
              </a:buClr>
              <a:buFont typeface="Arial"/>
              <a:buChar char="•"/>
            </a:pPr>
            <a:r>
              <a:rPr sz="3100" b="0" i="0">
                <a:solidFill>
                  <a:srgbClr val="1E293B"/>
                </a:solidFill>
                <a:latin typeface="Quattrocento Sans"/>
              </a:rPr>
              <a:t>Repositories, containers, registries</a:t>
            </a:r>
          </a:p>
        </p:txBody>
      </p:sp>
      <p:sp>
        <p:nvSpPr>
          <p:cNvPr id="16" name="Rounded Rectangle 15"/>
          <p:cNvSpPr/>
          <p:nvPr/>
        </p:nvSpPr>
        <p:spPr>
          <a:xfrm>
            <a:off x="16187928" y="2514600"/>
            <a:ext cx="7174992" cy="8229600"/>
          </a:xfrm>
          <a:prstGeom prst="roundRect">
            <a:avLst>
              <a:gd name="adj" fmla="val 446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6736568" y="3017520"/>
            <a:ext cx="822960" cy="73152"/>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736568" y="3246120"/>
            <a:ext cx="6077712" cy="82296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Day 3 — today</a:t>
            </a:r>
          </a:p>
        </p:txBody>
      </p:sp>
      <p:sp>
        <p:nvSpPr>
          <p:cNvPr id="19" name="TextBox 18"/>
          <p:cNvSpPr txBox="1"/>
          <p:nvPr/>
        </p:nvSpPr>
        <p:spPr>
          <a:xfrm>
            <a:off x="16736568" y="4160520"/>
            <a:ext cx="6077712" cy="914400"/>
          </a:xfrm>
          <a:prstGeom prst="rect">
            <a:avLst/>
          </a:prstGeom>
          <a:noFill/>
        </p:spPr>
        <p:txBody>
          <a:bodyPr wrap="square" lIns="0" tIns="0" rIns="0" bIns="0" anchor="t">
            <a:spAutoFit/>
          </a:bodyPr>
          <a:lstStyle/>
          <a:p>
            <a:pPr algn="l">
              <a:lnSpc>
                <a:spcPct val="120000"/>
              </a:lnSpc>
              <a:spcAft>
                <a:spcPts val="600"/>
              </a:spcAft>
            </a:pPr>
            <a:r>
              <a:rPr sz="2600" b="0" i="1">
                <a:solidFill>
                  <a:srgbClr val="6B7B8D"/>
                </a:solidFill>
                <a:latin typeface="Quattrocento Sans"/>
              </a:rPr>
              <a:t>Operating models in production</a:t>
            </a:r>
          </a:p>
        </p:txBody>
      </p:sp>
      <p:sp>
        <p:nvSpPr>
          <p:cNvPr id="20" name="TextBox 19"/>
          <p:cNvSpPr txBox="1"/>
          <p:nvPr/>
        </p:nvSpPr>
        <p:spPr>
          <a:xfrm>
            <a:off x="16736568" y="5212079"/>
            <a:ext cx="6077712" cy="5166360"/>
          </a:xfrm>
          <a:prstGeom prst="rect">
            <a:avLst/>
          </a:prstGeom>
          <a:noFill/>
        </p:spPr>
        <p:txBody>
          <a:bodyPr wrap="square" lIns="0" tIns="0" rIns="0" bIns="0" anchor="t">
            <a:spAutoFit/>
          </a:bodyPr>
          <a:lstStyle/>
          <a:p>
            <a:pPr marL="452754" indent="-452754" algn="l">
              <a:lnSpc>
                <a:spcPct val="120000"/>
              </a:lnSpc>
              <a:spcAft>
                <a:spcPts val="1200"/>
              </a:spcAft>
              <a:buClr>
                <a:srgbClr val="D4A03A"/>
              </a:buClr>
              <a:buFont typeface="Arial"/>
              <a:buChar char="•"/>
            </a:pPr>
            <a:r>
              <a:rPr sz="3100" b="0" i="0">
                <a:solidFill>
                  <a:srgbClr val="1E293B"/>
                </a:solidFill>
                <a:latin typeface="Quattrocento Sans"/>
              </a:rPr>
              <a:t>CI/CD/CT</a:t>
            </a:r>
          </a:p>
          <a:p>
            <a:pPr marL="452754" indent="-452754" algn="l">
              <a:lnSpc>
                <a:spcPct val="120000"/>
              </a:lnSpc>
              <a:spcAft>
                <a:spcPts val="1200"/>
              </a:spcAft>
              <a:buClr>
                <a:srgbClr val="D4A03A"/>
              </a:buClr>
              <a:buFont typeface="Arial"/>
              <a:buChar char="•"/>
            </a:pPr>
            <a:r>
              <a:rPr sz="3100" b="0" i="0">
                <a:solidFill>
                  <a:srgbClr val="1E293B"/>
                </a:solidFill>
                <a:latin typeface="Quattrocento Sans"/>
              </a:rPr>
              <a:t>Deployment strategies</a:t>
            </a:r>
          </a:p>
          <a:p>
            <a:pPr marL="452754" indent="-452754" algn="l">
              <a:lnSpc>
                <a:spcPct val="120000"/>
              </a:lnSpc>
              <a:spcAft>
                <a:spcPts val="1200"/>
              </a:spcAft>
              <a:buClr>
                <a:srgbClr val="D4A03A"/>
              </a:buClr>
              <a:buFont typeface="Arial"/>
              <a:buChar char="•"/>
            </a:pPr>
            <a:r>
              <a:rPr sz="3100" b="0" i="0">
                <a:solidFill>
                  <a:srgbClr val="1E293B"/>
                </a:solidFill>
                <a:latin typeface="Quattrocento Sans"/>
              </a:rPr>
              <a:t>Monitoring &amp; observability</a:t>
            </a:r>
          </a:p>
          <a:p>
            <a:pPr marL="452754" indent="-452754" algn="l">
              <a:lnSpc>
                <a:spcPct val="120000"/>
              </a:lnSpc>
              <a:spcAft>
                <a:spcPts val="1200"/>
              </a:spcAft>
              <a:buClr>
                <a:srgbClr val="D4A03A"/>
              </a:buClr>
              <a:buFont typeface="Arial"/>
              <a:buChar char="•"/>
            </a:pPr>
            <a:r>
              <a:rPr sz="3100" b="0" i="0">
                <a:solidFill>
                  <a:srgbClr val="1E293B"/>
                </a:solidFill>
                <a:latin typeface="Quattrocento Sans"/>
              </a:rPr>
              <a:t>Incident handling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70D43-A628-F72A-67A2-829F227B249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ADA0EB-332D-DF31-95DF-B5D9D002E6E1}"/>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Our Today’s Journey for </a:t>
            </a:r>
            <a:r>
              <a:rPr lang="en-US" sz="4400" b="1" i="0" dirty="0" err="1">
                <a:solidFill>
                  <a:srgbClr val="1B2A4A"/>
                </a:solidFill>
                <a:latin typeface="Liter"/>
              </a:rPr>
              <a:t>MLOps</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BE8E22E7-490D-3509-B758-6442022EE591}"/>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B9E75A5-BE11-4DB6-C24D-A799E54B4308}"/>
              </a:ext>
            </a:extLst>
          </p:cNvPr>
          <p:cNvSpPr txBox="1"/>
          <p:nvPr/>
        </p:nvSpPr>
        <p:spPr>
          <a:xfrm>
            <a:off x="2011680" y="1550063"/>
            <a:ext cx="10972800" cy="283154"/>
          </a:xfrm>
          <a:prstGeom prst="rect">
            <a:avLst/>
          </a:prstGeom>
          <a:noFill/>
        </p:spPr>
        <p:txBody>
          <a:bodyPr wrap="square" lIns="0" tIns="0" rIns="0" bIns="0" anchor="ctr">
            <a:spAutoFit/>
          </a:bodyPr>
          <a:lstStyle/>
          <a:p>
            <a:pPr algn="l">
              <a:lnSpc>
                <a:spcPct val="120000"/>
              </a:lnSpc>
              <a:spcAft>
                <a:spcPts val="600"/>
              </a:spcAft>
            </a:pPr>
            <a:r>
              <a:rPr lang="en-US" sz="1600" b="1" spc="300" dirty="0">
                <a:solidFill>
                  <a:srgbClr val="D4A03A"/>
                </a:solidFill>
                <a:latin typeface="Liter"/>
              </a:rPr>
              <a:t>Topics</a:t>
            </a:r>
            <a:endParaRPr sz="1600" b="1" i="0" spc="300" dirty="0">
              <a:solidFill>
                <a:srgbClr val="D4A03A"/>
              </a:solidFill>
              <a:latin typeface="Liter"/>
            </a:endParaRPr>
          </a:p>
        </p:txBody>
      </p:sp>
      <p:sp>
        <p:nvSpPr>
          <p:cNvPr id="5" name="TextBox 4">
            <a:extLst>
              <a:ext uri="{FF2B5EF4-FFF2-40B4-BE49-F238E27FC236}">
                <a16:creationId xmlns:a16="http://schemas.microsoft.com/office/drawing/2014/main" id="{809D7DE5-147E-8C3C-F508-E0A93A5FA32E}"/>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a:t>
            </a:r>
          </a:p>
        </p:txBody>
      </p:sp>
      <p:pic>
        <p:nvPicPr>
          <p:cNvPr id="7" name="Picture 6" descr="A diagram of a model monitoring process&#10;&#10;AI-generated content may be incorrect.">
            <a:extLst>
              <a:ext uri="{FF2B5EF4-FFF2-40B4-BE49-F238E27FC236}">
                <a16:creationId xmlns:a16="http://schemas.microsoft.com/office/drawing/2014/main" id="{1A1E93AD-C428-41EB-69A8-AA204F340C25}"/>
              </a:ext>
            </a:extLst>
          </p:cNvPr>
          <p:cNvPicPr>
            <a:picLocks noChangeAspect="1"/>
          </p:cNvPicPr>
          <p:nvPr/>
        </p:nvPicPr>
        <p:blipFill>
          <a:blip r:embed="rId3"/>
          <a:stretch>
            <a:fillRect/>
          </a:stretch>
        </p:blipFill>
        <p:spPr>
          <a:xfrm>
            <a:off x="1773936" y="2172757"/>
            <a:ext cx="19399528" cy="11131763"/>
          </a:xfrm>
          <a:prstGeom prst="rect">
            <a:avLst/>
          </a:prstGeom>
        </p:spPr>
      </p:pic>
    </p:spTree>
    <p:extLst>
      <p:ext uri="{BB962C8B-B14F-4D97-AF65-F5344CB8AC3E}">
        <p14:creationId xmlns:p14="http://schemas.microsoft.com/office/powerpoint/2010/main" val="387081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01040-BE60-F521-B8B9-B79ABE7302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AE33A6A-EC32-8A43-596B-635117C68FEE}"/>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err="1">
                <a:solidFill>
                  <a:srgbClr val="1B2A4A"/>
                </a:solidFill>
                <a:latin typeface="Liter"/>
              </a:rPr>
              <a:t>MLOps</a:t>
            </a:r>
            <a:r>
              <a:rPr lang="en-US" sz="4400" b="1" i="0" dirty="0">
                <a:solidFill>
                  <a:srgbClr val="1B2A4A"/>
                </a:solidFill>
                <a:latin typeface="Liter"/>
              </a:rPr>
              <a:t> Tools </a:t>
            </a:r>
            <a:r>
              <a:rPr lang="en-US" sz="4400" b="1" dirty="0">
                <a:solidFill>
                  <a:srgbClr val="1B2A4A"/>
                </a:solidFill>
                <a:latin typeface="Liter"/>
                <a:sym typeface="Wingdings" pitchFamily="2" charset="2"/>
              </a:rPr>
              <a:t>for CI/CD/CT</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635DDB06-13B6-CE1E-41F7-FE2238ED007F}"/>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6E21D74-0195-BDAA-5CF0-14C9EFFBB550}"/>
              </a:ext>
            </a:extLst>
          </p:cNvPr>
          <p:cNvSpPr txBox="1"/>
          <p:nvPr/>
        </p:nvSpPr>
        <p:spPr>
          <a:xfrm>
            <a:off x="2011680" y="1550063"/>
            <a:ext cx="10972800" cy="283154"/>
          </a:xfrm>
          <a:prstGeom prst="rect">
            <a:avLst/>
          </a:prstGeom>
          <a:noFill/>
        </p:spPr>
        <p:txBody>
          <a:bodyPr wrap="square" lIns="0" tIns="0" rIns="0" bIns="0" anchor="ctr">
            <a:spAutoFit/>
          </a:bodyPr>
          <a:lstStyle/>
          <a:p>
            <a:pPr algn="l">
              <a:lnSpc>
                <a:spcPct val="120000"/>
              </a:lnSpc>
              <a:spcAft>
                <a:spcPts val="600"/>
              </a:spcAft>
            </a:pPr>
            <a:r>
              <a:rPr lang="en-US" sz="1600" b="1" spc="300" dirty="0">
                <a:solidFill>
                  <a:srgbClr val="D4A03A"/>
                </a:solidFill>
                <a:latin typeface="Liter"/>
              </a:rPr>
              <a:t>Topics</a:t>
            </a:r>
            <a:endParaRPr sz="1600" b="1" i="0" spc="300" dirty="0">
              <a:solidFill>
                <a:srgbClr val="D4A03A"/>
              </a:solidFill>
              <a:latin typeface="Liter"/>
            </a:endParaRPr>
          </a:p>
        </p:txBody>
      </p:sp>
      <p:sp>
        <p:nvSpPr>
          <p:cNvPr id="5" name="TextBox 4">
            <a:extLst>
              <a:ext uri="{FF2B5EF4-FFF2-40B4-BE49-F238E27FC236}">
                <a16:creationId xmlns:a16="http://schemas.microsoft.com/office/drawing/2014/main" id="{2A581F27-36F7-0177-C7EF-50D2A0D732E4}"/>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a:t>
            </a:r>
          </a:p>
        </p:txBody>
      </p:sp>
      <p:graphicFrame>
        <p:nvGraphicFramePr>
          <p:cNvPr id="6" name="Table 5">
            <a:extLst>
              <a:ext uri="{FF2B5EF4-FFF2-40B4-BE49-F238E27FC236}">
                <a16:creationId xmlns:a16="http://schemas.microsoft.com/office/drawing/2014/main" id="{2D04EE49-6DA2-1C07-AFE5-A3FC9846DCF4}"/>
              </a:ext>
            </a:extLst>
          </p:cNvPr>
          <p:cNvGraphicFramePr>
            <a:graphicFrameLocks noGrp="1"/>
          </p:cNvGraphicFramePr>
          <p:nvPr>
            <p:extLst>
              <p:ext uri="{D42A27DB-BD31-4B8C-83A1-F6EECF244321}">
                <p14:modId xmlns:p14="http://schemas.microsoft.com/office/powerpoint/2010/main" val="5215784"/>
              </p:ext>
            </p:extLst>
          </p:nvPr>
        </p:nvGraphicFramePr>
        <p:xfrm>
          <a:off x="1394460" y="2617782"/>
          <a:ext cx="21570044" cy="9443154"/>
        </p:xfrm>
        <a:graphic>
          <a:graphicData uri="http://schemas.openxmlformats.org/drawingml/2006/table">
            <a:tbl>
              <a:tblPr firstRow="1" bandRow="1">
                <a:tableStyleId>{073A0DAA-6AF3-43AB-8588-CEC1D06C72B9}</a:tableStyleId>
              </a:tblPr>
              <a:tblGrid>
                <a:gridCol w="1650975">
                  <a:extLst>
                    <a:ext uri="{9D8B030D-6E8A-4147-A177-3AD203B41FA5}">
                      <a16:colId xmlns:a16="http://schemas.microsoft.com/office/drawing/2014/main" val="1542589736"/>
                    </a:ext>
                  </a:extLst>
                </a:gridCol>
                <a:gridCol w="5303919">
                  <a:extLst>
                    <a:ext uri="{9D8B030D-6E8A-4147-A177-3AD203B41FA5}">
                      <a16:colId xmlns:a16="http://schemas.microsoft.com/office/drawing/2014/main" val="711831836"/>
                    </a:ext>
                  </a:extLst>
                </a:gridCol>
                <a:gridCol w="14615150">
                  <a:extLst>
                    <a:ext uri="{9D8B030D-6E8A-4147-A177-3AD203B41FA5}">
                      <a16:colId xmlns:a16="http://schemas.microsoft.com/office/drawing/2014/main" val="2200954522"/>
                    </a:ext>
                  </a:extLst>
                </a:gridCol>
              </a:tblGrid>
              <a:tr h="1349022">
                <a:tc>
                  <a:txBody>
                    <a:bodyPr/>
                    <a:lstStyle/>
                    <a:p>
                      <a:pPr algn="ctr"/>
                      <a:r>
                        <a:rPr lang="en-US" sz="3600" dirty="0"/>
                        <a:t>No</a:t>
                      </a:r>
                    </a:p>
                  </a:txBody>
                  <a:tcPr anchor="ctr"/>
                </a:tc>
                <a:tc>
                  <a:txBody>
                    <a:bodyPr/>
                    <a:lstStyle/>
                    <a:p>
                      <a:pPr algn="ctr"/>
                      <a:r>
                        <a:rPr lang="en-US" sz="3600" dirty="0"/>
                        <a:t>Phase</a:t>
                      </a:r>
                    </a:p>
                  </a:txBody>
                  <a:tcPr anchor="ctr"/>
                </a:tc>
                <a:tc>
                  <a:txBody>
                    <a:bodyPr/>
                    <a:lstStyle/>
                    <a:p>
                      <a:pPr algn="ctr"/>
                      <a:r>
                        <a:rPr lang="en-US" sz="3600" dirty="0"/>
                        <a:t>Tools</a:t>
                      </a:r>
                    </a:p>
                  </a:txBody>
                  <a:tcPr anchor="ctr"/>
                </a:tc>
                <a:extLst>
                  <a:ext uri="{0D108BD9-81ED-4DB2-BD59-A6C34878D82A}">
                    <a16:rowId xmlns:a16="http://schemas.microsoft.com/office/drawing/2014/main" val="3157965100"/>
                  </a:ext>
                </a:extLst>
              </a:tr>
              <a:tr h="1349022">
                <a:tc>
                  <a:txBody>
                    <a:bodyPr/>
                    <a:lstStyle/>
                    <a:p>
                      <a:pPr algn="ctr"/>
                      <a:r>
                        <a:rPr lang="en-US" sz="4000" dirty="0"/>
                        <a:t>1</a:t>
                      </a:r>
                    </a:p>
                  </a:txBody>
                  <a:tcPr anchor="ctr"/>
                </a:tc>
                <a:tc>
                  <a:txBody>
                    <a:bodyPr/>
                    <a:lstStyle/>
                    <a:p>
                      <a:r>
                        <a:rPr lang="en-US" sz="4000" dirty="0"/>
                        <a:t>Model Development</a:t>
                      </a:r>
                    </a:p>
                  </a:txBody>
                  <a:tcPr anchor="ctr"/>
                </a:tc>
                <a:tc>
                  <a:txBody>
                    <a:bodyPr/>
                    <a:lstStyle/>
                    <a:p>
                      <a:r>
                        <a:rPr lang="en-US" sz="4000" b="1" dirty="0">
                          <a:solidFill>
                            <a:srgbClr val="0070C0"/>
                          </a:solidFill>
                        </a:rPr>
                        <a:t>Scikit-learn</a:t>
                      </a:r>
                      <a:r>
                        <a:rPr lang="en-US" sz="4000" dirty="0"/>
                        <a:t>, </a:t>
                      </a:r>
                      <a:r>
                        <a:rPr lang="en-US" sz="4000" dirty="0" err="1"/>
                        <a:t>XGBoost</a:t>
                      </a:r>
                      <a:r>
                        <a:rPr lang="en-US" sz="4000" dirty="0"/>
                        <a:t>, TensorFlow, </a:t>
                      </a:r>
                      <a:r>
                        <a:rPr lang="en-US" sz="4000" dirty="0" err="1"/>
                        <a:t>PyTorch</a:t>
                      </a:r>
                      <a:r>
                        <a:rPr lang="en-US" sz="4000" dirty="0"/>
                        <a:t>, </a:t>
                      </a:r>
                      <a:r>
                        <a:rPr lang="en-US" sz="4000" dirty="0" err="1"/>
                        <a:t>Keras</a:t>
                      </a:r>
                      <a:r>
                        <a:rPr lang="en-US" sz="4000" dirty="0"/>
                        <a:t>, Spark </a:t>
                      </a:r>
                      <a:r>
                        <a:rPr lang="en-US" sz="4000" dirty="0" err="1"/>
                        <a:t>Mlib</a:t>
                      </a:r>
                      <a:r>
                        <a:rPr lang="en-US" sz="4000" dirty="0"/>
                        <a:t>, etc.</a:t>
                      </a:r>
                    </a:p>
                  </a:txBody>
                  <a:tcPr anchor="ctr"/>
                </a:tc>
                <a:extLst>
                  <a:ext uri="{0D108BD9-81ED-4DB2-BD59-A6C34878D82A}">
                    <a16:rowId xmlns:a16="http://schemas.microsoft.com/office/drawing/2014/main" val="3772131317"/>
                  </a:ext>
                </a:extLst>
              </a:tr>
              <a:tr h="1349022">
                <a:tc>
                  <a:txBody>
                    <a:bodyPr/>
                    <a:lstStyle/>
                    <a:p>
                      <a:pPr algn="ctr"/>
                      <a:r>
                        <a:rPr lang="en-US" sz="4000" dirty="0"/>
                        <a:t>2</a:t>
                      </a:r>
                    </a:p>
                  </a:txBody>
                  <a:tcPr anchor="ctr"/>
                </a:tc>
                <a:tc>
                  <a:txBody>
                    <a:bodyPr/>
                    <a:lstStyle/>
                    <a:p>
                      <a:r>
                        <a:rPr lang="en-US" sz="4000" dirty="0"/>
                        <a:t>Model Tracking and Registry</a:t>
                      </a:r>
                    </a:p>
                  </a:txBody>
                  <a:tcPr anchor="ctr"/>
                </a:tc>
                <a:tc>
                  <a:txBody>
                    <a:bodyPr/>
                    <a:lstStyle/>
                    <a:p>
                      <a:r>
                        <a:rPr lang="en-US" sz="4000" b="1" dirty="0" err="1">
                          <a:solidFill>
                            <a:srgbClr val="0070C0"/>
                          </a:solidFill>
                        </a:rPr>
                        <a:t>MLFlow</a:t>
                      </a:r>
                      <a:r>
                        <a:rPr lang="en-US" sz="4000" dirty="0"/>
                        <a:t>, Databricks, Clear ML, Comet, Kubeflow, </a:t>
                      </a:r>
                      <a:r>
                        <a:rPr lang="en-US" sz="4000" dirty="0" err="1"/>
                        <a:t>Valohai</a:t>
                      </a:r>
                      <a:r>
                        <a:rPr lang="en-US" sz="4000" dirty="0"/>
                        <a:t>, etc.</a:t>
                      </a:r>
                    </a:p>
                  </a:txBody>
                  <a:tcPr anchor="ctr"/>
                </a:tc>
                <a:extLst>
                  <a:ext uri="{0D108BD9-81ED-4DB2-BD59-A6C34878D82A}">
                    <a16:rowId xmlns:a16="http://schemas.microsoft.com/office/drawing/2014/main" val="3381712422"/>
                  </a:ext>
                </a:extLst>
              </a:tr>
              <a:tr h="1349022">
                <a:tc>
                  <a:txBody>
                    <a:bodyPr/>
                    <a:lstStyle/>
                    <a:p>
                      <a:pPr algn="ctr"/>
                      <a:r>
                        <a:rPr lang="en-US" sz="4000" dirty="0"/>
                        <a:t>3</a:t>
                      </a:r>
                    </a:p>
                  </a:txBody>
                  <a:tcPr anchor="ctr"/>
                </a:tc>
                <a:tc>
                  <a:txBody>
                    <a:bodyPr/>
                    <a:lstStyle/>
                    <a:p>
                      <a:r>
                        <a:rPr lang="en-US" sz="4000" dirty="0"/>
                        <a:t>Model Deployment Env.</a:t>
                      </a:r>
                    </a:p>
                  </a:txBody>
                  <a:tcPr anchor="ctr"/>
                </a:tc>
                <a:tc>
                  <a:txBody>
                    <a:bodyPr/>
                    <a:lstStyle/>
                    <a:p>
                      <a:r>
                        <a:rPr lang="en-US" sz="4000" b="1" dirty="0">
                          <a:solidFill>
                            <a:srgbClr val="0070C0"/>
                          </a:solidFill>
                        </a:rPr>
                        <a:t>Docker Desktop</a:t>
                      </a:r>
                      <a:r>
                        <a:rPr lang="en-US" sz="4000" dirty="0"/>
                        <a:t>, Google Cloud Run, AWS, etc.</a:t>
                      </a:r>
                    </a:p>
                  </a:txBody>
                  <a:tcPr anchor="ctr"/>
                </a:tc>
                <a:extLst>
                  <a:ext uri="{0D108BD9-81ED-4DB2-BD59-A6C34878D82A}">
                    <a16:rowId xmlns:a16="http://schemas.microsoft.com/office/drawing/2014/main" val="3943657396"/>
                  </a:ext>
                </a:extLst>
              </a:tr>
              <a:tr h="1349022">
                <a:tc>
                  <a:txBody>
                    <a:bodyPr/>
                    <a:lstStyle/>
                    <a:p>
                      <a:pPr algn="ctr"/>
                      <a:r>
                        <a:rPr lang="en-US" sz="4000" dirty="0"/>
                        <a:t>4</a:t>
                      </a:r>
                    </a:p>
                  </a:txBody>
                  <a:tcPr anchor="ctr"/>
                </a:tc>
                <a:tc>
                  <a:txBody>
                    <a:bodyPr/>
                    <a:lstStyle/>
                    <a:p>
                      <a:r>
                        <a:rPr lang="en-US" sz="4000" dirty="0"/>
                        <a:t>Model Deployment</a:t>
                      </a:r>
                    </a:p>
                  </a:txBody>
                  <a:tcPr anchor="ctr"/>
                </a:tc>
                <a:tc>
                  <a:txBody>
                    <a:bodyPr/>
                    <a:lstStyle/>
                    <a:p>
                      <a:r>
                        <a:rPr lang="en-US" sz="4000" b="1" dirty="0">
                          <a:solidFill>
                            <a:srgbClr val="0070C0"/>
                          </a:solidFill>
                        </a:rPr>
                        <a:t>FAST API</a:t>
                      </a:r>
                      <a:r>
                        <a:rPr lang="en-US" sz="4000" dirty="0"/>
                        <a:t>, Flask, </a:t>
                      </a:r>
                      <a:r>
                        <a:rPr lang="en-US" sz="4000" dirty="0" err="1"/>
                        <a:t>BentoML</a:t>
                      </a:r>
                      <a:r>
                        <a:rPr lang="en-US" sz="4000" dirty="0"/>
                        <a:t>, SageMaker, </a:t>
                      </a:r>
                      <a:r>
                        <a:rPr lang="en-US" sz="4000" dirty="0" err="1"/>
                        <a:t>Kserve</a:t>
                      </a:r>
                      <a:r>
                        <a:rPr lang="en-US" sz="4000" dirty="0"/>
                        <a:t>, etc.</a:t>
                      </a:r>
                    </a:p>
                  </a:txBody>
                  <a:tcPr anchor="ctr"/>
                </a:tc>
                <a:extLst>
                  <a:ext uri="{0D108BD9-81ED-4DB2-BD59-A6C34878D82A}">
                    <a16:rowId xmlns:a16="http://schemas.microsoft.com/office/drawing/2014/main" val="3395322344"/>
                  </a:ext>
                </a:extLst>
              </a:tr>
              <a:tr h="1349022">
                <a:tc>
                  <a:txBody>
                    <a:bodyPr/>
                    <a:lstStyle/>
                    <a:p>
                      <a:pPr algn="ctr"/>
                      <a:r>
                        <a:rPr lang="en-US" sz="4000" dirty="0"/>
                        <a:t>5</a:t>
                      </a:r>
                    </a:p>
                  </a:txBody>
                  <a:tcPr anchor="ctr"/>
                </a:tc>
                <a:tc>
                  <a:txBody>
                    <a:bodyPr/>
                    <a:lstStyle/>
                    <a:p>
                      <a:r>
                        <a:rPr lang="en-US" sz="4000" dirty="0"/>
                        <a:t>Model Monitoring</a:t>
                      </a:r>
                    </a:p>
                  </a:txBody>
                  <a:tcPr anchor="ctr"/>
                </a:tc>
                <a:tc>
                  <a:txBody>
                    <a:bodyPr/>
                    <a:lstStyle/>
                    <a:p>
                      <a:r>
                        <a:rPr lang="en-US" sz="4000" b="1" dirty="0">
                          <a:solidFill>
                            <a:srgbClr val="0070C0"/>
                          </a:solidFill>
                        </a:rPr>
                        <a:t>Evidently AI</a:t>
                      </a:r>
                      <a:r>
                        <a:rPr lang="en-US" sz="4000" dirty="0"/>
                        <a:t>, </a:t>
                      </a:r>
                      <a:r>
                        <a:rPr lang="en-US" sz="4000" dirty="0" err="1"/>
                        <a:t>NannyML</a:t>
                      </a:r>
                      <a:r>
                        <a:rPr lang="en-US" sz="4000" dirty="0"/>
                        <a:t>, </a:t>
                      </a:r>
                      <a:r>
                        <a:rPr lang="en-US" sz="4000" dirty="0" err="1"/>
                        <a:t>Arize</a:t>
                      </a:r>
                      <a:r>
                        <a:rPr lang="en-US" sz="4000" dirty="0"/>
                        <a:t> AI, Fiddler AI, </a:t>
                      </a:r>
                      <a:r>
                        <a:rPr lang="en-US" sz="4000" dirty="0" err="1"/>
                        <a:t>WhyLabs</a:t>
                      </a:r>
                      <a:r>
                        <a:rPr lang="en-US" sz="4000" dirty="0"/>
                        <a:t>, etc.</a:t>
                      </a:r>
                    </a:p>
                  </a:txBody>
                  <a:tcPr anchor="ctr"/>
                </a:tc>
                <a:extLst>
                  <a:ext uri="{0D108BD9-81ED-4DB2-BD59-A6C34878D82A}">
                    <a16:rowId xmlns:a16="http://schemas.microsoft.com/office/drawing/2014/main" val="1457093716"/>
                  </a:ext>
                </a:extLst>
              </a:tr>
              <a:tr h="1349022">
                <a:tc>
                  <a:txBody>
                    <a:bodyPr/>
                    <a:lstStyle/>
                    <a:p>
                      <a:pPr algn="ctr"/>
                      <a:r>
                        <a:rPr lang="en-US" sz="4000" dirty="0"/>
                        <a:t>6</a:t>
                      </a:r>
                    </a:p>
                  </a:txBody>
                  <a:tcPr anchor="ctr"/>
                </a:tc>
                <a:tc>
                  <a:txBody>
                    <a:bodyPr/>
                    <a:lstStyle/>
                    <a:p>
                      <a:r>
                        <a:rPr lang="en-US" sz="4000" dirty="0"/>
                        <a:t>Orchestration</a:t>
                      </a:r>
                    </a:p>
                  </a:txBody>
                  <a:tcPr anchor="ctr"/>
                </a:tc>
                <a:tc>
                  <a:txBody>
                    <a:bodyPr/>
                    <a:lstStyle/>
                    <a:p>
                      <a:r>
                        <a:rPr lang="en-US" sz="4000" b="1" dirty="0">
                          <a:solidFill>
                            <a:srgbClr val="0070C0"/>
                          </a:solidFill>
                        </a:rPr>
                        <a:t>Prefect</a:t>
                      </a:r>
                      <a:r>
                        <a:rPr lang="en-US" sz="4000" dirty="0"/>
                        <a:t>, </a:t>
                      </a:r>
                      <a:r>
                        <a:rPr lang="en-US" sz="4000" dirty="0" err="1"/>
                        <a:t>ZenML</a:t>
                      </a:r>
                      <a:r>
                        <a:rPr lang="en-US" sz="4000" dirty="0"/>
                        <a:t>, Airflow, Kubeflow, etc.</a:t>
                      </a:r>
                    </a:p>
                  </a:txBody>
                  <a:tcPr anchor="ctr"/>
                </a:tc>
                <a:extLst>
                  <a:ext uri="{0D108BD9-81ED-4DB2-BD59-A6C34878D82A}">
                    <a16:rowId xmlns:a16="http://schemas.microsoft.com/office/drawing/2014/main" val="1742143874"/>
                  </a:ext>
                </a:extLst>
              </a:tr>
            </a:tbl>
          </a:graphicData>
        </a:graphic>
      </p:graphicFrame>
    </p:spTree>
    <p:extLst>
      <p:ext uri="{BB962C8B-B14F-4D97-AF65-F5344CB8AC3E}">
        <p14:creationId xmlns:p14="http://schemas.microsoft.com/office/powerpoint/2010/main" val="3040457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D1979-6367-DC8D-93AB-770B4B53F5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95DD57-F365-F8F4-BDAD-98899E1C2181}"/>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Our Today’s Journey for </a:t>
            </a:r>
            <a:r>
              <a:rPr lang="en-US" sz="4400" b="1" i="0" dirty="0" err="1">
                <a:solidFill>
                  <a:srgbClr val="1B2A4A"/>
                </a:solidFill>
                <a:latin typeface="Liter"/>
              </a:rPr>
              <a:t>MLOps</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09C07338-676E-95F5-6D7F-D292A074F65E}"/>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07F4B2A-B748-AA24-C256-DF0BE5F43466}"/>
              </a:ext>
            </a:extLst>
          </p:cNvPr>
          <p:cNvSpPr txBox="1"/>
          <p:nvPr/>
        </p:nvSpPr>
        <p:spPr>
          <a:xfrm>
            <a:off x="2011680" y="1550063"/>
            <a:ext cx="10972800" cy="283154"/>
          </a:xfrm>
          <a:prstGeom prst="rect">
            <a:avLst/>
          </a:prstGeom>
          <a:noFill/>
        </p:spPr>
        <p:txBody>
          <a:bodyPr wrap="square" lIns="0" tIns="0" rIns="0" bIns="0" anchor="ctr">
            <a:spAutoFit/>
          </a:bodyPr>
          <a:lstStyle/>
          <a:p>
            <a:pPr algn="l">
              <a:lnSpc>
                <a:spcPct val="120000"/>
              </a:lnSpc>
              <a:spcAft>
                <a:spcPts val="600"/>
              </a:spcAft>
            </a:pPr>
            <a:r>
              <a:rPr lang="en-US" sz="1600" b="1" spc="300" dirty="0">
                <a:solidFill>
                  <a:srgbClr val="D4A03A"/>
                </a:solidFill>
                <a:latin typeface="Liter"/>
              </a:rPr>
              <a:t>Topics</a:t>
            </a:r>
            <a:endParaRPr sz="1600" b="1" i="0" spc="300" dirty="0">
              <a:solidFill>
                <a:srgbClr val="D4A03A"/>
              </a:solidFill>
              <a:latin typeface="Liter"/>
            </a:endParaRPr>
          </a:p>
        </p:txBody>
      </p:sp>
      <p:sp>
        <p:nvSpPr>
          <p:cNvPr id="5" name="TextBox 4">
            <a:extLst>
              <a:ext uri="{FF2B5EF4-FFF2-40B4-BE49-F238E27FC236}">
                <a16:creationId xmlns:a16="http://schemas.microsoft.com/office/drawing/2014/main" id="{A0705141-1B5C-D5A1-60CC-88BFF28EBA89}"/>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a:t>
            </a:r>
          </a:p>
        </p:txBody>
      </p:sp>
      <p:pic>
        <p:nvPicPr>
          <p:cNvPr id="7" name="Picture 6" descr="A diagram of a model monitoring process&#10;&#10;AI-generated content may be incorrect.">
            <a:extLst>
              <a:ext uri="{FF2B5EF4-FFF2-40B4-BE49-F238E27FC236}">
                <a16:creationId xmlns:a16="http://schemas.microsoft.com/office/drawing/2014/main" id="{F2632CCA-0043-252D-D052-9F762959A2AE}"/>
              </a:ext>
            </a:extLst>
          </p:cNvPr>
          <p:cNvPicPr>
            <a:picLocks noChangeAspect="1"/>
          </p:cNvPicPr>
          <p:nvPr/>
        </p:nvPicPr>
        <p:blipFill>
          <a:blip r:embed="rId3"/>
          <a:stretch>
            <a:fillRect/>
          </a:stretch>
        </p:blipFill>
        <p:spPr>
          <a:xfrm>
            <a:off x="1773935" y="2338866"/>
            <a:ext cx="20150399" cy="11010563"/>
          </a:xfrm>
          <a:prstGeom prst="rect">
            <a:avLst/>
          </a:prstGeom>
        </p:spPr>
      </p:pic>
    </p:spTree>
    <p:extLst>
      <p:ext uri="{BB962C8B-B14F-4D97-AF65-F5344CB8AC3E}">
        <p14:creationId xmlns:p14="http://schemas.microsoft.com/office/powerpoint/2010/main" val="3874178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1993D-06C5-CA4D-4280-0C8E53A059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5845DE-9CF5-57F2-85AB-F03A3B8417A9}"/>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err="1">
                <a:solidFill>
                  <a:srgbClr val="1B2A4A"/>
                </a:solidFill>
                <a:latin typeface="Liter"/>
              </a:rPr>
              <a:t>MLOps</a:t>
            </a:r>
            <a:r>
              <a:rPr lang="en-US" sz="4400" b="1" i="0" dirty="0">
                <a:solidFill>
                  <a:srgbClr val="1B2A4A"/>
                </a:solidFill>
                <a:latin typeface="Liter"/>
              </a:rPr>
              <a:t> Dataset</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11EF3D6F-7D58-2541-5BDA-96A122D0B468}"/>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800419B-FF61-1BC3-420C-30DAF9B5373C}"/>
              </a:ext>
            </a:extLst>
          </p:cNvPr>
          <p:cNvSpPr txBox="1"/>
          <p:nvPr/>
        </p:nvSpPr>
        <p:spPr>
          <a:xfrm>
            <a:off x="2011680" y="1550063"/>
            <a:ext cx="10972800" cy="283154"/>
          </a:xfrm>
          <a:prstGeom prst="rect">
            <a:avLst/>
          </a:prstGeom>
          <a:noFill/>
        </p:spPr>
        <p:txBody>
          <a:bodyPr wrap="square" lIns="0" tIns="0" rIns="0" bIns="0" anchor="ctr">
            <a:spAutoFit/>
          </a:bodyPr>
          <a:lstStyle/>
          <a:p>
            <a:pPr algn="l">
              <a:lnSpc>
                <a:spcPct val="120000"/>
              </a:lnSpc>
              <a:spcAft>
                <a:spcPts val="600"/>
              </a:spcAft>
            </a:pPr>
            <a:r>
              <a:rPr lang="en-US" sz="1600" b="1" spc="300" dirty="0">
                <a:solidFill>
                  <a:srgbClr val="D4A03A"/>
                </a:solidFill>
                <a:latin typeface="Liter"/>
              </a:rPr>
              <a:t>Topics</a:t>
            </a:r>
            <a:endParaRPr sz="1600" b="1" i="0" spc="300" dirty="0">
              <a:solidFill>
                <a:srgbClr val="D4A03A"/>
              </a:solidFill>
              <a:latin typeface="Liter"/>
            </a:endParaRPr>
          </a:p>
        </p:txBody>
      </p:sp>
      <p:sp>
        <p:nvSpPr>
          <p:cNvPr id="5" name="TextBox 4">
            <a:extLst>
              <a:ext uri="{FF2B5EF4-FFF2-40B4-BE49-F238E27FC236}">
                <a16:creationId xmlns:a16="http://schemas.microsoft.com/office/drawing/2014/main" id="{A9409C87-E359-9001-6D93-E377804DC447}"/>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a:t>
            </a:r>
          </a:p>
        </p:txBody>
      </p:sp>
      <p:sp>
        <p:nvSpPr>
          <p:cNvPr id="7" name="TextBox 6">
            <a:extLst>
              <a:ext uri="{FF2B5EF4-FFF2-40B4-BE49-F238E27FC236}">
                <a16:creationId xmlns:a16="http://schemas.microsoft.com/office/drawing/2014/main" id="{D4CFEB09-BEE5-9F7C-A587-B9F2BEF24E74}"/>
              </a:ext>
            </a:extLst>
          </p:cNvPr>
          <p:cNvSpPr txBox="1"/>
          <p:nvPr/>
        </p:nvSpPr>
        <p:spPr>
          <a:xfrm>
            <a:off x="1014984" y="2560320"/>
            <a:ext cx="10058400" cy="566309"/>
          </a:xfrm>
          <a:prstGeom prst="rect">
            <a:avLst/>
          </a:prstGeom>
          <a:noFill/>
        </p:spPr>
        <p:txBody>
          <a:bodyPr wrap="square" lIns="0" tIns="0" rIns="0" bIns="0" anchor="t">
            <a:spAutoFit/>
          </a:bodyPr>
          <a:lstStyle/>
          <a:p>
            <a:pPr algn="l">
              <a:lnSpc>
                <a:spcPct val="120000"/>
              </a:lnSpc>
              <a:spcAft>
                <a:spcPts val="600"/>
              </a:spcAft>
            </a:pPr>
            <a:r>
              <a:rPr sz="3200" b="1" i="0" dirty="0">
                <a:solidFill>
                  <a:srgbClr val="1B2A4A"/>
                </a:solidFill>
                <a:latin typeface="Liter"/>
              </a:rPr>
              <a:t>Binary classification: approved (0/1)</a:t>
            </a:r>
          </a:p>
        </p:txBody>
      </p:sp>
      <p:graphicFrame>
        <p:nvGraphicFramePr>
          <p:cNvPr id="8" name="Table 7">
            <a:extLst>
              <a:ext uri="{FF2B5EF4-FFF2-40B4-BE49-F238E27FC236}">
                <a16:creationId xmlns:a16="http://schemas.microsoft.com/office/drawing/2014/main" id="{5AF94719-764D-23BF-8586-A25287423E9D}"/>
              </a:ext>
            </a:extLst>
          </p:cNvPr>
          <p:cNvGraphicFramePr>
            <a:graphicFrameLocks noGrp="1"/>
          </p:cNvGraphicFramePr>
          <p:nvPr>
            <p:extLst>
              <p:ext uri="{D42A27DB-BD31-4B8C-83A1-F6EECF244321}">
                <p14:modId xmlns:p14="http://schemas.microsoft.com/office/powerpoint/2010/main" val="1310956200"/>
              </p:ext>
            </p:extLst>
          </p:nvPr>
        </p:nvGraphicFramePr>
        <p:xfrm>
          <a:off x="1014983" y="3566159"/>
          <a:ext cx="16097360" cy="5708468"/>
        </p:xfrm>
        <a:graphic>
          <a:graphicData uri="http://schemas.openxmlformats.org/drawingml/2006/table">
            <a:tbl>
              <a:tblPr/>
              <a:tblGrid>
                <a:gridCol w="5467028">
                  <a:extLst>
                    <a:ext uri="{9D8B030D-6E8A-4147-A177-3AD203B41FA5}">
                      <a16:colId xmlns:a16="http://schemas.microsoft.com/office/drawing/2014/main" val="20000"/>
                    </a:ext>
                  </a:extLst>
                </a:gridCol>
                <a:gridCol w="2126066">
                  <a:extLst>
                    <a:ext uri="{9D8B030D-6E8A-4147-A177-3AD203B41FA5}">
                      <a16:colId xmlns:a16="http://schemas.microsoft.com/office/drawing/2014/main" val="20001"/>
                    </a:ext>
                  </a:extLst>
                </a:gridCol>
                <a:gridCol w="8504266">
                  <a:extLst>
                    <a:ext uri="{9D8B030D-6E8A-4147-A177-3AD203B41FA5}">
                      <a16:colId xmlns:a16="http://schemas.microsoft.com/office/drawing/2014/main" val="20002"/>
                    </a:ext>
                  </a:extLst>
                </a:gridCol>
              </a:tblGrid>
              <a:tr h="1427117">
                <a:tc>
                  <a:txBody>
                    <a:bodyPr/>
                    <a:lstStyle/>
                    <a:p>
                      <a:pPr algn="ctr"/>
                      <a:r>
                        <a:rPr sz="3600" b="1">
                          <a:solidFill>
                            <a:srgbClr val="FFFFFF"/>
                          </a:solidFill>
                          <a:latin typeface="+mn-lt"/>
                        </a:rPr>
                        <a:t>File</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tc>
                  <a:txBody>
                    <a:bodyPr/>
                    <a:lstStyle/>
                    <a:p>
                      <a:pPr algn="ctr"/>
                      <a:r>
                        <a:rPr sz="3600" b="1">
                          <a:solidFill>
                            <a:srgbClr val="FFFFFF"/>
                          </a:solidFill>
                          <a:latin typeface="+mn-lt"/>
                        </a:rPr>
                        <a:t>Rows</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tc>
                  <a:txBody>
                    <a:bodyPr/>
                    <a:lstStyle/>
                    <a:p>
                      <a:pPr algn="ctr"/>
                      <a:r>
                        <a:rPr sz="3600" b="1" dirty="0">
                          <a:solidFill>
                            <a:srgbClr val="FFFFFF"/>
                          </a:solidFill>
                          <a:latin typeface="+mn-lt"/>
                        </a:rPr>
                        <a:t>Role</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extLst>
                  <a:ext uri="{0D108BD9-81ED-4DB2-BD59-A6C34878D82A}">
                    <a16:rowId xmlns:a16="http://schemas.microsoft.com/office/drawing/2014/main" val="10000"/>
                  </a:ext>
                </a:extLst>
              </a:tr>
              <a:tr h="1427117">
                <a:tc>
                  <a:txBody>
                    <a:bodyPr/>
                    <a:lstStyle/>
                    <a:p>
                      <a:r>
                        <a:rPr sz="3600" b="1">
                          <a:solidFill>
                            <a:srgbClr val="1B2A4A"/>
                          </a:solidFill>
                          <a:latin typeface="Calibri" panose="020F0502020204030204" pitchFamily="34" charset="0"/>
                          <a:cs typeface="Calibri" panose="020F0502020204030204" pitchFamily="34" charset="0"/>
                        </a:rPr>
                        <a:t>data/train.csv</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3600" b="0">
                          <a:solidFill>
                            <a:srgbClr val="1E293B"/>
                          </a:solidFill>
                          <a:latin typeface="Calibri" panose="020F0502020204030204" pitchFamily="34" charset="0"/>
                          <a:cs typeface="Calibri" panose="020F0502020204030204" pitchFamily="34" charset="0"/>
                        </a:rPr>
                        <a:t>1,500</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3600" b="0">
                          <a:solidFill>
                            <a:srgbClr val="1E293B"/>
                          </a:solidFill>
                          <a:latin typeface="Calibri" panose="020F0502020204030204" pitchFamily="34" charset="0"/>
                          <a:cs typeface="Calibri" panose="020F0502020204030204" pitchFamily="34" charset="0"/>
                        </a:rPr>
                        <a:t>Training</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extLst>
                  <a:ext uri="{0D108BD9-81ED-4DB2-BD59-A6C34878D82A}">
                    <a16:rowId xmlns:a16="http://schemas.microsoft.com/office/drawing/2014/main" val="10001"/>
                  </a:ext>
                </a:extLst>
              </a:tr>
              <a:tr h="1427117">
                <a:tc>
                  <a:txBody>
                    <a:bodyPr/>
                    <a:lstStyle/>
                    <a:p>
                      <a:r>
                        <a:rPr sz="3600" b="1">
                          <a:solidFill>
                            <a:srgbClr val="1B2A4A"/>
                          </a:solidFill>
                          <a:latin typeface="Calibri" panose="020F0502020204030204" pitchFamily="34" charset="0"/>
                          <a:cs typeface="Calibri" panose="020F0502020204030204" pitchFamily="34" charset="0"/>
                        </a:rPr>
                        <a:t>data/test.csv</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3600" b="0">
                          <a:solidFill>
                            <a:srgbClr val="1E293B"/>
                          </a:solidFill>
                          <a:latin typeface="Calibri" panose="020F0502020204030204" pitchFamily="34" charset="0"/>
                          <a:cs typeface="Calibri" panose="020F0502020204030204" pitchFamily="34" charset="0"/>
                        </a:rPr>
                        <a:t>500</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3600" b="0">
                          <a:solidFill>
                            <a:srgbClr val="1E293B"/>
                          </a:solidFill>
                          <a:latin typeface="Calibri" panose="020F0502020204030204" pitchFamily="34" charset="0"/>
                          <a:cs typeface="Calibri" panose="020F0502020204030204" pitchFamily="34" charset="0"/>
                        </a:rPr>
                        <a:t>Evaluation &amp; monitoring reference</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extLst>
                  <a:ext uri="{0D108BD9-81ED-4DB2-BD59-A6C34878D82A}">
                    <a16:rowId xmlns:a16="http://schemas.microsoft.com/office/drawing/2014/main" val="10002"/>
                  </a:ext>
                </a:extLst>
              </a:tr>
              <a:tr h="1427117">
                <a:tc>
                  <a:txBody>
                    <a:bodyPr/>
                    <a:lstStyle/>
                    <a:p>
                      <a:r>
                        <a:rPr sz="3600" b="1">
                          <a:solidFill>
                            <a:srgbClr val="1B2A4A"/>
                          </a:solidFill>
                          <a:latin typeface="Calibri" panose="020F0502020204030204" pitchFamily="34" charset="0"/>
                          <a:cs typeface="Calibri" panose="020F0502020204030204" pitchFamily="34" charset="0"/>
                        </a:rPr>
                        <a:t>data/production.csv</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3600" b="0">
                          <a:solidFill>
                            <a:srgbClr val="1E293B"/>
                          </a:solidFill>
                          <a:latin typeface="Calibri" panose="020F0502020204030204" pitchFamily="34" charset="0"/>
                          <a:cs typeface="Calibri" panose="020F0502020204030204" pitchFamily="34" charset="0"/>
                        </a:rPr>
                        <a:t>500</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3600" b="0" dirty="0">
                          <a:solidFill>
                            <a:srgbClr val="1E293B"/>
                          </a:solidFill>
                          <a:latin typeface="Calibri" panose="020F0502020204030204" pitchFamily="34" charset="0"/>
                          <a:cs typeface="Calibri" panose="020F0502020204030204" pitchFamily="34" charset="0"/>
                        </a:rPr>
                        <a:t>'Production' data with deliberate drift</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extLst>
                  <a:ext uri="{0D108BD9-81ED-4DB2-BD59-A6C34878D82A}">
                    <a16:rowId xmlns:a16="http://schemas.microsoft.com/office/drawing/2014/main" val="10003"/>
                  </a:ext>
                </a:extLst>
              </a:tr>
            </a:tbl>
          </a:graphicData>
        </a:graphic>
      </p:graphicFrame>
      <p:sp>
        <p:nvSpPr>
          <p:cNvPr id="9" name="Rounded Rectangle 8">
            <a:extLst>
              <a:ext uri="{FF2B5EF4-FFF2-40B4-BE49-F238E27FC236}">
                <a16:creationId xmlns:a16="http://schemas.microsoft.com/office/drawing/2014/main" id="{1D01B307-801D-5211-B8C1-ECF3A7861E83}"/>
              </a:ext>
            </a:extLst>
          </p:cNvPr>
          <p:cNvSpPr/>
          <p:nvPr/>
        </p:nvSpPr>
        <p:spPr>
          <a:xfrm>
            <a:off x="1014983" y="9667101"/>
            <a:ext cx="16097360" cy="1737360"/>
          </a:xfrm>
          <a:prstGeom prst="roundRect">
            <a:avLst>
              <a:gd name="adj" fmla="val 6315"/>
            </a:avLst>
          </a:prstGeom>
          <a:solidFill>
            <a:srgbClr val="F2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F8595CF2-D15C-D732-A7A9-1C57E732AF8D}"/>
              </a:ext>
            </a:extLst>
          </p:cNvPr>
          <p:cNvSpPr/>
          <p:nvPr/>
        </p:nvSpPr>
        <p:spPr>
          <a:xfrm>
            <a:off x="1014983" y="9667101"/>
            <a:ext cx="128016" cy="17373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6F72DAC-1485-6956-5566-65D4A499C0D8}"/>
              </a:ext>
            </a:extLst>
          </p:cNvPr>
          <p:cNvSpPr txBox="1"/>
          <p:nvPr/>
        </p:nvSpPr>
        <p:spPr>
          <a:xfrm>
            <a:off x="1517903" y="9960944"/>
            <a:ext cx="15407639" cy="1149674"/>
          </a:xfrm>
          <a:prstGeom prst="rect">
            <a:avLst/>
          </a:prstGeom>
          <a:noFill/>
        </p:spPr>
        <p:txBody>
          <a:bodyPr wrap="square" lIns="0" tIns="0" rIns="0" bIns="0" anchor="ctr">
            <a:spAutoFit/>
          </a:bodyPr>
          <a:lstStyle/>
          <a:p>
            <a:pPr algn="l">
              <a:lnSpc>
                <a:spcPct val="120000"/>
              </a:lnSpc>
              <a:spcAft>
                <a:spcPts val="600"/>
              </a:spcAft>
            </a:pPr>
            <a:r>
              <a:rPr sz="3200" b="0" i="1" dirty="0">
                <a:solidFill>
                  <a:srgbClr val="1B2A4A"/>
                </a:solidFill>
                <a:latin typeface="Quattrocento Sans"/>
              </a:rPr>
              <a:t>8 numeric features: age, income, </a:t>
            </a:r>
            <a:r>
              <a:rPr sz="3200" b="0" i="1" dirty="0" err="1">
                <a:solidFill>
                  <a:srgbClr val="1B2A4A"/>
                </a:solidFill>
                <a:latin typeface="Quattrocento Sans"/>
              </a:rPr>
              <a:t>bmi</a:t>
            </a:r>
            <a:r>
              <a:rPr sz="3200" b="0" i="1" dirty="0">
                <a:solidFill>
                  <a:srgbClr val="1B2A4A"/>
                </a:solidFill>
                <a:latin typeface="Quattrocento Sans"/>
              </a:rPr>
              <a:t>, </a:t>
            </a:r>
            <a:r>
              <a:rPr sz="3200" b="0" i="1" dirty="0" err="1">
                <a:solidFill>
                  <a:srgbClr val="1B2A4A"/>
                </a:solidFill>
                <a:latin typeface="Quattrocento Sans"/>
              </a:rPr>
              <a:t>tenure_months</a:t>
            </a:r>
            <a:r>
              <a:rPr sz="3200" b="0" i="1" dirty="0">
                <a:solidFill>
                  <a:srgbClr val="1B2A4A"/>
                </a:solidFill>
                <a:latin typeface="Quattrocento Sans"/>
              </a:rPr>
              <a:t>, </a:t>
            </a:r>
            <a:r>
              <a:rPr sz="3200" b="0" i="1" dirty="0" err="1">
                <a:solidFill>
                  <a:srgbClr val="1B2A4A"/>
                </a:solidFill>
                <a:latin typeface="Quattrocento Sans"/>
              </a:rPr>
              <a:t>num_claims</a:t>
            </a:r>
            <a:r>
              <a:rPr sz="3200" b="0" i="1" dirty="0">
                <a:solidFill>
                  <a:srgbClr val="1B2A4A"/>
                </a:solidFill>
                <a:latin typeface="Quattrocento Sans"/>
              </a:rPr>
              <a:t>, </a:t>
            </a:r>
            <a:r>
              <a:rPr sz="3200" b="0" i="1" dirty="0" err="1">
                <a:solidFill>
                  <a:srgbClr val="1B2A4A"/>
                </a:solidFill>
                <a:latin typeface="Quattrocento Sans"/>
              </a:rPr>
              <a:t>credit_score</a:t>
            </a:r>
            <a:r>
              <a:rPr sz="3200" b="0" i="1" dirty="0">
                <a:solidFill>
                  <a:srgbClr val="1B2A4A"/>
                </a:solidFill>
                <a:latin typeface="Quattrocento Sans"/>
              </a:rPr>
              <a:t>, </a:t>
            </a:r>
            <a:r>
              <a:rPr sz="3200" b="0" i="1" dirty="0" err="1">
                <a:solidFill>
                  <a:srgbClr val="1B2A4A"/>
                </a:solidFill>
                <a:latin typeface="Quattrocento Sans"/>
              </a:rPr>
              <a:t>policy_value</a:t>
            </a:r>
            <a:r>
              <a:rPr sz="3200" b="0" i="1" dirty="0">
                <a:solidFill>
                  <a:srgbClr val="1B2A4A"/>
                </a:solidFill>
                <a:latin typeface="Quattrocento Sans"/>
              </a:rPr>
              <a:t>, </a:t>
            </a:r>
            <a:r>
              <a:rPr sz="3200" b="0" i="1" dirty="0" err="1">
                <a:solidFill>
                  <a:srgbClr val="1B2A4A"/>
                </a:solidFill>
                <a:latin typeface="Quattrocento Sans"/>
              </a:rPr>
              <a:t>risk_score</a:t>
            </a:r>
            <a:r>
              <a:rPr sz="3200" b="0" i="1" dirty="0">
                <a:solidFill>
                  <a:srgbClr val="1B2A4A"/>
                </a:solidFill>
                <a:latin typeface="Quattrocento Sans"/>
              </a:rPr>
              <a:t>.</a:t>
            </a:r>
          </a:p>
        </p:txBody>
      </p:sp>
    </p:spTree>
    <p:extLst>
      <p:ext uri="{BB962C8B-B14F-4D97-AF65-F5344CB8AC3E}">
        <p14:creationId xmlns:p14="http://schemas.microsoft.com/office/powerpoint/2010/main" val="1544901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46A73-1103-C4AD-A8A0-2A63E33FD23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99EB4E-7F6B-DDEF-EB60-C2A8F400CCC1}"/>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Source Code Structures</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8E9CE3EC-A6E2-6A51-81AD-33813B762F32}"/>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97E862F-F7D4-CD2C-3175-033C353266AE}"/>
              </a:ext>
            </a:extLst>
          </p:cNvPr>
          <p:cNvSpPr txBox="1"/>
          <p:nvPr/>
        </p:nvSpPr>
        <p:spPr>
          <a:xfrm>
            <a:off x="2011680" y="1550063"/>
            <a:ext cx="10972800" cy="283154"/>
          </a:xfrm>
          <a:prstGeom prst="rect">
            <a:avLst/>
          </a:prstGeom>
          <a:noFill/>
        </p:spPr>
        <p:txBody>
          <a:bodyPr wrap="square" lIns="0" tIns="0" rIns="0" bIns="0" anchor="ctr">
            <a:spAutoFit/>
          </a:bodyPr>
          <a:lstStyle/>
          <a:p>
            <a:pPr algn="l">
              <a:lnSpc>
                <a:spcPct val="120000"/>
              </a:lnSpc>
              <a:spcAft>
                <a:spcPts val="600"/>
              </a:spcAft>
            </a:pPr>
            <a:r>
              <a:rPr lang="en-US" sz="1600" b="1" spc="300" dirty="0">
                <a:solidFill>
                  <a:srgbClr val="D4A03A"/>
                </a:solidFill>
                <a:latin typeface="Liter"/>
              </a:rPr>
              <a:t>Topics</a:t>
            </a:r>
            <a:endParaRPr sz="1600" b="1" i="0" spc="300" dirty="0">
              <a:solidFill>
                <a:srgbClr val="D4A03A"/>
              </a:solidFill>
              <a:latin typeface="Liter"/>
            </a:endParaRPr>
          </a:p>
        </p:txBody>
      </p:sp>
      <p:sp>
        <p:nvSpPr>
          <p:cNvPr id="5" name="TextBox 4">
            <a:extLst>
              <a:ext uri="{FF2B5EF4-FFF2-40B4-BE49-F238E27FC236}">
                <a16:creationId xmlns:a16="http://schemas.microsoft.com/office/drawing/2014/main" id="{C6E308BD-F817-1936-267D-DBFDB6142B8E}"/>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a:t>
            </a:r>
          </a:p>
        </p:txBody>
      </p:sp>
      <p:pic>
        <p:nvPicPr>
          <p:cNvPr id="9" name="Picture 8" descr="A screenshot of a computer program&#10;&#10;AI-generated content may be incorrect.">
            <a:extLst>
              <a:ext uri="{FF2B5EF4-FFF2-40B4-BE49-F238E27FC236}">
                <a16:creationId xmlns:a16="http://schemas.microsoft.com/office/drawing/2014/main" id="{C74CBFB5-24BF-8BDA-5B13-E2A6C5907824}"/>
              </a:ext>
            </a:extLst>
          </p:cNvPr>
          <p:cNvPicPr>
            <a:picLocks noChangeAspect="1"/>
          </p:cNvPicPr>
          <p:nvPr/>
        </p:nvPicPr>
        <p:blipFill>
          <a:blip r:embed="rId3"/>
          <a:stretch>
            <a:fillRect/>
          </a:stretch>
        </p:blipFill>
        <p:spPr>
          <a:xfrm>
            <a:off x="722911" y="2681994"/>
            <a:ext cx="18451780" cy="10774926"/>
          </a:xfrm>
          <a:prstGeom prst="rect">
            <a:avLst/>
          </a:prstGeom>
        </p:spPr>
      </p:pic>
      <p:sp>
        <p:nvSpPr>
          <p:cNvPr id="7" name="TextBox 6">
            <a:extLst>
              <a:ext uri="{FF2B5EF4-FFF2-40B4-BE49-F238E27FC236}">
                <a16:creationId xmlns:a16="http://schemas.microsoft.com/office/drawing/2014/main" id="{A1D5C166-1D71-D8EA-7BE4-A4E430CE205D}"/>
              </a:ext>
            </a:extLst>
          </p:cNvPr>
          <p:cNvSpPr txBox="1"/>
          <p:nvPr/>
        </p:nvSpPr>
        <p:spPr>
          <a:xfrm>
            <a:off x="792480" y="2051956"/>
            <a:ext cx="12192000" cy="646331"/>
          </a:xfrm>
          <a:prstGeom prst="rect">
            <a:avLst/>
          </a:prstGeom>
          <a:noFill/>
        </p:spPr>
        <p:txBody>
          <a:bodyPr wrap="square">
            <a:spAutoFit/>
          </a:bodyPr>
          <a:lstStyle/>
          <a:p>
            <a:r>
              <a:rPr lang="en-US" sz="3600" dirty="0">
                <a:hlinkClick r:id="rId4"/>
              </a:rPr>
              <a:t>https://github.com/madeharta/latest-mlops-workshop</a:t>
            </a:r>
            <a:r>
              <a:rPr lang="en-US" sz="3600" dirty="0"/>
              <a:t> </a:t>
            </a:r>
          </a:p>
        </p:txBody>
      </p:sp>
    </p:spTree>
    <p:extLst>
      <p:ext uri="{BB962C8B-B14F-4D97-AF65-F5344CB8AC3E}">
        <p14:creationId xmlns:p14="http://schemas.microsoft.com/office/powerpoint/2010/main" val="4065636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The Prepared Repo &amp; Environment</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ENVIRONMENT</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a:t>
            </a:r>
          </a:p>
        </p:txBody>
      </p:sp>
      <p:sp>
        <p:nvSpPr>
          <p:cNvPr id="6" name="Rounded Rectangle 5"/>
          <p:cNvSpPr/>
          <p:nvPr/>
        </p:nvSpPr>
        <p:spPr>
          <a:xfrm>
            <a:off x="1014984" y="2514600"/>
            <a:ext cx="10607040" cy="8412480"/>
          </a:xfrm>
          <a:prstGeom prst="roundRect">
            <a:avLst>
              <a:gd name="adj" fmla="val 3804"/>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63624" y="2926080"/>
            <a:ext cx="9692640" cy="731520"/>
          </a:xfrm>
          <a:prstGeom prst="rect">
            <a:avLst/>
          </a:prstGeom>
          <a:noFill/>
        </p:spPr>
        <p:txBody>
          <a:bodyPr wrap="square" lIns="0" tIns="0" rIns="0" bIns="0" anchor="t">
            <a:spAutoFit/>
          </a:bodyPr>
          <a:lstStyle/>
          <a:p>
            <a:pPr algn="l">
              <a:lnSpc>
                <a:spcPct val="120000"/>
              </a:lnSpc>
              <a:spcAft>
                <a:spcPts val="600"/>
              </a:spcAft>
            </a:pPr>
            <a:r>
              <a:rPr sz="3200" b="1" i="0">
                <a:solidFill>
                  <a:srgbClr val="1B2A4A"/>
                </a:solidFill>
                <a:latin typeface="Liter"/>
              </a:rPr>
              <a:t>Already on every laptop / VM</a:t>
            </a:r>
          </a:p>
        </p:txBody>
      </p:sp>
      <p:sp>
        <p:nvSpPr>
          <p:cNvPr id="8" name="TextBox 7"/>
          <p:cNvSpPr txBox="1"/>
          <p:nvPr/>
        </p:nvSpPr>
        <p:spPr>
          <a:xfrm>
            <a:off x="1563624" y="3977639"/>
            <a:ext cx="9692640" cy="4967835"/>
          </a:xfrm>
          <a:prstGeom prst="rect">
            <a:avLst/>
          </a:prstGeom>
          <a:noFill/>
        </p:spPr>
        <p:txBody>
          <a:bodyPr wrap="square" lIns="0" tIns="0" rIns="0" bIns="0" anchor="t">
            <a:spAutoFit/>
          </a:bodyPr>
          <a:lstStyle/>
          <a:p>
            <a:pPr marL="408939" indent="-408939" algn="l">
              <a:lnSpc>
                <a:spcPct val="125000"/>
              </a:lnSpc>
              <a:spcAft>
                <a:spcPts val="1600"/>
              </a:spcAft>
              <a:buClr>
                <a:srgbClr val="D4A03A"/>
              </a:buClr>
              <a:buFont typeface="Arial"/>
              <a:buChar char="•"/>
            </a:pPr>
            <a:r>
              <a:rPr lang="en-US" sz="2800" b="0" i="0" dirty="0" err="1">
                <a:solidFill>
                  <a:srgbClr val="1E293B"/>
                </a:solidFill>
                <a:latin typeface="Quattrocento Sans"/>
              </a:rPr>
              <a:t>VSCode</a:t>
            </a:r>
            <a:r>
              <a:rPr lang="en-US" sz="2800" b="0" i="0" dirty="0">
                <a:solidFill>
                  <a:srgbClr val="1E293B"/>
                </a:solidFill>
                <a:latin typeface="Quattrocento Sans"/>
              </a:rPr>
              <a:t> installed or any other editor</a:t>
            </a:r>
          </a:p>
          <a:p>
            <a:pPr marL="408939" indent="-408939" algn="l">
              <a:lnSpc>
                <a:spcPct val="125000"/>
              </a:lnSpc>
              <a:spcAft>
                <a:spcPts val="1600"/>
              </a:spcAft>
              <a:buClr>
                <a:srgbClr val="D4A03A"/>
              </a:buClr>
              <a:buFont typeface="Arial"/>
              <a:buChar char="•"/>
            </a:pPr>
            <a:r>
              <a:rPr sz="2800" b="0" i="0" dirty="0" err="1">
                <a:solidFill>
                  <a:srgbClr val="1E293B"/>
                </a:solidFill>
                <a:latin typeface="Quattrocento Sans"/>
              </a:rPr>
              <a:t>mlops</a:t>
            </a:r>
            <a:r>
              <a:rPr sz="2800" b="0" i="0" dirty="0">
                <a:solidFill>
                  <a:srgbClr val="1E293B"/>
                </a:solidFill>
                <a:latin typeface="Quattrocento Sans"/>
              </a:rPr>
              <a:t>-workshop repo cloned from GitHub</a:t>
            </a:r>
          </a:p>
          <a:p>
            <a:pPr marL="408939" indent="-408939" algn="l">
              <a:lnSpc>
                <a:spcPct val="125000"/>
              </a:lnSpc>
              <a:spcAft>
                <a:spcPts val="1600"/>
              </a:spcAft>
              <a:buClr>
                <a:srgbClr val="D4A03A"/>
              </a:buClr>
              <a:buFont typeface="Arial"/>
              <a:buChar char="•"/>
            </a:pPr>
            <a:r>
              <a:rPr sz="2800" b="0" i="0" dirty="0">
                <a:solidFill>
                  <a:srgbClr val="1E293B"/>
                </a:solidFill>
                <a:latin typeface="Quattrocento Sans"/>
              </a:rPr>
              <a:t>Python </a:t>
            </a:r>
            <a:r>
              <a:rPr lang="en-US" sz="2800" b="0" i="0" dirty="0">
                <a:solidFill>
                  <a:srgbClr val="1E293B"/>
                </a:solidFill>
                <a:latin typeface="Quattrocento Sans"/>
              </a:rPr>
              <a:t>&gt;</a:t>
            </a:r>
            <a:r>
              <a:rPr sz="2800" b="0" i="0" dirty="0">
                <a:solidFill>
                  <a:srgbClr val="1E293B"/>
                </a:solidFill>
                <a:latin typeface="Quattrocento Sans"/>
              </a:rPr>
              <a:t>3.1</a:t>
            </a:r>
            <a:r>
              <a:rPr lang="en-US" sz="2800" b="0" i="0" dirty="0">
                <a:solidFill>
                  <a:srgbClr val="1E293B"/>
                </a:solidFill>
                <a:latin typeface="Quattrocento Sans"/>
              </a:rPr>
              <a:t>0</a:t>
            </a:r>
            <a:r>
              <a:rPr sz="2800" b="0" i="0" dirty="0">
                <a:solidFill>
                  <a:srgbClr val="1E293B"/>
                </a:solidFill>
                <a:latin typeface="Quattrocento Sans"/>
              </a:rPr>
              <a:t> with an active virtual environment</a:t>
            </a:r>
          </a:p>
          <a:p>
            <a:pPr marL="408939" indent="-408939" algn="l">
              <a:lnSpc>
                <a:spcPct val="125000"/>
              </a:lnSpc>
              <a:spcAft>
                <a:spcPts val="1600"/>
              </a:spcAft>
              <a:buClr>
                <a:srgbClr val="D4A03A"/>
              </a:buClr>
              <a:buFont typeface="Arial"/>
              <a:buChar char="•"/>
            </a:pPr>
            <a:r>
              <a:rPr sz="2800" b="0" i="0" dirty="0">
                <a:solidFill>
                  <a:srgbClr val="1E293B"/>
                </a:solidFill>
                <a:latin typeface="Quattrocento Sans"/>
              </a:rPr>
              <a:t>Dependencies from </a:t>
            </a:r>
            <a:r>
              <a:rPr sz="2800" b="0" i="0" dirty="0" err="1">
                <a:solidFill>
                  <a:srgbClr val="1E293B"/>
                </a:solidFill>
                <a:latin typeface="Quattrocento Sans"/>
              </a:rPr>
              <a:t>requirements.txt</a:t>
            </a:r>
            <a:r>
              <a:rPr sz="2800" b="0" i="0" dirty="0">
                <a:solidFill>
                  <a:srgbClr val="1E293B"/>
                </a:solidFill>
                <a:latin typeface="Quattrocento Sans"/>
              </a:rPr>
              <a:t> (pinned)</a:t>
            </a:r>
            <a:endParaRPr lang="en-ID" sz="2800" b="0" i="0" dirty="0">
              <a:solidFill>
                <a:srgbClr val="1E293B"/>
              </a:solidFill>
              <a:latin typeface="Quattrocento Sans"/>
            </a:endParaRPr>
          </a:p>
          <a:p>
            <a:pPr marL="408939" indent="-408939" algn="l">
              <a:lnSpc>
                <a:spcPct val="125000"/>
              </a:lnSpc>
              <a:spcAft>
                <a:spcPts val="1600"/>
              </a:spcAft>
              <a:buClr>
                <a:srgbClr val="D4A03A"/>
              </a:buClr>
              <a:buFont typeface="Arial"/>
              <a:buChar char="•"/>
            </a:pPr>
            <a:r>
              <a:rPr lang="en-ID" sz="2800" b="0" i="0" dirty="0">
                <a:solidFill>
                  <a:srgbClr val="1E293B"/>
                </a:solidFill>
                <a:latin typeface="Quattrocento Sans"/>
              </a:rPr>
              <a:t>Prefect installed from orchestration/</a:t>
            </a:r>
            <a:r>
              <a:rPr lang="en-ID" sz="2800" b="0" i="0" dirty="0" err="1">
                <a:solidFill>
                  <a:srgbClr val="1E293B"/>
                </a:solidFill>
                <a:latin typeface="Quattrocento Sans"/>
              </a:rPr>
              <a:t>requirements.txt</a:t>
            </a:r>
            <a:endParaRPr lang="en-ID" sz="2800" b="0" i="0" dirty="0">
              <a:solidFill>
                <a:srgbClr val="1E293B"/>
              </a:solidFill>
              <a:latin typeface="Quattrocento Sans"/>
            </a:endParaRPr>
          </a:p>
          <a:p>
            <a:pPr marL="408939" indent="-408939" algn="l">
              <a:lnSpc>
                <a:spcPct val="125000"/>
              </a:lnSpc>
              <a:spcAft>
                <a:spcPts val="1600"/>
              </a:spcAft>
              <a:buClr>
                <a:srgbClr val="D4A03A"/>
              </a:buClr>
              <a:buFont typeface="Arial"/>
              <a:buChar char="•"/>
            </a:pPr>
            <a:r>
              <a:rPr lang="en-US" sz="2800" dirty="0">
                <a:solidFill>
                  <a:srgbClr val="1E293B"/>
                </a:solidFill>
                <a:latin typeface="Quattrocento Sans"/>
              </a:rPr>
              <a:t>T</a:t>
            </a:r>
            <a:r>
              <a:rPr sz="2800" b="0" i="0" dirty="0">
                <a:solidFill>
                  <a:srgbClr val="1E293B"/>
                </a:solidFill>
                <a:latin typeface="Quattrocento Sans"/>
              </a:rPr>
              <a:t>rain / test / production data already in data/</a:t>
            </a:r>
          </a:p>
          <a:p>
            <a:pPr marL="408939" indent="-408939" algn="l">
              <a:lnSpc>
                <a:spcPct val="125000"/>
              </a:lnSpc>
              <a:spcAft>
                <a:spcPts val="1600"/>
              </a:spcAft>
              <a:buClr>
                <a:srgbClr val="D4A03A"/>
              </a:buClr>
              <a:buFont typeface="Arial"/>
              <a:buChar char="•"/>
            </a:pPr>
            <a:r>
              <a:rPr sz="2800" b="0" i="0" dirty="0">
                <a:solidFill>
                  <a:srgbClr val="1E293B"/>
                </a:solidFill>
                <a:latin typeface="Quattrocento Sans"/>
              </a:rPr>
              <a:t>Docker available (deployment session)</a:t>
            </a:r>
          </a:p>
        </p:txBody>
      </p:sp>
      <p:sp>
        <p:nvSpPr>
          <p:cNvPr id="9" name="Rounded Rectangle 8"/>
          <p:cNvSpPr/>
          <p:nvPr/>
        </p:nvSpPr>
        <p:spPr>
          <a:xfrm>
            <a:off x="12070080" y="2514600"/>
            <a:ext cx="11292840" cy="8412480"/>
          </a:xfrm>
          <a:prstGeom prst="roundRect">
            <a:avLst>
              <a:gd name="adj" fmla="val 1956"/>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2399263" y="278892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2783311" y="278892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3167359" y="278892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716000" y="2697480"/>
            <a:ext cx="9281159" cy="384048"/>
          </a:xfrm>
          <a:prstGeom prst="rect">
            <a:avLst/>
          </a:prstGeom>
          <a:noFill/>
        </p:spPr>
        <p:txBody>
          <a:bodyPr wrap="square" lIns="0" tIns="0" rIns="0" bIns="0" anchor="t">
            <a:spAutoFit/>
          </a:bodyPr>
          <a:lstStyle/>
          <a:p>
            <a:pPr algn="l">
              <a:lnSpc>
                <a:spcPct val="120000"/>
              </a:lnSpc>
              <a:spcAft>
                <a:spcPts val="600"/>
              </a:spcAft>
            </a:pPr>
            <a:r>
              <a:rPr sz="1800" b="0" i="0">
                <a:solidFill>
                  <a:srgbClr val="8B9BB4"/>
                </a:solidFill>
                <a:latin typeface="Consolas"/>
              </a:rPr>
              <a:t>bash — terminal</a:t>
            </a:r>
          </a:p>
        </p:txBody>
      </p:sp>
      <p:sp>
        <p:nvSpPr>
          <p:cNvPr id="14" name="TextBox 13"/>
          <p:cNvSpPr txBox="1"/>
          <p:nvPr/>
        </p:nvSpPr>
        <p:spPr>
          <a:xfrm>
            <a:off x="12481559" y="3227832"/>
            <a:ext cx="10561319" cy="7543800"/>
          </a:xfrm>
          <a:prstGeom prst="rect">
            <a:avLst/>
          </a:prstGeom>
          <a:noFill/>
        </p:spPr>
        <p:txBody>
          <a:bodyPr wrap="square" lIns="0" tIns="0" rIns="0" bIns="0" anchor="t">
            <a:spAutoFit/>
          </a:bodyPr>
          <a:lstStyle/>
          <a:p>
            <a:pPr algn="l">
              <a:lnSpc>
                <a:spcPct val="100000"/>
              </a:lnSpc>
              <a:spcAft>
                <a:spcPts val="0"/>
              </a:spcAft>
            </a:pPr>
            <a:r>
              <a:rPr sz="2600" b="0" i="0">
                <a:solidFill>
                  <a:srgbClr val="8B9BB4"/>
                </a:solidFill>
                <a:latin typeface="Consolas"/>
              </a:rPr>
              <a:t># quick check (1 minute)</a:t>
            </a:r>
          </a:p>
          <a:p>
            <a:pPr algn="l">
              <a:lnSpc>
                <a:spcPct val="100000"/>
              </a:lnSpc>
              <a:spcAft>
                <a:spcPts val="0"/>
              </a:spcAft>
            </a:pPr>
            <a:r>
              <a:rPr sz="2600" b="0" i="0">
                <a:solidFill>
                  <a:srgbClr val="F5C66B"/>
                </a:solidFill>
                <a:latin typeface="Consolas"/>
              </a:rPr>
              <a:t>$ source venv/bin/activate</a:t>
            </a:r>
          </a:p>
          <a:p>
            <a:pPr algn="l">
              <a:lnSpc>
                <a:spcPct val="100000"/>
              </a:lnSpc>
              <a:spcAft>
                <a:spcPts val="0"/>
              </a:spcAft>
            </a:pPr>
            <a:r>
              <a:rPr sz="2600" b="0" i="0">
                <a:solidFill>
                  <a:srgbClr val="F5C66B"/>
                </a:solidFill>
                <a:latin typeface="Consolas"/>
              </a:rPr>
              <a:t>$ python --version</a:t>
            </a:r>
          </a:p>
          <a:p>
            <a:pPr algn="l">
              <a:lnSpc>
                <a:spcPct val="100000"/>
              </a:lnSpc>
              <a:spcAft>
                <a:spcPts val="0"/>
              </a:spcAft>
            </a:pPr>
            <a:r>
              <a:rPr sz="2600" b="0" i="0">
                <a:solidFill>
                  <a:srgbClr val="E6EDF3"/>
                </a:solidFill>
                <a:latin typeface="Consolas"/>
              </a:rPr>
              <a:t>Python 3.11.x</a:t>
            </a:r>
          </a:p>
          <a:p>
            <a:pPr algn="l">
              <a:lnSpc>
                <a:spcPct val="100000"/>
              </a:lnSpc>
              <a:spcAft>
                <a:spcPts val="0"/>
              </a:spcAft>
            </a:pPr>
            <a:r>
              <a:rPr sz="2600" b="0" i="0">
                <a:solidFill>
                  <a:srgbClr val="F5C66B"/>
                </a:solidFill>
                <a:latin typeface="Consolas"/>
              </a:rPr>
              <a:t>$ python -c "import numpy as n; print(n.__version__)"</a:t>
            </a:r>
          </a:p>
          <a:p>
            <a:pPr algn="l">
              <a:lnSpc>
                <a:spcPct val="100000"/>
              </a:lnSpc>
              <a:spcAft>
                <a:spcPts val="0"/>
              </a:spcAft>
            </a:pPr>
            <a:r>
              <a:rPr sz="2600" b="0" i="0">
                <a:solidFill>
                  <a:srgbClr val="E6EDF3"/>
                </a:solidFill>
                <a:latin typeface="Consolas"/>
              </a:rPr>
              <a:t>1.26.4    # must be &lt; 2</a:t>
            </a:r>
          </a:p>
          <a:p>
            <a:pPr algn="l">
              <a:lnSpc>
                <a:spcPct val="100000"/>
              </a:lnSpc>
              <a:spcAft>
                <a:spcPts val="0"/>
              </a:spcAft>
            </a:pPr>
            <a:r>
              <a:rPr sz="2600" b="0" i="0">
                <a:solidFill>
                  <a:srgbClr val="F5C66B"/>
                </a:solidFill>
                <a:latin typeface="Consolas"/>
              </a:rPr>
              <a:t>$ make test</a:t>
            </a:r>
          </a:p>
          <a:p>
            <a:pPr algn="l">
              <a:lnSpc>
                <a:spcPct val="100000"/>
              </a:lnSpc>
              <a:spcAft>
                <a:spcPts val="0"/>
              </a:spcAft>
            </a:pPr>
            <a:r>
              <a:rPr sz="2600" b="0" i="0">
                <a:solidFill>
                  <a:srgbClr val="E6EDF3"/>
                </a:solidFill>
                <a:latin typeface="Consolas"/>
              </a:rPr>
              <a:t>2 passed</a:t>
            </a:r>
          </a:p>
          <a:p>
            <a:pPr algn="l">
              <a:lnSpc>
                <a:spcPct val="100000"/>
              </a:lnSpc>
              <a:spcAft>
                <a:spcPts val="0"/>
              </a:spcAft>
            </a:pPr>
            <a:r>
              <a:rPr sz="2600" b="0" i="0">
                <a:solidFill>
                  <a:srgbClr val="F5C66B"/>
                </a:solidFill>
                <a:latin typeface="Consolas"/>
              </a:rPr>
              <a:t>$ make preflight   # PASS/WARN/FAIL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2">
            <a:extLst>
              <a:ext uri="{FF2B5EF4-FFF2-40B4-BE49-F238E27FC236}">
                <a16:creationId xmlns:a16="http://schemas.microsoft.com/office/drawing/2014/main" id="{62763A1A-0935-4A5E-FE9C-F87FDB7642F5}"/>
              </a:ext>
            </a:extLst>
          </p:cNvPr>
          <p:cNvSpPr/>
          <p:nvPr/>
        </p:nvSpPr>
        <p:spPr>
          <a:xfrm>
            <a:off x="1649562" y="4206240"/>
            <a:ext cx="5080000" cy="381000"/>
          </a:xfrm>
          <a:prstGeom prst="rect">
            <a:avLst/>
          </a:prstGeom>
          <a:noFill/>
          <a:ln/>
        </p:spPr>
        <p:txBody>
          <a:bodyPr wrap="none" lIns="0" tIns="0" rIns="0" bIns="0" rtlCol="0" anchor="ctr"/>
          <a:lstStyle/>
          <a:p>
            <a:pPr algn="l">
              <a:lnSpc>
                <a:spcPct val="120000"/>
              </a:lnSpc>
            </a:pPr>
            <a:r>
              <a:rPr lang="en-US" sz="5000" b="1" kern="0" spc="400" dirty="0">
                <a:solidFill>
                  <a:srgbClr val="D4A03A"/>
                </a:solidFill>
                <a:latin typeface="Liter" pitchFamily="34" charset="0"/>
                <a:ea typeface="Liter" pitchFamily="34" charset="-122"/>
                <a:cs typeface="Liter" pitchFamily="34" charset="-120"/>
              </a:rPr>
              <a:t>01</a:t>
            </a:r>
            <a:endParaRPr lang="en-US" sz="5000" dirty="0"/>
          </a:p>
        </p:txBody>
      </p:sp>
      <p:sp>
        <p:nvSpPr>
          <p:cNvPr id="21" name="Text 3">
            <a:extLst>
              <a:ext uri="{FF2B5EF4-FFF2-40B4-BE49-F238E27FC236}">
                <a16:creationId xmlns:a16="http://schemas.microsoft.com/office/drawing/2014/main" id="{EDE4DF64-756A-6BDE-4A9C-3DF7AF92A34D}"/>
              </a:ext>
            </a:extLst>
          </p:cNvPr>
          <p:cNvSpPr/>
          <p:nvPr/>
        </p:nvSpPr>
        <p:spPr>
          <a:xfrm>
            <a:off x="1649562" y="4983480"/>
            <a:ext cx="11155680" cy="2651760"/>
          </a:xfrm>
          <a:prstGeom prst="rect">
            <a:avLst/>
          </a:prstGeom>
          <a:noFill/>
          <a:ln/>
        </p:spPr>
        <p:txBody>
          <a:bodyPr wrap="square" lIns="0" tIns="0" rIns="0" bIns="0" rtlCol="0" anchor="t"/>
          <a:lstStyle/>
          <a:p>
            <a:pPr algn="l">
              <a:lnSpc>
                <a:spcPct val="110000"/>
              </a:lnSpc>
            </a:pPr>
            <a:r>
              <a:rPr lang="en-US" sz="6000" kern="0" spc="200" dirty="0">
                <a:solidFill>
                  <a:srgbClr val="1B2A4A"/>
                </a:solidFill>
                <a:latin typeface="Liter" pitchFamily="34" charset="0"/>
                <a:ea typeface="Liter" pitchFamily="34" charset="-122"/>
                <a:cs typeface="Liter" pitchFamily="34" charset="-120"/>
              </a:rPr>
              <a:t>CI/CD/CT Design for Machine Learning</a:t>
            </a:r>
            <a:endParaRPr lang="en-US" sz="7200" dirty="0"/>
          </a:p>
        </p:txBody>
      </p:sp>
      <p:sp>
        <p:nvSpPr>
          <p:cNvPr id="23" name="Shape 4">
            <a:extLst>
              <a:ext uri="{FF2B5EF4-FFF2-40B4-BE49-F238E27FC236}">
                <a16:creationId xmlns:a16="http://schemas.microsoft.com/office/drawing/2014/main" id="{1CC7B515-BF06-6CCF-F4A0-76A6E14F43FC}"/>
              </a:ext>
            </a:extLst>
          </p:cNvPr>
          <p:cNvSpPr/>
          <p:nvPr/>
        </p:nvSpPr>
        <p:spPr>
          <a:xfrm>
            <a:off x="1649562" y="8001000"/>
            <a:ext cx="1016000" cy="50800"/>
          </a:xfrm>
          <a:prstGeom prst="rect">
            <a:avLst/>
          </a:prstGeom>
          <a:solidFill>
            <a:srgbClr val="D4A03A"/>
          </a:solidFill>
          <a:ln/>
        </p:spPr>
        <p:txBody>
          <a:bodyPr/>
          <a:lstStyle/>
          <a:p>
            <a:endParaRPr lang="en-ID"/>
          </a:p>
        </p:txBody>
      </p:sp>
      <p:sp>
        <p:nvSpPr>
          <p:cNvPr id="24" name="TextBox 23"/>
          <p:cNvSpPr txBox="1"/>
          <p:nvPr/>
        </p:nvSpPr>
        <p:spPr>
          <a:xfrm>
            <a:off x="1645920" y="8412480"/>
            <a:ext cx="10972800" cy="640080"/>
          </a:xfrm>
          <a:prstGeom prst="rect">
            <a:avLst/>
          </a:prstGeom>
          <a:noFill/>
        </p:spPr>
        <p:txBody>
          <a:bodyPr wrap="square" lIns="0" tIns="0" rIns="0" bIns="0" anchor="t">
            <a:spAutoFit/>
          </a:bodyPr>
          <a:lstStyle/>
          <a:p>
            <a:pPr algn="l">
              <a:lnSpc>
                <a:spcPct val="120000"/>
              </a:lnSpc>
              <a:spcAft>
                <a:spcPts val="600"/>
              </a:spcAft>
            </a:pPr>
            <a:r>
              <a:rPr sz="2800" b="0" i="0">
                <a:solidFill>
                  <a:srgbClr val="6B7B8D"/>
                </a:solidFill>
                <a:latin typeface="Quattrocento Sans"/>
              </a:rPr>
              <a:t>08:30–10:30</a:t>
            </a:r>
          </a:p>
        </p:txBody>
      </p:sp>
      <p:sp>
        <p:nvSpPr>
          <p:cNvPr id="25" name="TextBox 24"/>
          <p:cNvSpPr txBox="1"/>
          <p:nvPr/>
        </p:nvSpPr>
        <p:spPr>
          <a:xfrm>
            <a:off x="13898880" y="3291840"/>
            <a:ext cx="8686800" cy="457200"/>
          </a:xfrm>
          <a:prstGeom prst="rect">
            <a:avLst/>
          </a:prstGeom>
          <a:noFill/>
        </p:spPr>
        <p:txBody>
          <a:bodyPr wrap="square" lIns="0" tIns="0" rIns="0" bIns="0" anchor="t">
            <a:spAutoFit/>
          </a:bodyPr>
          <a:lstStyle/>
          <a:p>
            <a:pPr algn="l">
              <a:lnSpc>
                <a:spcPct val="120000"/>
              </a:lnSpc>
              <a:spcAft>
                <a:spcPts val="600"/>
              </a:spcAft>
            </a:pPr>
            <a:r>
              <a:rPr sz="1600" b="1" i="0" spc="300">
                <a:solidFill>
                  <a:srgbClr val="D4A03A"/>
                </a:solidFill>
                <a:latin typeface="Liter"/>
              </a:rPr>
              <a:t>IN THIS SESSION</a:t>
            </a:r>
          </a:p>
        </p:txBody>
      </p:sp>
      <p:sp>
        <p:nvSpPr>
          <p:cNvPr id="26" name="TextBox 25"/>
          <p:cNvSpPr txBox="1"/>
          <p:nvPr/>
        </p:nvSpPr>
        <p:spPr>
          <a:xfrm>
            <a:off x="13898880" y="406908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01</a:t>
            </a:r>
          </a:p>
        </p:txBody>
      </p:sp>
      <p:sp>
        <p:nvSpPr>
          <p:cNvPr id="27" name="TextBox 26"/>
          <p:cNvSpPr txBox="1"/>
          <p:nvPr/>
        </p:nvSpPr>
        <p:spPr>
          <a:xfrm>
            <a:off x="14904720" y="4069080"/>
            <a:ext cx="8046720" cy="914400"/>
          </a:xfrm>
          <a:prstGeom prst="rect">
            <a:avLst/>
          </a:prstGeom>
          <a:noFill/>
        </p:spPr>
        <p:txBody>
          <a:bodyPr wrap="square" lIns="0" tIns="0" rIns="0" bIns="0" anchor="ctr">
            <a:spAutoFit/>
          </a:bodyPr>
          <a:lstStyle/>
          <a:p>
            <a:pPr algn="l">
              <a:lnSpc>
                <a:spcPct val="120000"/>
              </a:lnSpc>
              <a:spcAft>
                <a:spcPts val="600"/>
              </a:spcAft>
            </a:pPr>
            <a:r>
              <a:rPr sz="2600" b="0" i="0">
                <a:solidFill>
                  <a:srgbClr val="1E293B"/>
                </a:solidFill>
                <a:latin typeface="Quattrocento Sans"/>
              </a:rPr>
              <a:t>CI, CD and CT for ML</a:t>
            </a:r>
          </a:p>
        </p:txBody>
      </p:sp>
      <p:sp>
        <p:nvSpPr>
          <p:cNvPr id="28" name="Rectangle 27"/>
          <p:cNvSpPr/>
          <p:nvPr/>
        </p:nvSpPr>
        <p:spPr>
          <a:xfrm>
            <a:off x="13898880" y="512064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898880" y="525780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02</a:t>
            </a:r>
          </a:p>
        </p:txBody>
      </p:sp>
      <p:sp>
        <p:nvSpPr>
          <p:cNvPr id="30" name="TextBox 29"/>
          <p:cNvSpPr txBox="1"/>
          <p:nvPr/>
        </p:nvSpPr>
        <p:spPr>
          <a:xfrm>
            <a:off x="14904720" y="5488015"/>
            <a:ext cx="8046720" cy="453970"/>
          </a:xfrm>
          <a:prstGeom prst="rect">
            <a:avLst/>
          </a:prstGeom>
          <a:noFill/>
        </p:spPr>
        <p:txBody>
          <a:bodyPr wrap="square" lIns="0" tIns="0" rIns="0" bIns="0" anchor="ctr">
            <a:spAutoFit/>
          </a:bodyPr>
          <a:lstStyle/>
          <a:p>
            <a:pPr algn="l">
              <a:lnSpc>
                <a:spcPct val="120000"/>
              </a:lnSpc>
              <a:spcAft>
                <a:spcPts val="600"/>
              </a:spcAft>
            </a:pPr>
            <a:r>
              <a:rPr sz="2600" b="0" i="0" dirty="0" err="1">
                <a:solidFill>
                  <a:srgbClr val="1E293B"/>
                </a:solidFill>
                <a:latin typeface="Quattrocento Sans"/>
              </a:rPr>
              <a:t>MLflow</a:t>
            </a:r>
            <a:r>
              <a:rPr sz="2600" b="0" i="0" dirty="0">
                <a:solidFill>
                  <a:srgbClr val="1E293B"/>
                </a:solidFill>
                <a:latin typeface="Quattrocento Sans"/>
              </a:rPr>
              <a:t> </a:t>
            </a:r>
            <a:r>
              <a:rPr lang="en-US" sz="2600" b="0" i="0" dirty="0">
                <a:solidFill>
                  <a:srgbClr val="1E293B"/>
                </a:solidFill>
                <a:latin typeface="Quattrocento Sans"/>
              </a:rPr>
              <a:t>experiment </a:t>
            </a:r>
            <a:r>
              <a:rPr sz="2600" b="0" i="0" dirty="0">
                <a:solidFill>
                  <a:srgbClr val="1E293B"/>
                </a:solidFill>
                <a:latin typeface="Quattrocento Sans"/>
              </a:rPr>
              <a:t>tracking</a:t>
            </a:r>
          </a:p>
        </p:txBody>
      </p:sp>
      <p:sp>
        <p:nvSpPr>
          <p:cNvPr id="31" name="Rectangle 30"/>
          <p:cNvSpPr/>
          <p:nvPr/>
        </p:nvSpPr>
        <p:spPr>
          <a:xfrm>
            <a:off x="13898880" y="630936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3898880" y="644652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03</a:t>
            </a:r>
          </a:p>
        </p:txBody>
      </p:sp>
      <p:sp>
        <p:nvSpPr>
          <p:cNvPr id="33" name="TextBox 32"/>
          <p:cNvSpPr txBox="1"/>
          <p:nvPr/>
        </p:nvSpPr>
        <p:spPr>
          <a:xfrm>
            <a:off x="14904720" y="6676735"/>
            <a:ext cx="8046720" cy="453970"/>
          </a:xfrm>
          <a:prstGeom prst="rect">
            <a:avLst/>
          </a:prstGeom>
          <a:noFill/>
        </p:spPr>
        <p:txBody>
          <a:bodyPr wrap="square" lIns="0" tIns="0" rIns="0" bIns="0" anchor="ctr">
            <a:spAutoFit/>
          </a:bodyPr>
          <a:lstStyle/>
          <a:p>
            <a:pPr algn="l">
              <a:lnSpc>
                <a:spcPct val="120000"/>
              </a:lnSpc>
              <a:spcAft>
                <a:spcPts val="600"/>
              </a:spcAft>
            </a:pPr>
            <a:r>
              <a:rPr lang="en-US" sz="2600" b="0" i="0" dirty="0">
                <a:solidFill>
                  <a:srgbClr val="1E293B"/>
                </a:solidFill>
                <a:latin typeface="Quattrocento Sans"/>
              </a:rPr>
              <a:t>Expl</a:t>
            </a:r>
            <a:r>
              <a:rPr lang="en-US" sz="2600" dirty="0">
                <a:solidFill>
                  <a:srgbClr val="1E293B"/>
                </a:solidFill>
                <a:latin typeface="Quattrocento Sans"/>
              </a:rPr>
              <a:t>oring </a:t>
            </a:r>
            <a:r>
              <a:rPr lang="en-US" sz="2600" dirty="0" err="1">
                <a:solidFill>
                  <a:srgbClr val="1E293B"/>
                </a:solidFill>
                <a:latin typeface="Quattrocento Sans"/>
              </a:rPr>
              <a:t>MLflow</a:t>
            </a:r>
            <a:r>
              <a:rPr lang="en-US" sz="2600" dirty="0">
                <a:solidFill>
                  <a:srgbClr val="1E293B"/>
                </a:solidFill>
                <a:latin typeface="Quattrocento Sans"/>
              </a:rPr>
              <a:t> features</a:t>
            </a:r>
            <a:endParaRPr sz="2600" b="0" i="0" dirty="0">
              <a:solidFill>
                <a:srgbClr val="1E293B"/>
              </a:solidFill>
              <a:latin typeface="Quattrocento Sans"/>
            </a:endParaRPr>
          </a:p>
        </p:txBody>
      </p:sp>
      <p:sp>
        <p:nvSpPr>
          <p:cNvPr id="34" name="Rectangle 33"/>
          <p:cNvSpPr/>
          <p:nvPr/>
        </p:nvSpPr>
        <p:spPr>
          <a:xfrm>
            <a:off x="13898880" y="749808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3898880" y="763524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04</a:t>
            </a:r>
          </a:p>
        </p:txBody>
      </p:sp>
      <p:sp>
        <p:nvSpPr>
          <p:cNvPr id="36" name="TextBox 35"/>
          <p:cNvSpPr txBox="1"/>
          <p:nvPr/>
        </p:nvSpPr>
        <p:spPr>
          <a:xfrm>
            <a:off x="14904720" y="7865455"/>
            <a:ext cx="8046720" cy="453970"/>
          </a:xfrm>
          <a:prstGeom prst="rect">
            <a:avLst/>
          </a:prstGeom>
          <a:noFill/>
        </p:spPr>
        <p:txBody>
          <a:bodyPr wrap="square" lIns="0" tIns="0" rIns="0" bIns="0" anchor="ctr">
            <a:spAutoFit/>
          </a:bodyPr>
          <a:lstStyle/>
          <a:p>
            <a:pPr>
              <a:lnSpc>
                <a:spcPct val="120000"/>
              </a:lnSpc>
              <a:spcAft>
                <a:spcPts val="600"/>
              </a:spcAft>
            </a:pPr>
            <a:r>
              <a:rPr lang="en-ID" sz="2600" dirty="0">
                <a:solidFill>
                  <a:srgbClr val="1E293B"/>
                </a:solidFill>
                <a:latin typeface="Quattrocento Sans"/>
              </a:rPr>
              <a:t>Aliases instead of stages</a:t>
            </a:r>
          </a:p>
        </p:txBody>
      </p:sp>
      <p:sp>
        <p:nvSpPr>
          <p:cNvPr id="37" name="Rectangle 36"/>
          <p:cNvSpPr/>
          <p:nvPr/>
        </p:nvSpPr>
        <p:spPr>
          <a:xfrm>
            <a:off x="13898880" y="868680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3898880" y="882396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05</a:t>
            </a:r>
          </a:p>
        </p:txBody>
      </p:sp>
      <p:sp>
        <p:nvSpPr>
          <p:cNvPr id="39" name="TextBox 38"/>
          <p:cNvSpPr txBox="1"/>
          <p:nvPr/>
        </p:nvSpPr>
        <p:spPr>
          <a:xfrm>
            <a:off x="14904720" y="9054175"/>
            <a:ext cx="8046720" cy="453970"/>
          </a:xfrm>
          <a:prstGeom prst="rect">
            <a:avLst/>
          </a:prstGeom>
          <a:noFill/>
        </p:spPr>
        <p:txBody>
          <a:bodyPr wrap="square" lIns="0" tIns="0" rIns="0" bIns="0" anchor="ctr">
            <a:spAutoFit/>
          </a:bodyPr>
          <a:lstStyle/>
          <a:p>
            <a:pPr>
              <a:lnSpc>
                <a:spcPct val="120000"/>
              </a:lnSpc>
              <a:spcAft>
                <a:spcPts val="600"/>
              </a:spcAft>
            </a:pPr>
            <a:r>
              <a:rPr lang="en-ID" sz="2600" dirty="0" err="1">
                <a:solidFill>
                  <a:srgbClr val="1E293B"/>
                </a:solidFill>
                <a:latin typeface="Quattrocento Sans"/>
              </a:rPr>
              <a:t>Mlflow</a:t>
            </a:r>
            <a:r>
              <a:rPr lang="en-ID" sz="2600" dirty="0">
                <a:solidFill>
                  <a:srgbClr val="1E293B"/>
                </a:solidFill>
                <a:latin typeface="Quattrocento Sans"/>
              </a:rPr>
              <a:t> model Registry</a:t>
            </a:r>
          </a:p>
        </p:txBody>
      </p:sp>
      <p:sp>
        <p:nvSpPr>
          <p:cNvPr id="40" name="Rectangle 39"/>
          <p:cNvSpPr/>
          <p:nvPr/>
        </p:nvSpPr>
        <p:spPr>
          <a:xfrm>
            <a:off x="13898880" y="987552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898880" y="1001268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06</a:t>
            </a:r>
          </a:p>
        </p:txBody>
      </p:sp>
      <p:sp>
        <p:nvSpPr>
          <p:cNvPr id="42" name="TextBox 41"/>
          <p:cNvSpPr txBox="1"/>
          <p:nvPr/>
        </p:nvSpPr>
        <p:spPr>
          <a:xfrm>
            <a:off x="14904720" y="10242895"/>
            <a:ext cx="8046720" cy="453970"/>
          </a:xfrm>
          <a:prstGeom prst="rect">
            <a:avLst/>
          </a:prstGeom>
          <a:noFill/>
        </p:spPr>
        <p:txBody>
          <a:bodyPr wrap="square" lIns="0" tIns="0" rIns="0" bIns="0" anchor="ctr">
            <a:spAutoFit/>
          </a:bodyPr>
          <a:lstStyle/>
          <a:p>
            <a:pPr>
              <a:lnSpc>
                <a:spcPct val="120000"/>
              </a:lnSpc>
              <a:spcAft>
                <a:spcPts val="600"/>
              </a:spcAft>
            </a:pPr>
            <a:r>
              <a:rPr lang="en-US" sz="2600" dirty="0">
                <a:solidFill>
                  <a:srgbClr val="1E293B"/>
                </a:solidFill>
                <a:latin typeface="Quattrocento Sans"/>
              </a:rPr>
              <a:t>Exercise and Discussion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CI, CD and CT in Machine Learning</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CONCEPT</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7</a:t>
            </a:r>
          </a:p>
        </p:txBody>
      </p:sp>
      <p:sp>
        <p:nvSpPr>
          <p:cNvPr id="6" name="Rounded Rectangle 5"/>
          <p:cNvSpPr/>
          <p:nvPr/>
        </p:nvSpPr>
        <p:spPr>
          <a:xfrm>
            <a:off x="1014984" y="2514600"/>
            <a:ext cx="7174992" cy="8138160"/>
          </a:xfrm>
          <a:prstGeom prst="roundRect">
            <a:avLst>
              <a:gd name="adj" fmla="val 446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563624" y="3017520"/>
            <a:ext cx="822960" cy="7315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63624" y="3246120"/>
            <a:ext cx="6077712" cy="82296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CI</a:t>
            </a:r>
          </a:p>
        </p:txBody>
      </p:sp>
      <p:sp>
        <p:nvSpPr>
          <p:cNvPr id="9" name="TextBox 8"/>
          <p:cNvSpPr txBox="1"/>
          <p:nvPr/>
        </p:nvSpPr>
        <p:spPr>
          <a:xfrm>
            <a:off x="1563624" y="4160520"/>
            <a:ext cx="6077712" cy="914400"/>
          </a:xfrm>
          <a:prstGeom prst="rect">
            <a:avLst/>
          </a:prstGeom>
          <a:noFill/>
        </p:spPr>
        <p:txBody>
          <a:bodyPr wrap="square" lIns="0" tIns="0" rIns="0" bIns="0" anchor="t">
            <a:spAutoFit/>
          </a:bodyPr>
          <a:lstStyle/>
          <a:p>
            <a:pPr algn="l">
              <a:lnSpc>
                <a:spcPct val="120000"/>
              </a:lnSpc>
              <a:spcAft>
                <a:spcPts val="600"/>
              </a:spcAft>
            </a:pPr>
            <a:r>
              <a:rPr sz="2600" b="0" i="1">
                <a:solidFill>
                  <a:srgbClr val="6B7B8D"/>
                </a:solidFill>
                <a:latin typeface="Quattrocento Sans"/>
              </a:rPr>
              <a:t>Continuous Integration</a:t>
            </a:r>
          </a:p>
        </p:txBody>
      </p:sp>
      <p:sp>
        <p:nvSpPr>
          <p:cNvPr id="10" name="TextBox 9"/>
          <p:cNvSpPr txBox="1"/>
          <p:nvPr/>
        </p:nvSpPr>
        <p:spPr>
          <a:xfrm>
            <a:off x="1563624" y="5212079"/>
            <a:ext cx="6077712" cy="5074920"/>
          </a:xfrm>
          <a:prstGeom prst="rect">
            <a:avLst/>
          </a:prstGeom>
          <a:noFill/>
        </p:spPr>
        <p:txBody>
          <a:bodyPr wrap="square" lIns="0" tIns="0" rIns="0" bIns="0" anchor="t">
            <a:spAutoFit/>
          </a:bodyPr>
          <a:lstStyle/>
          <a:p>
            <a:pPr marL="452754" indent="-452754" algn="l">
              <a:lnSpc>
                <a:spcPct val="120000"/>
              </a:lnSpc>
              <a:spcAft>
                <a:spcPts val="1200"/>
              </a:spcAft>
              <a:buClr>
                <a:srgbClr val="1B2A4A"/>
              </a:buClr>
              <a:buFont typeface="Arial"/>
              <a:buChar char="•"/>
            </a:pPr>
            <a:r>
              <a:rPr sz="3100" b="0" i="0">
                <a:solidFill>
                  <a:srgbClr val="1E293B"/>
                </a:solidFill>
                <a:latin typeface="Quattrocento Sans"/>
              </a:rPr>
              <a:t>Every code change is tested automatically</a:t>
            </a:r>
          </a:p>
          <a:p>
            <a:pPr marL="452754" indent="-452754" algn="l">
              <a:lnSpc>
                <a:spcPct val="120000"/>
              </a:lnSpc>
              <a:spcAft>
                <a:spcPts val="1200"/>
              </a:spcAft>
              <a:buClr>
                <a:srgbClr val="1B2A4A"/>
              </a:buClr>
              <a:buFont typeface="Arial"/>
              <a:buChar char="•"/>
            </a:pPr>
            <a:r>
              <a:rPr sz="3100" b="0" i="0">
                <a:solidFill>
                  <a:srgbClr val="1E293B"/>
                </a:solidFill>
                <a:latin typeface="Quattrocento Sans"/>
              </a:rPr>
              <a:t>In ML: also test the data and model quality</a:t>
            </a:r>
          </a:p>
          <a:p>
            <a:pPr marL="452754" indent="-452754" algn="l">
              <a:lnSpc>
                <a:spcPct val="120000"/>
              </a:lnSpc>
              <a:spcAft>
                <a:spcPts val="1200"/>
              </a:spcAft>
              <a:buClr>
                <a:srgbClr val="1B2A4A"/>
              </a:buClr>
              <a:buFont typeface="Arial"/>
              <a:buChar char="•"/>
            </a:pPr>
            <a:r>
              <a:rPr sz="3100" b="0" i="0">
                <a:solidFill>
                  <a:srgbClr val="1E293B"/>
                </a:solidFill>
                <a:latin typeface="Quattrocento Sans"/>
              </a:rPr>
              <a:t>Example: pytest + quality gate</a:t>
            </a:r>
          </a:p>
        </p:txBody>
      </p:sp>
      <p:sp>
        <p:nvSpPr>
          <p:cNvPr id="11" name="Rounded Rectangle 10"/>
          <p:cNvSpPr/>
          <p:nvPr/>
        </p:nvSpPr>
        <p:spPr>
          <a:xfrm>
            <a:off x="8601456" y="2514600"/>
            <a:ext cx="7174992" cy="8138160"/>
          </a:xfrm>
          <a:prstGeom prst="roundRect">
            <a:avLst>
              <a:gd name="adj" fmla="val 446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50096" y="3017520"/>
            <a:ext cx="822960" cy="73152"/>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50096" y="3246120"/>
            <a:ext cx="6077712" cy="82296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CD</a:t>
            </a:r>
          </a:p>
        </p:txBody>
      </p:sp>
      <p:sp>
        <p:nvSpPr>
          <p:cNvPr id="14" name="TextBox 13"/>
          <p:cNvSpPr txBox="1"/>
          <p:nvPr/>
        </p:nvSpPr>
        <p:spPr>
          <a:xfrm>
            <a:off x="9150096" y="4160520"/>
            <a:ext cx="6077712" cy="914400"/>
          </a:xfrm>
          <a:prstGeom prst="rect">
            <a:avLst/>
          </a:prstGeom>
          <a:noFill/>
        </p:spPr>
        <p:txBody>
          <a:bodyPr wrap="square" lIns="0" tIns="0" rIns="0" bIns="0" anchor="t">
            <a:spAutoFit/>
          </a:bodyPr>
          <a:lstStyle/>
          <a:p>
            <a:pPr algn="l">
              <a:lnSpc>
                <a:spcPct val="120000"/>
              </a:lnSpc>
              <a:spcAft>
                <a:spcPts val="600"/>
              </a:spcAft>
            </a:pPr>
            <a:r>
              <a:rPr sz="2600" b="0" i="1">
                <a:solidFill>
                  <a:srgbClr val="6B7B8D"/>
                </a:solidFill>
                <a:latin typeface="Quattrocento Sans"/>
              </a:rPr>
              <a:t>Continuous Delivery / Deployment</a:t>
            </a:r>
          </a:p>
        </p:txBody>
      </p:sp>
      <p:sp>
        <p:nvSpPr>
          <p:cNvPr id="15" name="TextBox 14"/>
          <p:cNvSpPr txBox="1"/>
          <p:nvPr/>
        </p:nvSpPr>
        <p:spPr>
          <a:xfrm>
            <a:off x="9150096" y="5212079"/>
            <a:ext cx="6077712" cy="5074920"/>
          </a:xfrm>
          <a:prstGeom prst="rect">
            <a:avLst/>
          </a:prstGeom>
          <a:noFill/>
        </p:spPr>
        <p:txBody>
          <a:bodyPr wrap="square" lIns="0" tIns="0" rIns="0" bIns="0" anchor="t">
            <a:spAutoFit/>
          </a:bodyPr>
          <a:lstStyle/>
          <a:p>
            <a:pPr marL="452754" indent="-452754" algn="l">
              <a:lnSpc>
                <a:spcPct val="120000"/>
              </a:lnSpc>
              <a:spcAft>
                <a:spcPts val="1200"/>
              </a:spcAft>
              <a:buClr>
                <a:srgbClr val="D4A03A"/>
              </a:buClr>
              <a:buFont typeface="Arial"/>
              <a:buChar char="•"/>
            </a:pPr>
            <a:r>
              <a:rPr sz="3100" b="0" i="0">
                <a:solidFill>
                  <a:srgbClr val="1E293B"/>
                </a:solidFill>
                <a:latin typeface="Quattrocento Sans"/>
              </a:rPr>
              <a:t>Artefacts that pass tests are released automatically</a:t>
            </a:r>
          </a:p>
          <a:p>
            <a:pPr marL="452754" indent="-452754" algn="l">
              <a:lnSpc>
                <a:spcPct val="120000"/>
              </a:lnSpc>
              <a:spcAft>
                <a:spcPts val="1200"/>
              </a:spcAft>
              <a:buClr>
                <a:srgbClr val="D4A03A"/>
              </a:buClr>
              <a:buFont typeface="Arial"/>
              <a:buChar char="•"/>
            </a:pPr>
            <a:r>
              <a:rPr sz="3100" b="0" i="0">
                <a:solidFill>
                  <a:srgbClr val="1E293B"/>
                </a:solidFill>
                <a:latin typeface="Quattrocento Sans"/>
              </a:rPr>
              <a:t>In ML: the artefact is an image + a specific model version</a:t>
            </a:r>
          </a:p>
          <a:p>
            <a:pPr marL="452754" indent="-452754" algn="l">
              <a:lnSpc>
                <a:spcPct val="120000"/>
              </a:lnSpc>
              <a:spcAft>
                <a:spcPts val="1200"/>
              </a:spcAft>
              <a:buClr>
                <a:srgbClr val="D4A03A"/>
              </a:buClr>
              <a:buFont typeface="Arial"/>
              <a:buChar char="•"/>
            </a:pPr>
            <a:r>
              <a:rPr sz="3100" b="0" i="0">
                <a:solidFill>
                  <a:srgbClr val="1E293B"/>
                </a:solidFill>
                <a:latin typeface="Quattrocento Sans"/>
              </a:rPr>
              <a:t>Example: build image → Cloud Run</a:t>
            </a:r>
          </a:p>
        </p:txBody>
      </p:sp>
      <p:sp>
        <p:nvSpPr>
          <p:cNvPr id="16" name="Rounded Rectangle 15"/>
          <p:cNvSpPr/>
          <p:nvPr/>
        </p:nvSpPr>
        <p:spPr>
          <a:xfrm>
            <a:off x="16187928" y="2514600"/>
            <a:ext cx="7174992" cy="8138160"/>
          </a:xfrm>
          <a:prstGeom prst="roundRect">
            <a:avLst>
              <a:gd name="adj" fmla="val 446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6736568" y="3017520"/>
            <a:ext cx="822960" cy="73152"/>
          </a:xfrm>
          <a:prstGeom prst="rect">
            <a:avLst/>
          </a:prstGeom>
          <a:solidFill>
            <a:srgbClr val="4A5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736568" y="3246120"/>
            <a:ext cx="6077712" cy="82296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CT</a:t>
            </a:r>
          </a:p>
        </p:txBody>
      </p:sp>
      <p:sp>
        <p:nvSpPr>
          <p:cNvPr id="19" name="TextBox 18"/>
          <p:cNvSpPr txBox="1"/>
          <p:nvPr/>
        </p:nvSpPr>
        <p:spPr>
          <a:xfrm>
            <a:off x="16736568" y="4160520"/>
            <a:ext cx="6077712" cy="914400"/>
          </a:xfrm>
          <a:prstGeom prst="rect">
            <a:avLst/>
          </a:prstGeom>
          <a:noFill/>
        </p:spPr>
        <p:txBody>
          <a:bodyPr wrap="square" lIns="0" tIns="0" rIns="0" bIns="0" anchor="t">
            <a:spAutoFit/>
          </a:bodyPr>
          <a:lstStyle/>
          <a:p>
            <a:pPr algn="l">
              <a:lnSpc>
                <a:spcPct val="120000"/>
              </a:lnSpc>
              <a:spcAft>
                <a:spcPts val="600"/>
              </a:spcAft>
            </a:pPr>
            <a:r>
              <a:rPr sz="2600" b="0" i="1" dirty="0">
                <a:solidFill>
                  <a:srgbClr val="6B7B8D"/>
                </a:solidFill>
                <a:latin typeface="Quattrocento Sans"/>
              </a:rPr>
              <a:t>Continuous Training</a:t>
            </a:r>
          </a:p>
        </p:txBody>
      </p:sp>
      <p:sp>
        <p:nvSpPr>
          <p:cNvPr id="20" name="TextBox 19"/>
          <p:cNvSpPr txBox="1"/>
          <p:nvPr/>
        </p:nvSpPr>
        <p:spPr>
          <a:xfrm>
            <a:off x="16736568" y="5212079"/>
            <a:ext cx="6077712" cy="5074920"/>
          </a:xfrm>
          <a:prstGeom prst="rect">
            <a:avLst/>
          </a:prstGeom>
          <a:noFill/>
        </p:spPr>
        <p:txBody>
          <a:bodyPr wrap="square" lIns="0" tIns="0" rIns="0" bIns="0" anchor="t">
            <a:spAutoFit/>
          </a:bodyPr>
          <a:lstStyle/>
          <a:p>
            <a:pPr marL="452754" indent="-452754" algn="l">
              <a:lnSpc>
                <a:spcPct val="120000"/>
              </a:lnSpc>
              <a:spcAft>
                <a:spcPts val="1200"/>
              </a:spcAft>
              <a:buClr>
                <a:srgbClr val="4A5B7A"/>
              </a:buClr>
              <a:buFont typeface="Arial"/>
              <a:buChar char="•"/>
            </a:pPr>
            <a:r>
              <a:rPr sz="3100" b="0" i="0">
                <a:solidFill>
                  <a:srgbClr val="1E293B"/>
                </a:solidFill>
                <a:latin typeface="Quattrocento Sans"/>
              </a:rPr>
              <a:t>The model is retrained when the data changes</a:t>
            </a:r>
          </a:p>
          <a:p>
            <a:pPr marL="452754" indent="-452754" algn="l">
              <a:lnSpc>
                <a:spcPct val="120000"/>
              </a:lnSpc>
              <a:spcAft>
                <a:spcPts val="1200"/>
              </a:spcAft>
              <a:buClr>
                <a:srgbClr val="4A5B7A"/>
              </a:buClr>
              <a:buFont typeface="Arial"/>
              <a:buChar char="•"/>
            </a:pPr>
            <a:r>
              <a:rPr sz="3100" b="0" i="0">
                <a:solidFill>
                  <a:srgbClr val="1E293B"/>
                </a:solidFill>
                <a:latin typeface="Quattrocento Sans"/>
              </a:rPr>
              <a:t>Triggered by a schedule, new data, or drift</a:t>
            </a:r>
          </a:p>
          <a:p>
            <a:pPr marL="452754" indent="-452754" algn="l">
              <a:lnSpc>
                <a:spcPct val="120000"/>
              </a:lnSpc>
              <a:spcAft>
                <a:spcPts val="1200"/>
              </a:spcAft>
              <a:buClr>
                <a:srgbClr val="4A5B7A"/>
              </a:buClr>
              <a:buFont typeface="Arial"/>
              <a:buChar char="•"/>
            </a:pPr>
            <a:r>
              <a:rPr sz="3100" b="0" i="0">
                <a:solidFill>
                  <a:srgbClr val="1E293B"/>
                </a:solidFill>
                <a:latin typeface="Quattrocento Sans"/>
              </a:rPr>
              <a:t>Example: monitor → retrain → registry</a:t>
            </a:r>
          </a:p>
        </p:txBody>
      </p:sp>
      <p:sp>
        <p:nvSpPr>
          <p:cNvPr id="24" name="TextBox 23">
            <a:extLst>
              <a:ext uri="{FF2B5EF4-FFF2-40B4-BE49-F238E27FC236}">
                <a16:creationId xmlns:a16="http://schemas.microsoft.com/office/drawing/2014/main" id="{85FF9243-FBBA-7915-5E1A-080F2D832513}"/>
              </a:ext>
            </a:extLst>
          </p:cNvPr>
          <p:cNvSpPr txBox="1"/>
          <p:nvPr/>
        </p:nvSpPr>
        <p:spPr>
          <a:xfrm>
            <a:off x="16736568" y="9535778"/>
            <a:ext cx="6077712" cy="934102"/>
          </a:xfrm>
          <a:prstGeom prst="rect">
            <a:avLst/>
          </a:prstGeom>
          <a:noFill/>
        </p:spPr>
        <p:txBody>
          <a:bodyPr wrap="square" lIns="0" tIns="0" rIns="0" bIns="0" anchor="t">
            <a:spAutoFit/>
          </a:bodyPr>
          <a:lstStyle/>
          <a:p>
            <a:pPr algn="l">
              <a:lnSpc>
                <a:spcPct val="120000"/>
              </a:lnSpc>
              <a:spcAft>
                <a:spcPts val="600"/>
              </a:spcAft>
            </a:pPr>
            <a:r>
              <a:rPr lang="en-US" sz="2600" b="1" i="1" dirty="0">
                <a:solidFill>
                  <a:srgbClr val="C00000"/>
                </a:solidFill>
                <a:latin typeface="Quattrocento Sans"/>
              </a:rPr>
              <a:t>We will defer this section to the end of workshop after all topics are complete</a:t>
            </a:r>
            <a:endParaRPr sz="2600" b="1" i="1" dirty="0">
              <a:solidFill>
                <a:srgbClr val="C00000"/>
              </a:solidFill>
              <a:latin typeface="Quattrocen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The Three MLflow Components We Use</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COMPONENTS</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9</a:t>
            </a:r>
          </a:p>
        </p:txBody>
      </p:sp>
      <p:sp>
        <p:nvSpPr>
          <p:cNvPr id="6" name="Rounded Rectangle 5"/>
          <p:cNvSpPr/>
          <p:nvPr/>
        </p:nvSpPr>
        <p:spPr>
          <a:xfrm>
            <a:off x="1014984" y="2514600"/>
            <a:ext cx="7174992" cy="7498079"/>
          </a:xfrm>
          <a:prstGeom prst="roundRect">
            <a:avLst>
              <a:gd name="adj" fmla="val 446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63624"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01</a:t>
            </a:r>
          </a:p>
        </p:txBody>
      </p:sp>
      <p:sp>
        <p:nvSpPr>
          <p:cNvPr id="8" name="TextBox 7"/>
          <p:cNvSpPr txBox="1"/>
          <p:nvPr/>
        </p:nvSpPr>
        <p:spPr>
          <a:xfrm>
            <a:off x="2615184" y="2926080"/>
            <a:ext cx="5209032"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Tracking</a:t>
            </a:r>
          </a:p>
        </p:txBody>
      </p:sp>
      <p:sp>
        <p:nvSpPr>
          <p:cNvPr id="9" name="TextBox 8"/>
          <p:cNvSpPr txBox="1"/>
          <p:nvPr/>
        </p:nvSpPr>
        <p:spPr>
          <a:xfrm>
            <a:off x="1563624" y="3931920"/>
            <a:ext cx="6077712" cy="5852159"/>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Records the parameters, metrics and artefacts of every run: log_param, log_metric, log_model.</a:t>
            </a:r>
          </a:p>
        </p:txBody>
      </p:sp>
      <p:sp>
        <p:nvSpPr>
          <p:cNvPr id="10" name="Rounded Rectangle 9"/>
          <p:cNvSpPr/>
          <p:nvPr/>
        </p:nvSpPr>
        <p:spPr>
          <a:xfrm>
            <a:off x="8601456" y="2514600"/>
            <a:ext cx="7174992" cy="7498079"/>
          </a:xfrm>
          <a:prstGeom prst="roundRect">
            <a:avLst>
              <a:gd name="adj" fmla="val 446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50096"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02</a:t>
            </a:r>
          </a:p>
        </p:txBody>
      </p:sp>
      <p:sp>
        <p:nvSpPr>
          <p:cNvPr id="12" name="TextBox 11"/>
          <p:cNvSpPr txBox="1"/>
          <p:nvPr/>
        </p:nvSpPr>
        <p:spPr>
          <a:xfrm>
            <a:off x="10201656" y="2926080"/>
            <a:ext cx="5209032"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Model Registry</a:t>
            </a:r>
          </a:p>
        </p:txBody>
      </p:sp>
      <p:sp>
        <p:nvSpPr>
          <p:cNvPr id="13" name="TextBox 12"/>
          <p:cNvSpPr txBox="1"/>
          <p:nvPr/>
        </p:nvSpPr>
        <p:spPr>
          <a:xfrm>
            <a:off x="9150096" y="3931920"/>
            <a:ext cx="6077712" cy="5852159"/>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A catalogue of models with version numbers and aliases (@champion). The basis for release and rollback.</a:t>
            </a:r>
          </a:p>
        </p:txBody>
      </p:sp>
      <p:sp>
        <p:nvSpPr>
          <p:cNvPr id="14" name="Rounded Rectangle 13"/>
          <p:cNvSpPr/>
          <p:nvPr/>
        </p:nvSpPr>
        <p:spPr>
          <a:xfrm>
            <a:off x="16187928" y="2514600"/>
            <a:ext cx="7174992" cy="7498079"/>
          </a:xfrm>
          <a:prstGeom prst="roundRect">
            <a:avLst>
              <a:gd name="adj" fmla="val 446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736568"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03</a:t>
            </a:r>
          </a:p>
        </p:txBody>
      </p:sp>
      <p:sp>
        <p:nvSpPr>
          <p:cNvPr id="16" name="TextBox 15"/>
          <p:cNvSpPr txBox="1"/>
          <p:nvPr/>
        </p:nvSpPr>
        <p:spPr>
          <a:xfrm>
            <a:off x="17788128" y="2926080"/>
            <a:ext cx="5209032"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MLflow UI</a:t>
            </a:r>
          </a:p>
        </p:txBody>
      </p:sp>
      <p:sp>
        <p:nvSpPr>
          <p:cNvPr id="17" name="TextBox 16"/>
          <p:cNvSpPr txBox="1"/>
          <p:nvPr/>
        </p:nvSpPr>
        <p:spPr>
          <a:xfrm>
            <a:off x="16736568" y="3931920"/>
            <a:ext cx="6077712" cy="5852159"/>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A dashboard to compare runs: sort, filter and plot metrics across experiments.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Why Experiment Tracking Matters</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PROBLEM</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8</a:t>
            </a:r>
          </a:p>
        </p:txBody>
      </p:sp>
      <p:sp>
        <p:nvSpPr>
          <p:cNvPr id="6" name="Rounded Rectangle 5"/>
          <p:cNvSpPr/>
          <p:nvPr/>
        </p:nvSpPr>
        <p:spPr>
          <a:xfrm>
            <a:off x="1014984" y="251460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63624"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01</a:t>
            </a:r>
          </a:p>
        </p:txBody>
      </p:sp>
      <p:sp>
        <p:nvSpPr>
          <p:cNvPr id="8" name="TextBox 7"/>
          <p:cNvSpPr txBox="1"/>
          <p:nvPr/>
        </p:nvSpPr>
        <p:spPr>
          <a:xfrm>
            <a:off x="2615184" y="292608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Lost version details</a:t>
            </a:r>
          </a:p>
        </p:txBody>
      </p:sp>
      <p:sp>
        <p:nvSpPr>
          <p:cNvPr id="9" name="TextBox 8"/>
          <p:cNvSpPr txBox="1"/>
          <p:nvPr/>
        </p:nvSpPr>
        <p:spPr>
          <a:xfrm>
            <a:off x="1563624" y="393192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"Which model gave us 93% accuracy?" Without tracking, the honest answer is often "I don't remember".</a:t>
            </a:r>
          </a:p>
        </p:txBody>
      </p:sp>
      <p:sp>
        <p:nvSpPr>
          <p:cNvPr id="10" name="Rounded Rectangle 9"/>
          <p:cNvSpPr/>
          <p:nvPr/>
        </p:nvSpPr>
        <p:spPr>
          <a:xfrm>
            <a:off x="12394692" y="251460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943332"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02</a:t>
            </a:r>
          </a:p>
        </p:txBody>
      </p:sp>
      <p:sp>
        <p:nvSpPr>
          <p:cNvPr id="12" name="TextBox 11"/>
          <p:cNvSpPr txBox="1"/>
          <p:nvPr/>
        </p:nvSpPr>
        <p:spPr>
          <a:xfrm>
            <a:off x="13994892" y="292608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Hard to compare</a:t>
            </a:r>
          </a:p>
        </p:txBody>
      </p:sp>
      <p:sp>
        <p:nvSpPr>
          <p:cNvPr id="13" name="TextBox 12"/>
          <p:cNvSpPr txBox="1"/>
          <p:nvPr/>
        </p:nvSpPr>
        <p:spPr>
          <a:xfrm>
            <a:off x="12943332" y="393192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Notebook prints vanish when the kernel restarts. There is no systematic way to compare dozens of runs.</a:t>
            </a:r>
          </a:p>
        </p:txBody>
      </p:sp>
      <p:sp>
        <p:nvSpPr>
          <p:cNvPr id="14" name="Rounded Rectangle 13"/>
          <p:cNvSpPr/>
          <p:nvPr/>
        </p:nvSpPr>
        <p:spPr>
          <a:xfrm>
            <a:off x="1014984" y="770382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63624" y="811530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03</a:t>
            </a:r>
          </a:p>
        </p:txBody>
      </p:sp>
      <p:sp>
        <p:nvSpPr>
          <p:cNvPr id="16" name="TextBox 15"/>
          <p:cNvSpPr txBox="1"/>
          <p:nvPr/>
        </p:nvSpPr>
        <p:spPr>
          <a:xfrm>
            <a:off x="2615184" y="811530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Collaboration clashes</a:t>
            </a:r>
          </a:p>
        </p:txBody>
      </p:sp>
      <p:sp>
        <p:nvSpPr>
          <p:cNvPr id="17" name="TextBox 16"/>
          <p:cNvSpPr txBox="1"/>
          <p:nvPr/>
        </p:nvSpPr>
        <p:spPr>
          <a:xfrm>
            <a:off x="1563624" y="912114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Two people train similar models without knowing, duplicating work or overwriting each other's results.</a:t>
            </a:r>
          </a:p>
        </p:txBody>
      </p:sp>
      <p:sp>
        <p:nvSpPr>
          <p:cNvPr id="18" name="Rounded Rectangle 17"/>
          <p:cNvSpPr/>
          <p:nvPr/>
        </p:nvSpPr>
        <p:spPr>
          <a:xfrm>
            <a:off x="12394692" y="770382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943332" y="811530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04</a:t>
            </a:r>
          </a:p>
        </p:txBody>
      </p:sp>
      <p:sp>
        <p:nvSpPr>
          <p:cNvPr id="20" name="TextBox 19"/>
          <p:cNvSpPr txBox="1"/>
          <p:nvPr/>
        </p:nvSpPr>
        <p:spPr>
          <a:xfrm>
            <a:off x="13994892" y="811530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No audit trail</a:t>
            </a:r>
          </a:p>
        </p:txBody>
      </p:sp>
      <p:sp>
        <p:nvSpPr>
          <p:cNvPr id="21" name="TextBox 20"/>
          <p:cNvSpPr txBox="1"/>
          <p:nvPr/>
        </p:nvSpPr>
        <p:spPr>
          <a:xfrm>
            <a:off x="12943332" y="912114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A production model cannot be traced back to the code, data and parameters that produced 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Tracking Backend: SQLite, Not a File Store</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 VERSION FINDING</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10</a:t>
            </a:r>
          </a:p>
        </p:txBody>
      </p:sp>
      <p:sp>
        <p:nvSpPr>
          <p:cNvPr id="6" name="Rounded Rectangle 5"/>
          <p:cNvSpPr/>
          <p:nvPr/>
        </p:nvSpPr>
        <p:spPr>
          <a:xfrm>
            <a:off x="1014984" y="2514600"/>
            <a:ext cx="10945368" cy="4937760"/>
          </a:xfrm>
          <a:prstGeom prst="roundRect">
            <a:avLst>
              <a:gd name="adj" fmla="val 5555"/>
            </a:avLst>
          </a:prstGeom>
          <a:solidFill>
            <a:srgbClr val="FBE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2417552" y="2514600"/>
            <a:ext cx="10945368" cy="4937760"/>
          </a:xfrm>
          <a:prstGeom prst="roundRect">
            <a:avLst>
              <a:gd name="adj" fmla="val 5555"/>
            </a:avLst>
          </a:prstGeom>
          <a:solidFill>
            <a:srgbClr val="EA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63624" y="2926080"/>
            <a:ext cx="10058400" cy="548640"/>
          </a:xfrm>
          <a:prstGeom prst="rect">
            <a:avLst/>
          </a:prstGeom>
          <a:noFill/>
        </p:spPr>
        <p:txBody>
          <a:bodyPr wrap="square" lIns="0" tIns="0" rIns="0" bIns="0" anchor="t">
            <a:spAutoFit/>
          </a:bodyPr>
          <a:lstStyle/>
          <a:p>
            <a:pPr algn="l">
              <a:lnSpc>
                <a:spcPct val="120000"/>
              </a:lnSpc>
              <a:spcAft>
                <a:spcPts val="600"/>
              </a:spcAft>
            </a:pPr>
            <a:r>
              <a:rPr sz="1800" b="1" i="0" spc="300">
                <a:solidFill>
                  <a:srgbClr val="B4432F"/>
                </a:solidFill>
                <a:latin typeface="Liter"/>
              </a:rPr>
              <a:t>ROOT CAUSE</a:t>
            </a:r>
          </a:p>
        </p:txBody>
      </p:sp>
      <p:sp>
        <p:nvSpPr>
          <p:cNvPr id="9" name="TextBox 8"/>
          <p:cNvSpPr txBox="1"/>
          <p:nvPr/>
        </p:nvSpPr>
        <p:spPr>
          <a:xfrm>
            <a:off x="12966192" y="2926080"/>
            <a:ext cx="10058400" cy="548640"/>
          </a:xfrm>
          <a:prstGeom prst="rect">
            <a:avLst/>
          </a:prstGeom>
          <a:noFill/>
        </p:spPr>
        <p:txBody>
          <a:bodyPr wrap="square" lIns="0" tIns="0" rIns="0" bIns="0" anchor="t">
            <a:spAutoFit/>
          </a:bodyPr>
          <a:lstStyle/>
          <a:p>
            <a:pPr algn="l">
              <a:lnSpc>
                <a:spcPct val="120000"/>
              </a:lnSpc>
              <a:spcAft>
                <a:spcPts val="600"/>
              </a:spcAft>
            </a:pPr>
            <a:r>
              <a:rPr sz="1800" b="1" i="0" spc="300">
                <a:solidFill>
                  <a:srgbClr val="2F7D5B"/>
                </a:solidFill>
                <a:latin typeface="Liter"/>
              </a:rPr>
              <a:t>FIX</a:t>
            </a:r>
          </a:p>
        </p:txBody>
      </p:sp>
      <p:sp>
        <p:nvSpPr>
          <p:cNvPr id="10" name="TextBox 9"/>
          <p:cNvSpPr txBox="1"/>
          <p:nvPr/>
        </p:nvSpPr>
        <p:spPr>
          <a:xfrm>
            <a:off x="1563624" y="3657600"/>
            <a:ext cx="9875520" cy="3566160"/>
          </a:xfrm>
          <a:prstGeom prst="rect">
            <a:avLst/>
          </a:prstGeom>
          <a:noFill/>
        </p:spPr>
        <p:txBody>
          <a:bodyPr wrap="square" lIns="0" tIns="0" rIns="0" bIns="0" anchor="t">
            <a:spAutoFit/>
          </a:bodyPr>
          <a:lstStyle/>
          <a:p>
            <a:pPr algn="l">
              <a:lnSpc>
                <a:spcPct val="130000"/>
              </a:lnSpc>
              <a:spcAft>
                <a:spcPts val="600"/>
              </a:spcAft>
            </a:pPr>
            <a:r>
              <a:rPr sz="2800" b="0" i="0">
                <a:solidFill>
                  <a:srgbClr val="1E293B"/>
                </a:solidFill>
                <a:latin typeface="Quattrocento Sans"/>
              </a:rPr>
              <a:t>The folder-based backend (file:///.../mlruns) is in maintenance mode in recent MLflow releases and may be rejected when set_experiment() is called.</a:t>
            </a:r>
          </a:p>
        </p:txBody>
      </p:sp>
      <p:sp>
        <p:nvSpPr>
          <p:cNvPr id="11" name="TextBox 10"/>
          <p:cNvSpPr txBox="1"/>
          <p:nvPr/>
        </p:nvSpPr>
        <p:spPr>
          <a:xfrm>
            <a:off x="12966192" y="3657600"/>
            <a:ext cx="9875520" cy="2915735"/>
          </a:xfrm>
          <a:prstGeom prst="rect">
            <a:avLst/>
          </a:prstGeom>
          <a:noFill/>
        </p:spPr>
        <p:txBody>
          <a:bodyPr wrap="square" lIns="0" tIns="0" rIns="0" bIns="0" anchor="t">
            <a:spAutoFit/>
          </a:bodyPr>
          <a:lstStyle/>
          <a:p>
            <a:pPr algn="l">
              <a:lnSpc>
                <a:spcPct val="130000"/>
              </a:lnSpc>
              <a:spcAft>
                <a:spcPts val="600"/>
              </a:spcAft>
            </a:pPr>
            <a:r>
              <a:rPr sz="2800" b="0" i="0" dirty="0">
                <a:solidFill>
                  <a:srgbClr val="1E293B"/>
                </a:solidFill>
                <a:latin typeface="Quattrocento Sans"/>
              </a:rPr>
              <a:t>Use a SQLite backend. It stays local (a single </a:t>
            </a:r>
            <a:r>
              <a:rPr sz="2800" b="0" i="0" dirty="0" err="1">
                <a:solidFill>
                  <a:srgbClr val="1E293B"/>
                </a:solidFill>
                <a:latin typeface="Quattrocento Sans"/>
              </a:rPr>
              <a:t>mlflow.db</a:t>
            </a:r>
            <a:r>
              <a:rPr sz="2800" b="0" i="0" dirty="0">
                <a:solidFill>
                  <a:srgbClr val="1E293B"/>
                </a:solidFill>
                <a:latin typeface="Quattrocento Sans"/>
              </a:rPr>
              <a:t> file), needs no separate database server, and is fully supported.</a:t>
            </a:r>
            <a:endParaRPr lang="en-US" sz="2800" b="0" i="0" dirty="0">
              <a:solidFill>
                <a:srgbClr val="1E293B"/>
              </a:solidFill>
              <a:latin typeface="Quattrocento Sans"/>
            </a:endParaRPr>
          </a:p>
          <a:p>
            <a:pPr algn="l">
              <a:lnSpc>
                <a:spcPct val="130000"/>
              </a:lnSpc>
              <a:spcAft>
                <a:spcPts val="600"/>
              </a:spcAft>
            </a:pPr>
            <a:r>
              <a:rPr lang="en-ID" sz="2800" b="1" dirty="0">
                <a:solidFill>
                  <a:srgbClr val="1E293B"/>
                </a:solidFill>
                <a:latin typeface="Quattrocento Sans"/>
              </a:rPr>
              <a:t>OR</a:t>
            </a:r>
            <a:r>
              <a:rPr lang="en-ID" sz="2800" b="0" i="0" dirty="0">
                <a:solidFill>
                  <a:srgbClr val="1E293B"/>
                </a:solidFill>
                <a:latin typeface="Quattrocento Sans"/>
              </a:rPr>
              <a:t> </a:t>
            </a:r>
          </a:p>
          <a:p>
            <a:pPr algn="l">
              <a:lnSpc>
                <a:spcPct val="130000"/>
              </a:lnSpc>
              <a:spcAft>
                <a:spcPts val="600"/>
              </a:spcAft>
            </a:pPr>
            <a:r>
              <a:rPr lang="en-US" sz="2800" b="0" i="0" dirty="0">
                <a:solidFill>
                  <a:srgbClr val="1E293B"/>
                </a:solidFill>
                <a:latin typeface="Quattrocento Sans"/>
                <a:hlinkClick r:id="rId3"/>
              </a:rPr>
              <a:t>http://domain:port</a:t>
            </a:r>
            <a:r>
              <a:rPr lang="en-US" sz="2800" b="0" i="0" dirty="0">
                <a:solidFill>
                  <a:srgbClr val="1E293B"/>
                </a:solidFill>
                <a:latin typeface="Quattrocento Sans"/>
              </a:rPr>
              <a:t> is also working, but it requires </a:t>
            </a:r>
            <a:r>
              <a:rPr lang="en-US" sz="2800" b="0" i="0" dirty="0" err="1">
                <a:solidFill>
                  <a:srgbClr val="1E293B"/>
                </a:solidFill>
                <a:latin typeface="Quattrocento Sans"/>
              </a:rPr>
              <a:t>MLFLow</a:t>
            </a:r>
            <a:r>
              <a:rPr lang="en-US" sz="2800" b="0" i="0" dirty="0">
                <a:solidFill>
                  <a:srgbClr val="1E293B"/>
                </a:solidFill>
                <a:latin typeface="Quattrocento Sans"/>
              </a:rPr>
              <a:t> server already started</a:t>
            </a:r>
            <a:endParaRPr sz="2800" b="0" i="0" dirty="0">
              <a:solidFill>
                <a:srgbClr val="1E293B"/>
              </a:solidFill>
              <a:latin typeface="Quattrocento Sans"/>
            </a:endParaRPr>
          </a:p>
        </p:txBody>
      </p:sp>
      <p:sp>
        <p:nvSpPr>
          <p:cNvPr id="12" name="Rounded Rectangle 11"/>
          <p:cNvSpPr/>
          <p:nvPr/>
        </p:nvSpPr>
        <p:spPr>
          <a:xfrm>
            <a:off x="1014984" y="7863840"/>
            <a:ext cx="22347936" cy="4663440"/>
          </a:xfrm>
          <a:prstGeom prst="roundRect">
            <a:avLst>
              <a:gd name="adj" fmla="val 3529"/>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344168" y="813816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728216" y="813816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112264" y="813816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26464" y="8577072"/>
            <a:ext cx="21616416" cy="1292662"/>
          </a:xfrm>
          <a:prstGeom prst="rect">
            <a:avLst/>
          </a:prstGeom>
          <a:noFill/>
        </p:spPr>
        <p:txBody>
          <a:bodyPr wrap="square" lIns="0" tIns="0" rIns="0" bIns="0" anchor="t">
            <a:spAutoFit/>
          </a:bodyPr>
          <a:lstStyle/>
          <a:p>
            <a:pPr algn="l">
              <a:lnSpc>
                <a:spcPct val="100000"/>
              </a:lnSpc>
              <a:spcAft>
                <a:spcPts val="0"/>
              </a:spcAft>
            </a:pPr>
            <a:r>
              <a:rPr sz="2800" b="0" i="0" dirty="0" err="1">
                <a:solidFill>
                  <a:srgbClr val="E6EDF3"/>
                </a:solidFill>
                <a:latin typeface="Consolas"/>
              </a:rPr>
              <a:t>mlflow.set_tracking_uri</a:t>
            </a:r>
            <a:r>
              <a:rPr sz="2800" b="0" i="0" dirty="0">
                <a:solidFill>
                  <a:srgbClr val="E6EDF3"/>
                </a:solidFill>
                <a:latin typeface="Consolas"/>
              </a:rPr>
              <a:t>("</a:t>
            </a:r>
            <a:r>
              <a:rPr sz="2800" b="0" i="0" dirty="0" err="1">
                <a:solidFill>
                  <a:srgbClr val="E6EDF3"/>
                </a:solidFill>
                <a:latin typeface="Consolas"/>
              </a:rPr>
              <a:t>sqlite</a:t>
            </a:r>
            <a:r>
              <a:rPr sz="2800" b="0" i="0" dirty="0">
                <a:solidFill>
                  <a:srgbClr val="E6EDF3"/>
                </a:solidFill>
                <a:latin typeface="Consolas"/>
              </a:rPr>
              <a:t>:///</a:t>
            </a:r>
            <a:r>
              <a:rPr sz="2800" b="0" i="0" dirty="0" err="1">
                <a:solidFill>
                  <a:srgbClr val="E6EDF3"/>
                </a:solidFill>
                <a:latin typeface="Consolas"/>
              </a:rPr>
              <a:t>mlflow.db</a:t>
            </a:r>
            <a:r>
              <a:rPr sz="2800" b="0" i="0" dirty="0">
                <a:solidFill>
                  <a:srgbClr val="E6EDF3"/>
                </a:solidFill>
                <a:latin typeface="Consolas"/>
              </a:rPr>
              <a:t>")   </a:t>
            </a:r>
            <a:r>
              <a:rPr lang="en-US" sz="2800" b="0" i="0" dirty="0">
                <a:solidFill>
                  <a:srgbClr val="E6EDF3"/>
                </a:solidFill>
                <a:latin typeface="Consolas"/>
              </a:rPr>
              <a:t>		</a:t>
            </a:r>
            <a:r>
              <a:rPr sz="2800" b="0" i="0" dirty="0">
                <a:solidFill>
                  <a:srgbClr val="E6EDF3"/>
                </a:solidFill>
                <a:latin typeface="Consolas"/>
              </a:rPr>
              <a:t># CORRECT</a:t>
            </a:r>
          </a:p>
          <a:p>
            <a:r>
              <a:rPr lang="en-ID" sz="2800" dirty="0">
                <a:solidFill>
                  <a:srgbClr val="8B9BB4"/>
                </a:solidFill>
                <a:latin typeface="Consolas"/>
              </a:rPr>
              <a:t># </a:t>
            </a:r>
            <a:r>
              <a:rPr lang="en-ID" sz="2800" dirty="0" err="1">
                <a:solidFill>
                  <a:srgbClr val="8B9BB4"/>
                </a:solidFill>
                <a:latin typeface="Consolas"/>
              </a:rPr>
              <a:t>mlflow.set_tracking_uri</a:t>
            </a:r>
            <a:r>
              <a:rPr lang="en-ID" sz="2800" dirty="0">
                <a:solidFill>
                  <a:srgbClr val="8B9BB4"/>
                </a:solidFill>
                <a:latin typeface="Consolas"/>
              </a:rPr>
              <a:t>(”http://127.0.0.1:9001")   	# CORRECT </a:t>
            </a:r>
            <a:r>
              <a:rPr lang="en-ID" sz="2800" dirty="0">
                <a:solidFill>
                  <a:srgbClr val="8B9BB4"/>
                </a:solidFill>
                <a:latin typeface="Consolas"/>
                <a:sym typeface="Wingdings" pitchFamily="2" charset="2"/>
              </a:rPr>
              <a:t> but requires MLFLOW server running</a:t>
            </a:r>
            <a:endParaRPr lang="en-ID" sz="2800" dirty="0">
              <a:solidFill>
                <a:srgbClr val="8B9BB4"/>
              </a:solidFill>
              <a:latin typeface="Consolas"/>
            </a:endParaRPr>
          </a:p>
          <a:p>
            <a:pPr algn="l">
              <a:lnSpc>
                <a:spcPct val="100000"/>
              </a:lnSpc>
              <a:spcAft>
                <a:spcPts val="0"/>
              </a:spcAft>
            </a:pPr>
            <a:r>
              <a:rPr sz="2800" b="0" i="0" dirty="0">
                <a:solidFill>
                  <a:srgbClr val="8B9BB4"/>
                </a:solidFill>
                <a:latin typeface="Consolas"/>
              </a:rPr>
              <a:t># </a:t>
            </a:r>
            <a:r>
              <a:rPr sz="2800" b="0" i="0" dirty="0" err="1">
                <a:solidFill>
                  <a:srgbClr val="8B9BB4"/>
                </a:solidFill>
                <a:latin typeface="Consolas"/>
              </a:rPr>
              <a:t>mlflow.set_tracking_uri</a:t>
            </a:r>
            <a:r>
              <a:rPr sz="2800" b="0" i="0" dirty="0">
                <a:solidFill>
                  <a:srgbClr val="8B9BB4"/>
                </a:solidFill>
                <a:latin typeface="Consolas"/>
              </a:rPr>
              <a:t>("file:///.../</a:t>
            </a:r>
            <a:r>
              <a:rPr sz="2800" b="0" i="0" dirty="0" err="1">
                <a:solidFill>
                  <a:srgbClr val="8B9BB4"/>
                </a:solidFill>
                <a:latin typeface="Consolas"/>
              </a:rPr>
              <a:t>mlruns</a:t>
            </a:r>
            <a:r>
              <a:rPr sz="2800" b="0" i="0" dirty="0">
                <a:solidFill>
                  <a:srgbClr val="8B9BB4"/>
                </a:solidFill>
                <a:latin typeface="Consolas"/>
              </a:rPr>
              <a:t>")   </a:t>
            </a:r>
            <a:r>
              <a:rPr lang="en-US" sz="2800" b="0" i="0" dirty="0">
                <a:solidFill>
                  <a:srgbClr val="8B9BB4"/>
                </a:solidFill>
                <a:latin typeface="Consolas"/>
              </a:rPr>
              <a:t>		</a:t>
            </a:r>
            <a:r>
              <a:rPr sz="2800" b="0" i="0" dirty="0">
                <a:solidFill>
                  <a:srgbClr val="8B9BB4"/>
                </a:solidFill>
                <a:latin typeface="Consolas"/>
              </a:rPr>
              <a:t># avoid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C01CE-00D0-AC2F-047F-0F38D5A4A3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89C4322-E1E3-AEAA-4A00-C1453C8F5A84}"/>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err="1">
                <a:solidFill>
                  <a:srgbClr val="1B2A4A"/>
                </a:solidFill>
                <a:latin typeface="Liter"/>
              </a:rPr>
              <a:t>MLflow</a:t>
            </a:r>
            <a:r>
              <a:rPr lang="en-US" sz="4400" b="1" i="0" dirty="0">
                <a:solidFill>
                  <a:srgbClr val="1B2A4A"/>
                </a:solidFill>
                <a:latin typeface="Liter"/>
              </a:rPr>
              <a:t> API Structure</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266B12A6-4FFE-E385-5E47-FCD8DD5CB164}"/>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FE0B750-8BE8-00B8-3E74-4F0DA6E3CDF9}"/>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 VERSION FINDING</a:t>
            </a:r>
          </a:p>
        </p:txBody>
      </p:sp>
      <p:sp>
        <p:nvSpPr>
          <p:cNvPr id="5" name="TextBox 4">
            <a:extLst>
              <a:ext uri="{FF2B5EF4-FFF2-40B4-BE49-F238E27FC236}">
                <a16:creationId xmlns:a16="http://schemas.microsoft.com/office/drawing/2014/main" id="{03948645-2213-5F01-68C9-3BCAC0265A47}"/>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10</a:t>
            </a:r>
          </a:p>
        </p:txBody>
      </p:sp>
      <p:sp>
        <p:nvSpPr>
          <p:cNvPr id="17" name="Rounded Rectangle 16">
            <a:extLst>
              <a:ext uri="{FF2B5EF4-FFF2-40B4-BE49-F238E27FC236}">
                <a16:creationId xmlns:a16="http://schemas.microsoft.com/office/drawing/2014/main" id="{BBCFF1BD-9403-7841-DC96-AC7F3370A0A4}"/>
              </a:ext>
            </a:extLst>
          </p:cNvPr>
          <p:cNvSpPr/>
          <p:nvPr/>
        </p:nvSpPr>
        <p:spPr>
          <a:xfrm>
            <a:off x="8579224" y="2796992"/>
            <a:ext cx="6131858" cy="1559859"/>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err="1">
                <a:solidFill>
                  <a:schemeClr val="tx1"/>
                </a:solidFill>
              </a:rPr>
              <a:t>MLflow</a:t>
            </a:r>
            <a:endParaRPr lang="en-US" sz="4000" dirty="0">
              <a:solidFill>
                <a:schemeClr val="tx1"/>
              </a:solidFill>
            </a:endParaRPr>
          </a:p>
        </p:txBody>
      </p:sp>
      <p:sp>
        <p:nvSpPr>
          <p:cNvPr id="18" name="Rounded Rectangle 17">
            <a:extLst>
              <a:ext uri="{FF2B5EF4-FFF2-40B4-BE49-F238E27FC236}">
                <a16:creationId xmlns:a16="http://schemas.microsoft.com/office/drawing/2014/main" id="{8A7F3679-66C4-7FD9-98FB-2D3BC7138387}"/>
              </a:ext>
            </a:extLst>
          </p:cNvPr>
          <p:cNvSpPr/>
          <p:nvPr/>
        </p:nvSpPr>
        <p:spPr>
          <a:xfrm>
            <a:off x="3030071" y="5583044"/>
            <a:ext cx="6131858" cy="1559859"/>
          </a:xfrm>
          <a:prstGeom prst="roundRect">
            <a:avLst/>
          </a:prstGeom>
          <a:solidFill>
            <a:schemeClr val="accent6">
              <a:lumMod val="20000"/>
              <a:lumOff val="80000"/>
            </a:schemeClr>
          </a:solidFill>
          <a:ln w="3175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Fluent Tracking API</a:t>
            </a:r>
          </a:p>
        </p:txBody>
      </p:sp>
      <p:sp>
        <p:nvSpPr>
          <p:cNvPr id="19" name="Rounded Rectangle 18">
            <a:extLst>
              <a:ext uri="{FF2B5EF4-FFF2-40B4-BE49-F238E27FC236}">
                <a16:creationId xmlns:a16="http://schemas.microsoft.com/office/drawing/2014/main" id="{D119D4F6-72FE-77A6-B894-2B82784C792E}"/>
              </a:ext>
            </a:extLst>
          </p:cNvPr>
          <p:cNvSpPr/>
          <p:nvPr/>
        </p:nvSpPr>
        <p:spPr>
          <a:xfrm>
            <a:off x="14424212" y="5583043"/>
            <a:ext cx="6131858" cy="1559859"/>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err="1">
                <a:solidFill>
                  <a:schemeClr val="tx1"/>
                </a:solidFill>
              </a:rPr>
              <a:t>MLflowClient</a:t>
            </a:r>
            <a:endParaRPr lang="en-US" sz="4000" dirty="0">
              <a:solidFill>
                <a:schemeClr val="tx1"/>
              </a:solidFill>
            </a:endParaRPr>
          </a:p>
        </p:txBody>
      </p:sp>
      <p:sp>
        <p:nvSpPr>
          <p:cNvPr id="20" name="Rounded Rectangle 19">
            <a:extLst>
              <a:ext uri="{FF2B5EF4-FFF2-40B4-BE49-F238E27FC236}">
                <a16:creationId xmlns:a16="http://schemas.microsoft.com/office/drawing/2014/main" id="{48537DB5-6DA7-0504-E73D-61C091F638C8}"/>
              </a:ext>
            </a:extLst>
          </p:cNvPr>
          <p:cNvSpPr/>
          <p:nvPr/>
        </p:nvSpPr>
        <p:spPr>
          <a:xfrm>
            <a:off x="3030071" y="8369092"/>
            <a:ext cx="6131858" cy="4585806"/>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err="1">
                <a:solidFill>
                  <a:schemeClr val="tx1"/>
                </a:solidFill>
              </a:rPr>
              <a:t>start_run</a:t>
            </a:r>
            <a:r>
              <a:rPr lang="en-US" sz="4000" dirty="0">
                <a:solidFill>
                  <a:schemeClr val="tx1"/>
                </a:solidFill>
              </a:rPr>
              <a:t>()</a:t>
            </a:r>
          </a:p>
          <a:p>
            <a:pPr algn="ctr"/>
            <a:r>
              <a:rPr lang="en-US" sz="4000" dirty="0" err="1">
                <a:solidFill>
                  <a:schemeClr val="tx1"/>
                </a:solidFill>
              </a:rPr>
              <a:t>set_experiment</a:t>
            </a:r>
            <a:r>
              <a:rPr lang="en-US" sz="4000" dirty="0">
                <a:solidFill>
                  <a:schemeClr val="tx1"/>
                </a:solidFill>
              </a:rPr>
              <a:t>()</a:t>
            </a:r>
          </a:p>
          <a:p>
            <a:pPr algn="ctr"/>
            <a:r>
              <a:rPr lang="en-US" sz="4000" dirty="0" err="1">
                <a:solidFill>
                  <a:schemeClr val="tx1"/>
                </a:solidFill>
              </a:rPr>
              <a:t>log_metric</a:t>
            </a:r>
            <a:r>
              <a:rPr lang="en-US" sz="4000" dirty="0">
                <a:solidFill>
                  <a:schemeClr val="tx1"/>
                </a:solidFill>
              </a:rPr>
              <a:t>()</a:t>
            </a:r>
          </a:p>
          <a:p>
            <a:pPr algn="ctr"/>
            <a:r>
              <a:rPr lang="en-US" sz="4000" dirty="0" err="1">
                <a:solidFill>
                  <a:schemeClr val="tx1"/>
                </a:solidFill>
              </a:rPr>
              <a:t>log_param</a:t>
            </a:r>
            <a:r>
              <a:rPr lang="en-US" sz="4000" dirty="0">
                <a:solidFill>
                  <a:schemeClr val="tx1"/>
                </a:solidFill>
              </a:rPr>
              <a:t>()</a:t>
            </a:r>
          </a:p>
          <a:p>
            <a:pPr algn="ctr"/>
            <a:r>
              <a:rPr lang="en-US" sz="4000" dirty="0" err="1">
                <a:solidFill>
                  <a:schemeClr val="tx1"/>
                </a:solidFill>
              </a:rPr>
              <a:t>log_artifact</a:t>
            </a:r>
            <a:r>
              <a:rPr lang="en-US" sz="4000" dirty="0">
                <a:solidFill>
                  <a:schemeClr val="tx1"/>
                </a:solidFill>
              </a:rPr>
              <a:t>()</a:t>
            </a:r>
          </a:p>
          <a:p>
            <a:pPr algn="ctr"/>
            <a:r>
              <a:rPr lang="en-US" sz="4000" dirty="0">
                <a:solidFill>
                  <a:schemeClr val="tx1"/>
                </a:solidFill>
              </a:rPr>
              <a:t>….</a:t>
            </a:r>
          </a:p>
        </p:txBody>
      </p:sp>
      <p:sp>
        <p:nvSpPr>
          <p:cNvPr id="21" name="Rounded Rectangle 20">
            <a:extLst>
              <a:ext uri="{FF2B5EF4-FFF2-40B4-BE49-F238E27FC236}">
                <a16:creationId xmlns:a16="http://schemas.microsoft.com/office/drawing/2014/main" id="{3162A555-40B1-1DD8-2CAE-90DC0CD394EE}"/>
              </a:ext>
            </a:extLst>
          </p:cNvPr>
          <p:cNvSpPr/>
          <p:nvPr/>
        </p:nvSpPr>
        <p:spPr>
          <a:xfrm>
            <a:off x="14495929" y="8290560"/>
            <a:ext cx="6131858" cy="4585806"/>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Registry management</a:t>
            </a:r>
          </a:p>
          <a:p>
            <a:pPr algn="ctr"/>
            <a:r>
              <a:rPr lang="en-US" sz="4000" dirty="0">
                <a:solidFill>
                  <a:schemeClr val="tx1"/>
                </a:solidFill>
              </a:rPr>
              <a:t>Model version</a:t>
            </a:r>
          </a:p>
          <a:p>
            <a:pPr algn="ctr"/>
            <a:r>
              <a:rPr lang="en-US" sz="4000" dirty="0">
                <a:solidFill>
                  <a:schemeClr val="tx1"/>
                </a:solidFill>
              </a:rPr>
              <a:t>Aliases</a:t>
            </a:r>
          </a:p>
          <a:p>
            <a:pPr algn="ctr"/>
            <a:r>
              <a:rPr lang="en-US" sz="4000" dirty="0">
                <a:solidFill>
                  <a:schemeClr val="tx1"/>
                </a:solidFill>
              </a:rPr>
              <a:t>Tags</a:t>
            </a:r>
          </a:p>
          <a:p>
            <a:pPr algn="ctr"/>
            <a:r>
              <a:rPr lang="en-US" sz="4000" dirty="0">
                <a:solidFill>
                  <a:schemeClr val="tx1"/>
                </a:solidFill>
              </a:rPr>
              <a:t>Search</a:t>
            </a:r>
          </a:p>
          <a:p>
            <a:pPr algn="ctr"/>
            <a:r>
              <a:rPr lang="en-US" sz="4000" dirty="0">
                <a:solidFill>
                  <a:schemeClr val="tx1"/>
                </a:solidFill>
              </a:rPr>
              <a:t>….</a:t>
            </a:r>
          </a:p>
        </p:txBody>
      </p:sp>
      <p:cxnSp>
        <p:nvCxnSpPr>
          <p:cNvPr id="23" name="Elbow Connector 22">
            <a:extLst>
              <a:ext uri="{FF2B5EF4-FFF2-40B4-BE49-F238E27FC236}">
                <a16:creationId xmlns:a16="http://schemas.microsoft.com/office/drawing/2014/main" id="{96738A86-E409-EEE9-2C75-84268375EA12}"/>
              </a:ext>
            </a:extLst>
          </p:cNvPr>
          <p:cNvCxnSpPr>
            <a:stCxn id="17" idx="1"/>
            <a:endCxn id="18" idx="0"/>
          </p:cNvCxnSpPr>
          <p:nvPr/>
        </p:nvCxnSpPr>
        <p:spPr>
          <a:xfrm rot="10800000" flipV="1">
            <a:off x="6096000" y="3576922"/>
            <a:ext cx="2483224" cy="2006122"/>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23">
            <a:extLst>
              <a:ext uri="{FF2B5EF4-FFF2-40B4-BE49-F238E27FC236}">
                <a16:creationId xmlns:a16="http://schemas.microsoft.com/office/drawing/2014/main" id="{1DD16A8E-0A3C-B955-8603-5780DB83E3EF}"/>
              </a:ext>
            </a:extLst>
          </p:cNvPr>
          <p:cNvCxnSpPr>
            <a:cxnSpLocks/>
            <a:stCxn id="17" idx="3"/>
            <a:endCxn id="19" idx="0"/>
          </p:cNvCxnSpPr>
          <p:nvPr/>
        </p:nvCxnSpPr>
        <p:spPr>
          <a:xfrm>
            <a:off x="14711082" y="3576922"/>
            <a:ext cx="2779059" cy="2006121"/>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BD5DBAD-DE22-ED3D-6E47-5BAF3D1A4D70}"/>
              </a:ext>
            </a:extLst>
          </p:cNvPr>
          <p:cNvCxnSpPr>
            <a:stCxn id="18" idx="2"/>
          </p:cNvCxnSpPr>
          <p:nvPr/>
        </p:nvCxnSpPr>
        <p:spPr>
          <a:xfrm>
            <a:off x="6096000" y="7142903"/>
            <a:ext cx="0" cy="13337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EF4B7B8-C8E1-B06C-0BF9-C90F69F2D75B}"/>
              </a:ext>
            </a:extLst>
          </p:cNvPr>
          <p:cNvCxnSpPr/>
          <p:nvPr/>
        </p:nvCxnSpPr>
        <p:spPr>
          <a:xfrm>
            <a:off x="17490141" y="7035326"/>
            <a:ext cx="0" cy="13337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7320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A71C8-9F0D-7CC1-B7E7-212EBB2E808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071BC7-F813-300E-E739-2E2B0E9F6D14}"/>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A Note </a:t>
            </a:r>
            <a:r>
              <a:rPr lang="en-US" sz="4400" b="1" dirty="0">
                <a:solidFill>
                  <a:srgbClr val="1B2A4A"/>
                </a:solidFill>
                <a:latin typeface="Liter"/>
              </a:rPr>
              <a:t>a</a:t>
            </a:r>
            <a:r>
              <a:rPr lang="en-US" sz="4400" b="1" i="0" dirty="0">
                <a:solidFill>
                  <a:srgbClr val="1B2A4A"/>
                </a:solidFill>
                <a:latin typeface="Liter"/>
              </a:rPr>
              <a:t>bout Model Format</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3190E6C8-AC3D-CF4F-2C1F-8F019DF2A488}"/>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20F2CA3-3D14-DB2B-FC48-7A24B13A3673}"/>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 VERSION FINDING</a:t>
            </a:r>
          </a:p>
        </p:txBody>
      </p:sp>
      <p:sp>
        <p:nvSpPr>
          <p:cNvPr id="5" name="TextBox 4">
            <a:extLst>
              <a:ext uri="{FF2B5EF4-FFF2-40B4-BE49-F238E27FC236}">
                <a16:creationId xmlns:a16="http://schemas.microsoft.com/office/drawing/2014/main" id="{D19D2770-8259-A42F-CC3B-485F9792D65C}"/>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10</a:t>
            </a:r>
          </a:p>
        </p:txBody>
      </p:sp>
      <p:sp>
        <p:nvSpPr>
          <p:cNvPr id="6" name="TextBox 5">
            <a:extLst>
              <a:ext uri="{FF2B5EF4-FFF2-40B4-BE49-F238E27FC236}">
                <a16:creationId xmlns:a16="http://schemas.microsoft.com/office/drawing/2014/main" id="{D1F28A52-D629-E3A8-8A79-3730FA2ADF97}"/>
              </a:ext>
            </a:extLst>
          </p:cNvPr>
          <p:cNvSpPr txBox="1"/>
          <p:nvPr/>
        </p:nvSpPr>
        <p:spPr>
          <a:xfrm>
            <a:off x="1014984" y="2416335"/>
            <a:ext cx="22560694" cy="601703"/>
          </a:xfrm>
          <a:prstGeom prst="rect">
            <a:avLst/>
          </a:prstGeom>
          <a:noFill/>
        </p:spPr>
        <p:txBody>
          <a:bodyPr wrap="square" lIns="0" tIns="0" rIns="0" bIns="0" anchor="ctr">
            <a:spAutoFit/>
          </a:bodyPr>
          <a:lstStyle/>
          <a:p>
            <a:pPr>
              <a:lnSpc>
                <a:spcPct val="120000"/>
              </a:lnSpc>
              <a:spcAft>
                <a:spcPts val="600"/>
              </a:spcAft>
            </a:pPr>
            <a:r>
              <a:rPr lang="en-US" sz="3400" i="0" dirty="0">
                <a:solidFill>
                  <a:srgbClr val="1B2A4A"/>
                </a:solidFill>
                <a:latin typeface="Liter"/>
              </a:rPr>
              <a:t>In this workshop, we mainly use python with scikit-learn framework for model development. </a:t>
            </a:r>
            <a:endParaRPr sz="3400" dirty="0">
              <a:solidFill>
                <a:srgbClr val="1B2A4A"/>
              </a:solidFill>
              <a:latin typeface="Liter"/>
            </a:endParaRPr>
          </a:p>
        </p:txBody>
      </p:sp>
      <p:pic>
        <p:nvPicPr>
          <p:cNvPr id="8" name="Picture 7" descr="A computer code with black text&#10;&#10;AI-generated content may be incorrect.">
            <a:extLst>
              <a:ext uri="{FF2B5EF4-FFF2-40B4-BE49-F238E27FC236}">
                <a16:creationId xmlns:a16="http://schemas.microsoft.com/office/drawing/2014/main" id="{4084C840-0855-F8E3-E452-70E56A4B3A7C}"/>
              </a:ext>
            </a:extLst>
          </p:cNvPr>
          <p:cNvPicPr>
            <a:picLocks noChangeAspect="1"/>
          </p:cNvPicPr>
          <p:nvPr/>
        </p:nvPicPr>
        <p:blipFill>
          <a:blip r:embed="rId3"/>
          <a:stretch>
            <a:fillRect/>
          </a:stretch>
        </p:blipFill>
        <p:spPr>
          <a:xfrm>
            <a:off x="1379349" y="3276727"/>
            <a:ext cx="5638504" cy="5438911"/>
          </a:xfrm>
          <a:prstGeom prst="rect">
            <a:avLst/>
          </a:prstGeom>
        </p:spPr>
      </p:pic>
      <p:pic>
        <p:nvPicPr>
          <p:cNvPr id="10" name="Picture 9" descr="A screenshot of a computer program&#10;&#10;AI-generated content may be incorrect.">
            <a:extLst>
              <a:ext uri="{FF2B5EF4-FFF2-40B4-BE49-F238E27FC236}">
                <a16:creationId xmlns:a16="http://schemas.microsoft.com/office/drawing/2014/main" id="{BD2A169D-74D2-9E29-4561-F0088E397E0D}"/>
              </a:ext>
            </a:extLst>
          </p:cNvPr>
          <p:cNvPicPr>
            <a:picLocks noChangeAspect="1"/>
          </p:cNvPicPr>
          <p:nvPr/>
        </p:nvPicPr>
        <p:blipFill>
          <a:blip r:embed="rId4"/>
          <a:stretch>
            <a:fillRect/>
          </a:stretch>
        </p:blipFill>
        <p:spPr>
          <a:xfrm>
            <a:off x="8850413" y="3276726"/>
            <a:ext cx="7273337" cy="5438911"/>
          </a:xfrm>
          <a:prstGeom prst="rect">
            <a:avLst/>
          </a:prstGeom>
        </p:spPr>
      </p:pic>
      <p:pic>
        <p:nvPicPr>
          <p:cNvPr id="12" name="Picture 11" descr="A computer code with black text&#10;&#10;AI-generated content may be incorrect.">
            <a:extLst>
              <a:ext uri="{FF2B5EF4-FFF2-40B4-BE49-F238E27FC236}">
                <a16:creationId xmlns:a16="http://schemas.microsoft.com/office/drawing/2014/main" id="{12E84B41-0371-A96B-EDD8-645501E35855}"/>
              </a:ext>
            </a:extLst>
          </p:cNvPr>
          <p:cNvPicPr>
            <a:picLocks noChangeAspect="1"/>
          </p:cNvPicPr>
          <p:nvPr/>
        </p:nvPicPr>
        <p:blipFill>
          <a:blip r:embed="rId5"/>
          <a:stretch>
            <a:fillRect/>
          </a:stretch>
        </p:blipFill>
        <p:spPr>
          <a:xfrm>
            <a:off x="17749650" y="3276726"/>
            <a:ext cx="5638503" cy="5353410"/>
          </a:xfrm>
          <a:prstGeom prst="rect">
            <a:avLst/>
          </a:prstGeom>
        </p:spPr>
      </p:pic>
      <p:cxnSp>
        <p:nvCxnSpPr>
          <p:cNvPr id="14" name="Straight Arrow Connector 13">
            <a:extLst>
              <a:ext uri="{FF2B5EF4-FFF2-40B4-BE49-F238E27FC236}">
                <a16:creationId xmlns:a16="http://schemas.microsoft.com/office/drawing/2014/main" id="{F8C162FB-7D08-96D3-25C8-AA1BEA99C27B}"/>
              </a:ext>
            </a:extLst>
          </p:cNvPr>
          <p:cNvCxnSpPr>
            <a:stCxn id="8" idx="3"/>
          </p:cNvCxnSpPr>
          <p:nvPr/>
        </p:nvCxnSpPr>
        <p:spPr>
          <a:xfrm flipV="1">
            <a:off x="7017853" y="5996182"/>
            <a:ext cx="1701210" cy="1"/>
          </a:xfrm>
          <a:prstGeom prst="straightConnector1">
            <a:avLst/>
          </a:prstGeom>
          <a:ln w="762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400CD18-F477-0FB1-6C42-D4BCDECD1272}"/>
              </a:ext>
            </a:extLst>
          </p:cNvPr>
          <p:cNvCxnSpPr/>
          <p:nvPr/>
        </p:nvCxnSpPr>
        <p:spPr>
          <a:xfrm flipV="1">
            <a:off x="16048440" y="5996181"/>
            <a:ext cx="1701210" cy="1"/>
          </a:xfrm>
          <a:prstGeom prst="straightConnector1">
            <a:avLst/>
          </a:prstGeom>
          <a:ln w="762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7A8A8C6-68F0-4872-245E-70A033A54B87}"/>
              </a:ext>
            </a:extLst>
          </p:cNvPr>
          <p:cNvSpPr txBox="1"/>
          <p:nvPr/>
        </p:nvSpPr>
        <p:spPr>
          <a:xfrm>
            <a:off x="1773936" y="8817583"/>
            <a:ext cx="4580998" cy="646331"/>
          </a:xfrm>
          <a:prstGeom prst="rect">
            <a:avLst/>
          </a:prstGeom>
          <a:noFill/>
        </p:spPr>
        <p:txBody>
          <a:bodyPr wrap="none" rtlCol="0">
            <a:spAutoFit/>
          </a:bodyPr>
          <a:lstStyle/>
          <a:p>
            <a:r>
              <a:rPr lang="en-US" sz="3600" dirty="0"/>
              <a:t>Define object in Python</a:t>
            </a:r>
          </a:p>
        </p:txBody>
      </p:sp>
      <p:sp>
        <p:nvSpPr>
          <p:cNvPr id="22" name="TextBox 21">
            <a:extLst>
              <a:ext uri="{FF2B5EF4-FFF2-40B4-BE49-F238E27FC236}">
                <a16:creationId xmlns:a16="http://schemas.microsoft.com/office/drawing/2014/main" id="{AEC4091D-A1FE-CF35-5AEB-ADF81F1E304F}"/>
              </a:ext>
            </a:extLst>
          </p:cNvPr>
          <p:cNvSpPr txBox="1"/>
          <p:nvPr/>
        </p:nvSpPr>
        <p:spPr>
          <a:xfrm>
            <a:off x="10062416" y="8817583"/>
            <a:ext cx="4721292" cy="646331"/>
          </a:xfrm>
          <a:prstGeom prst="rect">
            <a:avLst/>
          </a:prstGeom>
          <a:noFill/>
        </p:spPr>
        <p:txBody>
          <a:bodyPr wrap="none" rtlCol="0">
            <a:spAutoFit/>
          </a:bodyPr>
          <a:lstStyle/>
          <a:p>
            <a:r>
              <a:rPr lang="en-US" sz="3600" dirty="0"/>
              <a:t>How object lives in RAM</a:t>
            </a:r>
          </a:p>
        </p:txBody>
      </p:sp>
      <p:sp>
        <p:nvSpPr>
          <p:cNvPr id="25" name="TextBox 24">
            <a:extLst>
              <a:ext uri="{FF2B5EF4-FFF2-40B4-BE49-F238E27FC236}">
                <a16:creationId xmlns:a16="http://schemas.microsoft.com/office/drawing/2014/main" id="{2EBD3279-0509-1494-8D38-68CCF12C3905}"/>
              </a:ext>
            </a:extLst>
          </p:cNvPr>
          <p:cNvSpPr txBox="1"/>
          <p:nvPr/>
        </p:nvSpPr>
        <p:spPr>
          <a:xfrm>
            <a:off x="18144238" y="8767745"/>
            <a:ext cx="4967514" cy="646331"/>
          </a:xfrm>
          <a:prstGeom prst="rect">
            <a:avLst/>
          </a:prstGeom>
          <a:noFill/>
        </p:spPr>
        <p:txBody>
          <a:bodyPr wrap="none" rtlCol="0">
            <a:spAutoFit/>
          </a:bodyPr>
          <a:lstStyle/>
          <a:p>
            <a:r>
              <a:rPr lang="en-US" sz="3600" dirty="0"/>
              <a:t>Dumping (logging) Object</a:t>
            </a:r>
          </a:p>
        </p:txBody>
      </p:sp>
      <p:sp>
        <p:nvSpPr>
          <p:cNvPr id="27" name="TextBox 26">
            <a:extLst>
              <a:ext uri="{FF2B5EF4-FFF2-40B4-BE49-F238E27FC236}">
                <a16:creationId xmlns:a16="http://schemas.microsoft.com/office/drawing/2014/main" id="{E7DF10BF-054F-DE80-1284-0B5575E75695}"/>
              </a:ext>
            </a:extLst>
          </p:cNvPr>
          <p:cNvSpPr txBox="1"/>
          <p:nvPr/>
        </p:nvSpPr>
        <p:spPr>
          <a:xfrm>
            <a:off x="1773936" y="9706157"/>
            <a:ext cx="17995666" cy="3457870"/>
          </a:xfrm>
          <a:prstGeom prst="rect">
            <a:avLst/>
          </a:prstGeom>
          <a:noFill/>
        </p:spPr>
        <p:txBody>
          <a:bodyPr wrap="square" lIns="0" tIns="0" rIns="0" bIns="0" anchor="ctr">
            <a:spAutoFit/>
          </a:bodyPr>
          <a:lstStyle/>
          <a:p>
            <a:pPr marL="457200" indent="-457200">
              <a:lnSpc>
                <a:spcPct val="120000"/>
              </a:lnSpc>
              <a:spcAft>
                <a:spcPts val="600"/>
              </a:spcAft>
              <a:buFont typeface="Arial" panose="020B0604020202020204" pitchFamily="34" charset="0"/>
              <a:buChar char="•"/>
            </a:pPr>
            <a:r>
              <a:rPr lang="en-US" sz="3400" dirty="0">
                <a:solidFill>
                  <a:srgbClr val="1B2A4A"/>
                </a:solidFill>
                <a:latin typeface="Liter"/>
              </a:rPr>
              <a:t>Scikit-Learn		: </a:t>
            </a:r>
            <a:r>
              <a:rPr lang="en-ID" sz="3600" dirty="0"/>
              <a:t>Pickle / </a:t>
            </a:r>
            <a:r>
              <a:rPr lang="en-ID" sz="3600" dirty="0" err="1"/>
              <a:t>joblib</a:t>
            </a:r>
            <a:r>
              <a:rPr lang="en-ID" sz="3600" dirty="0"/>
              <a:t> / </a:t>
            </a:r>
            <a:r>
              <a:rPr lang="en-ID" sz="3600" dirty="0" err="1"/>
              <a:t>skops</a:t>
            </a:r>
            <a:r>
              <a:rPr lang="en-ID" sz="3600" dirty="0"/>
              <a:t> </a:t>
            </a:r>
            <a:r>
              <a:rPr lang="en-ID" sz="3600" dirty="0">
                <a:sym typeface="Wingdings" pitchFamily="2" charset="2"/>
              </a:rPr>
              <a:t> </a:t>
            </a:r>
            <a:r>
              <a:rPr lang="en-ID" dirty="0"/>
              <a:t>.</a:t>
            </a:r>
            <a:r>
              <a:rPr lang="en-ID" sz="3200" dirty="0" err="1">
                <a:latin typeface="Courier New" panose="02070309020205020404" pitchFamily="49" charset="0"/>
                <a:cs typeface="Courier New" panose="02070309020205020404" pitchFamily="49" charset="0"/>
              </a:rPr>
              <a:t>pkl</a:t>
            </a:r>
            <a:r>
              <a:rPr lang="en-ID" sz="3200" dirty="0">
                <a:latin typeface="Courier New" panose="02070309020205020404" pitchFamily="49" charset="0"/>
                <a:cs typeface="Courier New" panose="02070309020205020404" pitchFamily="49" charset="0"/>
              </a:rPr>
              <a:t>, .</a:t>
            </a:r>
            <a:r>
              <a:rPr lang="en-ID" sz="3200" dirty="0" err="1">
                <a:latin typeface="Courier New" panose="02070309020205020404" pitchFamily="49" charset="0"/>
                <a:cs typeface="Courier New" panose="02070309020205020404" pitchFamily="49" charset="0"/>
              </a:rPr>
              <a:t>joblib</a:t>
            </a:r>
            <a:r>
              <a:rPr lang="en-ID" sz="3200" dirty="0">
                <a:latin typeface="Courier New" panose="02070309020205020404" pitchFamily="49" charset="0"/>
                <a:cs typeface="Courier New" panose="02070309020205020404" pitchFamily="49" charset="0"/>
              </a:rPr>
              <a:t>, .</a:t>
            </a:r>
            <a:r>
              <a:rPr lang="en-ID" sz="3200" dirty="0" err="1">
                <a:latin typeface="Courier New" panose="02070309020205020404" pitchFamily="49" charset="0"/>
                <a:cs typeface="Courier New" panose="02070309020205020404" pitchFamily="49" charset="0"/>
              </a:rPr>
              <a:t>skops</a:t>
            </a:r>
            <a:r>
              <a:rPr lang="en-ID" sz="3200" dirty="0">
                <a:latin typeface="Courier New" panose="02070309020205020404" pitchFamily="49" charset="0"/>
                <a:cs typeface="Courier New" panose="02070309020205020404" pitchFamily="49" charset="0"/>
              </a:rPr>
              <a:t> </a:t>
            </a:r>
            <a:endParaRPr lang="en-US" sz="3200" dirty="0">
              <a:solidFill>
                <a:srgbClr val="1B2A4A"/>
              </a:solidFill>
              <a:latin typeface="Courier New" panose="02070309020205020404" pitchFamily="49" charset="0"/>
              <a:cs typeface="Courier New" panose="02070309020205020404" pitchFamily="49" charset="0"/>
            </a:endParaRPr>
          </a:p>
          <a:p>
            <a:pPr marL="457200" indent="-457200">
              <a:lnSpc>
                <a:spcPct val="120000"/>
              </a:lnSpc>
              <a:spcAft>
                <a:spcPts val="600"/>
              </a:spcAft>
              <a:buFont typeface="Arial" panose="020B0604020202020204" pitchFamily="34" charset="0"/>
              <a:buChar char="•"/>
            </a:pPr>
            <a:r>
              <a:rPr lang="en-US" sz="3400" dirty="0" err="1">
                <a:solidFill>
                  <a:srgbClr val="1B2A4A"/>
                </a:solidFill>
                <a:latin typeface="Liter"/>
              </a:rPr>
              <a:t>Xboost</a:t>
            </a:r>
            <a:r>
              <a:rPr lang="en-US" sz="3400" dirty="0">
                <a:solidFill>
                  <a:srgbClr val="1B2A4A"/>
                </a:solidFill>
                <a:latin typeface="Liter"/>
              </a:rPr>
              <a:t> 			: JSON / UBJSON </a:t>
            </a:r>
            <a:r>
              <a:rPr lang="en-US" sz="3400" dirty="0">
                <a:solidFill>
                  <a:srgbClr val="1B2A4A"/>
                </a:solidFill>
                <a:latin typeface="Liter"/>
                <a:sym typeface="Wingdings" pitchFamily="2" charset="2"/>
              </a:rPr>
              <a:t> </a:t>
            </a:r>
            <a:r>
              <a:rPr lang="en-US" sz="3400" dirty="0">
                <a:solidFill>
                  <a:srgbClr val="1B2A4A"/>
                </a:solidFill>
                <a:latin typeface="Courier New" panose="02070309020205020404" pitchFamily="49" charset="0"/>
                <a:cs typeface="Courier New" panose="02070309020205020404" pitchFamily="49" charset="0"/>
                <a:sym typeface="Wingdings" pitchFamily="2" charset="2"/>
              </a:rPr>
              <a:t>.</a:t>
            </a:r>
            <a:r>
              <a:rPr lang="en-US" sz="3400" dirty="0" err="1">
                <a:solidFill>
                  <a:srgbClr val="1B2A4A"/>
                </a:solidFill>
                <a:latin typeface="Courier New" panose="02070309020205020404" pitchFamily="49" charset="0"/>
                <a:cs typeface="Courier New" panose="02070309020205020404" pitchFamily="49" charset="0"/>
                <a:sym typeface="Wingdings" pitchFamily="2" charset="2"/>
              </a:rPr>
              <a:t>json</a:t>
            </a:r>
            <a:r>
              <a:rPr lang="en-US" sz="3400" dirty="0">
                <a:solidFill>
                  <a:srgbClr val="1B2A4A"/>
                </a:solidFill>
                <a:latin typeface="Courier New" panose="02070309020205020404" pitchFamily="49" charset="0"/>
                <a:cs typeface="Courier New" panose="02070309020205020404" pitchFamily="49" charset="0"/>
                <a:sym typeface="Wingdings" pitchFamily="2" charset="2"/>
              </a:rPr>
              <a:t>, .</a:t>
            </a:r>
            <a:r>
              <a:rPr lang="en-US" sz="3400" dirty="0" err="1">
                <a:solidFill>
                  <a:srgbClr val="1B2A4A"/>
                </a:solidFill>
                <a:latin typeface="Courier New" panose="02070309020205020404" pitchFamily="49" charset="0"/>
                <a:cs typeface="Courier New" panose="02070309020205020404" pitchFamily="49" charset="0"/>
                <a:sym typeface="Wingdings" pitchFamily="2" charset="2"/>
              </a:rPr>
              <a:t>ubj</a:t>
            </a:r>
            <a:endParaRPr lang="en-US" sz="3400" dirty="0">
              <a:solidFill>
                <a:srgbClr val="1B2A4A"/>
              </a:solidFill>
              <a:latin typeface="Courier New" panose="02070309020205020404" pitchFamily="49" charset="0"/>
              <a:cs typeface="Courier New" panose="02070309020205020404" pitchFamily="49" charset="0"/>
            </a:endParaRPr>
          </a:p>
          <a:p>
            <a:pPr marL="457200" indent="-457200">
              <a:lnSpc>
                <a:spcPct val="120000"/>
              </a:lnSpc>
              <a:spcAft>
                <a:spcPts val="600"/>
              </a:spcAft>
              <a:buFont typeface="Arial" panose="020B0604020202020204" pitchFamily="34" charset="0"/>
              <a:buChar char="•"/>
            </a:pPr>
            <a:r>
              <a:rPr lang="en-US" sz="3400" dirty="0">
                <a:solidFill>
                  <a:srgbClr val="1B2A4A"/>
                </a:solidFill>
                <a:latin typeface="Liter"/>
              </a:rPr>
              <a:t>TensorFlow			: </a:t>
            </a:r>
            <a:r>
              <a:rPr lang="en-US" sz="3400" dirty="0" err="1">
                <a:solidFill>
                  <a:srgbClr val="1B2A4A"/>
                </a:solidFill>
                <a:latin typeface="Liter"/>
              </a:rPr>
              <a:t>SavedModel</a:t>
            </a:r>
            <a:r>
              <a:rPr lang="en-US" sz="3400" dirty="0">
                <a:solidFill>
                  <a:srgbClr val="1B2A4A"/>
                </a:solidFill>
                <a:latin typeface="Liter"/>
              </a:rPr>
              <a:t> </a:t>
            </a:r>
            <a:r>
              <a:rPr lang="en-US" sz="3400" dirty="0">
                <a:solidFill>
                  <a:srgbClr val="1B2A4A"/>
                </a:solidFill>
                <a:latin typeface="Liter"/>
                <a:sym typeface="Wingdings" pitchFamily="2" charset="2"/>
              </a:rPr>
              <a:t> </a:t>
            </a:r>
            <a:r>
              <a:rPr lang="en-US" sz="3400" dirty="0">
                <a:solidFill>
                  <a:srgbClr val="1B2A4A"/>
                </a:solidFill>
                <a:latin typeface="Courier New" panose="02070309020205020404" pitchFamily="49" charset="0"/>
                <a:cs typeface="Courier New" panose="02070309020205020404" pitchFamily="49" charset="0"/>
                <a:sym typeface="Wingdings" pitchFamily="2" charset="2"/>
              </a:rPr>
              <a:t>directory</a:t>
            </a:r>
            <a:r>
              <a:rPr lang="en-US" sz="3400" dirty="0">
                <a:solidFill>
                  <a:srgbClr val="1B2A4A"/>
                </a:solidFill>
                <a:latin typeface="Liter"/>
              </a:rPr>
              <a:t> </a:t>
            </a:r>
          </a:p>
          <a:p>
            <a:pPr marL="457200" indent="-457200">
              <a:lnSpc>
                <a:spcPct val="120000"/>
              </a:lnSpc>
              <a:spcAft>
                <a:spcPts val="600"/>
              </a:spcAft>
              <a:buFont typeface="Arial" panose="020B0604020202020204" pitchFamily="34" charset="0"/>
              <a:buChar char="•"/>
            </a:pPr>
            <a:r>
              <a:rPr lang="en-US" sz="3400" dirty="0" err="1">
                <a:solidFill>
                  <a:srgbClr val="1B2A4A"/>
                </a:solidFill>
                <a:latin typeface="Liter"/>
              </a:rPr>
              <a:t>Keras</a:t>
            </a:r>
            <a:r>
              <a:rPr lang="en-US" sz="3400" dirty="0">
                <a:solidFill>
                  <a:srgbClr val="1B2A4A"/>
                </a:solidFill>
                <a:latin typeface="Liter"/>
              </a:rPr>
              <a:t>				: </a:t>
            </a:r>
            <a:r>
              <a:rPr lang="en-US" sz="3400" dirty="0" err="1">
                <a:solidFill>
                  <a:srgbClr val="1B2A4A"/>
                </a:solidFill>
                <a:latin typeface="Liter"/>
              </a:rPr>
              <a:t>Keras</a:t>
            </a:r>
            <a:r>
              <a:rPr lang="en-US" sz="3400" dirty="0">
                <a:solidFill>
                  <a:srgbClr val="1B2A4A"/>
                </a:solidFill>
                <a:latin typeface="Liter"/>
              </a:rPr>
              <a:t> v3 format </a:t>
            </a:r>
            <a:r>
              <a:rPr lang="en-US" sz="3400" dirty="0">
                <a:solidFill>
                  <a:srgbClr val="1B2A4A"/>
                </a:solidFill>
                <a:latin typeface="Liter"/>
                <a:sym typeface="Wingdings" pitchFamily="2" charset="2"/>
              </a:rPr>
              <a:t> </a:t>
            </a:r>
            <a:r>
              <a:rPr lang="en-US" sz="3400" dirty="0">
                <a:solidFill>
                  <a:srgbClr val="1B2A4A"/>
                </a:solidFill>
                <a:latin typeface="Courier New" panose="02070309020205020404" pitchFamily="49" charset="0"/>
                <a:cs typeface="Courier New" panose="02070309020205020404" pitchFamily="49" charset="0"/>
                <a:sym typeface="Wingdings" pitchFamily="2" charset="2"/>
              </a:rPr>
              <a:t>.</a:t>
            </a:r>
            <a:r>
              <a:rPr lang="en-US" sz="3400" dirty="0" err="1">
                <a:solidFill>
                  <a:srgbClr val="1B2A4A"/>
                </a:solidFill>
                <a:latin typeface="Courier New" panose="02070309020205020404" pitchFamily="49" charset="0"/>
                <a:cs typeface="Courier New" panose="02070309020205020404" pitchFamily="49" charset="0"/>
                <a:sym typeface="Wingdings" pitchFamily="2" charset="2"/>
              </a:rPr>
              <a:t>kreas</a:t>
            </a:r>
            <a:endParaRPr lang="en-US" sz="3400" dirty="0">
              <a:solidFill>
                <a:srgbClr val="1B2A4A"/>
              </a:solidFill>
              <a:latin typeface="Courier New" panose="02070309020205020404" pitchFamily="49" charset="0"/>
              <a:cs typeface="Courier New" panose="02070309020205020404" pitchFamily="49" charset="0"/>
            </a:endParaRPr>
          </a:p>
          <a:p>
            <a:pPr marL="457200" indent="-457200">
              <a:lnSpc>
                <a:spcPct val="120000"/>
              </a:lnSpc>
              <a:spcAft>
                <a:spcPts val="600"/>
              </a:spcAft>
              <a:buFont typeface="Arial" panose="020B0604020202020204" pitchFamily="34" charset="0"/>
              <a:buChar char="•"/>
            </a:pPr>
            <a:r>
              <a:rPr lang="en-US" sz="3400" dirty="0" err="1">
                <a:solidFill>
                  <a:srgbClr val="1B2A4A"/>
                </a:solidFill>
                <a:latin typeface="Liter"/>
              </a:rPr>
              <a:t>PyTorch</a:t>
            </a:r>
            <a:r>
              <a:rPr lang="en-US" sz="3400" dirty="0">
                <a:solidFill>
                  <a:srgbClr val="1B2A4A"/>
                </a:solidFill>
                <a:latin typeface="Liter"/>
              </a:rPr>
              <a:t>			: </a:t>
            </a:r>
            <a:r>
              <a:rPr lang="en-US" sz="3400" dirty="0" err="1">
                <a:solidFill>
                  <a:srgbClr val="1B2A4A"/>
                </a:solidFill>
                <a:latin typeface="Liter"/>
              </a:rPr>
              <a:t>state_dict</a:t>
            </a:r>
            <a:r>
              <a:rPr lang="en-US" sz="3400" dirty="0">
                <a:solidFill>
                  <a:srgbClr val="1B2A4A"/>
                </a:solidFill>
                <a:latin typeface="Liter"/>
              </a:rPr>
              <a:t> / </a:t>
            </a:r>
            <a:r>
              <a:rPr lang="en-US" sz="3400" dirty="0" err="1">
                <a:solidFill>
                  <a:srgbClr val="1B2A4A"/>
                </a:solidFill>
                <a:latin typeface="Liter"/>
              </a:rPr>
              <a:t>PyTorch</a:t>
            </a:r>
            <a:r>
              <a:rPr lang="en-US" sz="3400" dirty="0">
                <a:solidFill>
                  <a:srgbClr val="1B2A4A"/>
                </a:solidFill>
                <a:latin typeface="Liter"/>
              </a:rPr>
              <a:t> serialization </a:t>
            </a:r>
            <a:r>
              <a:rPr lang="en-US" sz="3400" dirty="0">
                <a:solidFill>
                  <a:srgbClr val="1B2A4A"/>
                </a:solidFill>
                <a:latin typeface="Liter"/>
                <a:sym typeface="Wingdings" pitchFamily="2" charset="2"/>
              </a:rPr>
              <a:t> </a:t>
            </a:r>
            <a:r>
              <a:rPr lang="en-US" sz="3400" dirty="0">
                <a:solidFill>
                  <a:srgbClr val="1B2A4A"/>
                </a:solidFill>
                <a:latin typeface="Courier New" panose="02070309020205020404" pitchFamily="49" charset="0"/>
                <a:cs typeface="Courier New" panose="02070309020205020404" pitchFamily="49" charset="0"/>
                <a:sym typeface="Wingdings" pitchFamily="2" charset="2"/>
              </a:rPr>
              <a:t>.pt, .</a:t>
            </a:r>
            <a:r>
              <a:rPr lang="en-US" sz="3400" dirty="0" err="1">
                <a:solidFill>
                  <a:srgbClr val="1B2A4A"/>
                </a:solidFill>
                <a:latin typeface="Courier New" panose="02070309020205020404" pitchFamily="49" charset="0"/>
                <a:cs typeface="Courier New" panose="02070309020205020404" pitchFamily="49" charset="0"/>
                <a:sym typeface="Wingdings" pitchFamily="2" charset="2"/>
              </a:rPr>
              <a:t>pth</a:t>
            </a:r>
            <a:endParaRPr sz="3400" dirty="0">
              <a:solidFill>
                <a:srgbClr val="1B2A4A"/>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8971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Run Three Experiments at Once</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HANDS-ON 1</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13</a:t>
            </a:r>
          </a:p>
        </p:txBody>
      </p:sp>
      <p:sp>
        <p:nvSpPr>
          <p:cNvPr id="6" name="Rounded Rectangle 5"/>
          <p:cNvSpPr/>
          <p:nvPr/>
        </p:nvSpPr>
        <p:spPr>
          <a:xfrm>
            <a:off x="1014984" y="2514600"/>
            <a:ext cx="22347936" cy="7223760"/>
          </a:xfrm>
          <a:prstGeom prst="roundRect">
            <a:avLst>
              <a:gd name="adj" fmla="val 2278"/>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44168" y="278892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728216" y="278892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112264" y="278892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60904" y="2697480"/>
            <a:ext cx="20336256" cy="384048"/>
          </a:xfrm>
          <a:prstGeom prst="rect">
            <a:avLst/>
          </a:prstGeom>
          <a:noFill/>
        </p:spPr>
        <p:txBody>
          <a:bodyPr wrap="square" lIns="0" tIns="0" rIns="0" bIns="0" anchor="t">
            <a:spAutoFit/>
          </a:bodyPr>
          <a:lstStyle/>
          <a:p>
            <a:pPr algn="l">
              <a:lnSpc>
                <a:spcPct val="120000"/>
              </a:lnSpc>
              <a:spcAft>
                <a:spcPts val="600"/>
              </a:spcAft>
            </a:pPr>
            <a:r>
              <a:rPr sz="1800" b="0" i="0">
                <a:solidFill>
                  <a:srgbClr val="8B9BB4"/>
                </a:solidFill>
                <a:latin typeface="Consolas"/>
              </a:rPr>
              <a:t>bash — terminal (real output)</a:t>
            </a:r>
          </a:p>
        </p:txBody>
      </p:sp>
      <p:sp>
        <p:nvSpPr>
          <p:cNvPr id="11" name="TextBox 10"/>
          <p:cNvSpPr txBox="1"/>
          <p:nvPr/>
        </p:nvSpPr>
        <p:spPr>
          <a:xfrm>
            <a:off x="1426464" y="3227832"/>
            <a:ext cx="21616416" cy="6355080"/>
          </a:xfrm>
          <a:prstGeom prst="rect">
            <a:avLst/>
          </a:prstGeom>
          <a:noFill/>
        </p:spPr>
        <p:txBody>
          <a:bodyPr wrap="square" lIns="0" tIns="0" rIns="0" bIns="0" anchor="t">
            <a:spAutoFit/>
          </a:bodyPr>
          <a:lstStyle/>
          <a:p>
            <a:pPr algn="l">
              <a:lnSpc>
                <a:spcPct val="100000"/>
              </a:lnSpc>
              <a:spcAft>
                <a:spcPts val="0"/>
              </a:spcAft>
            </a:pPr>
            <a:r>
              <a:rPr sz="3000" b="0" i="0">
                <a:solidFill>
                  <a:srgbClr val="F5C66B"/>
                </a:solidFill>
                <a:latin typeface="Consolas"/>
              </a:rPr>
              <a:t>$ make mlflow</a:t>
            </a:r>
          </a:p>
          <a:p>
            <a:pPr algn="l">
              <a:lnSpc>
                <a:spcPct val="100000"/>
              </a:lnSpc>
              <a:spcAft>
                <a:spcPts val="0"/>
              </a:spcAft>
            </a:pPr>
            <a:r>
              <a:rPr sz="3000" b="0" i="0">
                <a:solidFill>
                  <a:srgbClr val="E6EDF3"/>
                </a:solidFill>
                <a:latin typeface="Consolas"/>
              </a:rPr>
              <a:t>DecisionTree: acc=0.8740 auc=0.9075 f1=0.8706</a:t>
            </a:r>
          </a:p>
          <a:p>
            <a:pPr algn="l">
              <a:lnSpc>
                <a:spcPct val="100000"/>
              </a:lnSpc>
              <a:spcAft>
                <a:spcPts val="0"/>
              </a:spcAft>
            </a:pPr>
            <a:r>
              <a:rPr sz="3000" b="0" i="0">
                <a:solidFill>
                  <a:srgbClr val="E6EDF3"/>
                </a:solidFill>
                <a:latin typeface="Consolas"/>
              </a:rPr>
              <a:t>RandomForest: acc=0.9380 auc=0.9817 f1=0.9350</a:t>
            </a:r>
          </a:p>
          <a:p>
            <a:pPr algn="l">
              <a:lnSpc>
                <a:spcPct val="100000"/>
              </a:lnSpc>
              <a:spcAft>
                <a:spcPts val="0"/>
              </a:spcAft>
            </a:pPr>
            <a:r>
              <a:rPr sz="3000" b="0" i="0">
                <a:solidFill>
                  <a:srgbClr val="E6EDF3"/>
                </a:solidFill>
                <a:latin typeface="Consolas"/>
              </a:rPr>
              <a:t>GradientBoosting: acc=0.9380 auc=0.9804 f1=0.9347</a:t>
            </a:r>
          </a:p>
          <a:p>
            <a:pPr algn="l">
              <a:lnSpc>
                <a:spcPct val="100000"/>
              </a:lnSpc>
              <a:spcAft>
                <a:spcPts val="0"/>
              </a:spcAft>
            </a:pPr>
            <a:r>
              <a:rPr sz="3000" b="0" i="0">
                <a:solidFill>
                  <a:srgbClr val="E6EDF3"/>
                </a:solidFill>
                <a:latin typeface="Consolas"/>
              </a:rPr>
              <a:t> </a:t>
            </a:r>
          </a:p>
          <a:p>
            <a:pPr algn="l">
              <a:lnSpc>
                <a:spcPct val="100000"/>
              </a:lnSpc>
              <a:spcAft>
                <a:spcPts val="0"/>
              </a:spcAft>
            </a:pPr>
            <a:r>
              <a:rPr sz="3000" b="0" i="0">
                <a:solidFill>
                  <a:srgbClr val="E6EDF3"/>
                </a:solidFill>
                <a:latin typeface="Consolas"/>
              </a:rPr>
              <a:t>BEST: RandomForest (accuracy=0.9380)</a:t>
            </a:r>
          </a:p>
          <a:p>
            <a:pPr algn="l">
              <a:lnSpc>
                <a:spcPct val="100000"/>
              </a:lnSpc>
              <a:spcAft>
                <a:spcPts val="0"/>
              </a:spcAft>
            </a:pPr>
            <a:r>
              <a:rPr sz="3000" b="0" i="0">
                <a:solidFill>
                  <a:srgbClr val="E6EDF3"/>
                </a:solidFill>
                <a:latin typeface="Consolas"/>
              </a:rPr>
              <a:t>Registered version: 1</a:t>
            </a:r>
          </a:p>
          <a:p>
            <a:pPr algn="l">
              <a:lnSpc>
                <a:spcPct val="100000"/>
              </a:lnSpc>
              <a:spcAft>
                <a:spcPts val="0"/>
              </a:spcAft>
            </a:pPr>
            <a:r>
              <a:rPr sz="3000" b="0" i="0">
                <a:solidFill>
                  <a:srgbClr val="E6EDF3"/>
                </a:solidFill>
                <a:latin typeface="Consolas"/>
              </a:rPr>
              <a:t>Alias 'champion' -&gt; version 1</a:t>
            </a:r>
          </a:p>
        </p:txBody>
      </p:sp>
      <p:sp>
        <p:nvSpPr>
          <p:cNvPr id="12" name="Rounded Rectangle 11"/>
          <p:cNvSpPr/>
          <p:nvPr/>
        </p:nvSpPr>
        <p:spPr>
          <a:xfrm>
            <a:off x="1014984" y="10058400"/>
            <a:ext cx="22347936" cy="2468880"/>
          </a:xfrm>
          <a:prstGeom prst="roundRect">
            <a:avLst>
              <a:gd name="adj" fmla="val 6666"/>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344168" y="1033272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728216" y="1033272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112264" y="1033272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26464" y="10771632"/>
            <a:ext cx="21616416" cy="1600200"/>
          </a:xfrm>
          <a:prstGeom prst="rect">
            <a:avLst/>
          </a:prstGeom>
          <a:noFill/>
        </p:spPr>
        <p:txBody>
          <a:bodyPr wrap="square" lIns="0" tIns="0" rIns="0" bIns="0" anchor="t">
            <a:spAutoFit/>
          </a:bodyPr>
          <a:lstStyle/>
          <a:p>
            <a:pPr algn="l">
              <a:lnSpc>
                <a:spcPct val="100000"/>
              </a:lnSpc>
              <a:spcAft>
                <a:spcPts val="0"/>
              </a:spcAft>
            </a:pPr>
            <a:r>
              <a:rPr sz="2800" b="0" i="0" dirty="0">
                <a:solidFill>
                  <a:srgbClr val="F5C66B"/>
                </a:solidFill>
                <a:latin typeface="Consolas"/>
              </a:rPr>
              <a:t>$ make </a:t>
            </a:r>
            <a:r>
              <a:rPr sz="2800" b="0" i="0" dirty="0" err="1">
                <a:solidFill>
                  <a:srgbClr val="F5C66B"/>
                </a:solidFill>
                <a:latin typeface="Consolas"/>
              </a:rPr>
              <a:t>ui</a:t>
            </a:r>
            <a:r>
              <a:rPr sz="2800" b="0" i="0" dirty="0">
                <a:solidFill>
                  <a:srgbClr val="F5C66B"/>
                </a:solidFill>
                <a:latin typeface="Consolas"/>
              </a:rPr>
              <a:t>     # </a:t>
            </a:r>
            <a:r>
              <a:rPr sz="2800" b="0" i="0" dirty="0" err="1">
                <a:solidFill>
                  <a:srgbClr val="F5C66B"/>
                </a:solidFill>
                <a:latin typeface="Consolas"/>
              </a:rPr>
              <a:t>mlflow</a:t>
            </a:r>
            <a:r>
              <a:rPr sz="2800" b="0" i="0" dirty="0">
                <a:solidFill>
                  <a:srgbClr val="F5C66B"/>
                </a:solidFill>
                <a:latin typeface="Consolas"/>
              </a:rPr>
              <a:t> </a:t>
            </a:r>
            <a:r>
              <a:rPr sz="2800" b="0" i="0" dirty="0" err="1">
                <a:solidFill>
                  <a:srgbClr val="F5C66B"/>
                </a:solidFill>
                <a:latin typeface="Consolas"/>
              </a:rPr>
              <a:t>ui</a:t>
            </a:r>
            <a:r>
              <a:rPr sz="2800" b="0" i="0" dirty="0">
                <a:solidFill>
                  <a:srgbClr val="F5C66B"/>
                </a:solidFill>
                <a:latin typeface="Consolas"/>
              </a:rPr>
              <a:t> --backend-store-</a:t>
            </a:r>
            <a:r>
              <a:rPr sz="2800" b="0" i="0" dirty="0" err="1">
                <a:solidFill>
                  <a:srgbClr val="F5C66B"/>
                </a:solidFill>
                <a:latin typeface="Consolas"/>
              </a:rPr>
              <a:t>uri</a:t>
            </a:r>
            <a:r>
              <a:rPr sz="2800" b="0" i="0" dirty="0">
                <a:solidFill>
                  <a:srgbClr val="F5C66B"/>
                </a:solidFill>
                <a:latin typeface="Consolas"/>
              </a:rPr>
              <a:t> </a:t>
            </a:r>
            <a:r>
              <a:rPr sz="2800" b="0" i="0" dirty="0" err="1">
                <a:solidFill>
                  <a:srgbClr val="F5C66B"/>
                </a:solidFill>
                <a:latin typeface="Consolas"/>
              </a:rPr>
              <a:t>sqlite</a:t>
            </a:r>
            <a:r>
              <a:rPr sz="2800" b="0" i="0" dirty="0">
                <a:solidFill>
                  <a:srgbClr val="F5C66B"/>
                </a:solidFill>
                <a:latin typeface="Consolas"/>
              </a:rPr>
              <a:t>:///</a:t>
            </a:r>
            <a:r>
              <a:rPr sz="2800" b="0" i="0" dirty="0" err="1">
                <a:solidFill>
                  <a:srgbClr val="F5C66B"/>
                </a:solidFill>
                <a:latin typeface="Consolas"/>
              </a:rPr>
              <a:t>mlflow.db</a:t>
            </a:r>
            <a:r>
              <a:rPr sz="2800" b="0" i="0" dirty="0">
                <a:solidFill>
                  <a:srgbClr val="F5C66B"/>
                </a:solidFill>
                <a:latin typeface="Consolas"/>
              </a:rPr>
              <a:t> --port 5001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MLflow UI — Comparing Runs</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REAL SCREENSHOT</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14</a:t>
            </a:r>
          </a:p>
        </p:txBody>
      </p:sp>
      <p:pic>
        <p:nvPicPr>
          <p:cNvPr id="6" name="Picture 5" descr="crop_runs.png"/>
          <p:cNvPicPr>
            <a:picLocks noChangeAspect="1"/>
          </p:cNvPicPr>
          <p:nvPr/>
        </p:nvPicPr>
        <p:blipFill>
          <a:blip r:embed="rId3"/>
          <a:stretch>
            <a:fillRect/>
          </a:stretch>
        </p:blipFill>
        <p:spPr>
          <a:xfrm>
            <a:off x="1014984" y="2743509"/>
            <a:ext cx="22347936" cy="5302900"/>
          </a:xfrm>
          <a:prstGeom prst="rect">
            <a:avLst/>
          </a:prstGeom>
          <a:ln w="19050">
            <a:solidFill>
              <a:srgbClr val="E0DCD3"/>
            </a:solidFill>
          </a:ln>
        </p:spPr>
      </p:pic>
      <p:sp>
        <p:nvSpPr>
          <p:cNvPr id="7" name="Rounded Rectangle 6"/>
          <p:cNvSpPr/>
          <p:nvPr/>
        </p:nvSpPr>
        <p:spPr>
          <a:xfrm>
            <a:off x="1014984" y="8732520"/>
            <a:ext cx="7174992" cy="3794760"/>
          </a:xfrm>
          <a:prstGeom prst="roundRect">
            <a:avLst>
              <a:gd name="adj" fmla="val 8433"/>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63624" y="9144000"/>
            <a:ext cx="6260592" cy="731520"/>
          </a:xfrm>
          <a:prstGeom prst="rect">
            <a:avLst/>
          </a:prstGeom>
          <a:noFill/>
        </p:spPr>
        <p:txBody>
          <a:bodyPr wrap="square" lIns="0" tIns="0" rIns="0" bIns="0" anchor="ctr">
            <a:spAutoFit/>
          </a:bodyPr>
          <a:lstStyle/>
          <a:p>
            <a:pPr algn="l">
              <a:lnSpc>
                <a:spcPct val="120000"/>
              </a:lnSpc>
              <a:spcAft>
                <a:spcPts val="600"/>
              </a:spcAft>
            </a:pPr>
            <a:r>
              <a:rPr sz="2600" b="1" i="0">
                <a:solidFill>
                  <a:srgbClr val="1B2A4A"/>
                </a:solidFill>
                <a:latin typeface="Liter"/>
              </a:rPr>
              <a:t>Model training toggle</a:t>
            </a:r>
          </a:p>
        </p:txBody>
      </p:sp>
      <p:sp>
        <p:nvSpPr>
          <p:cNvPr id="9" name="TextBox 8"/>
          <p:cNvSpPr txBox="1"/>
          <p:nvPr/>
        </p:nvSpPr>
        <p:spPr>
          <a:xfrm>
            <a:off x="1563624" y="10149840"/>
            <a:ext cx="6077712" cy="2148840"/>
          </a:xfrm>
          <a:prstGeom prst="rect">
            <a:avLst/>
          </a:prstGeom>
          <a:noFill/>
        </p:spPr>
        <p:txBody>
          <a:bodyPr wrap="square" lIns="0" tIns="0" rIns="0" bIns="0" anchor="t">
            <a:spAutoFit/>
          </a:bodyPr>
          <a:lstStyle/>
          <a:p>
            <a:pPr algn="l">
              <a:lnSpc>
                <a:spcPct val="130000"/>
              </a:lnSpc>
              <a:spcAft>
                <a:spcPts val="600"/>
              </a:spcAft>
            </a:pPr>
            <a:r>
              <a:rPr sz="2400" b="0" i="0">
                <a:solidFill>
                  <a:srgbClr val="1E293B"/>
                </a:solidFill>
                <a:latin typeface="Quattrocento Sans"/>
              </a:rPr>
              <a:t>The UI opens in GenAI mode by default. Switch to Model training for classic runs.</a:t>
            </a:r>
          </a:p>
        </p:txBody>
      </p:sp>
      <p:sp>
        <p:nvSpPr>
          <p:cNvPr id="10" name="Rounded Rectangle 9"/>
          <p:cNvSpPr/>
          <p:nvPr/>
        </p:nvSpPr>
        <p:spPr>
          <a:xfrm>
            <a:off x="8601456" y="8732520"/>
            <a:ext cx="7174992" cy="3794760"/>
          </a:xfrm>
          <a:prstGeom prst="roundRect">
            <a:avLst>
              <a:gd name="adj" fmla="val 8433"/>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50096" y="9144000"/>
            <a:ext cx="6260592" cy="731520"/>
          </a:xfrm>
          <a:prstGeom prst="rect">
            <a:avLst/>
          </a:prstGeom>
          <a:noFill/>
        </p:spPr>
        <p:txBody>
          <a:bodyPr wrap="square" lIns="0" tIns="0" rIns="0" bIns="0" anchor="ctr">
            <a:spAutoFit/>
          </a:bodyPr>
          <a:lstStyle/>
          <a:p>
            <a:pPr algn="l">
              <a:lnSpc>
                <a:spcPct val="120000"/>
              </a:lnSpc>
              <a:spcAft>
                <a:spcPts val="600"/>
              </a:spcAft>
            </a:pPr>
            <a:r>
              <a:rPr sz="2600" b="1" i="0">
                <a:solidFill>
                  <a:srgbClr val="1B2A4A"/>
                </a:solidFill>
                <a:latin typeface="Liter"/>
              </a:rPr>
              <a:t>Columns → metrics</a:t>
            </a:r>
          </a:p>
        </p:txBody>
      </p:sp>
      <p:sp>
        <p:nvSpPr>
          <p:cNvPr id="12" name="TextBox 11"/>
          <p:cNvSpPr txBox="1"/>
          <p:nvPr/>
        </p:nvSpPr>
        <p:spPr>
          <a:xfrm>
            <a:off x="9150096" y="10149840"/>
            <a:ext cx="6077712" cy="2148840"/>
          </a:xfrm>
          <a:prstGeom prst="rect">
            <a:avLst/>
          </a:prstGeom>
          <a:noFill/>
        </p:spPr>
        <p:txBody>
          <a:bodyPr wrap="square" lIns="0" tIns="0" rIns="0" bIns="0" anchor="t">
            <a:spAutoFit/>
          </a:bodyPr>
          <a:lstStyle/>
          <a:p>
            <a:pPr algn="l">
              <a:lnSpc>
                <a:spcPct val="130000"/>
              </a:lnSpc>
              <a:spcAft>
                <a:spcPts val="600"/>
              </a:spcAft>
            </a:pPr>
            <a:r>
              <a:rPr sz="2400" b="0" i="0">
                <a:solidFill>
                  <a:srgbClr val="1E293B"/>
                </a:solidFill>
                <a:latin typeface="Quattrocento Sans"/>
              </a:rPr>
              <a:t>Add accuracy, f1_score and roc_auc, then click a header to sort.</a:t>
            </a:r>
          </a:p>
        </p:txBody>
      </p:sp>
      <p:sp>
        <p:nvSpPr>
          <p:cNvPr id="13" name="Rounded Rectangle 12"/>
          <p:cNvSpPr/>
          <p:nvPr/>
        </p:nvSpPr>
        <p:spPr>
          <a:xfrm>
            <a:off x="16187928" y="8732520"/>
            <a:ext cx="7174992" cy="3794760"/>
          </a:xfrm>
          <a:prstGeom prst="roundRect">
            <a:avLst>
              <a:gd name="adj" fmla="val 8433"/>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736568" y="9144000"/>
            <a:ext cx="6260591" cy="731520"/>
          </a:xfrm>
          <a:prstGeom prst="rect">
            <a:avLst/>
          </a:prstGeom>
          <a:noFill/>
        </p:spPr>
        <p:txBody>
          <a:bodyPr wrap="square" lIns="0" tIns="0" rIns="0" bIns="0" anchor="ctr">
            <a:spAutoFit/>
          </a:bodyPr>
          <a:lstStyle/>
          <a:p>
            <a:pPr algn="l">
              <a:lnSpc>
                <a:spcPct val="120000"/>
              </a:lnSpc>
              <a:spcAft>
                <a:spcPts val="600"/>
              </a:spcAft>
            </a:pPr>
            <a:r>
              <a:rPr sz="2600" b="1" i="0">
                <a:solidFill>
                  <a:srgbClr val="1B2A4A"/>
                </a:solidFill>
                <a:latin typeface="Liter"/>
              </a:rPr>
              <a:t>Models column</a:t>
            </a:r>
          </a:p>
        </p:txBody>
      </p:sp>
      <p:sp>
        <p:nvSpPr>
          <p:cNvPr id="15" name="TextBox 14"/>
          <p:cNvSpPr txBox="1"/>
          <p:nvPr/>
        </p:nvSpPr>
        <p:spPr>
          <a:xfrm>
            <a:off x="16736568" y="10149840"/>
            <a:ext cx="6077712" cy="2148840"/>
          </a:xfrm>
          <a:prstGeom prst="rect">
            <a:avLst/>
          </a:prstGeom>
          <a:noFill/>
        </p:spPr>
        <p:txBody>
          <a:bodyPr wrap="square" lIns="0" tIns="0" rIns="0" bIns="0" anchor="t">
            <a:spAutoFit/>
          </a:bodyPr>
          <a:lstStyle/>
          <a:p>
            <a:pPr algn="l">
              <a:lnSpc>
                <a:spcPct val="130000"/>
              </a:lnSpc>
              <a:spcAft>
                <a:spcPts val="600"/>
              </a:spcAft>
            </a:pPr>
            <a:r>
              <a:rPr sz="2400" b="0" i="0">
                <a:solidFill>
                  <a:srgbClr val="1E293B"/>
                </a:solidFill>
                <a:latin typeface="Quattrocento Sans"/>
              </a:rPr>
              <a:t>The RandomForest run links to insurance-approval-model in the registry.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Instrumenting Training with MLflow</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11</a:t>
            </a:r>
          </a:p>
        </p:txBody>
      </p:sp>
      <p:sp>
        <p:nvSpPr>
          <p:cNvPr id="6" name="Rounded Rectangle 5"/>
          <p:cNvSpPr/>
          <p:nvPr/>
        </p:nvSpPr>
        <p:spPr>
          <a:xfrm>
            <a:off x="1014984" y="2514600"/>
            <a:ext cx="22347936" cy="10012680"/>
          </a:xfrm>
          <a:prstGeom prst="roundRect">
            <a:avLst>
              <a:gd name="adj" fmla="val 1643"/>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44168" y="278892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728216" y="278892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112264" y="278892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60904" y="2697480"/>
            <a:ext cx="20336256" cy="384048"/>
          </a:xfrm>
          <a:prstGeom prst="rect">
            <a:avLst/>
          </a:prstGeom>
          <a:noFill/>
        </p:spPr>
        <p:txBody>
          <a:bodyPr wrap="square" lIns="0" tIns="0" rIns="0" bIns="0" anchor="t">
            <a:spAutoFit/>
          </a:bodyPr>
          <a:lstStyle/>
          <a:p>
            <a:pPr algn="l">
              <a:lnSpc>
                <a:spcPct val="120000"/>
              </a:lnSpc>
              <a:spcAft>
                <a:spcPts val="600"/>
              </a:spcAft>
            </a:pPr>
            <a:r>
              <a:rPr sz="1800" b="0" i="0">
                <a:solidFill>
                  <a:srgbClr val="8B9BB4"/>
                </a:solidFill>
                <a:latin typeface="Consolas"/>
              </a:rPr>
              <a:t>mlflow/train_with_mlflow.py</a:t>
            </a:r>
          </a:p>
        </p:txBody>
      </p:sp>
      <p:sp>
        <p:nvSpPr>
          <p:cNvPr id="11" name="TextBox 10"/>
          <p:cNvSpPr txBox="1"/>
          <p:nvPr/>
        </p:nvSpPr>
        <p:spPr>
          <a:xfrm>
            <a:off x="1426464" y="3227832"/>
            <a:ext cx="21616416" cy="7909858"/>
          </a:xfrm>
          <a:prstGeom prst="rect">
            <a:avLst/>
          </a:prstGeom>
          <a:noFill/>
        </p:spPr>
        <p:txBody>
          <a:bodyPr wrap="square" lIns="0" tIns="0" rIns="0" bIns="0" anchor="t">
            <a:spAutoFit/>
          </a:bodyPr>
          <a:lstStyle/>
          <a:p>
            <a:pPr algn="l">
              <a:lnSpc>
                <a:spcPct val="100000"/>
              </a:lnSpc>
              <a:spcAft>
                <a:spcPts val="0"/>
              </a:spcAft>
            </a:pPr>
            <a:r>
              <a:rPr sz="2700" b="0" i="0" dirty="0" err="1">
                <a:solidFill>
                  <a:srgbClr val="E6EDF3"/>
                </a:solidFill>
                <a:latin typeface="Consolas"/>
              </a:rPr>
              <a:t>mlflow.set_tracking_uri</a:t>
            </a:r>
            <a:r>
              <a:rPr sz="2700" b="0" i="0" dirty="0">
                <a:solidFill>
                  <a:srgbClr val="E6EDF3"/>
                </a:solidFill>
                <a:latin typeface="Consolas"/>
              </a:rPr>
              <a:t>("</a:t>
            </a:r>
            <a:r>
              <a:rPr sz="2700" b="0" i="0" dirty="0" err="1">
                <a:solidFill>
                  <a:srgbClr val="E6EDF3"/>
                </a:solidFill>
                <a:latin typeface="Consolas"/>
              </a:rPr>
              <a:t>sqlite</a:t>
            </a:r>
            <a:r>
              <a:rPr sz="2700" b="0" i="0" dirty="0">
                <a:solidFill>
                  <a:srgbClr val="E6EDF3"/>
                </a:solidFill>
                <a:latin typeface="Consolas"/>
              </a:rPr>
              <a:t>:///</a:t>
            </a:r>
            <a:r>
              <a:rPr sz="2700" b="0" i="0" dirty="0" err="1">
                <a:solidFill>
                  <a:srgbClr val="E6EDF3"/>
                </a:solidFill>
                <a:latin typeface="Consolas"/>
              </a:rPr>
              <a:t>mlflow.db</a:t>
            </a:r>
            <a:r>
              <a:rPr sz="2700" b="0" i="0" dirty="0">
                <a:solidFill>
                  <a:srgbClr val="E6EDF3"/>
                </a:solidFill>
                <a:latin typeface="Consolas"/>
              </a:rPr>
              <a:t>")</a:t>
            </a:r>
          </a:p>
          <a:p>
            <a:pPr algn="l">
              <a:lnSpc>
                <a:spcPct val="100000"/>
              </a:lnSpc>
              <a:spcAft>
                <a:spcPts val="0"/>
              </a:spcAft>
            </a:pPr>
            <a:r>
              <a:rPr sz="2700" b="0" i="0" dirty="0" err="1">
                <a:solidFill>
                  <a:srgbClr val="E6EDF3"/>
                </a:solidFill>
                <a:latin typeface="Consolas"/>
              </a:rPr>
              <a:t>mlflow.set_experiment</a:t>
            </a:r>
            <a:r>
              <a:rPr sz="2700" b="0" i="0" dirty="0">
                <a:solidFill>
                  <a:srgbClr val="E6EDF3"/>
                </a:solidFill>
                <a:latin typeface="Consolas"/>
              </a:rPr>
              <a:t>("Insurance Approval Model")</a:t>
            </a:r>
          </a:p>
          <a:p>
            <a:pPr algn="l">
              <a:lnSpc>
                <a:spcPct val="100000"/>
              </a:lnSpc>
              <a:spcAft>
                <a:spcPts val="0"/>
              </a:spcAft>
            </a:pPr>
            <a:r>
              <a:rPr sz="2700" b="0" i="0" dirty="0">
                <a:solidFill>
                  <a:srgbClr val="E6EDF3"/>
                </a:solidFill>
                <a:latin typeface="Consolas"/>
              </a:rPr>
              <a:t> </a:t>
            </a:r>
          </a:p>
          <a:p>
            <a:pPr algn="l">
              <a:lnSpc>
                <a:spcPct val="100000"/>
              </a:lnSpc>
              <a:spcAft>
                <a:spcPts val="0"/>
              </a:spcAft>
            </a:pPr>
            <a:r>
              <a:rPr sz="2700" b="0" i="0" dirty="0">
                <a:solidFill>
                  <a:srgbClr val="E6EDF3"/>
                </a:solidFill>
                <a:latin typeface="Consolas"/>
              </a:rPr>
              <a:t>for name, (</a:t>
            </a:r>
            <a:r>
              <a:rPr sz="2700" b="0" i="0" dirty="0" err="1">
                <a:solidFill>
                  <a:srgbClr val="E6EDF3"/>
                </a:solidFill>
                <a:latin typeface="Consolas"/>
              </a:rPr>
              <a:t>ModelClass</a:t>
            </a:r>
            <a:r>
              <a:rPr sz="2700" b="0" i="0" dirty="0">
                <a:solidFill>
                  <a:srgbClr val="E6EDF3"/>
                </a:solidFill>
                <a:latin typeface="Consolas"/>
              </a:rPr>
              <a:t>, params) in </a:t>
            </a:r>
            <a:r>
              <a:rPr sz="2700" b="0" i="0" dirty="0" err="1">
                <a:solidFill>
                  <a:srgbClr val="E6EDF3"/>
                </a:solidFill>
                <a:latin typeface="Consolas"/>
              </a:rPr>
              <a:t>MODELS.items</a:t>
            </a:r>
            <a:r>
              <a:rPr sz="2700" b="0" i="0" dirty="0">
                <a:solidFill>
                  <a:srgbClr val="E6EDF3"/>
                </a:solidFill>
                <a:latin typeface="Consolas"/>
              </a:rPr>
              <a:t>():   # </a:t>
            </a:r>
            <a:r>
              <a:rPr sz="2700" b="0" i="0" dirty="0" err="1">
                <a:solidFill>
                  <a:srgbClr val="E6EDF3"/>
                </a:solidFill>
                <a:latin typeface="Consolas"/>
              </a:rPr>
              <a:t>DecisionTree</a:t>
            </a:r>
            <a:r>
              <a:rPr sz="2700" b="0" i="0" dirty="0">
                <a:solidFill>
                  <a:srgbClr val="E6EDF3"/>
                </a:solidFill>
                <a:latin typeface="Consolas"/>
              </a:rPr>
              <a:t>, </a:t>
            </a:r>
            <a:r>
              <a:rPr sz="2700" b="0" i="0" dirty="0" err="1">
                <a:solidFill>
                  <a:srgbClr val="E6EDF3"/>
                </a:solidFill>
                <a:latin typeface="Consolas"/>
              </a:rPr>
              <a:t>RandomForest</a:t>
            </a:r>
            <a:r>
              <a:rPr sz="2700" b="0" i="0" dirty="0">
                <a:solidFill>
                  <a:srgbClr val="E6EDF3"/>
                </a:solidFill>
                <a:latin typeface="Consolas"/>
              </a:rPr>
              <a:t>, </a:t>
            </a:r>
            <a:r>
              <a:rPr sz="2700" b="0" i="0" dirty="0" err="1">
                <a:solidFill>
                  <a:srgbClr val="E6EDF3"/>
                </a:solidFill>
                <a:latin typeface="Consolas"/>
              </a:rPr>
              <a:t>GradientBoosting</a:t>
            </a:r>
            <a:endParaRPr sz="2700" b="0" i="0" dirty="0">
              <a:solidFill>
                <a:srgbClr val="E6EDF3"/>
              </a:solidFill>
              <a:latin typeface="Consolas"/>
            </a:endParaRPr>
          </a:p>
          <a:p>
            <a:pPr algn="l">
              <a:lnSpc>
                <a:spcPct val="100000"/>
              </a:lnSpc>
              <a:spcAft>
                <a:spcPts val="0"/>
              </a:spcAft>
            </a:pPr>
            <a:r>
              <a:rPr sz="2700" b="0" i="0" dirty="0">
                <a:solidFill>
                  <a:srgbClr val="E6EDF3"/>
                </a:solidFill>
                <a:latin typeface="Consolas"/>
              </a:rPr>
              <a:t>    </a:t>
            </a:r>
            <a:r>
              <a:rPr sz="2700" b="0" i="0" dirty="0">
                <a:solidFill>
                  <a:srgbClr val="00B0F0"/>
                </a:solidFill>
                <a:latin typeface="Consolas"/>
              </a:rPr>
              <a:t>with </a:t>
            </a:r>
            <a:r>
              <a:rPr sz="2700" b="0" i="0" dirty="0" err="1">
                <a:solidFill>
                  <a:srgbClr val="00B0F0"/>
                </a:solidFill>
                <a:latin typeface="Consolas"/>
              </a:rPr>
              <a:t>mlflow.start_run</a:t>
            </a:r>
            <a:r>
              <a:rPr sz="2700" b="0" i="0" dirty="0">
                <a:solidFill>
                  <a:srgbClr val="00B0F0"/>
                </a:solidFill>
                <a:latin typeface="Consolas"/>
              </a:rPr>
              <a:t>(</a:t>
            </a:r>
            <a:r>
              <a:rPr sz="2700" b="0" i="0" dirty="0" err="1">
                <a:solidFill>
                  <a:srgbClr val="00B0F0"/>
                </a:solidFill>
                <a:latin typeface="Consolas"/>
              </a:rPr>
              <a:t>run_name</a:t>
            </a:r>
            <a:r>
              <a:rPr sz="2700" b="0" i="0" dirty="0">
                <a:solidFill>
                  <a:srgbClr val="00B0F0"/>
                </a:solidFill>
                <a:latin typeface="Consolas"/>
              </a:rPr>
              <a:t>=name) as run:</a:t>
            </a:r>
          </a:p>
          <a:p>
            <a:pPr algn="l">
              <a:lnSpc>
                <a:spcPct val="100000"/>
              </a:lnSpc>
              <a:spcAft>
                <a:spcPts val="0"/>
              </a:spcAft>
            </a:pPr>
            <a:r>
              <a:rPr sz="2700" b="0" i="0" dirty="0">
                <a:solidFill>
                  <a:srgbClr val="E6EDF3"/>
                </a:solidFill>
                <a:latin typeface="Consolas"/>
              </a:rPr>
              <a:t>        model = </a:t>
            </a:r>
            <a:r>
              <a:rPr sz="2700" b="0" i="0" dirty="0" err="1">
                <a:solidFill>
                  <a:srgbClr val="E6EDF3"/>
                </a:solidFill>
                <a:latin typeface="Consolas"/>
              </a:rPr>
              <a:t>ModelClass</a:t>
            </a:r>
            <a:r>
              <a:rPr sz="2700" b="0" i="0" dirty="0">
                <a:solidFill>
                  <a:srgbClr val="E6EDF3"/>
                </a:solidFill>
                <a:latin typeface="Consolas"/>
              </a:rPr>
              <a:t>(**params, </a:t>
            </a:r>
            <a:r>
              <a:rPr sz="2700" b="0" i="0" dirty="0" err="1">
                <a:solidFill>
                  <a:srgbClr val="E6EDF3"/>
                </a:solidFill>
                <a:latin typeface="Consolas"/>
              </a:rPr>
              <a:t>random_state</a:t>
            </a:r>
            <a:r>
              <a:rPr sz="2700" b="0" i="0" dirty="0">
                <a:solidFill>
                  <a:srgbClr val="E6EDF3"/>
                </a:solidFill>
                <a:latin typeface="Consolas"/>
              </a:rPr>
              <a:t>=42)</a:t>
            </a:r>
          </a:p>
          <a:p>
            <a:pPr algn="l">
              <a:lnSpc>
                <a:spcPct val="100000"/>
              </a:lnSpc>
              <a:spcAft>
                <a:spcPts val="0"/>
              </a:spcAft>
            </a:pPr>
            <a:r>
              <a:rPr sz="2700" b="0" i="0" dirty="0">
                <a:solidFill>
                  <a:srgbClr val="E6EDF3"/>
                </a:solidFill>
                <a:latin typeface="Consolas"/>
              </a:rPr>
              <a:t>        </a:t>
            </a:r>
            <a:r>
              <a:rPr sz="2700" b="0" i="0" dirty="0" err="1">
                <a:solidFill>
                  <a:srgbClr val="E6EDF3"/>
                </a:solidFill>
                <a:latin typeface="Consolas"/>
              </a:rPr>
              <a:t>model.fit</a:t>
            </a:r>
            <a:r>
              <a:rPr sz="2700" b="0" i="0" dirty="0">
                <a:solidFill>
                  <a:srgbClr val="E6EDF3"/>
                </a:solidFill>
                <a:latin typeface="Consolas"/>
              </a:rPr>
              <a:t>(</a:t>
            </a:r>
            <a:r>
              <a:rPr sz="2700" b="0" i="0" dirty="0" err="1">
                <a:solidFill>
                  <a:srgbClr val="E6EDF3"/>
                </a:solidFill>
                <a:latin typeface="Consolas"/>
              </a:rPr>
              <a:t>X_train</a:t>
            </a:r>
            <a:r>
              <a:rPr sz="2700" b="0" i="0" dirty="0">
                <a:solidFill>
                  <a:srgbClr val="E6EDF3"/>
                </a:solidFill>
                <a:latin typeface="Consolas"/>
              </a:rPr>
              <a:t>, </a:t>
            </a:r>
            <a:r>
              <a:rPr sz="2700" b="0" i="0" dirty="0" err="1">
                <a:solidFill>
                  <a:srgbClr val="E6EDF3"/>
                </a:solidFill>
                <a:latin typeface="Consolas"/>
              </a:rPr>
              <a:t>y_train</a:t>
            </a:r>
            <a:r>
              <a:rPr sz="2700" b="0" i="0" dirty="0">
                <a:solidFill>
                  <a:srgbClr val="E6EDF3"/>
                </a:solidFill>
                <a:latin typeface="Consolas"/>
              </a:rPr>
              <a:t>)</a:t>
            </a:r>
            <a:endParaRPr lang="en-US" sz="2700" b="0" i="0" dirty="0">
              <a:solidFill>
                <a:srgbClr val="E6EDF3"/>
              </a:solidFill>
              <a:latin typeface="Consolas"/>
            </a:endParaRPr>
          </a:p>
          <a:p>
            <a:pPr algn="l">
              <a:lnSpc>
                <a:spcPct val="100000"/>
              </a:lnSpc>
              <a:spcAft>
                <a:spcPts val="0"/>
              </a:spcAft>
            </a:pPr>
            <a:endParaRPr lang="en-ID" sz="2700" dirty="0">
              <a:solidFill>
                <a:srgbClr val="E6EDF3"/>
              </a:solidFill>
              <a:latin typeface="Consolas"/>
            </a:endParaRPr>
          </a:p>
          <a:p>
            <a:r>
              <a:rPr lang="en-ID" sz="2700" dirty="0">
                <a:solidFill>
                  <a:srgbClr val="E6EDF3"/>
                </a:solidFill>
                <a:latin typeface="Consolas"/>
              </a:rPr>
              <a:t>	   preds = </a:t>
            </a:r>
            <a:r>
              <a:rPr lang="en-ID" sz="2700" dirty="0" err="1">
                <a:solidFill>
                  <a:srgbClr val="E6EDF3"/>
                </a:solidFill>
                <a:latin typeface="Consolas"/>
              </a:rPr>
              <a:t>model.predict</a:t>
            </a:r>
            <a:r>
              <a:rPr lang="en-ID" sz="2700" dirty="0">
                <a:solidFill>
                  <a:srgbClr val="E6EDF3"/>
                </a:solidFill>
                <a:latin typeface="Consolas"/>
              </a:rPr>
              <a:t>(</a:t>
            </a:r>
            <a:r>
              <a:rPr lang="en-ID" sz="2700" dirty="0" err="1">
                <a:solidFill>
                  <a:srgbClr val="E6EDF3"/>
                </a:solidFill>
                <a:latin typeface="Consolas"/>
              </a:rPr>
              <a:t>X_test</a:t>
            </a:r>
            <a:r>
              <a:rPr lang="en-ID" sz="2700" dirty="0">
                <a:solidFill>
                  <a:srgbClr val="E6EDF3"/>
                </a:solidFill>
                <a:latin typeface="Consolas"/>
              </a:rPr>
              <a:t>)</a:t>
            </a:r>
          </a:p>
          <a:p>
            <a:r>
              <a:rPr lang="en-ID" sz="2700" dirty="0">
                <a:solidFill>
                  <a:srgbClr val="E6EDF3"/>
                </a:solidFill>
                <a:latin typeface="Consolas"/>
              </a:rPr>
              <a:t>	   </a:t>
            </a:r>
            <a:r>
              <a:rPr lang="en-ID" sz="2700" dirty="0" err="1">
                <a:solidFill>
                  <a:srgbClr val="E6EDF3"/>
                </a:solidFill>
                <a:latin typeface="Consolas"/>
              </a:rPr>
              <a:t>proba</a:t>
            </a:r>
            <a:r>
              <a:rPr lang="en-ID" sz="2700" dirty="0">
                <a:solidFill>
                  <a:srgbClr val="E6EDF3"/>
                </a:solidFill>
                <a:latin typeface="Consolas"/>
              </a:rPr>
              <a:t> = </a:t>
            </a:r>
            <a:r>
              <a:rPr lang="en-ID" sz="2700" dirty="0" err="1">
                <a:solidFill>
                  <a:srgbClr val="E6EDF3"/>
                </a:solidFill>
                <a:latin typeface="Consolas"/>
              </a:rPr>
              <a:t>model.predict_proba</a:t>
            </a:r>
            <a:r>
              <a:rPr lang="en-ID" sz="2700" dirty="0">
                <a:solidFill>
                  <a:srgbClr val="E6EDF3"/>
                </a:solidFill>
                <a:latin typeface="Consolas"/>
              </a:rPr>
              <a:t>(</a:t>
            </a:r>
            <a:r>
              <a:rPr lang="en-ID" sz="2700" dirty="0" err="1">
                <a:solidFill>
                  <a:srgbClr val="E6EDF3"/>
                </a:solidFill>
                <a:latin typeface="Consolas"/>
              </a:rPr>
              <a:t>X_test</a:t>
            </a:r>
            <a:r>
              <a:rPr lang="en-ID" sz="2700" dirty="0">
                <a:solidFill>
                  <a:srgbClr val="E6EDF3"/>
                </a:solidFill>
                <a:latin typeface="Consolas"/>
              </a:rPr>
              <a:t>)[:, 1]</a:t>
            </a:r>
            <a:r>
              <a:rPr lang="en-ID" sz="2800" dirty="0"/>
              <a:t>]]</a:t>
            </a:r>
          </a:p>
          <a:p>
            <a:pPr algn="l">
              <a:lnSpc>
                <a:spcPct val="100000"/>
              </a:lnSpc>
              <a:spcAft>
                <a:spcPts val="0"/>
              </a:spcAft>
            </a:pPr>
            <a:endParaRPr sz="2700" b="0" i="0" dirty="0">
              <a:solidFill>
                <a:srgbClr val="E6EDF3"/>
              </a:solidFill>
              <a:latin typeface="Consolas"/>
            </a:endParaRPr>
          </a:p>
          <a:p>
            <a:pPr algn="l">
              <a:lnSpc>
                <a:spcPct val="100000"/>
              </a:lnSpc>
              <a:spcAft>
                <a:spcPts val="0"/>
              </a:spcAft>
            </a:pPr>
            <a:r>
              <a:rPr sz="2700" b="0" i="0" dirty="0">
                <a:solidFill>
                  <a:srgbClr val="00B0F0"/>
                </a:solidFill>
                <a:latin typeface="Consolas"/>
              </a:rPr>
              <a:t>        for k, v in </a:t>
            </a:r>
            <a:r>
              <a:rPr sz="2700" b="0" i="0" dirty="0" err="1">
                <a:solidFill>
                  <a:srgbClr val="00B0F0"/>
                </a:solidFill>
                <a:latin typeface="Consolas"/>
              </a:rPr>
              <a:t>params.items</a:t>
            </a:r>
            <a:r>
              <a:rPr sz="2700" b="0" i="0" dirty="0">
                <a:solidFill>
                  <a:srgbClr val="00B0F0"/>
                </a:solidFill>
                <a:latin typeface="Consolas"/>
              </a:rPr>
              <a:t>():</a:t>
            </a:r>
          </a:p>
          <a:p>
            <a:pPr algn="l">
              <a:lnSpc>
                <a:spcPct val="100000"/>
              </a:lnSpc>
              <a:spcAft>
                <a:spcPts val="0"/>
              </a:spcAft>
            </a:pPr>
            <a:r>
              <a:rPr sz="2700" b="0" i="0" dirty="0">
                <a:solidFill>
                  <a:srgbClr val="00B0F0"/>
                </a:solidFill>
                <a:latin typeface="Consolas"/>
              </a:rPr>
              <a:t>            </a:t>
            </a:r>
            <a:r>
              <a:rPr sz="2700" b="0" i="0" dirty="0" err="1">
                <a:solidFill>
                  <a:srgbClr val="00B0F0"/>
                </a:solidFill>
                <a:latin typeface="Consolas"/>
              </a:rPr>
              <a:t>mlflow.log_param</a:t>
            </a:r>
            <a:r>
              <a:rPr sz="2700" b="0" i="0" dirty="0">
                <a:solidFill>
                  <a:srgbClr val="00B0F0"/>
                </a:solidFill>
                <a:latin typeface="Consolas"/>
              </a:rPr>
              <a:t>(k, v)</a:t>
            </a:r>
          </a:p>
          <a:p>
            <a:pPr algn="l">
              <a:lnSpc>
                <a:spcPct val="100000"/>
              </a:lnSpc>
              <a:spcAft>
                <a:spcPts val="0"/>
              </a:spcAft>
            </a:pPr>
            <a:r>
              <a:rPr sz="2700" b="0" i="0" dirty="0">
                <a:solidFill>
                  <a:srgbClr val="00B0F0"/>
                </a:solidFill>
                <a:latin typeface="Consolas"/>
              </a:rPr>
              <a:t>        </a:t>
            </a:r>
            <a:r>
              <a:rPr sz="2700" b="0" i="0" dirty="0" err="1">
                <a:solidFill>
                  <a:srgbClr val="00B0F0"/>
                </a:solidFill>
                <a:latin typeface="Consolas"/>
              </a:rPr>
              <a:t>mlflow.log_metric</a:t>
            </a:r>
            <a:r>
              <a:rPr sz="2700" b="0" i="0" dirty="0">
                <a:solidFill>
                  <a:srgbClr val="00B0F0"/>
                </a:solidFill>
                <a:latin typeface="Consolas"/>
              </a:rPr>
              <a:t>("accuracy", </a:t>
            </a:r>
            <a:r>
              <a:rPr sz="2700" b="0" i="0" dirty="0" err="1">
                <a:solidFill>
                  <a:srgbClr val="00B0F0"/>
                </a:solidFill>
                <a:latin typeface="Consolas"/>
              </a:rPr>
              <a:t>accuracy_score</a:t>
            </a:r>
            <a:r>
              <a:rPr sz="2700" b="0" i="0" dirty="0">
                <a:solidFill>
                  <a:srgbClr val="00B0F0"/>
                </a:solidFill>
                <a:latin typeface="Consolas"/>
              </a:rPr>
              <a:t>(</a:t>
            </a:r>
            <a:r>
              <a:rPr sz="2700" b="0" i="0" dirty="0" err="1">
                <a:solidFill>
                  <a:srgbClr val="00B0F0"/>
                </a:solidFill>
                <a:latin typeface="Consolas"/>
              </a:rPr>
              <a:t>y_test</a:t>
            </a:r>
            <a:r>
              <a:rPr sz="2700" b="0" i="0" dirty="0">
                <a:solidFill>
                  <a:srgbClr val="00B0F0"/>
                </a:solidFill>
                <a:latin typeface="Consolas"/>
              </a:rPr>
              <a:t>, preds))</a:t>
            </a:r>
          </a:p>
          <a:p>
            <a:pPr algn="l">
              <a:lnSpc>
                <a:spcPct val="100000"/>
              </a:lnSpc>
              <a:spcAft>
                <a:spcPts val="0"/>
              </a:spcAft>
            </a:pPr>
            <a:r>
              <a:rPr sz="2700" b="0" i="0" dirty="0">
                <a:solidFill>
                  <a:srgbClr val="00B0F0"/>
                </a:solidFill>
                <a:latin typeface="Consolas"/>
              </a:rPr>
              <a:t>        </a:t>
            </a:r>
            <a:r>
              <a:rPr sz="2700" b="0" i="0" dirty="0" err="1">
                <a:solidFill>
                  <a:srgbClr val="00B0F0"/>
                </a:solidFill>
                <a:latin typeface="Consolas"/>
              </a:rPr>
              <a:t>mlflow.log_metric</a:t>
            </a:r>
            <a:r>
              <a:rPr sz="2700" b="0" i="0" dirty="0">
                <a:solidFill>
                  <a:srgbClr val="00B0F0"/>
                </a:solidFill>
                <a:latin typeface="Consolas"/>
              </a:rPr>
              <a:t>("</a:t>
            </a:r>
            <a:r>
              <a:rPr sz="2700" b="0" i="0" dirty="0" err="1">
                <a:solidFill>
                  <a:srgbClr val="00B0F0"/>
                </a:solidFill>
                <a:latin typeface="Consolas"/>
              </a:rPr>
              <a:t>roc_auc</a:t>
            </a:r>
            <a:r>
              <a:rPr sz="2700" b="0" i="0" dirty="0">
                <a:solidFill>
                  <a:srgbClr val="00B0F0"/>
                </a:solidFill>
                <a:latin typeface="Consolas"/>
              </a:rPr>
              <a:t>", </a:t>
            </a:r>
            <a:r>
              <a:rPr sz="2700" b="0" i="0" dirty="0" err="1">
                <a:solidFill>
                  <a:srgbClr val="00B0F0"/>
                </a:solidFill>
                <a:latin typeface="Consolas"/>
              </a:rPr>
              <a:t>roc_auc_score</a:t>
            </a:r>
            <a:r>
              <a:rPr sz="2700" b="0" i="0" dirty="0">
                <a:solidFill>
                  <a:srgbClr val="00B0F0"/>
                </a:solidFill>
                <a:latin typeface="Consolas"/>
              </a:rPr>
              <a:t>(</a:t>
            </a:r>
            <a:r>
              <a:rPr sz="2700" b="0" i="0" dirty="0" err="1">
                <a:solidFill>
                  <a:srgbClr val="00B0F0"/>
                </a:solidFill>
                <a:latin typeface="Consolas"/>
              </a:rPr>
              <a:t>y_test</a:t>
            </a:r>
            <a:r>
              <a:rPr sz="2700" b="0" i="0" dirty="0">
                <a:solidFill>
                  <a:srgbClr val="00B0F0"/>
                </a:solidFill>
                <a:latin typeface="Consolas"/>
              </a:rPr>
              <a:t>, </a:t>
            </a:r>
            <a:r>
              <a:rPr sz="2700" b="0" i="0" dirty="0" err="1">
                <a:solidFill>
                  <a:srgbClr val="00B0F0"/>
                </a:solidFill>
                <a:latin typeface="Consolas"/>
              </a:rPr>
              <a:t>proba</a:t>
            </a:r>
            <a:r>
              <a:rPr sz="2700" b="0" i="0" dirty="0">
                <a:solidFill>
                  <a:srgbClr val="00B0F0"/>
                </a:solidFill>
                <a:latin typeface="Consolas"/>
              </a:rPr>
              <a:t>))</a:t>
            </a:r>
          </a:p>
          <a:p>
            <a:pPr algn="l">
              <a:lnSpc>
                <a:spcPct val="100000"/>
              </a:lnSpc>
              <a:spcAft>
                <a:spcPts val="0"/>
              </a:spcAft>
            </a:pPr>
            <a:r>
              <a:rPr sz="2700" b="0" i="0" dirty="0">
                <a:solidFill>
                  <a:srgbClr val="00B0F0"/>
                </a:solidFill>
                <a:latin typeface="Consolas"/>
              </a:rPr>
              <a:t>        </a:t>
            </a:r>
            <a:r>
              <a:rPr sz="2700" b="0" i="0" dirty="0" err="1">
                <a:solidFill>
                  <a:srgbClr val="00B0F0"/>
                </a:solidFill>
                <a:latin typeface="Consolas"/>
              </a:rPr>
              <a:t>mlflow.log_metric</a:t>
            </a:r>
            <a:r>
              <a:rPr sz="2700" b="0" i="0" dirty="0">
                <a:solidFill>
                  <a:srgbClr val="00B0F0"/>
                </a:solidFill>
                <a:latin typeface="Consolas"/>
              </a:rPr>
              <a:t>("f1_score", f1_score(</a:t>
            </a:r>
            <a:r>
              <a:rPr sz="2700" b="0" i="0" dirty="0" err="1">
                <a:solidFill>
                  <a:srgbClr val="00B0F0"/>
                </a:solidFill>
                <a:latin typeface="Consolas"/>
              </a:rPr>
              <a:t>y_test</a:t>
            </a:r>
            <a:r>
              <a:rPr sz="2700" b="0" i="0" dirty="0">
                <a:solidFill>
                  <a:srgbClr val="00B0F0"/>
                </a:solidFill>
                <a:latin typeface="Consolas"/>
              </a:rPr>
              <a:t>, preds))</a:t>
            </a:r>
          </a:p>
          <a:p>
            <a:pPr algn="l">
              <a:lnSpc>
                <a:spcPct val="100000"/>
              </a:lnSpc>
              <a:spcAft>
                <a:spcPts val="0"/>
              </a:spcAft>
            </a:pPr>
            <a:r>
              <a:rPr sz="2700" b="0" i="0" dirty="0">
                <a:solidFill>
                  <a:srgbClr val="00B0F0"/>
                </a:solidFill>
                <a:latin typeface="Consolas"/>
              </a:rPr>
              <a:t>        </a:t>
            </a:r>
            <a:r>
              <a:rPr sz="2700" b="0" i="0" dirty="0" err="1">
                <a:solidFill>
                  <a:srgbClr val="00B0F0"/>
                </a:solidFill>
                <a:latin typeface="Consolas"/>
              </a:rPr>
              <a:t>model_info</a:t>
            </a:r>
            <a:r>
              <a:rPr sz="2700" b="0" i="0" dirty="0">
                <a:solidFill>
                  <a:srgbClr val="00B0F0"/>
                </a:solidFill>
                <a:latin typeface="Consolas"/>
              </a:rPr>
              <a:t> = </a:t>
            </a:r>
            <a:r>
              <a:rPr sz="2700" b="0" i="0" dirty="0" err="1">
                <a:solidFill>
                  <a:srgbClr val="00B0F0"/>
                </a:solidFill>
                <a:latin typeface="Consolas"/>
              </a:rPr>
              <a:t>mlflow.sklearn.log_model</a:t>
            </a:r>
            <a:r>
              <a:rPr sz="2700" b="0" i="0" dirty="0">
                <a:solidFill>
                  <a:srgbClr val="00B0F0"/>
                </a:solidFill>
                <a:latin typeface="Consolas"/>
              </a:rPr>
              <a:t>(model, name="model")</a:t>
            </a:r>
            <a:endParaRPr lang="en-US" sz="2700" b="0" i="0" dirty="0">
              <a:solidFill>
                <a:srgbClr val="00B0F0"/>
              </a:solidFill>
              <a:latin typeface="Consolas"/>
            </a:endParaRPr>
          </a:p>
          <a:p>
            <a:pPr algn="l">
              <a:lnSpc>
                <a:spcPct val="100000"/>
              </a:lnSpc>
              <a:spcAft>
                <a:spcPts val="0"/>
              </a:spcAft>
            </a:pPr>
            <a:endParaRPr lang="en-ID" sz="2700" dirty="0">
              <a:solidFill>
                <a:srgbClr val="00B0F0"/>
              </a:solidFill>
              <a:latin typeface="Consolas"/>
            </a:endParaRPr>
          </a:p>
          <a:p>
            <a:pPr algn="l">
              <a:lnSpc>
                <a:spcPct val="100000"/>
              </a:lnSpc>
              <a:spcAft>
                <a:spcPts val="0"/>
              </a:spcAft>
            </a:pPr>
            <a:r>
              <a:rPr lang="en-ID" sz="2700" b="0" i="0" dirty="0">
                <a:solidFill>
                  <a:srgbClr val="00B0F0"/>
                </a:solidFill>
                <a:latin typeface="Consolas"/>
              </a:rPr>
              <a:t>	   </a:t>
            </a:r>
            <a:r>
              <a:rPr lang="en-ID" sz="2700" b="0" i="0" dirty="0">
                <a:solidFill>
                  <a:srgbClr val="EFF0EE"/>
                </a:solidFill>
                <a:latin typeface="Consolas"/>
              </a:rPr>
              <a:t>…</a:t>
            </a:r>
            <a:endParaRPr sz="2700" b="0" i="0" dirty="0">
              <a:solidFill>
                <a:srgbClr val="EFF0EE"/>
              </a:solidFill>
              <a:latin typeface="Consolas"/>
            </a:endParaRPr>
          </a:p>
        </p:txBody>
      </p:sp>
      <p:sp>
        <p:nvSpPr>
          <p:cNvPr id="12" name="TextBox 11">
            <a:extLst>
              <a:ext uri="{FF2B5EF4-FFF2-40B4-BE49-F238E27FC236}">
                <a16:creationId xmlns:a16="http://schemas.microsoft.com/office/drawing/2014/main" id="{53558C24-894A-55F1-1C16-E263395F129F}"/>
              </a:ext>
            </a:extLst>
          </p:cNvPr>
          <p:cNvSpPr txBox="1"/>
          <p:nvPr/>
        </p:nvSpPr>
        <p:spPr>
          <a:xfrm>
            <a:off x="1022319" y="1923955"/>
            <a:ext cx="14692601" cy="601703"/>
          </a:xfrm>
          <a:prstGeom prst="rect">
            <a:avLst/>
          </a:prstGeom>
          <a:noFill/>
        </p:spPr>
        <p:txBody>
          <a:bodyPr wrap="square" lIns="0" tIns="0" rIns="0" bIns="0" anchor="ctr">
            <a:spAutoFit/>
          </a:bodyPr>
          <a:lstStyle/>
          <a:p>
            <a:pPr>
              <a:lnSpc>
                <a:spcPct val="120000"/>
              </a:lnSpc>
              <a:spcAft>
                <a:spcPts val="600"/>
              </a:spcAft>
            </a:pPr>
            <a:r>
              <a:rPr lang="en-US" sz="3400" b="1" i="0" dirty="0">
                <a:solidFill>
                  <a:srgbClr val="1B2A4A"/>
                </a:solidFill>
                <a:latin typeface="Liter"/>
              </a:rPr>
              <a:t>Experiments </a:t>
            </a:r>
            <a:r>
              <a:rPr sz="3400" b="1" i="0" dirty="0">
                <a:solidFill>
                  <a:srgbClr val="1B2A4A"/>
                </a:solidFill>
                <a:latin typeface="Liter"/>
              </a:rPr>
              <a:t>Tracking</a:t>
            </a:r>
            <a:r>
              <a:rPr lang="en-US" sz="3400" b="1" i="0" dirty="0">
                <a:solidFill>
                  <a:srgbClr val="1B2A4A"/>
                </a:solidFill>
                <a:latin typeface="Liter"/>
              </a:rPr>
              <a:t>: </a:t>
            </a:r>
            <a:r>
              <a:rPr lang="en-US" sz="3400" b="1" dirty="0">
                <a:solidFill>
                  <a:srgbClr val="1B2A4A"/>
                </a:solidFill>
                <a:latin typeface="Liter"/>
              </a:rPr>
              <a:t>manual logging (</a:t>
            </a:r>
            <a:r>
              <a:rPr lang="en-US" sz="3400" b="1" dirty="0" err="1">
                <a:solidFill>
                  <a:srgbClr val="1B2A4A"/>
                </a:solidFill>
                <a:latin typeface="Liter"/>
              </a:rPr>
              <a:t>train_with_mlflow.py</a:t>
            </a:r>
            <a:r>
              <a:rPr lang="en-US" sz="3400" b="1" dirty="0">
                <a:solidFill>
                  <a:srgbClr val="1B2A4A"/>
                </a:solidFill>
                <a:latin typeface="Liter"/>
              </a:rPr>
              <a:t>)</a:t>
            </a:r>
            <a:endParaRPr sz="3400" b="1" i="0" dirty="0">
              <a:solidFill>
                <a:srgbClr val="1B2A4A"/>
              </a:solidFill>
              <a:latin typeface="Lite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14E5E-EC3D-D61C-72FB-6905914A71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955385-ADED-8078-8A0B-1517CB1AA908}"/>
              </a:ext>
            </a:extLst>
          </p:cNvPr>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dirty="0">
                <a:solidFill>
                  <a:srgbClr val="1B2A4A"/>
                </a:solidFill>
                <a:latin typeface="Liter"/>
              </a:rPr>
              <a:t>Instrumenting Training with </a:t>
            </a:r>
            <a:r>
              <a:rPr sz="4400" b="1" i="0" dirty="0" err="1">
                <a:solidFill>
                  <a:srgbClr val="1B2A4A"/>
                </a:solidFill>
                <a:latin typeface="Liter"/>
              </a:rPr>
              <a:t>MLflow</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01D24951-AAA6-E9A3-B9FD-DD01780E3FB7}"/>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41F6D1F-DC2F-70C4-536C-64AB403322F0}"/>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5" name="TextBox 4">
            <a:extLst>
              <a:ext uri="{FF2B5EF4-FFF2-40B4-BE49-F238E27FC236}">
                <a16:creationId xmlns:a16="http://schemas.microsoft.com/office/drawing/2014/main" id="{39E811D3-975D-3526-E569-2BF1970D9544}"/>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11</a:t>
            </a:r>
          </a:p>
        </p:txBody>
      </p:sp>
      <p:pic>
        <p:nvPicPr>
          <p:cNvPr id="13" name="Picture 12" descr="A screenshot of a computer&#10;&#10;AI-generated content may be incorrect.">
            <a:extLst>
              <a:ext uri="{FF2B5EF4-FFF2-40B4-BE49-F238E27FC236}">
                <a16:creationId xmlns:a16="http://schemas.microsoft.com/office/drawing/2014/main" id="{AC8997EE-60E8-08BC-78A7-33A677B67EF8}"/>
              </a:ext>
            </a:extLst>
          </p:cNvPr>
          <p:cNvPicPr>
            <a:picLocks noChangeAspect="1"/>
          </p:cNvPicPr>
          <p:nvPr/>
        </p:nvPicPr>
        <p:blipFill>
          <a:blip r:embed="rId2"/>
          <a:stretch>
            <a:fillRect/>
          </a:stretch>
        </p:blipFill>
        <p:spPr>
          <a:xfrm>
            <a:off x="1022320" y="2699394"/>
            <a:ext cx="21380480" cy="10533435"/>
          </a:xfrm>
          <a:prstGeom prst="rect">
            <a:avLst/>
          </a:prstGeom>
        </p:spPr>
      </p:pic>
      <p:sp>
        <p:nvSpPr>
          <p:cNvPr id="14" name="TextBox 13">
            <a:extLst>
              <a:ext uri="{FF2B5EF4-FFF2-40B4-BE49-F238E27FC236}">
                <a16:creationId xmlns:a16="http://schemas.microsoft.com/office/drawing/2014/main" id="{B8856C54-CF2F-082F-42A8-A4805BD0342A}"/>
              </a:ext>
            </a:extLst>
          </p:cNvPr>
          <p:cNvSpPr txBox="1"/>
          <p:nvPr/>
        </p:nvSpPr>
        <p:spPr>
          <a:xfrm>
            <a:off x="1022320" y="1923955"/>
            <a:ext cx="8738368" cy="601703"/>
          </a:xfrm>
          <a:prstGeom prst="rect">
            <a:avLst/>
          </a:prstGeom>
          <a:noFill/>
        </p:spPr>
        <p:txBody>
          <a:bodyPr wrap="square" lIns="0" tIns="0" rIns="0" bIns="0" anchor="ctr">
            <a:spAutoFit/>
          </a:bodyPr>
          <a:lstStyle/>
          <a:p>
            <a:pPr algn="l">
              <a:lnSpc>
                <a:spcPct val="120000"/>
              </a:lnSpc>
              <a:spcAft>
                <a:spcPts val="600"/>
              </a:spcAft>
            </a:pPr>
            <a:r>
              <a:rPr lang="en-US" sz="3400" b="1" i="0" dirty="0">
                <a:solidFill>
                  <a:srgbClr val="1B2A4A"/>
                </a:solidFill>
                <a:latin typeface="Liter"/>
              </a:rPr>
              <a:t>Experiments </a:t>
            </a:r>
            <a:r>
              <a:rPr sz="3400" b="1" i="0" dirty="0">
                <a:solidFill>
                  <a:srgbClr val="1B2A4A"/>
                </a:solidFill>
                <a:latin typeface="Liter"/>
              </a:rPr>
              <a:t>Tracking</a:t>
            </a:r>
            <a:r>
              <a:rPr lang="en-US" sz="3400" b="1" i="0" dirty="0">
                <a:solidFill>
                  <a:srgbClr val="1B2A4A"/>
                </a:solidFill>
                <a:latin typeface="Liter"/>
              </a:rPr>
              <a:t>: manual logging</a:t>
            </a:r>
            <a:endParaRPr sz="3400" b="1" i="0" dirty="0">
              <a:solidFill>
                <a:srgbClr val="1B2A4A"/>
              </a:solidFill>
              <a:latin typeface="Liter"/>
            </a:endParaRPr>
          </a:p>
        </p:txBody>
      </p:sp>
    </p:spTree>
    <p:extLst>
      <p:ext uri="{BB962C8B-B14F-4D97-AF65-F5344CB8AC3E}">
        <p14:creationId xmlns:p14="http://schemas.microsoft.com/office/powerpoint/2010/main" val="1865503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29C19-85CE-A72B-511A-C485B60B41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33741A-1FB9-41D8-E215-256DBDE9FDAE}"/>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err="1">
                <a:solidFill>
                  <a:srgbClr val="1B2A4A"/>
                </a:solidFill>
                <a:latin typeface="Liter"/>
              </a:rPr>
              <a:t>Autologging</a:t>
            </a:r>
            <a:r>
              <a:rPr sz="4400" b="1" i="0" dirty="0">
                <a:solidFill>
                  <a:srgbClr val="1B2A4A"/>
                </a:solidFill>
                <a:latin typeface="Liter"/>
              </a:rPr>
              <a:t> with </a:t>
            </a:r>
            <a:r>
              <a:rPr sz="4400" b="1" i="0" dirty="0" err="1">
                <a:solidFill>
                  <a:srgbClr val="1B2A4A"/>
                </a:solidFill>
                <a:latin typeface="Liter"/>
              </a:rPr>
              <a:t>MLflow</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8A527964-A687-A2F8-BD93-314397FB8E30}"/>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9FB9A48-D6B2-03C6-8C19-1E50A2D0B238}"/>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5" name="TextBox 4">
            <a:extLst>
              <a:ext uri="{FF2B5EF4-FFF2-40B4-BE49-F238E27FC236}">
                <a16:creationId xmlns:a16="http://schemas.microsoft.com/office/drawing/2014/main" id="{92338D9A-639A-A23B-0399-53DB5A6D6E05}"/>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11</a:t>
            </a:r>
          </a:p>
        </p:txBody>
      </p:sp>
      <p:sp>
        <p:nvSpPr>
          <p:cNvPr id="6" name="Rounded Rectangle 5">
            <a:extLst>
              <a:ext uri="{FF2B5EF4-FFF2-40B4-BE49-F238E27FC236}">
                <a16:creationId xmlns:a16="http://schemas.microsoft.com/office/drawing/2014/main" id="{E24D8AA9-23F7-94E1-E212-E2FCD8E1475B}"/>
              </a:ext>
            </a:extLst>
          </p:cNvPr>
          <p:cNvSpPr/>
          <p:nvPr/>
        </p:nvSpPr>
        <p:spPr>
          <a:xfrm>
            <a:off x="1014984" y="2514600"/>
            <a:ext cx="22347936" cy="10012680"/>
          </a:xfrm>
          <a:prstGeom prst="roundRect">
            <a:avLst>
              <a:gd name="adj" fmla="val 1643"/>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233DFF75-B2CE-97B0-A3FB-355417628F8F}"/>
              </a:ext>
            </a:extLst>
          </p:cNvPr>
          <p:cNvSpPr/>
          <p:nvPr/>
        </p:nvSpPr>
        <p:spPr>
          <a:xfrm>
            <a:off x="1344168" y="278892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C8DA2061-8765-F96C-C3FA-0F1A84F27DA1}"/>
              </a:ext>
            </a:extLst>
          </p:cNvPr>
          <p:cNvSpPr/>
          <p:nvPr/>
        </p:nvSpPr>
        <p:spPr>
          <a:xfrm>
            <a:off x="1728216" y="278892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2DC07760-3B6A-692D-B3CA-5BB76EA1EB7D}"/>
              </a:ext>
            </a:extLst>
          </p:cNvPr>
          <p:cNvSpPr/>
          <p:nvPr/>
        </p:nvSpPr>
        <p:spPr>
          <a:xfrm>
            <a:off x="2112264" y="278892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85627C95-B92F-F14F-9B3D-B434DB0D6A77}"/>
              </a:ext>
            </a:extLst>
          </p:cNvPr>
          <p:cNvSpPr txBox="1"/>
          <p:nvPr/>
        </p:nvSpPr>
        <p:spPr>
          <a:xfrm>
            <a:off x="2660904" y="2697480"/>
            <a:ext cx="20336256" cy="384048"/>
          </a:xfrm>
          <a:prstGeom prst="rect">
            <a:avLst/>
          </a:prstGeom>
          <a:noFill/>
        </p:spPr>
        <p:txBody>
          <a:bodyPr wrap="square" lIns="0" tIns="0" rIns="0" bIns="0" anchor="t">
            <a:spAutoFit/>
          </a:bodyPr>
          <a:lstStyle/>
          <a:p>
            <a:pPr algn="l">
              <a:lnSpc>
                <a:spcPct val="120000"/>
              </a:lnSpc>
              <a:spcAft>
                <a:spcPts val="600"/>
              </a:spcAft>
            </a:pPr>
            <a:r>
              <a:rPr sz="1800" b="0" i="0">
                <a:solidFill>
                  <a:srgbClr val="8B9BB4"/>
                </a:solidFill>
                <a:latin typeface="Consolas"/>
              </a:rPr>
              <a:t>mlflow/train_with_mlflow.py</a:t>
            </a:r>
          </a:p>
        </p:txBody>
      </p:sp>
      <p:sp>
        <p:nvSpPr>
          <p:cNvPr id="11" name="TextBox 10">
            <a:extLst>
              <a:ext uri="{FF2B5EF4-FFF2-40B4-BE49-F238E27FC236}">
                <a16:creationId xmlns:a16="http://schemas.microsoft.com/office/drawing/2014/main" id="{663013A7-C042-7F65-6121-C44490B6B6F5}"/>
              </a:ext>
            </a:extLst>
          </p:cNvPr>
          <p:cNvSpPr txBox="1"/>
          <p:nvPr/>
        </p:nvSpPr>
        <p:spPr>
          <a:xfrm>
            <a:off x="1426464" y="3227832"/>
            <a:ext cx="21616416" cy="9140964"/>
          </a:xfrm>
          <a:prstGeom prst="rect">
            <a:avLst/>
          </a:prstGeom>
          <a:noFill/>
        </p:spPr>
        <p:txBody>
          <a:bodyPr wrap="square" lIns="0" tIns="0" rIns="0" bIns="0" anchor="t">
            <a:spAutoFit/>
          </a:bodyPr>
          <a:lstStyle/>
          <a:p>
            <a:pPr algn="l">
              <a:lnSpc>
                <a:spcPct val="100000"/>
              </a:lnSpc>
              <a:spcAft>
                <a:spcPts val="0"/>
              </a:spcAft>
            </a:pPr>
            <a:r>
              <a:rPr sz="2700" b="0" i="0" dirty="0" err="1">
                <a:solidFill>
                  <a:srgbClr val="E6EDF3"/>
                </a:solidFill>
                <a:latin typeface="Consolas"/>
              </a:rPr>
              <a:t>mlflow.set_tracking_uri</a:t>
            </a:r>
            <a:r>
              <a:rPr sz="2700" b="0" i="0" dirty="0">
                <a:solidFill>
                  <a:srgbClr val="E6EDF3"/>
                </a:solidFill>
                <a:latin typeface="Consolas"/>
              </a:rPr>
              <a:t>("</a:t>
            </a:r>
            <a:r>
              <a:rPr sz="2700" b="0" i="0" dirty="0" err="1">
                <a:solidFill>
                  <a:srgbClr val="E6EDF3"/>
                </a:solidFill>
                <a:latin typeface="Consolas"/>
              </a:rPr>
              <a:t>sqlite</a:t>
            </a:r>
            <a:r>
              <a:rPr sz="2700" b="0" i="0" dirty="0">
                <a:solidFill>
                  <a:srgbClr val="E6EDF3"/>
                </a:solidFill>
                <a:latin typeface="Consolas"/>
              </a:rPr>
              <a:t>:///</a:t>
            </a:r>
            <a:r>
              <a:rPr sz="2700" b="0" i="0" dirty="0" err="1">
                <a:solidFill>
                  <a:srgbClr val="E6EDF3"/>
                </a:solidFill>
                <a:latin typeface="Consolas"/>
              </a:rPr>
              <a:t>mlflow.db</a:t>
            </a:r>
            <a:r>
              <a:rPr sz="2700" b="0" i="0" dirty="0">
                <a:solidFill>
                  <a:srgbClr val="E6EDF3"/>
                </a:solidFill>
                <a:latin typeface="Consolas"/>
              </a:rPr>
              <a:t>")</a:t>
            </a:r>
          </a:p>
          <a:p>
            <a:pPr algn="l">
              <a:lnSpc>
                <a:spcPct val="100000"/>
              </a:lnSpc>
              <a:spcAft>
                <a:spcPts val="0"/>
              </a:spcAft>
            </a:pPr>
            <a:r>
              <a:rPr sz="2700" b="0" i="0" dirty="0" err="1">
                <a:solidFill>
                  <a:srgbClr val="E6EDF3"/>
                </a:solidFill>
                <a:latin typeface="Consolas"/>
              </a:rPr>
              <a:t>mlflow.set_experiment</a:t>
            </a:r>
            <a:r>
              <a:rPr sz="2700" b="0" i="0" dirty="0">
                <a:solidFill>
                  <a:srgbClr val="E6EDF3"/>
                </a:solidFill>
                <a:latin typeface="Consolas"/>
              </a:rPr>
              <a:t>("Insurance Approval Model")</a:t>
            </a:r>
            <a:endParaRPr lang="en-US" sz="2700" b="0" i="0" dirty="0">
              <a:solidFill>
                <a:srgbClr val="E6EDF3"/>
              </a:solidFill>
              <a:latin typeface="Consolas"/>
            </a:endParaRPr>
          </a:p>
          <a:p>
            <a:pPr algn="l">
              <a:lnSpc>
                <a:spcPct val="100000"/>
              </a:lnSpc>
              <a:spcAft>
                <a:spcPts val="0"/>
              </a:spcAft>
            </a:pPr>
            <a:endParaRPr lang="en-US" sz="2700" b="0" i="0" dirty="0">
              <a:solidFill>
                <a:srgbClr val="E6EDF3"/>
              </a:solidFill>
              <a:latin typeface="Consolas"/>
            </a:endParaRPr>
          </a:p>
          <a:p>
            <a:r>
              <a:rPr lang="en-ID" sz="2700" dirty="0" err="1">
                <a:solidFill>
                  <a:srgbClr val="00B0F0"/>
                </a:solidFill>
                <a:latin typeface="Consolas"/>
              </a:rPr>
              <a:t>mlflow.sklearn.autolog</a:t>
            </a:r>
            <a:r>
              <a:rPr lang="en-ID" sz="2700" dirty="0">
                <a:solidFill>
                  <a:srgbClr val="00B0F0"/>
                </a:solidFill>
                <a:latin typeface="Consolas"/>
              </a:rPr>
              <a:t>(</a:t>
            </a:r>
          </a:p>
          <a:p>
            <a:r>
              <a:rPr lang="en-ID" sz="2700" dirty="0">
                <a:solidFill>
                  <a:srgbClr val="00B0F0"/>
                </a:solidFill>
                <a:latin typeface="Consolas"/>
              </a:rPr>
              <a:t>	</a:t>
            </a:r>
            <a:r>
              <a:rPr lang="en-ID" sz="2700" dirty="0" err="1">
                <a:solidFill>
                  <a:srgbClr val="00B0F0"/>
                </a:solidFill>
                <a:latin typeface="Consolas"/>
              </a:rPr>
              <a:t>log_input_examples</a:t>
            </a:r>
            <a:r>
              <a:rPr lang="en-ID" sz="2700" dirty="0">
                <a:solidFill>
                  <a:srgbClr val="00B0F0"/>
                </a:solidFill>
                <a:latin typeface="Consolas"/>
              </a:rPr>
              <a:t>=True,</a:t>
            </a:r>
          </a:p>
          <a:p>
            <a:r>
              <a:rPr lang="en-ID" sz="2700" dirty="0">
                <a:solidFill>
                  <a:srgbClr val="00B0F0"/>
                </a:solidFill>
                <a:latin typeface="Consolas"/>
              </a:rPr>
              <a:t>	</a:t>
            </a:r>
            <a:r>
              <a:rPr lang="en-ID" sz="2700" dirty="0" err="1">
                <a:solidFill>
                  <a:srgbClr val="00B0F0"/>
                </a:solidFill>
                <a:latin typeface="Consolas"/>
              </a:rPr>
              <a:t>log_model_signatures</a:t>
            </a:r>
            <a:r>
              <a:rPr lang="en-ID" sz="2700" dirty="0">
                <a:solidFill>
                  <a:srgbClr val="00B0F0"/>
                </a:solidFill>
                <a:latin typeface="Consolas"/>
              </a:rPr>
              <a:t>=True,</a:t>
            </a:r>
          </a:p>
          <a:p>
            <a:r>
              <a:rPr lang="en-ID" sz="2700" dirty="0">
                <a:solidFill>
                  <a:srgbClr val="00B0F0"/>
                </a:solidFill>
                <a:latin typeface="Consolas"/>
              </a:rPr>
              <a:t>	</a:t>
            </a:r>
            <a:r>
              <a:rPr lang="en-ID" sz="2700" dirty="0" err="1">
                <a:solidFill>
                  <a:srgbClr val="00B0F0"/>
                </a:solidFill>
                <a:latin typeface="Consolas"/>
              </a:rPr>
              <a:t>log_models</a:t>
            </a:r>
            <a:r>
              <a:rPr lang="en-ID" sz="2700" dirty="0">
                <a:solidFill>
                  <a:srgbClr val="00B0F0"/>
                </a:solidFill>
                <a:latin typeface="Consolas"/>
              </a:rPr>
              <a:t>=True</a:t>
            </a:r>
          </a:p>
          <a:p>
            <a:r>
              <a:rPr lang="en-ID" sz="2700" dirty="0">
                <a:solidFill>
                  <a:srgbClr val="00B0F0"/>
                </a:solidFill>
                <a:latin typeface="Consolas"/>
              </a:rPr>
              <a:t>)</a:t>
            </a:r>
          </a:p>
          <a:p>
            <a:pPr algn="l">
              <a:lnSpc>
                <a:spcPct val="100000"/>
              </a:lnSpc>
              <a:spcAft>
                <a:spcPts val="0"/>
              </a:spcAft>
            </a:pPr>
            <a:endParaRPr sz="2700" b="0" i="0" dirty="0">
              <a:solidFill>
                <a:srgbClr val="EFF0EE"/>
              </a:solidFill>
              <a:latin typeface="Consolas"/>
            </a:endParaRPr>
          </a:p>
          <a:p>
            <a:pPr algn="l">
              <a:lnSpc>
                <a:spcPct val="100000"/>
              </a:lnSpc>
              <a:spcAft>
                <a:spcPts val="0"/>
              </a:spcAft>
            </a:pPr>
            <a:r>
              <a:rPr sz="2700" b="0" i="0" dirty="0">
                <a:solidFill>
                  <a:srgbClr val="EFF0EE"/>
                </a:solidFill>
                <a:latin typeface="Consolas"/>
              </a:rPr>
              <a:t> </a:t>
            </a:r>
          </a:p>
          <a:p>
            <a:pPr algn="l">
              <a:lnSpc>
                <a:spcPct val="100000"/>
              </a:lnSpc>
              <a:spcAft>
                <a:spcPts val="0"/>
              </a:spcAft>
            </a:pPr>
            <a:r>
              <a:rPr sz="2700" b="0" i="0" dirty="0">
                <a:solidFill>
                  <a:srgbClr val="E6EDF3"/>
                </a:solidFill>
                <a:latin typeface="Consolas"/>
              </a:rPr>
              <a:t>for name, (</a:t>
            </a:r>
            <a:r>
              <a:rPr sz="2700" b="0" i="0" dirty="0" err="1">
                <a:solidFill>
                  <a:srgbClr val="E6EDF3"/>
                </a:solidFill>
                <a:latin typeface="Consolas"/>
              </a:rPr>
              <a:t>ModelClass</a:t>
            </a:r>
            <a:r>
              <a:rPr sz="2700" b="0" i="0" dirty="0">
                <a:solidFill>
                  <a:srgbClr val="E6EDF3"/>
                </a:solidFill>
                <a:latin typeface="Consolas"/>
              </a:rPr>
              <a:t>, params) in </a:t>
            </a:r>
            <a:r>
              <a:rPr sz="2700" b="0" i="0" dirty="0" err="1">
                <a:solidFill>
                  <a:srgbClr val="E6EDF3"/>
                </a:solidFill>
                <a:latin typeface="Consolas"/>
              </a:rPr>
              <a:t>MODELS.items</a:t>
            </a:r>
            <a:r>
              <a:rPr sz="2700" b="0" i="0" dirty="0">
                <a:solidFill>
                  <a:srgbClr val="E6EDF3"/>
                </a:solidFill>
                <a:latin typeface="Consolas"/>
              </a:rPr>
              <a:t>():   # </a:t>
            </a:r>
            <a:r>
              <a:rPr sz="2700" b="0" i="0" dirty="0" err="1">
                <a:solidFill>
                  <a:srgbClr val="E6EDF3"/>
                </a:solidFill>
                <a:latin typeface="Consolas"/>
              </a:rPr>
              <a:t>DecisionTree</a:t>
            </a:r>
            <a:r>
              <a:rPr sz="2700" b="0" i="0" dirty="0">
                <a:solidFill>
                  <a:srgbClr val="E6EDF3"/>
                </a:solidFill>
                <a:latin typeface="Consolas"/>
              </a:rPr>
              <a:t>, </a:t>
            </a:r>
            <a:r>
              <a:rPr sz="2700" b="0" i="0" dirty="0" err="1">
                <a:solidFill>
                  <a:srgbClr val="E6EDF3"/>
                </a:solidFill>
                <a:latin typeface="Consolas"/>
              </a:rPr>
              <a:t>RandomForest</a:t>
            </a:r>
            <a:r>
              <a:rPr sz="2700" b="0" i="0" dirty="0">
                <a:solidFill>
                  <a:srgbClr val="E6EDF3"/>
                </a:solidFill>
                <a:latin typeface="Consolas"/>
              </a:rPr>
              <a:t>, </a:t>
            </a:r>
            <a:r>
              <a:rPr sz="2700" b="0" i="0" dirty="0" err="1">
                <a:solidFill>
                  <a:srgbClr val="E6EDF3"/>
                </a:solidFill>
                <a:latin typeface="Consolas"/>
              </a:rPr>
              <a:t>GradientBoosting</a:t>
            </a:r>
            <a:endParaRPr sz="2700" b="0" i="0" dirty="0">
              <a:solidFill>
                <a:srgbClr val="E6EDF3"/>
              </a:solidFill>
              <a:latin typeface="Consolas"/>
            </a:endParaRPr>
          </a:p>
          <a:p>
            <a:pPr algn="l">
              <a:lnSpc>
                <a:spcPct val="100000"/>
              </a:lnSpc>
              <a:spcAft>
                <a:spcPts val="0"/>
              </a:spcAft>
            </a:pPr>
            <a:r>
              <a:rPr sz="2700" b="0" i="0" dirty="0">
                <a:solidFill>
                  <a:srgbClr val="E6EDF3"/>
                </a:solidFill>
                <a:latin typeface="Consolas"/>
              </a:rPr>
              <a:t>    with </a:t>
            </a:r>
            <a:r>
              <a:rPr sz="2700" b="0" i="0" dirty="0" err="1">
                <a:solidFill>
                  <a:srgbClr val="E6EDF3"/>
                </a:solidFill>
                <a:latin typeface="Consolas"/>
              </a:rPr>
              <a:t>mlflow.start_run</a:t>
            </a:r>
            <a:r>
              <a:rPr sz="2700" b="0" i="0" dirty="0">
                <a:solidFill>
                  <a:srgbClr val="E6EDF3"/>
                </a:solidFill>
                <a:latin typeface="Consolas"/>
              </a:rPr>
              <a:t>(</a:t>
            </a:r>
            <a:r>
              <a:rPr sz="2700" b="0" i="0" dirty="0" err="1">
                <a:solidFill>
                  <a:srgbClr val="E6EDF3"/>
                </a:solidFill>
                <a:latin typeface="Consolas"/>
              </a:rPr>
              <a:t>run_name</a:t>
            </a:r>
            <a:r>
              <a:rPr sz="2700" b="0" i="0" dirty="0">
                <a:solidFill>
                  <a:srgbClr val="E6EDF3"/>
                </a:solidFill>
                <a:latin typeface="Consolas"/>
              </a:rPr>
              <a:t>=name) as run:</a:t>
            </a:r>
          </a:p>
          <a:p>
            <a:pPr algn="l">
              <a:lnSpc>
                <a:spcPct val="100000"/>
              </a:lnSpc>
              <a:spcAft>
                <a:spcPts val="0"/>
              </a:spcAft>
            </a:pPr>
            <a:r>
              <a:rPr sz="2700" b="0" i="0" dirty="0">
                <a:solidFill>
                  <a:srgbClr val="E6EDF3"/>
                </a:solidFill>
                <a:latin typeface="Consolas"/>
              </a:rPr>
              <a:t>        model = </a:t>
            </a:r>
            <a:r>
              <a:rPr sz="2700" b="0" i="0" dirty="0" err="1">
                <a:solidFill>
                  <a:srgbClr val="E6EDF3"/>
                </a:solidFill>
                <a:latin typeface="Consolas"/>
              </a:rPr>
              <a:t>ModelClass</a:t>
            </a:r>
            <a:r>
              <a:rPr sz="2700" b="0" i="0" dirty="0">
                <a:solidFill>
                  <a:srgbClr val="E6EDF3"/>
                </a:solidFill>
                <a:latin typeface="Consolas"/>
              </a:rPr>
              <a:t>(**params, </a:t>
            </a:r>
            <a:r>
              <a:rPr sz="2700" b="0" i="0" dirty="0" err="1">
                <a:solidFill>
                  <a:srgbClr val="E6EDF3"/>
                </a:solidFill>
                <a:latin typeface="Consolas"/>
              </a:rPr>
              <a:t>random_state</a:t>
            </a:r>
            <a:r>
              <a:rPr sz="2700" b="0" i="0" dirty="0">
                <a:solidFill>
                  <a:srgbClr val="E6EDF3"/>
                </a:solidFill>
                <a:latin typeface="Consolas"/>
              </a:rPr>
              <a:t>=42)</a:t>
            </a:r>
          </a:p>
          <a:p>
            <a:pPr algn="l">
              <a:lnSpc>
                <a:spcPct val="100000"/>
              </a:lnSpc>
              <a:spcAft>
                <a:spcPts val="0"/>
              </a:spcAft>
            </a:pPr>
            <a:r>
              <a:rPr sz="2700" b="0" i="0" dirty="0">
                <a:solidFill>
                  <a:srgbClr val="E6EDF3"/>
                </a:solidFill>
                <a:latin typeface="Consolas"/>
              </a:rPr>
              <a:t>        </a:t>
            </a:r>
            <a:r>
              <a:rPr sz="2700" b="0" i="0" dirty="0" err="1">
                <a:solidFill>
                  <a:srgbClr val="E6EDF3"/>
                </a:solidFill>
                <a:latin typeface="Consolas"/>
              </a:rPr>
              <a:t>model.fit</a:t>
            </a:r>
            <a:r>
              <a:rPr sz="2700" b="0" i="0" dirty="0">
                <a:solidFill>
                  <a:srgbClr val="E6EDF3"/>
                </a:solidFill>
                <a:latin typeface="Consolas"/>
              </a:rPr>
              <a:t>(</a:t>
            </a:r>
            <a:r>
              <a:rPr sz="2700" b="0" i="0" dirty="0" err="1">
                <a:solidFill>
                  <a:srgbClr val="E6EDF3"/>
                </a:solidFill>
                <a:latin typeface="Consolas"/>
              </a:rPr>
              <a:t>X_train</a:t>
            </a:r>
            <a:r>
              <a:rPr sz="2700" b="0" i="0" dirty="0">
                <a:solidFill>
                  <a:srgbClr val="E6EDF3"/>
                </a:solidFill>
                <a:latin typeface="Consolas"/>
              </a:rPr>
              <a:t>, </a:t>
            </a:r>
            <a:r>
              <a:rPr sz="2700" b="0" i="0" dirty="0" err="1">
                <a:solidFill>
                  <a:srgbClr val="E6EDF3"/>
                </a:solidFill>
                <a:latin typeface="Consolas"/>
              </a:rPr>
              <a:t>y_train</a:t>
            </a:r>
            <a:r>
              <a:rPr sz="2700" b="0" i="0" dirty="0">
                <a:solidFill>
                  <a:srgbClr val="E6EDF3"/>
                </a:solidFill>
                <a:latin typeface="Consolas"/>
              </a:rPr>
              <a:t>)</a:t>
            </a:r>
          </a:p>
          <a:p>
            <a:pPr algn="l">
              <a:lnSpc>
                <a:spcPct val="100000"/>
              </a:lnSpc>
              <a:spcAft>
                <a:spcPts val="0"/>
              </a:spcAft>
            </a:pPr>
            <a:r>
              <a:rPr sz="2700" b="0" i="0" dirty="0">
                <a:solidFill>
                  <a:srgbClr val="E6EDF3"/>
                </a:solidFill>
                <a:latin typeface="Consolas"/>
              </a:rPr>
              <a:t> </a:t>
            </a:r>
            <a:endParaRPr lang="en-US" sz="2700" b="0" i="0" dirty="0">
              <a:solidFill>
                <a:srgbClr val="E6EDF3"/>
              </a:solidFill>
              <a:latin typeface="Consolas"/>
            </a:endParaRPr>
          </a:p>
          <a:p>
            <a:r>
              <a:rPr lang="en-ID" sz="2700" dirty="0">
                <a:solidFill>
                  <a:srgbClr val="E6EDF3"/>
                </a:solidFill>
                <a:latin typeface="Consolas"/>
              </a:rPr>
              <a:t>	   preds = </a:t>
            </a:r>
            <a:r>
              <a:rPr lang="en-ID" sz="2700" dirty="0" err="1">
                <a:solidFill>
                  <a:srgbClr val="E6EDF3"/>
                </a:solidFill>
                <a:latin typeface="Consolas"/>
              </a:rPr>
              <a:t>model.predict</a:t>
            </a:r>
            <a:r>
              <a:rPr lang="en-ID" sz="2700" dirty="0">
                <a:solidFill>
                  <a:srgbClr val="E6EDF3"/>
                </a:solidFill>
                <a:latin typeface="Consolas"/>
              </a:rPr>
              <a:t>(</a:t>
            </a:r>
            <a:r>
              <a:rPr lang="en-ID" sz="2700" dirty="0" err="1">
                <a:solidFill>
                  <a:srgbClr val="E6EDF3"/>
                </a:solidFill>
                <a:latin typeface="Consolas"/>
              </a:rPr>
              <a:t>X_test</a:t>
            </a:r>
            <a:r>
              <a:rPr lang="en-ID" sz="2700" dirty="0">
                <a:solidFill>
                  <a:srgbClr val="E6EDF3"/>
                </a:solidFill>
                <a:latin typeface="Consolas"/>
              </a:rPr>
              <a:t>)</a:t>
            </a:r>
          </a:p>
          <a:p>
            <a:r>
              <a:rPr lang="en-ID" sz="2700" dirty="0">
                <a:solidFill>
                  <a:srgbClr val="E6EDF3"/>
                </a:solidFill>
                <a:latin typeface="Consolas"/>
              </a:rPr>
              <a:t>	   </a:t>
            </a:r>
            <a:r>
              <a:rPr lang="en-ID" sz="2700" dirty="0" err="1">
                <a:solidFill>
                  <a:srgbClr val="E6EDF3"/>
                </a:solidFill>
                <a:latin typeface="Consolas"/>
              </a:rPr>
              <a:t>proba</a:t>
            </a:r>
            <a:r>
              <a:rPr lang="en-ID" sz="2700" dirty="0">
                <a:solidFill>
                  <a:srgbClr val="E6EDF3"/>
                </a:solidFill>
                <a:latin typeface="Consolas"/>
              </a:rPr>
              <a:t> = </a:t>
            </a:r>
            <a:r>
              <a:rPr lang="en-ID" sz="2700" dirty="0" err="1">
                <a:solidFill>
                  <a:srgbClr val="E6EDF3"/>
                </a:solidFill>
                <a:latin typeface="Consolas"/>
              </a:rPr>
              <a:t>model.predict_proba</a:t>
            </a:r>
            <a:r>
              <a:rPr lang="en-ID" sz="2700" dirty="0">
                <a:solidFill>
                  <a:srgbClr val="E6EDF3"/>
                </a:solidFill>
                <a:latin typeface="Consolas"/>
              </a:rPr>
              <a:t>(</a:t>
            </a:r>
            <a:r>
              <a:rPr lang="en-ID" sz="2700" dirty="0" err="1">
                <a:solidFill>
                  <a:srgbClr val="E6EDF3"/>
                </a:solidFill>
                <a:latin typeface="Consolas"/>
              </a:rPr>
              <a:t>X_test</a:t>
            </a:r>
            <a:r>
              <a:rPr lang="en-ID" sz="2700" dirty="0">
                <a:solidFill>
                  <a:srgbClr val="E6EDF3"/>
                </a:solidFill>
                <a:latin typeface="Consolas"/>
              </a:rPr>
              <a:t>)[:, 1]</a:t>
            </a:r>
            <a:r>
              <a:rPr lang="en-ID" dirty="0"/>
              <a:t>]]</a:t>
            </a:r>
          </a:p>
          <a:p>
            <a:pPr algn="l">
              <a:lnSpc>
                <a:spcPct val="100000"/>
              </a:lnSpc>
              <a:spcAft>
                <a:spcPts val="0"/>
              </a:spcAft>
            </a:pPr>
            <a:r>
              <a:rPr lang="en-US" sz="2700" b="0" i="0" dirty="0">
                <a:solidFill>
                  <a:srgbClr val="00B0F0"/>
                </a:solidFill>
                <a:latin typeface="Consolas"/>
              </a:rPr>
              <a:t>	   </a:t>
            </a:r>
            <a:r>
              <a:rPr sz="2700" b="0" i="0" dirty="0" err="1">
                <a:solidFill>
                  <a:srgbClr val="FF0000"/>
                </a:solidFill>
                <a:latin typeface="Consolas"/>
              </a:rPr>
              <a:t>mlflow.log_metric</a:t>
            </a:r>
            <a:r>
              <a:rPr sz="2700" b="0" i="0" dirty="0">
                <a:solidFill>
                  <a:srgbClr val="FF0000"/>
                </a:solidFill>
                <a:latin typeface="Consolas"/>
              </a:rPr>
              <a:t>("accuracy", </a:t>
            </a:r>
            <a:r>
              <a:rPr sz="2700" b="0" i="0" dirty="0" err="1">
                <a:solidFill>
                  <a:srgbClr val="FF0000"/>
                </a:solidFill>
                <a:latin typeface="Consolas"/>
              </a:rPr>
              <a:t>accuracy_score</a:t>
            </a:r>
            <a:r>
              <a:rPr sz="2700" b="0" i="0" dirty="0">
                <a:solidFill>
                  <a:srgbClr val="FF0000"/>
                </a:solidFill>
                <a:latin typeface="Consolas"/>
              </a:rPr>
              <a:t>(</a:t>
            </a:r>
            <a:r>
              <a:rPr sz="2700" b="0" i="0" dirty="0" err="1">
                <a:solidFill>
                  <a:srgbClr val="FF0000"/>
                </a:solidFill>
                <a:latin typeface="Consolas"/>
              </a:rPr>
              <a:t>y_test</a:t>
            </a:r>
            <a:r>
              <a:rPr sz="2700" b="0" i="0" dirty="0">
                <a:solidFill>
                  <a:srgbClr val="FF0000"/>
                </a:solidFill>
                <a:latin typeface="Consolas"/>
              </a:rPr>
              <a:t>, preds))</a:t>
            </a:r>
          </a:p>
          <a:p>
            <a:pPr algn="l">
              <a:lnSpc>
                <a:spcPct val="100000"/>
              </a:lnSpc>
              <a:spcAft>
                <a:spcPts val="0"/>
              </a:spcAft>
            </a:pPr>
            <a:r>
              <a:rPr sz="2700" b="0" i="0" dirty="0">
                <a:solidFill>
                  <a:srgbClr val="FF0000"/>
                </a:solidFill>
                <a:latin typeface="Consolas"/>
              </a:rPr>
              <a:t>        </a:t>
            </a:r>
            <a:r>
              <a:rPr sz="2700" b="0" i="0" dirty="0" err="1">
                <a:solidFill>
                  <a:srgbClr val="FF0000"/>
                </a:solidFill>
                <a:latin typeface="Consolas"/>
              </a:rPr>
              <a:t>mlflow.log_metric</a:t>
            </a:r>
            <a:r>
              <a:rPr sz="2700" b="0" i="0" dirty="0">
                <a:solidFill>
                  <a:srgbClr val="FF0000"/>
                </a:solidFill>
                <a:latin typeface="Consolas"/>
              </a:rPr>
              <a:t>("</a:t>
            </a:r>
            <a:r>
              <a:rPr sz="2700" b="0" i="0" dirty="0" err="1">
                <a:solidFill>
                  <a:srgbClr val="FF0000"/>
                </a:solidFill>
                <a:latin typeface="Consolas"/>
              </a:rPr>
              <a:t>roc_auc</a:t>
            </a:r>
            <a:r>
              <a:rPr sz="2700" b="0" i="0" dirty="0">
                <a:solidFill>
                  <a:srgbClr val="FF0000"/>
                </a:solidFill>
                <a:latin typeface="Consolas"/>
              </a:rPr>
              <a:t>", </a:t>
            </a:r>
            <a:r>
              <a:rPr sz="2700" b="0" i="0" dirty="0" err="1">
                <a:solidFill>
                  <a:srgbClr val="FF0000"/>
                </a:solidFill>
                <a:latin typeface="Consolas"/>
              </a:rPr>
              <a:t>roc_auc_score</a:t>
            </a:r>
            <a:r>
              <a:rPr sz="2700" b="0" i="0" dirty="0">
                <a:solidFill>
                  <a:srgbClr val="FF0000"/>
                </a:solidFill>
                <a:latin typeface="Consolas"/>
              </a:rPr>
              <a:t>(</a:t>
            </a:r>
            <a:r>
              <a:rPr sz="2700" b="0" i="0" dirty="0" err="1">
                <a:solidFill>
                  <a:srgbClr val="FF0000"/>
                </a:solidFill>
                <a:latin typeface="Consolas"/>
              </a:rPr>
              <a:t>y_test</a:t>
            </a:r>
            <a:r>
              <a:rPr sz="2700" b="0" i="0" dirty="0">
                <a:solidFill>
                  <a:srgbClr val="FF0000"/>
                </a:solidFill>
                <a:latin typeface="Consolas"/>
              </a:rPr>
              <a:t>, </a:t>
            </a:r>
            <a:r>
              <a:rPr sz="2700" b="0" i="0" dirty="0" err="1">
                <a:solidFill>
                  <a:srgbClr val="FF0000"/>
                </a:solidFill>
                <a:latin typeface="Consolas"/>
              </a:rPr>
              <a:t>proba</a:t>
            </a:r>
            <a:r>
              <a:rPr sz="2700" b="0" i="0" dirty="0">
                <a:solidFill>
                  <a:srgbClr val="FF0000"/>
                </a:solidFill>
                <a:latin typeface="Consolas"/>
              </a:rPr>
              <a:t>))</a:t>
            </a:r>
          </a:p>
          <a:p>
            <a:pPr algn="l">
              <a:lnSpc>
                <a:spcPct val="100000"/>
              </a:lnSpc>
              <a:spcAft>
                <a:spcPts val="0"/>
              </a:spcAft>
            </a:pPr>
            <a:r>
              <a:rPr sz="2700" b="0" i="0" dirty="0">
                <a:solidFill>
                  <a:srgbClr val="FF0000"/>
                </a:solidFill>
                <a:latin typeface="Consolas"/>
              </a:rPr>
              <a:t>        </a:t>
            </a:r>
            <a:r>
              <a:rPr sz="2700" b="0" i="0" dirty="0" err="1">
                <a:solidFill>
                  <a:srgbClr val="FF0000"/>
                </a:solidFill>
                <a:latin typeface="Consolas"/>
              </a:rPr>
              <a:t>mlflow.log_metric</a:t>
            </a:r>
            <a:r>
              <a:rPr sz="2700" b="0" i="0" dirty="0">
                <a:solidFill>
                  <a:srgbClr val="FF0000"/>
                </a:solidFill>
                <a:latin typeface="Consolas"/>
              </a:rPr>
              <a:t>("f1_score", f1_score(</a:t>
            </a:r>
            <a:r>
              <a:rPr sz="2700" b="0" i="0" dirty="0" err="1">
                <a:solidFill>
                  <a:srgbClr val="FF0000"/>
                </a:solidFill>
                <a:latin typeface="Consolas"/>
              </a:rPr>
              <a:t>y_test</a:t>
            </a:r>
            <a:r>
              <a:rPr sz="2700" b="0" i="0" dirty="0">
                <a:solidFill>
                  <a:srgbClr val="FF0000"/>
                </a:solidFill>
                <a:latin typeface="Consolas"/>
              </a:rPr>
              <a:t>, preds))</a:t>
            </a:r>
          </a:p>
          <a:p>
            <a:pPr algn="l">
              <a:lnSpc>
                <a:spcPct val="100000"/>
              </a:lnSpc>
              <a:spcAft>
                <a:spcPts val="0"/>
              </a:spcAft>
            </a:pPr>
            <a:r>
              <a:rPr sz="2700" b="0" i="0" dirty="0">
                <a:solidFill>
                  <a:srgbClr val="E6EDF3"/>
                </a:solidFill>
                <a:latin typeface="Consolas"/>
              </a:rPr>
              <a:t>       </a:t>
            </a:r>
            <a:endParaRPr lang="en-US" sz="2700" b="0" i="0" dirty="0">
              <a:solidFill>
                <a:srgbClr val="E6EDF3"/>
              </a:solidFill>
              <a:latin typeface="Consolas"/>
            </a:endParaRPr>
          </a:p>
          <a:p>
            <a:pPr algn="l">
              <a:lnSpc>
                <a:spcPct val="100000"/>
              </a:lnSpc>
              <a:spcAft>
                <a:spcPts val="0"/>
              </a:spcAft>
            </a:pPr>
            <a:r>
              <a:rPr lang="en-ID" sz="2700" dirty="0">
                <a:solidFill>
                  <a:srgbClr val="E6EDF3"/>
                </a:solidFill>
                <a:latin typeface="Consolas"/>
              </a:rPr>
              <a:t>	   ….</a:t>
            </a:r>
            <a:endParaRPr sz="2700" dirty="0">
              <a:solidFill>
                <a:srgbClr val="E6EDF3"/>
              </a:solidFill>
              <a:latin typeface="Consolas"/>
            </a:endParaRPr>
          </a:p>
        </p:txBody>
      </p:sp>
      <p:sp>
        <p:nvSpPr>
          <p:cNvPr id="12" name="TextBox 11">
            <a:extLst>
              <a:ext uri="{FF2B5EF4-FFF2-40B4-BE49-F238E27FC236}">
                <a16:creationId xmlns:a16="http://schemas.microsoft.com/office/drawing/2014/main" id="{87C0C646-1EE9-75ED-3089-B140A7777344}"/>
              </a:ext>
            </a:extLst>
          </p:cNvPr>
          <p:cNvSpPr txBox="1"/>
          <p:nvPr/>
        </p:nvSpPr>
        <p:spPr>
          <a:xfrm>
            <a:off x="1022319" y="1923955"/>
            <a:ext cx="14969047" cy="601703"/>
          </a:xfrm>
          <a:prstGeom prst="rect">
            <a:avLst/>
          </a:prstGeom>
          <a:noFill/>
        </p:spPr>
        <p:txBody>
          <a:bodyPr wrap="square" lIns="0" tIns="0" rIns="0" bIns="0" anchor="ctr">
            <a:spAutoFit/>
          </a:bodyPr>
          <a:lstStyle/>
          <a:p>
            <a:pPr>
              <a:lnSpc>
                <a:spcPct val="120000"/>
              </a:lnSpc>
              <a:spcAft>
                <a:spcPts val="600"/>
              </a:spcAft>
            </a:pPr>
            <a:r>
              <a:rPr lang="en-US" sz="3400" b="1" i="0" dirty="0">
                <a:solidFill>
                  <a:srgbClr val="1B2A4A"/>
                </a:solidFill>
                <a:latin typeface="Liter"/>
              </a:rPr>
              <a:t>Experiments </a:t>
            </a:r>
            <a:r>
              <a:rPr sz="3400" b="1" i="0" dirty="0">
                <a:solidFill>
                  <a:srgbClr val="1B2A4A"/>
                </a:solidFill>
                <a:latin typeface="Liter"/>
              </a:rPr>
              <a:t>Tracking</a:t>
            </a:r>
            <a:r>
              <a:rPr lang="en-US" sz="3400" b="1" i="0" dirty="0">
                <a:solidFill>
                  <a:srgbClr val="1B2A4A"/>
                </a:solidFill>
                <a:latin typeface="Liter"/>
              </a:rPr>
              <a:t>: </a:t>
            </a:r>
            <a:r>
              <a:rPr lang="en-US" sz="3400" b="1" dirty="0">
                <a:solidFill>
                  <a:srgbClr val="1B2A4A"/>
                </a:solidFill>
                <a:latin typeface="Liter"/>
              </a:rPr>
              <a:t>auto-logging (</a:t>
            </a:r>
            <a:r>
              <a:rPr lang="en-US" sz="3400" b="1" dirty="0" err="1">
                <a:solidFill>
                  <a:srgbClr val="1B2A4A"/>
                </a:solidFill>
                <a:latin typeface="Liter"/>
              </a:rPr>
              <a:t>train_with_mlflow_autologing.py</a:t>
            </a:r>
            <a:r>
              <a:rPr lang="en-US" sz="3400" b="1" dirty="0">
                <a:solidFill>
                  <a:srgbClr val="1B2A4A"/>
                </a:solidFill>
                <a:latin typeface="Liter"/>
              </a:rPr>
              <a:t>)</a:t>
            </a:r>
            <a:endParaRPr sz="3400" b="1" i="0" dirty="0">
              <a:solidFill>
                <a:srgbClr val="1B2A4A"/>
              </a:solidFill>
              <a:latin typeface="Liter"/>
            </a:endParaRPr>
          </a:p>
        </p:txBody>
      </p:sp>
      <p:sp>
        <p:nvSpPr>
          <p:cNvPr id="13" name="TextBox 12">
            <a:extLst>
              <a:ext uri="{FF2B5EF4-FFF2-40B4-BE49-F238E27FC236}">
                <a16:creationId xmlns:a16="http://schemas.microsoft.com/office/drawing/2014/main" id="{9109AC7B-01AA-30F3-4084-BBAE27FF59B4}"/>
              </a:ext>
            </a:extLst>
          </p:cNvPr>
          <p:cNvSpPr txBox="1"/>
          <p:nvPr/>
        </p:nvSpPr>
        <p:spPr>
          <a:xfrm>
            <a:off x="975360" y="12698791"/>
            <a:ext cx="22834328" cy="523220"/>
          </a:xfrm>
          <a:prstGeom prst="rect">
            <a:avLst/>
          </a:prstGeom>
          <a:noFill/>
        </p:spPr>
        <p:txBody>
          <a:bodyPr wrap="none" rtlCol="0">
            <a:spAutoFit/>
          </a:bodyPr>
          <a:lstStyle/>
          <a:p>
            <a:r>
              <a:rPr lang="en-US" sz="2800" i="1" dirty="0" err="1"/>
              <a:t>MLFlow</a:t>
            </a:r>
            <a:r>
              <a:rPr lang="en-US" sz="2800" i="1" dirty="0"/>
              <a:t> is designed to observe ML model training, thus information from prediction is not included in auto-logging information and must be manually logged</a:t>
            </a:r>
          </a:p>
        </p:txBody>
      </p:sp>
    </p:spTree>
    <p:extLst>
      <p:ext uri="{BB962C8B-B14F-4D97-AF65-F5344CB8AC3E}">
        <p14:creationId xmlns:p14="http://schemas.microsoft.com/office/powerpoint/2010/main" val="3228553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E52E7-6816-D9F1-3FA5-BF14EF3DB7F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947B23-821A-2DEB-7AD0-FFDEE2A3D993}"/>
              </a:ext>
            </a:extLst>
          </p:cNvPr>
          <p:cNvSpPr txBox="1"/>
          <p:nvPr/>
        </p:nvSpPr>
        <p:spPr>
          <a:xfrm>
            <a:off x="1014984" y="657650"/>
            <a:ext cx="15910559" cy="778675"/>
          </a:xfrm>
          <a:prstGeom prst="rect">
            <a:avLst/>
          </a:prstGeom>
          <a:noFill/>
        </p:spPr>
        <p:txBody>
          <a:bodyPr wrap="square" lIns="0" tIns="0" rIns="0" bIns="0" anchor="ctr">
            <a:spAutoFit/>
          </a:bodyPr>
          <a:lstStyle/>
          <a:p>
            <a:pPr>
              <a:lnSpc>
                <a:spcPct val="120000"/>
              </a:lnSpc>
              <a:spcAft>
                <a:spcPts val="600"/>
              </a:spcAft>
            </a:pPr>
            <a:r>
              <a:rPr lang="en-US" sz="4400" b="1" dirty="0" err="1">
                <a:solidFill>
                  <a:srgbClr val="1B2A4A"/>
                </a:solidFill>
                <a:latin typeface="Liter"/>
              </a:rPr>
              <a:t>Autologging</a:t>
            </a:r>
            <a:r>
              <a:rPr sz="4400" b="1" i="0" dirty="0">
                <a:solidFill>
                  <a:srgbClr val="1B2A4A"/>
                </a:solidFill>
                <a:latin typeface="Liter"/>
              </a:rPr>
              <a:t> with </a:t>
            </a:r>
            <a:r>
              <a:rPr sz="4400" b="1" i="0" dirty="0" err="1">
                <a:solidFill>
                  <a:srgbClr val="1B2A4A"/>
                </a:solidFill>
                <a:latin typeface="Liter"/>
              </a:rPr>
              <a:t>MLflow</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9C244157-F2F1-02E9-DB88-F3B2F17F8BF4}"/>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39C638B-0622-7DBF-A7E7-FC0BEDC2198B}"/>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5" name="TextBox 4">
            <a:extLst>
              <a:ext uri="{FF2B5EF4-FFF2-40B4-BE49-F238E27FC236}">
                <a16:creationId xmlns:a16="http://schemas.microsoft.com/office/drawing/2014/main" id="{AD39C104-765C-76C9-EBE8-44F2A1496688}"/>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11</a:t>
            </a:r>
          </a:p>
        </p:txBody>
      </p:sp>
      <p:sp>
        <p:nvSpPr>
          <p:cNvPr id="12" name="TextBox 11">
            <a:extLst>
              <a:ext uri="{FF2B5EF4-FFF2-40B4-BE49-F238E27FC236}">
                <a16:creationId xmlns:a16="http://schemas.microsoft.com/office/drawing/2014/main" id="{E1D50697-2E36-A8C3-71A4-85E06F6F85FE}"/>
              </a:ext>
            </a:extLst>
          </p:cNvPr>
          <p:cNvSpPr txBox="1"/>
          <p:nvPr/>
        </p:nvSpPr>
        <p:spPr>
          <a:xfrm>
            <a:off x="1022319" y="1923955"/>
            <a:ext cx="14969047" cy="601703"/>
          </a:xfrm>
          <a:prstGeom prst="rect">
            <a:avLst/>
          </a:prstGeom>
          <a:noFill/>
        </p:spPr>
        <p:txBody>
          <a:bodyPr wrap="square" lIns="0" tIns="0" rIns="0" bIns="0" anchor="ctr">
            <a:spAutoFit/>
          </a:bodyPr>
          <a:lstStyle/>
          <a:p>
            <a:pPr>
              <a:lnSpc>
                <a:spcPct val="120000"/>
              </a:lnSpc>
              <a:spcAft>
                <a:spcPts val="600"/>
              </a:spcAft>
            </a:pPr>
            <a:r>
              <a:rPr lang="en-US" sz="3400" b="1" i="0" dirty="0">
                <a:solidFill>
                  <a:srgbClr val="1B2A4A"/>
                </a:solidFill>
                <a:latin typeface="Liter"/>
              </a:rPr>
              <a:t>Experiments </a:t>
            </a:r>
            <a:r>
              <a:rPr sz="3400" b="1" i="0" dirty="0">
                <a:solidFill>
                  <a:srgbClr val="1B2A4A"/>
                </a:solidFill>
                <a:latin typeface="Liter"/>
              </a:rPr>
              <a:t>Tracking</a:t>
            </a:r>
            <a:r>
              <a:rPr lang="en-US" sz="3400" b="1" i="0" dirty="0">
                <a:solidFill>
                  <a:srgbClr val="1B2A4A"/>
                </a:solidFill>
                <a:latin typeface="Liter"/>
              </a:rPr>
              <a:t>: </a:t>
            </a:r>
            <a:r>
              <a:rPr lang="en-US" sz="3400" b="1" dirty="0">
                <a:solidFill>
                  <a:srgbClr val="1B2A4A"/>
                </a:solidFill>
                <a:latin typeface="Liter"/>
              </a:rPr>
              <a:t>auto-logging (</a:t>
            </a:r>
            <a:r>
              <a:rPr lang="en-US" sz="3400" b="1" dirty="0" err="1">
                <a:solidFill>
                  <a:srgbClr val="1B2A4A"/>
                </a:solidFill>
                <a:latin typeface="Liter"/>
              </a:rPr>
              <a:t>train_with_mlflow_autologing.py</a:t>
            </a:r>
            <a:r>
              <a:rPr lang="en-US" sz="3400" b="1" dirty="0">
                <a:solidFill>
                  <a:srgbClr val="1B2A4A"/>
                </a:solidFill>
                <a:latin typeface="Liter"/>
              </a:rPr>
              <a:t>)</a:t>
            </a:r>
            <a:endParaRPr sz="3400" b="1" i="0" dirty="0">
              <a:solidFill>
                <a:srgbClr val="1B2A4A"/>
              </a:solidFill>
              <a:latin typeface="Liter"/>
            </a:endParaRPr>
          </a:p>
        </p:txBody>
      </p:sp>
      <p:pic>
        <p:nvPicPr>
          <p:cNvPr id="14" name="Picture 13" descr="A screenshot of a computer&#10;&#10;AI-generated content may be incorrect.">
            <a:extLst>
              <a:ext uri="{FF2B5EF4-FFF2-40B4-BE49-F238E27FC236}">
                <a16:creationId xmlns:a16="http://schemas.microsoft.com/office/drawing/2014/main" id="{E8C60F1D-DA29-5D91-5F95-2D42F0C74751}"/>
              </a:ext>
            </a:extLst>
          </p:cNvPr>
          <p:cNvPicPr>
            <a:picLocks noChangeAspect="1"/>
          </p:cNvPicPr>
          <p:nvPr/>
        </p:nvPicPr>
        <p:blipFill>
          <a:blip r:embed="rId2"/>
          <a:stretch>
            <a:fillRect/>
          </a:stretch>
        </p:blipFill>
        <p:spPr>
          <a:xfrm>
            <a:off x="1022319" y="2739685"/>
            <a:ext cx="18170405" cy="10045873"/>
          </a:xfrm>
          <a:prstGeom prst="rect">
            <a:avLst/>
          </a:prstGeom>
        </p:spPr>
      </p:pic>
      <p:sp>
        <p:nvSpPr>
          <p:cNvPr id="16" name="TextBox 15">
            <a:extLst>
              <a:ext uri="{FF2B5EF4-FFF2-40B4-BE49-F238E27FC236}">
                <a16:creationId xmlns:a16="http://schemas.microsoft.com/office/drawing/2014/main" id="{7DBA4B91-17C5-DC80-75EE-86960AF8238F}"/>
              </a:ext>
            </a:extLst>
          </p:cNvPr>
          <p:cNvSpPr txBox="1"/>
          <p:nvPr/>
        </p:nvSpPr>
        <p:spPr>
          <a:xfrm>
            <a:off x="17465260" y="2911402"/>
            <a:ext cx="6351670" cy="3724096"/>
          </a:xfrm>
          <a:prstGeom prst="rect">
            <a:avLst/>
          </a:prstGeom>
          <a:noFill/>
        </p:spPr>
        <p:txBody>
          <a:bodyPr wrap="square" rtlCol="0">
            <a:spAutoFit/>
          </a:bodyPr>
          <a:lstStyle/>
          <a:p>
            <a:r>
              <a:rPr lang="en-US" sz="4400" b="1" dirty="0"/>
              <a:t>Auto-Logging information</a:t>
            </a:r>
          </a:p>
          <a:p>
            <a:pPr marL="342900" indent="-342900">
              <a:buFont typeface="+mj-lt"/>
              <a:buAutoNum type="arabicPeriod"/>
            </a:pPr>
            <a:r>
              <a:rPr lang="en-ID" sz="3200" dirty="0">
                <a:solidFill>
                  <a:srgbClr val="00B0F0"/>
                </a:solidFill>
              </a:rPr>
              <a:t>Model parameters and hyperparameters</a:t>
            </a:r>
          </a:p>
          <a:p>
            <a:pPr marL="342900" indent="-342900">
              <a:buFont typeface="+mj-lt"/>
              <a:buAutoNum type="arabicPeriod"/>
            </a:pPr>
            <a:r>
              <a:rPr lang="en-ID" sz="3200" dirty="0">
                <a:solidFill>
                  <a:srgbClr val="00B0F0"/>
                </a:solidFill>
              </a:rPr>
              <a:t>Training and validation metrics</a:t>
            </a:r>
          </a:p>
          <a:p>
            <a:pPr marL="342900" indent="-342900">
              <a:buFont typeface="+mj-lt"/>
              <a:buAutoNum type="arabicPeriod"/>
            </a:pPr>
            <a:r>
              <a:rPr lang="en-ID" sz="3200" dirty="0">
                <a:solidFill>
                  <a:srgbClr val="00B0F0"/>
                </a:solidFill>
              </a:rPr>
              <a:t>Model artifacts and checkpoints</a:t>
            </a:r>
          </a:p>
          <a:p>
            <a:pPr marL="342900" indent="-342900">
              <a:buFont typeface="+mj-lt"/>
              <a:buAutoNum type="arabicPeriod"/>
            </a:pPr>
            <a:r>
              <a:rPr lang="en-ID" sz="3200" dirty="0">
                <a:solidFill>
                  <a:srgbClr val="00B0F0"/>
                </a:solidFill>
              </a:rPr>
              <a:t>Training plots and visualizations</a:t>
            </a:r>
          </a:p>
          <a:p>
            <a:pPr marL="342900" indent="-342900">
              <a:buFont typeface="+mj-lt"/>
              <a:buAutoNum type="arabicPeriod"/>
            </a:pPr>
            <a:r>
              <a:rPr lang="en-ID" sz="3200" dirty="0">
                <a:solidFill>
                  <a:srgbClr val="00B0F0"/>
                </a:solidFill>
              </a:rPr>
              <a:t>Framework-specific metadata</a:t>
            </a:r>
          </a:p>
        </p:txBody>
      </p:sp>
      <p:sp>
        <p:nvSpPr>
          <p:cNvPr id="18" name="TextBox 17">
            <a:extLst>
              <a:ext uri="{FF2B5EF4-FFF2-40B4-BE49-F238E27FC236}">
                <a16:creationId xmlns:a16="http://schemas.microsoft.com/office/drawing/2014/main" id="{6520796B-8A59-669C-2B0F-2D1E63F0A66B}"/>
              </a:ext>
            </a:extLst>
          </p:cNvPr>
          <p:cNvSpPr txBox="1"/>
          <p:nvPr/>
        </p:nvSpPr>
        <p:spPr>
          <a:xfrm>
            <a:off x="1014984" y="12999585"/>
            <a:ext cx="12195544" cy="584775"/>
          </a:xfrm>
          <a:prstGeom prst="rect">
            <a:avLst/>
          </a:prstGeom>
          <a:noFill/>
        </p:spPr>
        <p:txBody>
          <a:bodyPr wrap="square">
            <a:spAutoFit/>
          </a:bodyPr>
          <a:lstStyle/>
          <a:p>
            <a:r>
              <a:rPr lang="en-US" sz="3200" dirty="0">
                <a:hlinkClick r:id="rId3"/>
              </a:rPr>
              <a:t>https://mlflow.org/docs/latest/ml/tracking/autolog/</a:t>
            </a:r>
            <a:r>
              <a:rPr lang="en-US" sz="3200" dirty="0"/>
              <a:t> </a:t>
            </a:r>
          </a:p>
        </p:txBody>
      </p:sp>
    </p:spTree>
    <p:extLst>
      <p:ext uri="{BB962C8B-B14F-4D97-AF65-F5344CB8AC3E}">
        <p14:creationId xmlns:p14="http://schemas.microsoft.com/office/powerpoint/2010/main" val="337139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6EF94-F580-1727-20E8-A211C8B897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7027C50-14AB-9EAC-3534-9D2E03FFB6E0}"/>
              </a:ext>
            </a:extLst>
          </p:cNvPr>
          <p:cNvSpPr txBox="1"/>
          <p:nvPr/>
        </p:nvSpPr>
        <p:spPr>
          <a:xfrm>
            <a:off x="1014984" y="657650"/>
            <a:ext cx="15910559" cy="778675"/>
          </a:xfrm>
          <a:prstGeom prst="rect">
            <a:avLst/>
          </a:prstGeom>
          <a:noFill/>
        </p:spPr>
        <p:txBody>
          <a:bodyPr wrap="square" lIns="0" tIns="0" rIns="0" bIns="0" anchor="ctr">
            <a:spAutoFit/>
          </a:bodyPr>
          <a:lstStyle/>
          <a:p>
            <a:pPr>
              <a:lnSpc>
                <a:spcPct val="120000"/>
              </a:lnSpc>
              <a:spcAft>
                <a:spcPts val="600"/>
              </a:spcAft>
            </a:pPr>
            <a:r>
              <a:rPr lang="en-US" sz="4400" b="1" dirty="0" err="1">
                <a:solidFill>
                  <a:srgbClr val="1B2A4A"/>
                </a:solidFill>
                <a:latin typeface="Liter"/>
              </a:rPr>
              <a:t>Autologging</a:t>
            </a:r>
            <a:r>
              <a:rPr sz="4400" b="1" i="0" dirty="0">
                <a:solidFill>
                  <a:srgbClr val="1B2A4A"/>
                </a:solidFill>
                <a:latin typeface="Liter"/>
              </a:rPr>
              <a:t> with </a:t>
            </a:r>
            <a:r>
              <a:rPr sz="4400" b="1" i="0" dirty="0" err="1">
                <a:solidFill>
                  <a:srgbClr val="1B2A4A"/>
                </a:solidFill>
                <a:latin typeface="Liter"/>
              </a:rPr>
              <a:t>MLflow</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0E99A97F-1430-57EE-68C5-5D7B2B2B7A3A}"/>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974DE82-B702-7ABD-6822-47633CF6ECE8}"/>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12" name="TextBox 11">
            <a:extLst>
              <a:ext uri="{FF2B5EF4-FFF2-40B4-BE49-F238E27FC236}">
                <a16:creationId xmlns:a16="http://schemas.microsoft.com/office/drawing/2014/main" id="{A217BEFC-D461-0EE7-4CFF-F9B3A317FF5C}"/>
              </a:ext>
            </a:extLst>
          </p:cNvPr>
          <p:cNvSpPr txBox="1"/>
          <p:nvPr/>
        </p:nvSpPr>
        <p:spPr>
          <a:xfrm>
            <a:off x="1022319" y="1923955"/>
            <a:ext cx="14969047" cy="601703"/>
          </a:xfrm>
          <a:prstGeom prst="rect">
            <a:avLst/>
          </a:prstGeom>
          <a:noFill/>
        </p:spPr>
        <p:txBody>
          <a:bodyPr wrap="square" lIns="0" tIns="0" rIns="0" bIns="0" anchor="ctr">
            <a:spAutoFit/>
          </a:bodyPr>
          <a:lstStyle/>
          <a:p>
            <a:pPr>
              <a:lnSpc>
                <a:spcPct val="120000"/>
              </a:lnSpc>
              <a:spcAft>
                <a:spcPts val="600"/>
              </a:spcAft>
            </a:pPr>
            <a:r>
              <a:rPr lang="en-US" sz="3400" b="1" i="0" dirty="0">
                <a:solidFill>
                  <a:srgbClr val="1B2A4A"/>
                </a:solidFill>
                <a:latin typeface="Liter"/>
              </a:rPr>
              <a:t>Classification vs Regression Logging</a:t>
            </a:r>
            <a:r>
              <a:rPr lang="en-US" sz="3400" b="1" dirty="0">
                <a:solidFill>
                  <a:srgbClr val="1B2A4A"/>
                </a:solidFill>
                <a:latin typeface="Liter"/>
                <a:sym typeface="Wingdings" pitchFamily="2" charset="2"/>
              </a:rPr>
              <a:t>(</a:t>
            </a:r>
            <a:r>
              <a:rPr lang="en-US" sz="3400" b="1" dirty="0" err="1">
                <a:solidFill>
                  <a:srgbClr val="1B2A4A"/>
                </a:solidFill>
                <a:latin typeface="Liter"/>
                <a:sym typeface="Wingdings" pitchFamily="2" charset="2"/>
              </a:rPr>
              <a:t>ztrain_with_mlflow_regression.py</a:t>
            </a:r>
            <a:r>
              <a:rPr lang="en-US" sz="3400" b="1" i="0" dirty="0">
                <a:solidFill>
                  <a:srgbClr val="1B2A4A"/>
                </a:solidFill>
                <a:latin typeface="Liter"/>
                <a:sym typeface="Wingdings" pitchFamily="2" charset="2"/>
              </a:rPr>
              <a:t>)</a:t>
            </a:r>
            <a:r>
              <a:rPr lang="en-US" sz="3400" b="1" i="0" dirty="0">
                <a:solidFill>
                  <a:srgbClr val="1B2A4A"/>
                </a:solidFill>
                <a:latin typeface="Liter"/>
              </a:rPr>
              <a:t> </a:t>
            </a:r>
            <a:endParaRPr sz="3400" b="1" i="0" dirty="0">
              <a:solidFill>
                <a:srgbClr val="1B2A4A"/>
              </a:solidFill>
              <a:latin typeface="Liter"/>
            </a:endParaRPr>
          </a:p>
        </p:txBody>
      </p:sp>
      <p:pic>
        <p:nvPicPr>
          <p:cNvPr id="15" name="Picture 14" descr="A computer screen shot of text&#10;&#10;AI-generated content may be incorrect.">
            <a:extLst>
              <a:ext uri="{FF2B5EF4-FFF2-40B4-BE49-F238E27FC236}">
                <a16:creationId xmlns:a16="http://schemas.microsoft.com/office/drawing/2014/main" id="{C3DF6583-39CA-F0EF-F0BD-0C1795457262}"/>
              </a:ext>
            </a:extLst>
          </p:cNvPr>
          <p:cNvPicPr>
            <a:picLocks noChangeAspect="1"/>
          </p:cNvPicPr>
          <p:nvPr/>
        </p:nvPicPr>
        <p:blipFill>
          <a:blip r:embed="rId2"/>
          <a:stretch>
            <a:fillRect/>
          </a:stretch>
        </p:blipFill>
        <p:spPr>
          <a:xfrm>
            <a:off x="1014984" y="2922565"/>
            <a:ext cx="20721115" cy="4073379"/>
          </a:xfrm>
          <a:prstGeom prst="rect">
            <a:avLst/>
          </a:prstGeom>
        </p:spPr>
      </p:pic>
      <p:pic>
        <p:nvPicPr>
          <p:cNvPr id="17" name="Picture 16" descr="A computer code with colorful text&#10;&#10;AI-generated content may be incorrect.">
            <a:extLst>
              <a:ext uri="{FF2B5EF4-FFF2-40B4-BE49-F238E27FC236}">
                <a16:creationId xmlns:a16="http://schemas.microsoft.com/office/drawing/2014/main" id="{56AF6B7F-654B-0B66-1A2C-BB80F6A4C645}"/>
              </a:ext>
            </a:extLst>
          </p:cNvPr>
          <p:cNvPicPr>
            <a:picLocks noChangeAspect="1"/>
          </p:cNvPicPr>
          <p:nvPr/>
        </p:nvPicPr>
        <p:blipFill>
          <a:blip r:embed="rId3"/>
          <a:stretch>
            <a:fillRect/>
          </a:stretch>
        </p:blipFill>
        <p:spPr>
          <a:xfrm>
            <a:off x="1022318" y="7217761"/>
            <a:ext cx="20721115" cy="3010760"/>
          </a:xfrm>
          <a:prstGeom prst="rect">
            <a:avLst/>
          </a:prstGeom>
        </p:spPr>
      </p:pic>
      <p:pic>
        <p:nvPicPr>
          <p:cNvPr id="19" name="Picture 18">
            <a:extLst>
              <a:ext uri="{FF2B5EF4-FFF2-40B4-BE49-F238E27FC236}">
                <a16:creationId xmlns:a16="http://schemas.microsoft.com/office/drawing/2014/main" id="{C57A2EAA-9ADD-53A7-88B1-A005EA9C4231}"/>
              </a:ext>
            </a:extLst>
          </p:cNvPr>
          <p:cNvPicPr>
            <a:picLocks noChangeAspect="1"/>
          </p:cNvPicPr>
          <p:nvPr/>
        </p:nvPicPr>
        <p:blipFill>
          <a:blip r:embed="rId4"/>
          <a:stretch>
            <a:fillRect/>
          </a:stretch>
        </p:blipFill>
        <p:spPr>
          <a:xfrm>
            <a:off x="1015437" y="10450338"/>
            <a:ext cx="20784457" cy="1979471"/>
          </a:xfrm>
          <a:prstGeom prst="rect">
            <a:avLst/>
          </a:prstGeom>
        </p:spPr>
      </p:pic>
    </p:spTree>
    <p:extLst>
      <p:ext uri="{BB962C8B-B14F-4D97-AF65-F5344CB8AC3E}">
        <p14:creationId xmlns:p14="http://schemas.microsoft.com/office/powerpoint/2010/main" val="1507842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6B3B7-31D2-DB57-ECDF-BCF3F0F544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BBD58C-841C-3D43-92C5-20D1CF016529}"/>
              </a:ext>
            </a:extLst>
          </p:cNvPr>
          <p:cNvSpPr txBox="1"/>
          <p:nvPr/>
        </p:nvSpPr>
        <p:spPr>
          <a:xfrm>
            <a:off x="1014984" y="657650"/>
            <a:ext cx="15910559" cy="778675"/>
          </a:xfrm>
          <a:prstGeom prst="rect">
            <a:avLst/>
          </a:prstGeom>
          <a:noFill/>
        </p:spPr>
        <p:txBody>
          <a:bodyPr wrap="square" lIns="0" tIns="0" rIns="0" bIns="0" anchor="ctr">
            <a:spAutoFit/>
          </a:bodyPr>
          <a:lstStyle/>
          <a:p>
            <a:pPr>
              <a:lnSpc>
                <a:spcPct val="120000"/>
              </a:lnSpc>
              <a:spcAft>
                <a:spcPts val="600"/>
              </a:spcAft>
            </a:pPr>
            <a:r>
              <a:rPr lang="en-US" sz="4400" b="1" dirty="0" err="1">
                <a:solidFill>
                  <a:srgbClr val="1B2A4A"/>
                </a:solidFill>
                <a:latin typeface="Liter"/>
              </a:rPr>
              <a:t>Autologging</a:t>
            </a:r>
            <a:r>
              <a:rPr sz="4400" b="1" i="0" dirty="0">
                <a:solidFill>
                  <a:srgbClr val="1B2A4A"/>
                </a:solidFill>
                <a:latin typeface="Liter"/>
              </a:rPr>
              <a:t> with </a:t>
            </a:r>
            <a:r>
              <a:rPr sz="4400" b="1" i="0" dirty="0" err="1">
                <a:solidFill>
                  <a:srgbClr val="1B2A4A"/>
                </a:solidFill>
                <a:latin typeface="Liter"/>
              </a:rPr>
              <a:t>MLflow</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2DC629F2-5DD7-9A42-B05E-A75A63D38300}"/>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BB731C4-6BEF-85E6-0A20-AF7CDC59C051}"/>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12" name="TextBox 11">
            <a:extLst>
              <a:ext uri="{FF2B5EF4-FFF2-40B4-BE49-F238E27FC236}">
                <a16:creationId xmlns:a16="http://schemas.microsoft.com/office/drawing/2014/main" id="{FEDE7888-5D32-31D6-D48C-35075F34F5CB}"/>
              </a:ext>
            </a:extLst>
          </p:cNvPr>
          <p:cNvSpPr txBox="1"/>
          <p:nvPr/>
        </p:nvSpPr>
        <p:spPr>
          <a:xfrm>
            <a:off x="1022319" y="1923955"/>
            <a:ext cx="14969047" cy="601703"/>
          </a:xfrm>
          <a:prstGeom prst="rect">
            <a:avLst/>
          </a:prstGeom>
          <a:noFill/>
        </p:spPr>
        <p:txBody>
          <a:bodyPr wrap="square" lIns="0" tIns="0" rIns="0" bIns="0" anchor="ctr">
            <a:spAutoFit/>
          </a:bodyPr>
          <a:lstStyle/>
          <a:p>
            <a:pPr>
              <a:lnSpc>
                <a:spcPct val="120000"/>
              </a:lnSpc>
              <a:spcAft>
                <a:spcPts val="600"/>
              </a:spcAft>
            </a:pPr>
            <a:r>
              <a:rPr lang="en-US" sz="3400" b="1" i="0" dirty="0">
                <a:solidFill>
                  <a:srgbClr val="1B2A4A"/>
                </a:solidFill>
                <a:latin typeface="Liter"/>
              </a:rPr>
              <a:t>Classification vs Regression Logging</a:t>
            </a:r>
            <a:r>
              <a:rPr lang="en-US" sz="3400" b="1" dirty="0">
                <a:solidFill>
                  <a:srgbClr val="1B2A4A"/>
                </a:solidFill>
                <a:latin typeface="Liter"/>
                <a:sym typeface="Wingdings" pitchFamily="2" charset="2"/>
              </a:rPr>
              <a:t>(</a:t>
            </a:r>
            <a:r>
              <a:rPr lang="en-US" sz="3400" b="1" dirty="0" err="1">
                <a:solidFill>
                  <a:srgbClr val="1B2A4A"/>
                </a:solidFill>
                <a:latin typeface="Liter"/>
                <a:sym typeface="Wingdings" pitchFamily="2" charset="2"/>
              </a:rPr>
              <a:t>ztrain_with_mlflow_regression.py</a:t>
            </a:r>
            <a:r>
              <a:rPr lang="en-US" sz="3400" b="1" i="0" dirty="0">
                <a:solidFill>
                  <a:srgbClr val="1B2A4A"/>
                </a:solidFill>
                <a:latin typeface="Liter"/>
                <a:sym typeface="Wingdings" pitchFamily="2" charset="2"/>
              </a:rPr>
              <a:t>)</a:t>
            </a:r>
            <a:r>
              <a:rPr lang="en-US" sz="3400" b="1" i="0" dirty="0">
                <a:solidFill>
                  <a:srgbClr val="1B2A4A"/>
                </a:solidFill>
                <a:latin typeface="Liter"/>
              </a:rPr>
              <a:t> </a:t>
            </a:r>
            <a:endParaRPr sz="3400" b="1" i="0" dirty="0">
              <a:solidFill>
                <a:srgbClr val="1B2A4A"/>
              </a:solidFill>
              <a:latin typeface="Liter"/>
            </a:endParaRPr>
          </a:p>
        </p:txBody>
      </p:sp>
      <p:pic>
        <p:nvPicPr>
          <p:cNvPr id="6" name="Picture 5" descr="A screenshot of a computer&#10;&#10;AI-generated content may be incorrect.">
            <a:extLst>
              <a:ext uri="{FF2B5EF4-FFF2-40B4-BE49-F238E27FC236}">
                <a16:creationId xmlns:a16="http://schemas.microsoft.com/office/drawing/2014/main" id="{39E2EF13-F290-E704-BDC1-0C51F8C4AB83}"/>
              </a:ext>
            </a:extLst>
          </p:cNvPr>
          <p:cNvPicPr>
            <a:picLocks noChangeAspect="1"/>
          </p:cNvPicPr>
          <p:nvPr/>
        </p:nvPicPr>
        <p:blipFill>
          <a:blip r:embed="rId2"/>
          <a:stretch>
            <a:fillRect/>
          </a:stretch>
        </p:blipFill>
        <p:spPr>
          <a:xfrm>
            <a:off x="1014984" y="2739685"/>
            <a:ext cx="18562853" cy="10246093"/>
          </a:xfrm>
          <a:prstGeom prst="rect">
            <a:avLst/>
          </a:prstGeom>
        </p:spPr>
      </p:pic>
      <p:sp>
        <p:nvSpPr>
          <p:cNvPr id="7" name="Rectangle 6">
            <a:extLst>
              <a:ext uri="{FF2B5EF4-FFF2-40B4-BE49-F238E27FC236}">
                <a16:creationId xmlns:a16="http://schemas.microsoft.com/office/drawing/2014/main" id="{74516E78-D3A7-462B-FB0F-78E67D3302D3}"/>
              </a:ext>
            </a:extLst>
          </p:cNvPr>
          <p:cNvSpPr/>
          <p:nvPr/>
        </p:nvSpPr>
        <p:spPr>
          <a:xfrm>
            <a:off x="5082363" y="9229060"/>
            <a:ext cx="11270511" cy="395531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6EA52E9-2DE9-D5C4-4C10-0CE021AF4038}"/>
              </a:ext>
            </a:extLst>
          </p:cNvPr>
          <p:cNvSpPr txBox="1"/>
          <p:nvPr/>
        </p:nvSpPr>
        <p:spPr>
          <a:xfrm>
            <a:off x="19301637" y="7933765"/>
            <a:ext cx="4067379" cy="2862322"/>
          </a:xfrm>
          <a:prstGeom prst="rect">
            <a:avLst/>
          </a:prstGeom>
          <a:noFill/>
        </p:spPr>
        <p:txBody>
          <a:bodyPr wrap="square" rtlCol="0">
            <a:spAutoFit/>
          </a:bodyPr>
          <a:lstStyle/>
          <a:p>
            <a:r>
              <a:rPr lang="en-US" sz="3600" b="1" dirty="0">
                <a:solidFill>
                  <a:srgbClr val="0070C0"/>
                </a:solidFill>
              </a:rPr>
              <a:t>Metrics yang di log  </a:t>
            </a:r>
            <a:r>
              <a:rPr lang="en-US" sz="3600" b="1" dirty="0" err="1">
                <a:solidFill>
                  <a:srgbClr val="0070C0"/>
                </a:solidFill>
              </a:rPr>
              <a:t>disesuaikan</a:t>
            </a:r>
            <a:r>
              <a:rPr lang="en-US" sz="3600" b="1" dirty="0">
                <a:solidFill>
                  <a:srgbClr val="0070C0"/>
                </a:solidFill>
              </a:rPr>
              <a:t> </a:t>
            </a:r>
            <a:r>
              <a:rPr lang="en-US" sz="3600" b="1" dirty="0" err="1">
                <a:solidFill>
                  <a:srgbClr val="0070C0"/>
                </a:solidFill>
              </a:rPr>
              <a:t>secara</a:t>
            </a:r>
            <a:r>
              <a:rPr lang="en-US" sz="3600" b="1" dirty="0">
                <a:solidFill>
                  <a:srgbClr val="0070C0"/>
                </a:solidFill>
              </a:rPr>
              <a:t> </a:t>
            </a:r>
            <a:r>
              <a:rPr lang="en-US" sz="3600" b="1" dirty="0" err="1">
                <a:solidFill>
                  <a:srgbClr val="0070C0"/>
                </a:solidFill>
              </a:rPr>
              <a:t>otomatis</a:t>
            </a:r>
            <a:r>
              <a:rPr lang="en-US" sz="3600" b="1" dirty="0">
                <a:solidFill>
                  <a:srgbClr val="0070C0"/>
                </a:solidFill>
              </a:rPr>
              <a:t> oleh </a:t>
            </a:r>
            <a:r>
              <a:rPr lang="en-US" sz="3600" b="1" dirty="0" err="1">
                <a:solidFill>
                  <a:srgbClr val="0070C0"/>
                </a:solidFill>
              </a:rPr>
              <a:t>mekanisme</a:t>
            </a:r>
            <a:r>
              <a:rPr lang="en-US" sz="3600" b="1" dirty="0">
                <a:solidFill>
                  <a:srgbClr val="0070C0"/>
                </a:solidFill>
              </a:rPr>
              <a:t> </a:t>
            </a:r>
            <a:r>
              <a:rPr lang="en-US" sz="3600" b="1" dirty="0" err="1">
                <a:solidFill>
                  <a:srgbClr val="0070C0"/>
                </a:solidFill>
              </a:rPr>
              <a:t>autologging</a:t>
            </a:r>
            <a:endParaRPr lang="en-US" sz="3600" b="1" dirty="0">
              <a:solidFill>
                <a:srgbClr val="0070C0"/>
              </a:solidFill>
            </a:endParaRPr>
          </a:p>
        </p:txBody>
      </p:sp>
      <p:cxnSp>
        <p:nvCxnSpPr>
          <p:cNvPr id="10" name="Straight Arrow Connector 9">
            <a:extLst>
              <a:ext uri="{FF2B5EF4-FFF2-40B4-BE49-F238E27FC236}">
                <a16:creationId xmlns:a16="http://schemas.microsoft.com/office/drawing/2014/main" id="{FB5921CE-6846-A36C-FEF4-A4800F495C47}"/>
              </a:ext>
            </a:extLst>
          </p:cNvPr>
          <p:cNvCxnSpPr/>
          <p:nvPr/>
        </p:nvCxnSpPr>
        <p:spPr>
          <a:xfrm flipH="1">
            <a:off x="16352874" y="9229060"/>
            <a:ext cx="2822632" cy="198578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06484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BCEB2-F0A2-6AA1-B56C-1DD731ACDC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39D95B-95A9-1351-693B-34585EAF4D53}"/>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Exploring Experiment Tracking</a:t>
            </a:r>
            <a:r>
              <a:rPr sz="4400" b="1" i="0" dirty="0">
                <a:solidFill>
                  <a:srgbClr val="1B2A4A"/>
                </a:solidFill>
                <a:latin typeface="Liter"/>
              </a:rPr>
              <a:t> with </a:t>
            </a:r>
            <a:r>
              <a:rPr sz="4400" b="1" i="0" dirty="0" err="1">
                <a:solidFill>
                  <a:srgbClr val="1B2A4A"/>
                </a:solidFill>
                <a:latin typeface="Liter"/>
              </a:rPr>
              <a:t>MLflow</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D35FD21D-D8E5-3699-3019-6148C255041D}"/>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0F36F21-C70B-96A5-04BC-97E4AF986333}"/>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5" name="TextBox 4">
            <a:extLst>
              <a:ext uri="{FF2B5EF4-FFF2-40B4-BE49-F238E27FC236}">
                <a16:creationId xmlns:a16="http://schemas.microsoft.com/office/drawing/2014/main" id="{9C2CE0A5-B0B7-BA81-6277-EA6B53EBC938}"/>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11</a:t>
            </a:r>
          </a:p>
        </p:txBody>
      </p:sp>
      <p:sp>
        <p:nvSpPr>
          <p:cNvPr id="12" name="TextBox 11">
            <a:extLst>
              <a:ext uri="{FF2B5EF4-FFF2-40B4-BE49-F238E27FC236}">
                <a16:creationId xmlns:a16="http://schemas.microsoft.com/office/drawing/2014/main" id="{F89A288C-30ED-14A6-4A83-B48E75B533BB}"/>
              </a:ext>
            </a:extLst>
          </p:cNvPr>
          <p:cNvSpPr txBox="1"/>
          <p:nvPr/>
        </p:nvSpPr>
        <p:spPr>
          <a:xfrm>
            <a:off x="1022319" y="1923955"/>
            <a:ext cx="20646834" cy="601703"/>
          </a:xfrm>
          <a:prstGeom prst="rect">
            <a:avLst/>
          </a:prstGeom>
          <a:noFill/>
        </p:spPr>
        <p:txBody>
          <a:bodyPr wrap="square" lIns="0" tIns="0" rIns="0" bIns="0" anchor="ctr">
            <a:spAutoFit/>
          </a:bodyPr>
          <a:lstStyle/>
          <a:p>
            <a:pPr>
              <a:lnSpc>
                <a:spcPct val="120000"/>
              </a:lnSpc>
              <a:spcAft>
                <a:spcPts val="600"/>
              </a:spcAft>
            </a:pPr>
            <a:r>
              <a:rPr lang="en-US" sz="3400" b="1" dirty="0">
                <a:solidFill>
                  <a:srgbClr val="1B2A4A"/>
                </a:solidFill>
                <a:latin typeface="Liter"/>
                <a:hlinkClick r:id="rId2"/>
              </a:rPr>
              <a:t>https://mlflow.org/docs/latest/ml/tracking/tracking-api/</a:t>
            </a:r>
            <a:r>
              <a:rPr lang="en-US" sz="3400" b="1" dirty="0">
                <a:solidFill>
                  <a:srgbClr val="1B2A4A"/>
                </a:solidFill>
                <a:latin typeface="Liter"/>
              </a:rPr>
              <a:t> (</a:t>
            </a:r>
            <a:r>
              <a:rPr lang="en-US" sz="3400" b="1" dirty="0" err="1">
                <a:solidFill>
                  <a:srgbClr val="1B2A4A"/>
                </a:solidFill>
                <a:latin typeface="Liter"/>
              </a:rPr>
              <a:t>mlflow_explore_tracking.py</a:t>
            </a:r>
            <a:r>
              <a:rPr lang="en-US" sz="3400" b="1" dirty="0">
                <a:solidFill>
                  <a:srgbClr val="1B2A4A"/>
                </a:solidFill>
                <a:latin typeface="Liter"/>
              </a:rPr>
              <a:t>)</a:t>
            </a:r>
            <a:endParaRPr sz="3400" b="1" i="0" dirty="0">
              <a:solidFill>
                <a:srgbClr val="1B2A4A"/>
              </a:solidFill>
              <a:latin typeface="Liter"/>
            </a:endParaRPr>
          </a:p>
        </p:txBody>
      </p:sp>
      <p:pic>
        <p:nvPicPr>
          <p:cNvPr id="9" name="Picture 8" descr="A screenshot of a computer&#10;&#10;AI-generated content may be incorrect.">
            <a:extLst>
              <a:ext uri="{FF2B5EF4-FFF2-40B4-BE49-F238E27FC236}">
                <a16:creationId xmlns:a16="http://schemas.microsoft.com/office/drawing/2014/main" id="{48A9FB6C-1D85-7574-DC9D-48D4F50C4C72}"/>
              </a:ext>
            </a:extLst>
          </p:cNvPr>
          <p:cNvPicPr>
            <a:picLocks noChangeAspect="1"/>
          </p:cNvPicPr>
          <p:nvPr/>
        </p:nvPicPr>
        <p:blipFill>
          <a:blip r:embed="rId3"/>
          <a:stretch>
            <a:fillRect/>
          </a:stretch>
        </p:blipFill>
        <p:spPr>
          <a:xfrm>
            <a:off x="1022319" y="2739685"/>
            <a:ext cx="20125306" cy="10499413"/>
          </a:xfrm>
          <a:prstGeom prst="rect">
            <a:avLst/>
          </a:prstGeom>
        </p:spPr>
      </p:pic>
    </p:spTree>
    <p:extLst>
      <p:ext uri="{BB962C8B-B14F-4D97-AF65-F5344CB8AC3E}">
        <p14:creationId xmlns:p14="http://schemas.microsoft.com/office/powerpoint/2010/main" val="3723865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7683D-1AEA-F9AE-9038-1348A566BA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4E47E8-672A-ADC2-0809-1B7C6F525517}"/>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Exploring Experiment Tracking</a:t>
            </a:r>
            <a:r>
              <a:rPr sz="4400" b="1" i="0" dirty="0">
                <a:solidFill>
                  <a:srgbClr val="1B2A4A"/>
                </a:solidFill>
                <a:latin typeface="Liter"/>
              </a:rPr>
              <a:t> with </a:t>
            </a:r>
            <a:r>
              <a:rPr sz="4400" b="1" i="0" dirty="0" err="1">
                <a:solidFill>
                  <a:srgbClr val="1B2A4A"/>
                </a:solidFill>
                <a:latin typeface="Liter"/>
              </a:rPr>
              <a:t>MLflow</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88D92864-80E9-79C5-5562-8F8209836E7C}"/>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61A30ED-29F7-D836-21DB-D776ADA7924B}"/>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5" name="TextBox 4">
            <a:extLst>
              <a:ext uri="{FF2B5EF4-FFF2-40B4-BE49-F238E27FC236}">
                <a16:creationId xmlns:a16="http://schemas.microsoft.com/office/drawing/2014/main" id="{8C3E929B-FDE1-5516-F3F8-56737C8FCF97}"/>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11</a:t>
            </a:r>
          </a:p>
        </p:txBody>
      </p:sp>
      <p:sp>
        <p:nvSpPr>
          <p:cNvPr id="12" name="TextBox 11">
            <a:extLst>
              <a:ext uri="{FF2B5EF4-FFF2-40B4-BE49-F238E27FC236}">
                <a16:creationId xmlns:a16="http://schemas.microsoft.com/office/drawing/2014/main" id="{4E31D0A6-5067-A4AC-05C7-E1D01656FBA2}"/>
              </a:ext>
            </a:extLst>
          </p:cNvPr>
          <p:cNvSpPr txBox="1"/>
          <p:nvPr/>
        </p:nvSpPr>
        <p:spPr>
          <a:xfrm>
            <a:off x="1022319" y="1923955"/>
            <a:ext cx="20646834" cy="601703"/>
          </a:xfrm>
          <a:prstGeom prst="rect">
            <a:avLst/>
          </a:prstGeom>
          <a:noFill/>
        </p:spPr>
        <p:txBody>
          <a:bodyPr wrap="square" lIns="0" tIns="0" rIns="0" bIns="0" anchor="ctr">
            <a:spAutoFit/>
          </a:bodyPr>
          <a:lstStyle/>
          <a:p>
            <a:pPr>
              <a:lnSpc>
                <a:spcPct val="120000"/>
              </a:lnSpc>
              <a:spcAft>
                <a:spcPts val="600"/>
              </a:spcAft>
            </a:pPr>
            <a:r>
              <a:rPr lang="en-US" sz="3400" b="1" dirty="0" err="1">
                <a:solidFill>
                  <a:srgbClr val="1B2A4A"/>
                </a:solidFill>
                <a:latin typeface="Liter"/>
              </a:rPr>
              <a:t>MLFlow</a:t>
            </a:r>
            <a:r>
              <a:rPr lang="en-US" sz="3400" b="1" dirty="0">
                <a:solidFill>
                  <a:srgbClr val="1B2A4A"/>
                </a:solidFill>
                <a:latin typeface="Liter"/>
              </a:rPr>
              <a:t> Logging Results</a:t>
            </a:r>
            <a:endParaRPr sz="3400" b="1" i="0" dirty="0">
              <a:solidFill>
                <a:srgbClr val="1B2A4A"/>
              </a:solidFill>
              <a:latin typeface="Liter"/>
            </a:endParaRPr>
          </a:p>
        </p:txBody>
      </p:sp>
      <p:pic>
        <p:nvPicPr>
          <p:cNvPr id="7" name="Picture 6" descr="A screenshot of a computer&#10;&#10;AI-generated content may be incorrect.">
            <a:extLst>
              <a:ext uri="{FF2B5EF4-FFF2-40B4-BE49-F238E27FC236}">
                <a16:creationId xmlns:a16="http://schemas.microsoft.com/office/drawing/2014/main" id="{F68E19CA-1EF1-40A1-0F98-CBD336781A4E}"/>
              </a:ext>
            </a:extLst>
          </p:cNvPr>
          <p:cNvPicPr>
            <a:picLocks noChangeAspect="1"/>
          </p:cNvPicPr>
          <p:nvPr/>
        </p:nvPicPr>
        <p:blipFill>
          <a:blip r:embed="rId2"/>
          <a:stretch>
            <a:fillRect/>
          </a:stretch>
        </p:blipFill>
        <p:spPr>
          <a:xfrm>
            <a:off x="1022319" y="2739685"/>
            <a:ext cx="17669718" cy="10375146"/>
          </a:xfrm>
          <a:prstGeom prst="rect">
            <a:avLst/>
          </a:prstGeom>
        </p:spPr>
      </p:pic>
    </p:spTree>
    <p:extLst>
      <p:ext uri="{BB962C8B-B14F-4D97-AF65-F5344CB8AC3E}">
        <p14:creationId xmlns:p14="http://schemas.microsoft.com/office/powerpoint/2010/main" val="2611320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err="1">
                <a:solidFill>
                  <a:srgbClr val="1B2A4A"/>
                </a:solidFill>
                <a:latin typeface="Liter"/>
              </a:rPr>
              <a:t>MLFlow</a:t>
            </a:r>
            <a:r>
              <a:rPr lang="en-US" sz="4400" b="1" i="0" dirty="0">
                <a:solidFill>
                  <a:srgbClr val="1B2A4A"/>
                </a:solidFill>
                <a:latin typeface="Liter"/>
              </a:rPr>
              <a:t> Model Registry</a:t>
            </a:r>
            <a:endParaRPr sz="4400" b="1" i="0" dirty="0">
              <a:solidFill>
                <a:srgbClr val="1B2A4A"/>
              </a:solidFill>
              <a:latin typeface="Liter"/>
            </a:endParaRP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12</a:t>
            </a:r>
          </a:p>
        </p:txBody>
      </p:sp>
      <p:sp>
        <p:nvSpPr>
          <p:cNvPr id="15" name="Text 2">
            <a:extLst>
              <a:ext uri="{FF2B5EF4-FFF2-40B4-BE49-F238E27FC236}">
                <a16:creationId xmlns:a16="http://schemas.microsoft.com/office/drawing/2014/main" id="{614CF454-E9EA-B7B2-528D-9CF499E774C4}"/>
              </a:ext>
            </a:extLst>
          </p:cNvPr>
          <p:cNvSpPr txBox="1"/>
          <p:nvPr/>
        </p:nvSpPr>
        <p:spPr>
          <a:xfrm>
            <a:off x="1014983" y="1709928"/>
            <a:ext cx="21806260" cy="1606962"/>
          </a:xfrm>
          <a:prstGeom prst="rect">
            <a:avLst/>
          </a:prstGeom>
          <a:noFill/>
          <a:ln/>
        </p:spPr>
        <p:txBody>
          <a:bodyPr wrap="square" lIns="0" tIns="0" rIns="0" bIns="0" rtlCol="0" anchor="ctr"/>
          <a:lstStyle/>
          <a:p>
            <a:pPr marL="0" indent="0">
              <a:buNone/>
            </a:pPr>
            <a:r>
              <a:rPr lang="en-US" sz="3600" i="1" dirty="0">
                <a:solidFill>
                  <a:srgbClr val="5B6B76"/>
                </a:solidFill>
                <a:latin typeface="Calibri" pitchFamily="34" charset="0"/>
                <a:ea typeface="Calibri" pitchFamily="34" charset="-122"/>
                <a:cs typeface="Calibri" pitchFamily="34" charset="-120"/>
              </a:rPr>
              <a:t>A centralized model store, set of APIs, and UI for managing the full ML model lifecycle</a:t>
            </a:r>
            <a:endParaRPr lang="en-US" sz="3600" dirty="0"/>
          </a:p>
        </p:txBody>
      </p:sp>
      <p:sp>
        <p:nvSpPr>
          <p:cNvPr id="16" name="Text 3">
            <a:extLst>
              <a:ext uri="{FF2B5EF4-FFF2-40B4-BE49-F238E27FC236}">
                <a16:creationId xmlns:a16="http://schemas.microsoft.com/office/drawing/2014/main" id="{7B80CD86-2EBB-2803-469E-A3DAE6C25A13}"/>
              </a:ext>
            </a:extLst>
          </p:cNvPr>
          <p:cNvSpPr txBox="1"/>
          <p:nvPr/>
        </p:nvSpPr>
        <p:spPr>
          <a:xfrm>
            <a:off x="1014983" y="2644956"/>
            <a:ext cx="22738151" cy="2008702"/>
          </a:xfrm>
          <a:prstGeom prst="rect">
            <a:avLst/>
          </a:prstGeom>
          <a:noFill/>
          <a:ln/>
        </p:spPr>
        <p:txBody>
          <a:bodyPr wrap="square" lIns="0" tIns="0" rIns="0" bIns="0" rtlCol="0" anchor="ctr"/>
          <a:lstStyle/>
          <a:p>
            <a:pPr marL="0" indent="0">
              <a:buNone/>
            </a:pPr>
            <a:r>
              <a:rPr lang="en-US" sz="3600" dirty="0">
                <a:solidFill>
                  <a:srgbClr val="232A33"/>
                </a:solidFill>
                <a:latin typeface="Calibri" pitchFamily="34" charset="0"/>
                <a:ea typeface="Calibri" pitchFamily="34" charset="-122"/>
                <a:cs typeface="Calibri" pitchFamily="34" charset="-120"/>
              </a:rPr>
              <a:t>Provides lineage, versioning, aliasing, and metadata tagging, so every model has full traceability from the experiment that produced it through to production deployment.</a:t>
            </a:r>
            <a:endParaRPr lang="en-US" sz="3600" dirty="0"/>
          </a:p>
        </p:txBody>
      </p:sp>
      <p:graphicFrame>
        <p:nvGraphicFramePr>
          <p:cNvPr id="49" name="Table 48">
            <a:extLst>
              <a:ext uri="{FF2B5EF4-FFF2-40B4-BE49-F238E27FC236}">
                <a16:creationId xmlns:a16="http://schemas.microsoft.com/office/drawing/2014/main" id="{29BA356C-50E3-A90F-E7A7-9265F9FE87D0}"/>
              </a:ext>
            </a:extLst>
          </p:cNvPr>
          <p:cNvGraphicFramePr>
            <a:graphicFrameLocks noGrp="1"/>
          </p:cNvGraphicFramePr>
          <p:nvPr>
            <p:extLst>
              <p:ext uri="{D42A27DB-BD31-4B8C-83A1-F6EECF244321}">
                <p14:modId xmlns:p14="http://schemas.microsoft.com/office/powerpoint/2010/main" val="725964873"/>
              </p:ext>
            </p:extLst>
          </p:nvPr>
        </p:nvGraphicFramePr>
        <p:xfrm>
          <a:off x="1014982" y="5405018"/>
          <a:ext cx="22738152" cy="5881292"/>
        </p:xfrm>
        <a:graphic>
          <a:graphicData uri="http://schemas.openxmlformats.org/drawingml/2006/table">
            <a:tbl>
              <a:tblPr firstRow="1" bandRow="1">
                <a:tableStyleId>{16D9F66E-5EB9-4882-86FB-DCBF35E3C3E4}</a:tableStyleId>
              </a:tblPr>
              <a:tblGrid>
                <a:gridCol w="4003585">
                  <a:extLst>
                    <a:ext uri="{9D8B030D-6E8A-4147-A177-3AD203B41FA5}">
                      <a16:colId xmlns:a16="http://schemas.microsoft.com/office/drawing/2014/main" val="2534074152"/>
                    </a:ext>
                  </a:extLst>
                </a:gridCol>
                <a:gridCol w="18734567">
                  <a:extLst>
                    <a:ext uri="{9D8B030D-6E8A-4147-A177-3AD203B41FA5}">
                      <a16:colId xmlns:a16="http://schemas.microsoft.com/office/drawing/2014/main" val="2481200611"/>
                    </a:ext>
                  </a:extLst>
                </a:gridCol>
              </a:tblGrid>
              <a:tr h="14703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21295C"/>
                          </a:solidFill>
                        </a:rPr>
                        <a:t>Version Control</a:t>
                      </a:r>
                      <a:endParaRPr lang="en-US" sz="32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0" dirty="0">
                          <a:solidFill>
                            <a:schemeClr val="tx1"/>
                          </a:solidFill>
                        </a:rPr>
                        <a:t>Automatically tracks every model version — compare iterations, roll back, and manage staging vs. production in parallel.</a:t>
                      </a:r>
                    </a:p>
                  </a:txBody>
                  <a:tcPr anchor="ctr"/>
                </a:tc>
                <a:extLst>
                  <a:ext uri="{0D108BD9-81ED-4DB2-BD59-A6C34878D82A}">
                    <a16:rowId xmlns:a16="http://schemas.microsoft.com/office/drawing/2014/main" val="2864490830"/>
                  </a:ext>
                </a:extLst>
              </a:tr>
              <a:tr h="14703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21295C"/>
                          </a:solidFill>
                        </a:rPr>
                        <a:t>Lineage &amp; Traceability</a:t>
                      </a:r>
                      <a:endParaRPr lang="en-US" sz="32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0" dirty="0">
                          <a:solidFill>
                            <a:schemeClr val="tx1"/>
                          </a:solidFill>
                        </a:rPr>
                        <a:t>Each version links back to the </a:t>
                      </a:r>
                      <a:r>
                        <a:rPr lang="en-US" sz="3200" b="0" dirty="0" err="1">
                          <a:solidFill>
                            <a:schemeClr val="tx1"/>
                          </a:solidFill>
                        </a:rPr>
                        <a:t>MLflow</a:t>
                      </a:r>
                      <a:r>
                        <a:rPr lang="en-US" sz="3200" b="0" dirty="0">
                          <a:solidFill>
                            <a:schemeClr val="tx1"/>
                          </a:solidFill>
                        </a:rPr>
                        <a:t> run, logged model, or notebook that produced it — enabling full reproducibility.</a:t>
                      </a:r>
                    </a:p>
                  </a:txBody>
                  <a:tcPr anchor="ctr"/>
                </a:tc>
                <a:extLst>
                  <a:ext uri="{0D108BD9-81ED-4DB2-BD59-A6C34878D82A}">
                    <a16:rowId xmlns:a16="http://schemas.microsoft.com/office/drawing/2014/main" val="2831555179"/>
                  </a:ext>
                </a:extLst>
              </a:tr>
              <a:tr h="14703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21295C"/>
                          </a:solidFill>
                        </a:rPr>
                        <a:t>Production-Ready Workflows</a:t>
                      </a:r>
                      <a:endParaRPr lang="en-US" sz="32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0" dirty="0">
                          <a:solidFill>
                            <a:schemeClr val="tx1"/>
                          </a:solidFill>
                        </a:rPr>
                        <a:t>Aliases (e.g. @champion) and tags support controlled, auditable promotion through experimental, staging, and production.</a:t>
                      </a:r>
                    </a:p>
                  </a:txBody>
                  <a:tcPr anchor="ctr"/>
                </a:tc>
                <a:extLst>
                  <a:ext uri="{0D108BD9-81ED-4DB2-BD59-A6C34878D82A}">
                    <a16:rowId xmlns:a16="http://schemas.microsoft.com/office/drawing/2014/main" val="3932269241"/>
                  </a:ext>
                </a:extLst>
              </a:tr>
              <a:tr h="14703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21295C"/>
                          </a:solidFill>
                        </a:rPr>
                        <a:t>Governance &amp; Compliance</a:t>
                      </a:r>
                      <a:endParaRPr 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0" dirty="0">
                          <a:solidFill>
                            <a:schemeClr val="tx1"/>
                          </a:solidFill>
                        </a:rPr>
                        <a:t>Structured metadata, tagging, and role-based access control (on managed platforms) support enterprise-grade ML governance.</a:t>
                      </a:r>
                    </a:p>
                  </a:txBody>
                  <a:tcPr anchor="ctr"/>
                </a:tc>
                <a:extLst>
                  <a:ext uri="{0D108BD9-81ED-4DB2-BD59-A6C34878D82A}">
                    <a16:rowId xmlns:a16="http://schemas.microsoft.com/office/drawing/2014/main" val="2759469716"/>
                  </a:ext>
                </a:extLst>
              </a:tr>
            </a:tbl>
          </a:graphicData>
        </a:graphic>
      </p:graphicFrame>
      <p:sp>
        <p:nvSpPr>
          <p:cNvPr id="50" name="Text 2">
            <a:extLst>
              <a:ext uri="{FF2B5EF4-FFF2-40B4-BE49-F238E27FC236}">
                <a16:creationId xmlns:a16="http://schemas.microsoft.com/office/drawing/2014/main" id="{7E3D55FF-4DBF-CD28-15C4-AE3F871F6EF5}"/>
              </a:ext>
            </a:extLst>
          </p:cNvPr>
          <p:cNvSpPr txBox="1"/>
          <p:nvPr/>
        </p:nvSpPr>
        <p:spPr>
          <a:xfrm>
            <a:off x="1014983" y="4363283"/>
            <a:ext cx="21806260" cy="935028"/>
          </a:xfrm>
          <a:prstGeom prst="rect">
            <a:avLst/>
          </a:prstGeom>
          <a:noFill/>
          <a:ln/>
        </p:spPr>
        <p:txBody>
          <a:bodyPr wrap="square" lIns="0" tIns="0" rIns="0" bIns="0" rtlCol="0" anchor="ctr"/>
          <a:lstStyle/>
          <a:p>
            <a:pPr marL="0" indent="0">
              <a:buNone/>
            </a:pPr>
            <a:r>
              <a:rPr lang="en-US" sz="3600" i="1" dirty="0">
                <a:solidFill>
                  <a:srgbClr val="5B6B76"/>
                </a:solidFill>
                <a:latin typeface="Calibri" pitchFamily="34" charset="0"/>
                <a:ea typeface="Calibri" pitchFamily="34" charset="-122"/>
                <a:cs typeface="Calibri" pitchFamily="34" charset="-120"/>
              </a:rPr>
              <a:t>The importance of Model Registry</a:t>
            </a:r>
            <a:endParaRPr lang="en-US" sz="3600" dirty="0"/>
          </a:p>
        </p:txBody>
      </p:sp>
      <p:sp>
        <p:nvSpPr>
          <p:cNvPr id="51" name="Text 7">
            <a:extLst>
              <a:ext uri="{FF2B5EF4-FFF2-40B4-BE49-F238E27FC236}">
                <a16:creationId xmlns:a16="http://schemas.microsoft.com/office/drawing/2014/main" id="{4E7DEB15-C1AC-85BC-1C6D-F9385CFACB38}"/>
              </a:ext>
            </a:extLst>
          </p:cNvPr>
          <p:cNvSpPr txBox="1"/>
          <p:nvPr/>
        </p:nvSpPr>
        <p:spPr>
          <a:xfrm>
            <a:off x="2377440" y="9582912"/>
            <a:ext cx="2834640" cy="658368"/>
          </a:xfrm>
          <a:prstGeom prst="rect">
            <a:avLst/>
          </a:prstGeom>
          <a:noFill/>
          <a:ln/>
        </p:spPr>
        <p:txBody>
          <a:bodyPr wrap="square" lIns="0" tIns="0" rIns="0" bIns="0" rtlCol="0" anchor="t"/>
          <a:lstStyle/>
          <a:p>
            <a:pPr marL="0" indent="0">
              <a:buNone/>
            </a:pPr>
            <a:endParaRPr lang="en-US" sz="1300" dirty="0"/>
          </a:p>
        </p:txBody>
      </p:sp>
      <p:sp>
        <p:nvSpPr>
          <p:cNvPr id="53" name="Text 11">
            <a:extLst>
              <a:ext uri="{FF2B5EF4-FFF2-40B4-BE49-F238E27FC236}">
                <a16:creationId xmlns:a16="http://schemas.microsoft.com/office/drawing/2014/main" id="{2D68A04F-4E9A-82BA-5E00-F31B9D954B39}"/>
              </a:ext>
            </a:extLst>
          </p:cNvPr>
          <p:cNvSpPr txBox="1"/>
          <p:nvPr/>
        </p:nvSpPr>
        <p:spPr>
          <a:xfrm>
            <a:off x="2377440" y="10241280"/>
            <a:ext cx="2834640" cy="658368"/>
          </a:xfrm>
          <a:prstGeom prst="rect">
            <a:avLst/>
          </a:prstGeom>
          <a:noFill/>
          <a:ln/>
        </p:spPr>
        <p:txBody>
          <a:bodyPr wrap="square" lIns="0" tIns="0" rIns="0" bIns="0" rtlCol="0" anchor="t"/>
          <a:lstStyle/>
          <a:p>
            <a:pPr marL="0" indent="0">
              <a:buNone/>
            </a:pPr>
            <a:endParaRPr lang="en-US" sz="1300" dirty="0"/>
          </a:p>
        </p:txBody>
      </p:sp>
      <p:sp>
        <p:nvSpPr>
          <p:cNvPr id="55" name="Text 15">
            <a:extLst>
              <a:ext uri="{FF2B5EF4-FFF2-40B4-BE49-F238E27FC236}">
                <a16:creationId xmlns:a16="http://schemas.microsoft.com/office/drawing/2014/main" id="{03A69E49-20BE-9E82-F31F-3979A4D92391}"/>
              </a:ext>
            </a:extLst>
          </p:cNvPr>
          <p:cNvSpPr txBox="1"/>
          <p:nvPr/>
        </p:nvSpPr>
        <p:spPr>
          <a:xfrm>
            <a:off x="2377440" y="10899648"/>
            <a:ext cx="2834640" cy="658368"/>
          </a:xfrm>
          <a:prstGeom prst="rect">
            <a:avLst/>
          </a:prstGeom>
          <a:noFill/>
          <a:ln/>
        </p:spPr>
        <p:txBody>
          <a:bodyPr wrap="square" lIns="0" tIns="0" rIns="0" bIns="0" rtlCol="0" anchor="t"/>
          <a:lstStyle/>
          <a:p>
            <a:pPr marL="0" indent="0">
              <a:buNone/>
            </a:pPr>
            <a:endParaRPr lang="en-US" sz="1300" dirty="0"/>
          </a:p>
        </p:txBody>
      </p:sp>
      <p:sp>
        <p:nvSpPr>
          <p:cNvPr id="57" name="Text 19">
            <a:extLst>
              <a:ext uri="{FF2B5EF4-FFF2-40B4-BE49-F238E27FC236}">
                <a16:creationId xmlns:a16="http://schemas.microsoft.com/office/drawing/2014/main" id="{24BBF131-494D-1D85-43BA-38739BEA6D82}"/>
              </a:ext>
            </a:extLst>
          </p:cNvPr>
          <p:cNvSpPr txBox="1"/>
          <p:nvPr/>
        </p:nvSpPr>
        <p:spPr>
          <a:xfrm>
            <a:off x="2377440" y="11558016"/>
            <a:ext cx="2834640" cy="658368"/>
          </a:xfrm>
          <a:prstGeom prst="rect">
            <a:avLst/>
          </a:prstGeom>
          <a:noFill/>
          <a:ln/>
        </p:spPr>
        <p:txBody>
          <a:bodyPr wrap="square" lIns="0" tIns="0" rIns="0" bIns="0" rtlCol="0" anchor="t"/>
          <a:lstStyle/>
          <a:p>
            <a:pPr marL="0" indent="0">
              <a:buNone/>
            </a:pPr>
            <a:endParaRPr lang="en-US" sz="1300" dirty="0"/>
          </a:p>
        </p:txBody>
      </p:sp>
      <p:sp>
        <p:nvSpPr>
          <p:cNvPr id="58" name="Text 20">
            <a:extLst>
              <a:ext uri="{FF2B5EF4-FFF2-40B4-BE49-F238E27FC236}">
                <a16:creationId xmlns:a16="http://schemas.microsoft.com/office/drawing/2014/main" id="{C115A212-E02E-498E-CC99-1FA52F0D242D}"/>
              </a:ext>
            </a:extLst>
          </p:cNvPr>
          <p:cNvSpPr txBox="1"/>
          <p:nvPr/>
        </p:nvSpPr>
        <p:spPr>
          <a:xfrm>
            <a:off x="5303520" y="11558016"/>
            <a:ext cx="7680960" cy="658368"/>
          </a:xfrm>
          <a:prstGeom prst="rect">
            <a:avLst/>
          </a:prstGeom>
          <a:noFill/>
          <a:ln/>
        </p:spPr>
        <p:txBody>
          <a:bodyPr wrap="square" lIns="0" tIns="0" rIns="0" bIns="0" rtlCol="0" anchor="t"/>
          <a:lstStyle/>
          <a:p>
            <a:pPr marL="0" indent="0">
              <a:buNone/>
            </a:pPr>
            <a:endParaRPr lang="en-US" sz="1150" dirty="0"/>
          </a:p>
        </p:txBody>
      </p:sp>
      <p:sp>
        <p:nvSpPr>
          <p:cNvPr id="59" name="Shape 21">
            <a:extLst>
              <a:ext uri="{FF2B5EF4-FFF2-40B4-BE49-F238E27FC236}">
                <a16:creationId xmlns:a16="http://schemas.microsoft.com/office/drawing/2014/main" id="{6DEAE004-642D-9C79-0B31-D65EE4A0C917}"/>
              </a:ext>
            </a:extLst>
          </p:cNvPr>
          <p:cNvSpPr/>
          <p:nvPr/>
        </p:nvSpPr>
        <p:spPr>
          <a:xfrm>
            <a:off x="1014982" y="11558016"/>
            <a:ext cx="22738152" cy="1816422"/>
          </a:xfrm>
          <a:prstGeom prst="roundRect">
            <a:avLst>
              <a:gd name="adj" fmla="val 4930"/>
            </a:avLst>
          </a:prstGeom>
          <a:solidFill>
            <a:srgbClr val="EAF1F5"/>
          </a:solidFill>
          <a:ln/>
        </p:spPr>
        <p:txBody>
          <a:bodyPr/>
          <a:lstStyle/>
          <a:p>
            <a:endParaRPr lang="en-US"/>
          </a:p>
        </p:txBody>
      </p:sp>
      <p:sp>
        <p:nvSpPr>
          <p:cNvPr id="60" name="Text 22">
            <a:extLst>
              <a:ext uri="{FF2B5EF4-FFF2-40B4-BE49-F238E27FC236}">
                <a16:creationId xmlns:a16="http://schemas.microsoft.com/office/drawing/2014/main" id="{FDEC058A-61EE-4A1F-B080-390515E02DBA}"/>
              </a:ext>
            </a:extLst>
          </p:cNvPr>
          <p:cNvSpPr txBox="1"/>
          <p:nvPr/>
        </p:nvSpPr>
        <p:spPr>
          <a:xfrm>
            <a:off x="1264920" y="11750040"/>
            <a:ext cx="7315200" cy="256032"/>
          </a:xfrm>
          <a:prstGeom prst="rect">
            <a:avLst/>
          </a:prstGeom>
          <a:noFill/>
          <a:ln/>
        </p:spPr>
        <p:txBody>
          <a:bodyPr wrap="square" lIns="0" tIns="0" rIns="0" bIns="0" rtlCol="0" anchor="ctr"/>
          <a:lstStyle/>
          <a:p>
            <a:pPr marL="0" indent="0">
              <a:buNone/>
            </a:pPr>
            <a:r>
              <a:rPr lang="en-US" sz="2800" b="1" kern="0" spc="120" dirty="0">
                <a:solidFill>
                  <a:srgbClr val="065A82"/>
                </a:solidFill>
                <a:latin typeface="Calibri" pitchFamily="34" charset="0"/>
                <a:ea typeface="Calibri" pitchFamily="34" charset="-122"/>
                <a:cs typeface="Calibri" pitchFamily="34" charset="-120"/>
              </a:rPr>
              <a:t>CORE CONCEPT: MODEL URI</a:t>
            </a:r>
            <a:endParaRPr lang="en-US" sz="2800" dirty="0"/>
          </a:p>
        </p:txBody>
      </p:sp>
      <p:sp>
        <p:nvSpPr>
          <p:cNvPr id="61" name="Text 23">
            <a:extLst>
              <a:ext uri="{FF2B5EF4-FFF2-40B4-BE49-F238E27FC236}">
                <a16:creationId xmlns:a16="http://schemas.microsoft.com/office/drawing/2014/main" id="{541305A7-F2B4-2F0E-BAFE-5CC889331BAE}"/>
              </a:ext>
            </a:extLst>
          </p:cNvPr>
          <p:cNvSpPr txBox="1"/>
          <p:nvPr/>
        </p:nvSpPr>
        <p:spPr>
          <a:xfrm>
            <a:off x="2074817" y="12217692"/>
            <a:ext cx="2834640" cy="559956"/>
          </a:xfrm>
          <a:prstGeom prst="rect">
            <a:avLst/>
          </a:prstGeom>
          <a:noFill/>
          <a:ln/>
        </p:spPr>
        <p:txBody>
          <a:bodyPr wrap="square" lIns="0" tIns="0" rIns="0" bIns="0" rtlCol="0" anchor="ctr"/>
          <a:lstStyle/>
          <a:p>
            <a:pPr marL="0" indent="0">
              <a:buNone/>
            </a:pPr>
            <a:r>
              <a:rPr lang="en-US" sz="2800" b="1" dirty="0">
                <a:solidFill>
                  <a:srgbClr val="232A33"/>
                </a:solidFill>
                <a:latin typeface="Calibri" pitchFamily="34" charset="0"/>
                <a:ea typeface="Calibri" pitchFamily="34" charset="-122"/>
                <a:cs typeface="Calibri" pitchFamily="34" charset="-120"/>
              </a:rPr>
              <a:t>By version</a:t>
            </a:r>
            <a:endParaRPr lang="en-US" sz="2800" dirty="0"/>
          </a:p>
        </p:txBody>
      </p:sp>
      <p:sp>
        <p:nvSpPr>
          <p:cNvPr id="62" name="Text 24">
            <a:extLst>
              <a:ext uri="{FF2B5EF4-FFF2-40B4-BE49-F238E27FC236}">
                <a16:creationId xmlns:a16="http://schemas.microsoft.com/office/drawing/2014/main" id="{C317BCD5-D7B9-CD9E-462B-045A645991DC}"/>
              </a:ext>
            </a:extLst>
          </p:cNvPr>
          <p:cNvSpPr txBox="1"/>
          <p:nvPr/>
        </p:nvSpPr>
        <p:spPr>
          <a:xfrm>
            <a:off x="5643407" y="12217692"/>
            <a:ext cx="7680960" cy="402043"/>
          </a:xfrm>
          <a:prstGeom prst="rect">
            <a:avLst/>
          </a:prstGeom>
          <a:noFill/>
          <a:ln/>
        </p:spPr>
        <p:txBody>
          <a:bodyPr wrap="square" lIns="0" tIns="0" rIns="0" bIns="0" rtlCol="0" anchor="ctr"/>
          <a:lstStyle/>
          <a:p>
            <a:pPr marL="0" indent="0">
              <a:buNone/>
            </a:pPr>
            <a:r>
              <a:rPr lang="en-US" sz="2800" dirty="0">
                <a:solidFill>
                  <a:srgbClr val="21295C"/>
                </a:solidFill>
                <a:latin typeface="Consolas" pitchFamily="34" charset="0"/>
                <a:ea typeface="Consolas" pitchFamily="34" charset="-122"/>
                <a:cs typeface="Consolas" pitchFamily="34" charset="-120"/>
              </a:rPr>
              <a:t>models:/&lt;name&gt;/&lt;version&gt;</a:t>
            </a:r>
            <a:endParaRPr lang="en-US" sz="2800" dirty="0"/>
          </a:p>
        </p:txBody>
      </p:sp>
      <p:sp>
        <p:nvSpPr>
          <p:cNvPr id="63" name="Text 25">
            <a:extLst>
              <a:ext uri="{FF2B5EF4-FFF2-40B4-BE49-F238E27FC236}">
                <a16:creationId xmlns:a16="http://schemas.microsoft.com/office/drawing/2014/main" id="{9786C7B1-1445-2B22-CEDB-7E494B5ED2B7}"/>
              </a:ext>
            </a:extLst>
          </p:cNvPr>
          <p:cNvSpPr txBox="1"/>
          <p:nvPr/>
        </p:nvSpPr>
        <p:spPr>
          <a:xfrm>
            <a:off x="13903235" y="12242367"/>
            <a:ext cx="5669280" cy="329184"/>
          </a:xfrm>
          <a:prstGeom prst="rect">
            <a:avLst/>
          </a:prstGeom>
          <a:noFill/>
          <a:ln/>
        </p:spPr>
        <p:txBody>
          <a:bodyPr wrap="square" lIns="0" tIns="0" rIns="0" bIns="0" rtlCol="0" anchor="ctr"/>
          <a:lstStyle/>
          <a:p>
            <a:pPr marL="0" indent="0">
              <a:buNone/>
            </a:pPr>
            <a:r>
              <a:rPr lang="en-US" sz="2800" dirty="0">
                <a:solidFill>
                  <a:srgbClr val="1C7293"/>
                </a:solidFill>
                <a:latin typeface="Consolas" pitchFamily="34" charset="0"/>
                <a:ea typeface="Consolas" pitchFamily="34" charset="-122"/>
                <a:cs typeface="Consolas" pitchFamily="34" charset="-120"/>
              </a:rPr>
              <a:t>e.g.  models:/MyModel/1</a:t>
            </a:r>
            <a:endParaRPr lang="en-US" sz="2800" dirty="0"/>
          </a:p>
        </p:txBody>
      </p:sp>
      <p:sp>
        <p:nvSpPr>
          <p:cNvPr id="64" name="Text 26">
            <a:extLst>
              <a:ext uri="{FF2B5EF4-FFF2-40B4-BE49-F238E27FC236}">
                <a16:creationId xmlns:a16="http://schemas.microsoft.com/office/drawing/2014/main" id="{C20138A4-8874-2CE5-C3E5-66884AB71DF4}"/>
              </a:ext>
            </a:extLst>
          </p:cNvPr>
          <p:cNvSpPr txBox="1"/>
          <p:nvPr/>
        </p:nvSpPr>
        <p:spPr>
          <a:xfrm>
            <a:off x="2074817" y="12724531"/>
            <a:ext cx="2260458" cy="595078"/>
          </a:xfrm>
          <a:prstGeom prst="rect">
            <a:avLst/>
          </a:prstGeom>
          <a:noFill/>
          <a:ln/>
        </p:spPr>
        <p:txBody>
          <a:bodyPr wrap="square" lIns="0" tIns="0" rIns="0" bIns="0" rtlCol="0" anchor="ctr"/>
          <a:lstStyle/>
          <a:p>
            <a:pPr marL="0" indent="0">
              <a:buNone/>
            </a:pPr>
            <a:r>
              <a:rPr lang="en-US" sz="2800" b="1" dirty="0">
                <a:solidFill>
                  <a:srgbClr val="232A33"/>
                </a:solidFill>
                <a:latin typeface="Calibri" pitchFamily="34" charset="0"/>
                <a:ea typeface="Calibri" pitchFamily="34" charset="-122"/>
                <a:cs typeface="Calibri" pitchFamily="34" charset="-120"/>
              </a:rPr>
              <a:t>By alias</a:t>
            </a:r>
            <a:endParaRPr lang="en-US" sz="2800" dirty="0"/>
          </a:p>
        </p:txBody>
      </p:sp>
      <p:sp>
        <p:nvSpPr>
          <p:cNvPr id="65" name="Text 27">
            <a:extLst>
              <a:ext uri="{FF2B5EF4-FFF2-40B4-BE49-F238E27FC236}">
                <a16:creationId xmlns:a16="http://schemas.microsoft.com/office/drawing/2014/main" id="{54CC64BA-C080-9BDA-4766-6B4036FA2A75}"/>
              </a:ext>
            </a:extLst>
          </p:cNvPr>
          <p:cNvSpPr txBox="1"/>
          <p:nvPr/>
        </p:nvSpPr>
        <p:spPr>
          <a:xfrm>
            <a:off x="5643407" y="12918578"/>
            <a:ext cx="8826137" cy="279544"/>
          </a:xfrm>
          <a:prstGeom prst="rect">
            <a:avLst/>
          </a:prstGeom>
          <a:noFill/>
          <a:ln/>
        </p:spPr>
        <p:txBody>
          <a:bodyPr wrap="square" lIns="0" tIns="0" rIns="0" bIns="0" rtlCol="0" anchor="ctr"/>
          <a:lstStyle/>
          <a:p>
            <a:pPr marL="0" indent="0">
              <a:buNone/>
            </a:pPr>
            <a:r>
              <a:rPr lang="en-US" sz="2800" dirty="0">
                <a:solidFill>
                  <a:srgbClr val="21295C"/>
                </a:solidFill>
                <a:latin typeface="Consolas" pitchFamily="34" charset="0"/>
                <a:ea typeface="Consolas" pitchFamily="34" charset="-122"/>
                <a:cs typeface="Consolas" pitchFamily="34" charset="-120"/>
              </a:rPr>
              <a:t>models:/&lt;name&gt;@&lt;alias&gt;</a:t>
            </a:r>
            <a:endParaRPr lang="en-US" sz="2800" dirty="0"/>
          </a:p>
        </p:txBody>
      </p:sp>
      <p:sp>
        <p:nvSpPr>
          <p:cNvPr id="66" name="Text 28">
            <a:extLst>
              <a:ext uri="{FF2B5EF4-FFF2-40B4-BE49-F238E27FC236}">
                <a16:creationId xmlns:a16="http://schemas.microsoft.com/office/drawing/2014/main" id="{68CC11FC-9C9B-ED0D-3489-3C3DB554B9F6}"/>
              </a:ext>
            </a:extLst>
          </p:cNvPr>
          <p:cNvSpPr txBox="1"/>
          <p:nvPr/>
        </p:nvSpPr>
        <p:spPr>
          <a:xfrm>
            <a:off x="13929361" y="12809146"/>
            <a:ext cx="7680959" cy="457200"/>
          </a:xfrm>
          <a:prstGeom prst="rect">
            <a:avLst/>
          </a:prstGeom>
          <a:noFill/>
          <a:ln/>
        </p:spPr>
        <p:txBody>
          <a:bodyPr wrap="square" lIns="0" tIns="0" rIns="0" bIns="0" rtlCol="0" anchor="ctr"/>
          <a:lstStyle/>
          <a:p>
            <a:pPr marL="0" indent="0">
              <a:buNone/>
            </a:pPr>
            <a:r>
              <a:rPr lang="en-US" sz="2800" dirty="0">
                <a:solidFill>
                  <a:srgbClr val="1C7293"/>
                </a:solidFill>
                <a:latin typeface="Consolas" pitchFamily="34" charset="0"/>
                <a:ea typeface="Consolas" pitchFamily="34" charset="-122"/>
                <a:cs typeface="Consolas" pitchFamily="34" charset="-120"/>
              </a:rPr>
              <a:t>e.g.  models:/MyModel@champion</a:t>
            </a: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83CF9-D635-6A0B-5A13-7D8B83E572C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6BDBFD-5709-64DC-E800-8EDBFEB6C88E}"/>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err="1">
                <a:solidFill>
                  <a:srgbClr val="1B2A4A"/>
                </a:solidFill>
                <a:latin typeface="Liter"/>
              </a:rPr>
              <a:t>MLFlow</a:t>
            </a:r>
            <a:r>
              <a:rPr lang="en-US" sz="4400" b="1" i="0" dirty="0">
                <a:solidFill>
                  <a:srgbClr val="1B2A4A"/>
                </a:solidFill>
                <a:latin typeface="Liter"/>
              </a:rPr>
              <a:t> Model Registry</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7F8752DF-0121-75DB-EAEE-7E23BA9C9EED}"/>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61CBD65-3CEC-35BC-A6AA-4522AF605A86}"/>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6" name="Text 2">
            <a:extLst>
              <a:ext uri="{FF2B5EF4-FFF2-40B4-BE49-F238E27FC236}">
                <a16:creationId xmlns:a16="http://schemas.microsoft.com/office/drawing/2014/main" id="{76B684EC-C0D4-F9B4-0AB8-308D7DB7E2CB}"/>
              </a:ext>
            </a:extLst>
          </p:cNvPr>
          <p:cNvSpPr txBox="1"/>
          <p:nvPr/>
        </p:nvSpPr>
        <p:spPr>
          <a:xfrm>
            <a:off x="1008888" y="2131269"/>
            <a:ext cx="21168795" cy="384048"/>
          </a:xfrm>
          <a:prstGeom prst="rect">
            <a:avLst/>
          </a:prstGeom>
          <a:noFill/>
          <a:ln/>
        </p:spPr>
        <p:txBody>
          <a:bodyPr wrap="square" lIns="0" tIns="0" rIns="0" bIns="0" rtlCol="0" anchor="ctr"/>
          <a:lstStyle/>
          <a:p>
            <a:pPr marL="0" indent="0">
              <a:buNone/>
            </a:pPr>
            <a:r>
              <a:rPr lang="en-US" sz="3600" i="1" dirty="0">
                <a:solidFill>
                  <a:srgbClr val="5B6B76"/>
                </a:solidFill>
                <a:latin typeface="Calibri" pitchFamily="34" charset="0"/>
                <a:ea typeface="Calibri" pitchFamily="34" charset="-122"/>
                <a:cs typeface="Calibri" pitchFamily="34" charset="-120"/>
              </a:rPr>
              <a:t>Two ways to register, load by version or alias, and how OSS MLflow compares to Databricks Unity Catalog</a:t>
            </a:r>
            <a:endParaRPr lang="en-US" sz="3600" dirty="0"/>
          </a:p>
        </p:txBody>
      </p:sp>
      <p:sp>
        <p:nvSpPr>
          <p:cNvPr id="14" name="Shape 10">
            <a:extLst>
              <a:ext uri="{FF2B5EF4-FFF2-40B4-BE49-F238E27FC236}">
                <a16:creationId xmlns:a16="http://schemas.microsoft.com/office/drawing/2014/main" id="{9DEF067F-FF0A-E1AB-3064-E486EDAA528D}"/>
              </a:ext>
            </a:extLst>
          </p:cNvPr>
          <p:cNvSpPr/>
          <p:nvPr/>
        </p:nvSpPr>
        <p:spPr>
          <a:xfrm>
            <a:off x="12728008" y="2924302"/>
            <a:ext cx="10994137" cy="5825788"/>
          </a:xfrm>
          <a:prstGeom prst="roundRect">
            <a:avLst>
              <a:gd name="adj" fmla="val 2254"/>
            </a:avLst>
          </a:prstGeom>
          <a:solidFill>
            <a:schemeClr val="tx1">
              <a:lumMod val="85000"/>
              <a:lumOff val="15000"/>
            </a:schemeClr>
          </a:solidFill>
          <a:ln/>
        </p:spPr>
        <p:txBody>
          <a:bodyPr/>
          <a:lstStyle/>
          <a:p>
            <a:endParaRPr lang="en-US"/>
          </a:p>
        </p:txBody>
      </p:sp>
      <p:sp>
        <p:nvSpPr>
          <p:cNvPr id="17" name="Text 11">
            <a:extLst>
              <a:ext uri="{FF2B5EF4-FFF2-40B4-BE49-F238E27FC236}">
                <a16:creationId xmlns:a16="http://schemas.microsoft.com/office/drawing/2014/main" id="{A1D9FB2D-016B-7D70-CF37-E2195E417D87}"/>
              </a:ext>
            </a:extLst>
          </p:cNvPr>
          <p:cNvSpPr txBox="1"/>
          <p:nvPr/>
        </p:nvSpPr>
        <p:spPr>
          <a:xfrm>
            <a:off x="13188257" y="3265124"/>
            <a:ext cx="6771786" cy="502919"/>
          </a:xfrm>
          <a:prstGeom prst="rect">
            <a:avLst/>
          </a:prstGeom>
          <a:noFill/>
          <a:ln/>
        </p:spPr>
        <p:txBody>
          <a:bodyPr wrap="square" lIns="0" tIns="0" rIns="0" bIns="0" rtlCol="0" anchor="ctr"/>
          <a:lstStyle/>
          <a:p>
            <a:pPr marL="0" indent="0">
              <a:buNone/>
            </a:pPr>
            <a:r>
              <a:rPr lang="en-US" sz="3600" b="1" kern="0" spc="120" dirty="0">
                <a:solidFill>
                  <a:srgbClr val="E8934A"/>
                </a:solidFill>
                <a:latin typeface="Calibri" pitchFamily="34" charset="0"/>
                <a:ea typeface="Calibri" pitchFamily="34" charset="-122"/>
                <a:cs typeface="Calibri" pitchFamily="34" charset="-120"/>
              </a:rPr>
              <a:t>KEY CONCEPT — MODEL ALIAS</a:t>
            </a:r>
            <a:endParaRPr lang="en-US" sz="3600" dirty="0"/>
          </a:p>
        </p:txBody>
      </p:sp>
      <p:sp>
        <p:nvSpPr>
          <p:cNvPr id="18" name="Text 12">
            <a:extLst>
              <a:ext uri="{FF2B5EF4-FFF2-40B4-BE49-F238E27FC236}">
                <a16:creationId xmlns:a16="http://schemas.microsoft.com/office/drawing/2014/main" id="{689BA867-BC20-8963-3A1B-7CE8932A2A4D}"/>
              </a:ext>
            </a:extLst>
          </p:cNvPr>
          <p:cNvSpPr txBox="1"/>
          <p:nvPr/>
        </p:nvSpPr>
        <p:spPr>
          <a:xfrm>
            <a:off x="13188257" y="3820954"/>
            <a:ext cx="9579196" cy="444724"/>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 mutable, named pointer to one specific model version.</a:t>
            </a:r>
            <a:endParaRPr lang="en-US" sz="2800" dirty="0"/>
          </a:p>
        </p:txBody>
      </p:sp>
      <p:grpSp>
        <p:nvGrpSpPr>
          <p:cNvPr id="81" name="Group 80">
            <a:extLst>
              <a:ext uri="{FF2B5EF4-FFF2-40B4-BE49-F238E27FC236}">
                <a16:creationId xmlns:a16="http://schemas.microsoft.com/office/drawing/2014/main" id="{39359719-FD73-D963-B107-752AC856189E}"/>
              </a:ext>
            </a:extLst>
          </p:cNvPr>
          <p:cNvGrpSpPr/>
          <p:nvPr/>
        </p:nvGrpSpPr>
        <p:grpSpPr>
          <a:xfrm>
            <a:off x="13710110" y="4816086"/>
            <a:ext cx="8535489" cy="2132119"/>
            <a:chOff x="14855080" y="5026916"/>
            <a:chExt cx="3383280" cy="457200"/>
          </a:xfrm>
        </p:grpSpPr>
        <p:sp>
          <p:nvSpPr>
            <p:cNvPr id="19" name="Shape 13">
              <a:extLst>
                <a:ext uri="{FF2B5EF4-FFF2-40B4-BE49-F238E27FC236}">
                  <a16:creationId xmlns:a16="http://schemas.microsoft.com/office/drawing/2014/main" id="{64C400BA-CFA5-9344-090B-E7F80CCBE306}"/>
                </a:ext>
              </a:extLst>
            </p:cNvPr>
            <p:cNvSpPr/>
            <p:nvPr/>
          </p:nvSpPr>
          <p:spPr>
            <a:xfrm>
              <a:off x="14855080" y="5026916"/>
              <a:ext cx="1737360" cy="457200"/>
            </a:xfrm>
            <a:prstGeom prst="roundRect">
              <a:avLst>
                <a:gd name="adj" fmla="val 50000"/>
              </a:avLst>
            </a:prstGeom>
            <a:solidFill>
              <a:srgbClr val="E8934A"/>
            </a:solidFill>
            <a:ln/>
          </p:spPr>
          <p:txBody>
            <a:bodyPr/>
            <a:lstStyle/>
            <a:p>
              <a:endParaRPr lang="en-US"/>
            </a:p>
          </p:txBody>
        </p:sp>
        <p:sp>
          <p:nvSpPr>
            <p:cNvPr id="20" name="Text 14">
              <a:extLst>
                <a:ext uri="{FF2B5EF4-FFF2-40B4-BE49-F238E27FC236}">
                  <a16:creationId xmlns:a16="http://schemas.microsoft.com/office/drawing/2014/main" id="{23F6D346-A352-EFF6-49A0-8A272F833328}"/>
                </a:ext>
              </a:extLst>
            </p:cNvPr>
            <p:cNvSpPr txBox="1"/>
            <p:nvPr/>
          </p:nvSpPr>
          <p:spPr>
            <a:xfrm>
              <a:off x="14855080" y="5026916"/>
              <a:ext cx="1737360" cy="457200"/>
            </a:xfrm>
            <a:prstGeom prst="rect">
              <a:avLst/>
            </a:prstGeom>
            <a:noFill/>
            <a:ln/>
          </p:spPr>
          <p:txBody>
            <a:bodyPr wrap="square" lIns="0" tIns="0" rIns="0" bIns="0" rtlCol="0" anchor="ctr"/>
            <a:lstStyle/>
            <a:p>
              <a:pPr marL="0" indent="0" algn="ctr">
                <a:buNone/>
              </a:pPr>
              <a:r>
                <a:rPr lang="en-US" sz="3200" b="1" dirty="0">
                  <a:solidFill>
                    <a:srgbClr val="21295C"/>
                  </a:solidFill>
                  <a:latin typeface="Consolas" pitchFamily="34" charset="0"/>
                  <a:ea typeface="Consolas" pitchFamily="34" charset="-122"/>
                  <a:cs typeface="Consolas" pitchFamily="34" charset="-120"/>
                </a:rPr>
                <a:t>@champion</a:t>
              </a:r>
              <a:endParaRPr lang="en-US" sz="3200" dirty="0"/>
            </a:p>
          </p:txBody>
        </p:sp>
        <p:sp>
          <p:nvSpPr>
            <p:cNvPr id="21" name="Text 15">
              <a:extLst>
                <a:ext uri="{FF2B5EF4-FFF2-40B4-BE49-F238E27FC236}">
                  <a16:creationId xmlns:a16="http://schemas.microsoft.com/office/drawing/2014/main" id="{F1012C34-3181-E49D-5E2F-1EACA9BE8A4E}"/>
                </a:ext>
              </a:extLst>
            </p:cNvPr>
            <p:cNvSpPr txBox="1"/>
            <p:nvPr/>
          </p:nvSpPr>
          <p:spPr>
            <a:xfrm>
              <a:off x="16683880" y="5026916"/>
              <a:ext cx="457200" cy="457200"/>
            </a:xfrm>
            <a:prstGeom prst="rect">
              <a:avLst/>
            </a:prstGeom>
            <a:noFill/>
            <a:ln/>
          </p:spPr>
          <p:txBody>
            <a:bodyPr wrap="square" lIns="0" tIns="0" rIns="0" bIns="0"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a:t>
              </a:r>
              <a:endParaRPr lang="en-US" sz="2800" dirty="0"/>
            </a:p>
          </p:txBody>
        </p:sp>
        <p:sp>
          <p:nvSpPr>
            <p:cNvPr id="22" name="Shape 16">
              <a:extLst>
                <a:ext uri="{FF2B5EF4-FFF2-40B4-BE49-F238E27FC236}">
                  <a16:creationId xmlns:a16="http://schemas.microsoft.com/office/drawing/2014/main" id="{968A4885-EEFA-EBBF-1860-1BAAD3B9D352}"/>
                </a:ext>
              </a:extLst>
            </p:cNvPr>
            <p:cNvSpPr/>
            <p:nvPr/>
          </p:nvSpPr>
          <p:spPr>
            <a:xfrm>
              <a:off x="17232520" y="5026916"/>
              <a:ext cx="1005840" cy="457200"/>
            </a:xfrm>
            <a:prstGeom prst="roundRect">
              <a:avLst>
                <a:gd name="adj" fmla="val 12000"/>
              </a:avLst>
            </a:prstGeom>
            <a:solidFill>
              <a:srgbClr val="1C7293"/>
            </a:solidFill>
            <a:ln/>
          </p:spPr>
          <p:txBody>
            <a:bodyPr/>
            <a:lstStyle/>
            <a:p>
              <a:endParaRPr lang="en-US"/>
            </a:p>
          </p:txBody>
        </p:sp>
        <p:sp>
          <p:nvSpPr>
            <p:cNvPr id="23" name="Text 17">
              <a:extLst>
                <a:ext uri="{FF2B5EF4-FFF2-40B4-BE49-F238E27FC236}">
                  <a16:creationId xmlns:a16="http://schemas.microsoft.com/office/drawing/2014/main" id="{7723BF42-AD14-28DB-11EF-DF70AF9A3311}"/>
                </a:ext>
              </a:extLst>
            </p:cNvPr>
            <p:cNvSpPr txBox="1"/>
            <p:nvPr/>
          </p:nvSpPr>
          <p:spPr>
            <a:xfrm>
              <a:off x="17232520" y="5026916"/>
              <a:ext cx="1005840" cy="457200"/>
            </a:xfrm>
            <a:prstGeom prst="rect">
              <a:avLst/>
            </a:prstGeom>
            <a:noFill/>
            <a:ln/>
          </p:spPr>
          <p:txBody>
            <a:bodyPr wrap="square" lIns="0" tIns="0" rIns="0" bIns="0" rtlCol="0" anchor="ctr"/>
            <a:lstStyle/>
            <a:p>
              <a:pPr marL="0" indent="0" algn="ctr">
                <a:buNone/>
              </a:pPr>
              <a:r>
                <a:rPr lang="en-US" sz="3200" b="1" dirty="0">
                  <a:solidFill>
                    <a:srgbClr val="FFFFFF"/>
                  </a:solidFill>
                  <a:latin typeface="Consolas" pitchFamily="34" charset="0"/>
                  <a:ea typeface="Consolas" pitchFamily="34" charset="-122"/>
                  <a:cs typeface="Consolas" pitchFamily="34" charset="-120"/>
                </a:rPr>
                <a:t>v1</a:t>
              </a:r>
              <a:endParaRPr lang="en-US" sz="3200" dirty="0"/>
            </a:p>
          </p:txBody>
        </p:sp>
      </p:grpSp>
      <p:sp>
        <p:nvSpPr>
          <p:cNvPr id="24" name="Text 18">
            <a:extLst>
              <a:ext uri="{FF2B5EF4-FFF2-40B4-BE49-F238E27FC236}">
                <a16:creationId xmlns:a16="http://schemas.microsoft.com/office/drawing/2014/main" id="{A41847E5-7069-E573-7DDE-1CF58A8169DF}"/>
              </a:ext>
            </a:extLst>
          </p:cNvPr>
          <p:cNvSpPr txBox="1"/>
          <p:nvPr/>
        </p:nvSpPr>
        <p:spPr>
          <a:xfrm>
            <a:off x="13295718" y="7534831"/>
            <a:ext cx="10056340" cy="743826"/>
          </a:xfrm>
          <a:prstGeom prst="rect">
            <a:avLst/>
          </a:prstGeom>
          <a:noFill/>
          <a:ln/>
        </p:spPr>
        <p:txBody>
          <a:bodyPr wrap="square" lIns="0" tIns="0" rIns="0" bIns="0" rtlCol="0" anchor="t"/>
          <a:lstStyle/>
          <a:p>
            <a:pPr marL="0" indent="0">
              <a:buNone/>
            </a:pPr>
            <a:r>
              <a:rPr lang="en-US" sz="2800" dirty="0">
                <a:solidFill>
                  <a:srgbClr val="CADCFC"/>
                </a:solidFill>
                <a:latin typeface="Calibri" pitchFamily="34" charset="0"/>
                <a:ea typeface="Calibri" pitchFamily="34" charset="-122"/>
                <a:cs typeface="Calibri" pitchFamily="34" charset="-120"/>
              </a:rPr>
              <a:t>Reassign the alias to point at a new version to roll out a model — the alias name in downstream code and pipelines never changes.</a:t>
            </a:r>
            <a:endParaRPr lang="en-US" sz="2800" dirty="0"/>
          </a:p>
        </p:txBody>
      </p:sp>
      <p:sp>
        <p:nvSpPr>
          <p:cNvPr id="25" name="Text 19">
            <a:extLst>
              <a:ext uri="{FF2B5EF4-FFF2-40B4-BE49-F238E27FC236}">
                <a16:creationId xmlns:a16="http://schemas.microsoft.com/office/drawing/2014/main" id="{37FF8AAE-628D-9966-A52A-8DB7E9FEC267}"/>
              </a:ext>
            </a:extLst>
          </p:cNvPr>
          <p:cNvSpPr txBox="1"/>
          <p:nvPr/>
        </p:nvSpPr>
        <p:spPr>
          <a:xfrm>
            <a:off x="1008888" y="9215718"/>
            <a:ext cx="17493343" cy="475488"/>
          </a:xfrm>
          <a:prstGeom prst="rect">
            <a:avLst/>
          </a:prstGeom>
          <a:noFill/>
          <a:ln/>
        </p:spPr>
        <p:txBody>
          <a:bodyPr wrap="square" lIns="0" tIns="0" rIns="0" bIns="0" rtlCol="0" anchor="ctr"/>
          <a:lstStyle/>
          <a:p>
            <a:pPr marL="0" indent="0">
              <a:buNone/>
            </a:pPr>
            <a:r>
              <a:rPr lang="en-US" sz="3600" b="1" kern="0" spc="120" dirty="0">
                <a:solidFill>
                  <a:srgbClr val="5B6B76"/>
                </a:solidFill>
                <a:latin typeface="Calibri" pitchFamily="34" charset="0"/>
                <a:ea typeface="Calibri" pitchFamily="34" charset="-122"/>
                <a:cs typeface="Calibri" pitchFamily="34" charset="-120"/>
              </a:rPr>
              <a:t>OSS MLFLOW  vs.  DATABRICKS UNITY CATALOG</a:t>
            </a:r>
            <a:endParaRPr lang="en-US" sz="3600" dirty="0"/>
          </a:p>
        </p:txBody>
      </p:sp>
      <p:grpSp>
        <p:nvGrpSpPr>
          <p:cNvPr id="71" name="Group 70">
            <a:extLst>
              <a:ext uri="{FF2B5EF4-FFF2-40B4-BE49-F238E27FC236}">
                <a16:creationId xmlns:a16="http://schemas.microsoft.com/office/drawing/2014/main" id="{E95D503B-0B3D-564A-5E3B-17CDC1CEA63B}"/>
              </a:ext>
            </a:extLst>
          </p:cNvPr>
          <p:cNvGrpSpPr/>
          <p:nvPr/>
        </p:nvGrpSpPr>
        <p:grpSpPr>
          <a:xfrm>
            <a:off x="993431" y="2936657"/>
            <a:ext cx="11198570" cy="5813433"/>
            <a:chOff x="502920" y="1536192"/>
            <a:chExt cx="5806440" cy="3246120"/>
          </a:xfrm>
        </p:grpSpPr>
        <p:grpSp>
          <p:nvGrpSpPr>
            <p:cNvPr id="72" name="Group 71">
              <a:extLst>
                <a:ext uri="{FF2B5EF4-FFF2-40B4-BE49-F238E27FC236}">
                  <a16:creationId xmlns:a16="http://schemas.microsoft.com/office/drawing/2014/main" id="{CC15C090-5CD1-8D11-5678-E984E2DBB6F6}"/>
                </a:ext>
              </a:extLst>
            </p:cNvPr>
            <p:cNvGrpSpPr/>
            <p:nvPr/>
          </p:nvGrpSpPr>
          <p:grpSpPr>
            <a:xfrm>
              <a:off x="502920" y="1536192"/>
              <a:ext cx="5806440" cy="3246120"/>
              <a:chOff x="502920" y="1536192"/>
              <a:chExt cx="5806440" cy="3246120"/>
            </a:xfrm>
          </p:grpSpPr>
          <p:grpSp>
            <p:nvGrpSpPr>
              <p:cNvPr id="74" name="Group 73">
                <a:extLst>
                  <a:ext uri="{FF2B5EF4-FFF2-40B4-BE49-F238E27FC236}">
                    <a16:creationId xmlns:a16="http://schemas.microsoft.com/office/drawing/2014/main" id="{86200C00-1A22-9799-0C40-ACF66AFCA98B}"/>
                  </a:ext>
                </a:extLst>
              </p:cNvPr>
              <p:cNvGrpSpPr/>
              <p:nvPr/>
            </p:nvGrpSpPr>
            <p:grpSpPr>
              <a:xfrm>
                <a:off x="502920" y="1536192"/>
                <a:ext cx="5806440" cy="347472"/>
                <a:chOff x="502920" y="1536192"/>
                <a:chExt cx="5806440" cy="347472"/>
              </a:xfrm>
            </p:grpSpPr>
            <p:sp>
              <p:nvSpPr>
                <p:cNvPr id="76" name="Shape 3">
                  <a:extLst>
                    <a:ext uri="{FF2B5EF4-FFF2-40B4-BE49-F238E27FC236}">
                      <a16:creationId xmlns:a16="http://schemas.microsoft.com/office/drawing/2014/main" id="{3055A212-E9FB-E693-173D-62BA51C1B312}"/>
                    </a:ext>
                  </a:extLst>
                </p:cNvPr>
                <p:cNvSpPr/>
                <p:nvPr/>
              </p:nvSpPr>
              <p:spPr>
                <a:xfrm>
                  <a:off x="502920" y="1536192"/>
                  <a:ext cx="5806440" cy="347472"/>
                </a:xfrm>
                <a:prstGeom prst="roundRect">
                  <a:avLst>
                    <a:gd name="adj" fmla="val 13158"/>
                  </a:avLst>
                </a:prstGeom>
                <a:solidFill>
                  <a:srgbClr val="0F1530"/>
                </a:solidFill>
                <a:ln/>
              </p:spPr>
              <p:txBody>
                <a:bodyPr/>
                <a:lstStyle/>
                <a:p>
                  <a:endParaRPr lang="en-US"/>
                </a:p>
              </p:txBody>
            </p:sp>
            <p:sp>
              <p:nvSpPr>
                <p:cNvPr id="77" name="Shape 4">
                  <a:extLst>
                    <a:ext uri="{FF2B5EF4-FFF2-40B4-BE49-F238E27FC236}">
                      <a16:creationId xmlns:a16="http://schemas.microsoft.com/office/drawing/2014/main" id="{93200077-88D1-6376-2C1D-4051AFF71DBA}"/>
                    </a:ext>
                  </a:extLst>
                </p:cNvPr>
                <p:cNvSpPr/>
                <p:nvPr/>
              </p:nvSpPr>
              <p:spPr>
                <a:xfrm>
                  <a:off x="630936" y="1641348"/>
                  <a:ext cx="128016" cy="128016"/>
                </a:xfrm>
                <a:prstGeom prst="ellipse">
                  <a:avLst/>
                </a:prstGeom>
                <a:solidFill>
                  <a:srgbClr val="E8594F"/>
                </a:solidFill>
                <a:ln/>
              </p:spPr>
              <p:txBody>
                <a:bodyPr/>
                <a:lstStyle/>
                <a:p>
                  <a:endParaRPr lang="en-US"/>
                </a:p>
              </p:txBody>
            </p:sp>
            <p:sp>
              <p:nvSpPr>
                <p:cNvPr id="78" name="Shape 5">
                  <a:extLst>
                    <a:ext uri="{FF2B5EF4-FFF2-40B4-BE49-F238E27FC236}">
                      <a16:creationId xmlns:a16="http://schemas.microsoft.com/office/drawing/2014/main" id="{D06E9DDC-F447-DAE9-305E-AB8BB19E2A80}"/>
                    </a:ext>
                  </a:extLst>
                </p:cNvPr>
                <p:cNvSpPr/>
                <p:nvPr/>
              </p:nvSpPr>
              <p:spPr>
                <a:xfrm>
                  <a:off x="822960" y="1641348"/>
                  <a:ext cx="128016" cy="128016"/>
                </a:xfrm>
                <a:prstGeom prst="ellipse">
                  <a:avLst/>
                </a:prstGeom>
                <a:solidFill>
                  <a:srgbClr val="F2C265"/>
                </a:solidFill>
                <a:ln/>
              </p:spPr>
              <p:txBody>
                <a:bodyPr/>
                <a:lstStyle/>
                <a:p>
                  <a:endParaRPr lang="en-US"/>
                </a:p>
              </p:txBody>
            </p:sp>
            <p:sp>
              <p:nvSpPr>
                <p:cNvPr id="79" name="Shape 6">
                  <a:extLst>
                    <a:ext uri="{FF2B5EF4-FFF2-40B4-BE49-F238E27FC236}">
                      <a16:creationId xmlns:a16="http://schemas.microsoft.com/office/drawing/2014/main" id="{9E10DCB6-CDB1-87B7-5FF1-C469DEB4EE02}"/>
                    </a:ext>
                  </a:extLst>
                </p:cNvPr>
                <p:cNvSpPr/>
                <p:nvPr/>
              </p:nvSpPr>
              <p:spPr>
                <a:xfrm>
                  <a:off x="1014984" y="1641348"/>
                  <a:ext cx="128016" cy="128016"/>
                </a:xfrm>
                <a:prstGeom prst="ellipse">
                  <a:avLst/>
                </a:prstGeom>
                <a:solidFill>
                  <a:srgbClr val="4FC77E"/>
                </a:solidFill>
                <a:ln/>
              </p:spPr>
              <p:txBody>
                <a:bodyPr/>
                <a:lstStyle/>
                <a:p>
                  <a:endParaRPr lang="en-US"/>
                </a:p>
              </p:txBody>
            </p:sp>
            <p:sp>
              <p:nvSpPr>
                <p:cNvPr id="80" name="Text 7">
                  <a:extLst>
                    <a:ext uri="{FF2B5EF4-FFF2-40B4-BE49-F238E27FC236}">
                      <a16:creationId xmlns:a16="http://schemas.microsoft.com/office/drawing/2014/main" id="{3EFC1734-7691-FA1D-32E4-B99787D26E4D}"/>
                    </a:ext>
                  </a:extLst>
                </p:cNvPr>
                <p:cNvSpPr txBox="1"/>
                <p:nvPr/>
              </p:nvSpPr>
              <p:spPr>
                <a:xfrm>
                  <a:off x="1325880" y="1536192"/>
                  <a:ext cx="3657600" cy="347472"/>
                </a:xfrm>
                <a:prstGeom prst="rect">
                  <a:avLst/>
                </a:prstGeom>
                <a:noFill/>
                <a:ln/>
              </p:spPr>
              <p:txBody>
                <a:bodyPr wrap="square" lIns="0" tIns="0" rIns="0" bIns="0" rtlCol="0" anchor="ctr"/>
                <a:lstStyle/>
                <a:p>
                  <a:pPr marL="0" indent="0">
                    <a:buNone/>
                  </a:pPr>
                  <a:r>
                    <a:rPr lang="en-US" sz="1000" dirty="0">
                      <a:solidFill>
                        <a:srgbClr val="9FB0C6"/>
                      </a:solidFill>
                      <a:latin typeface="Consolas" pitchFamily="34" charset="0"/>
                      <a:ea typeface="Consolas" pitchFamily="34" charset="-122"/>
                      <a:cs typeface="Consolas" pitchFamily="34" charset="-120"/>
                    </a:rPr>
                    <a:t>register_and_load.py</a:t>
                  </a:r>
                  <a:endParaRPr lang="en-US" sz="1000" dirty="0"/>
                </a:p>
              </p:txBody>
            </p:sp>
          </p:grpSp>
          <p:sp>
            <p:nvSpPr>
              <p:cNvPr id="75" name="Shape 8">
                <a:extLst>
                  <a:ext uri="{FF2B5EF4-FFF2-40B4-BE49-F238E27FC236}">
                    <a16:creationId xmlns:a16="http://schemas.microsoft.com/office/drawing/2014/main" id="{FEBF6FB0-0DFD-CFE6-6DD9-C3FFF9AE9FCF}"/>
                  </a:ext>
                </a:extLst>
              </p:cNvPr>
              <p:cNvSpPr/>
              <p:nvPr/>
            </p:nvSpPr>
            <p:spPr>
              <a:xfrm>
                <a:off x="502920" y="1883664"/>
                <a:ext cx="5806440" cy="2898648"/>
              </a:xfrm>
              <a:prstGeom prst="rect">
                <a:avLst/>
              </a:prstGeom>
              <a:solidFill>
                <a:srgbClr val="1B2340"/>
              </a:solidFill>
              <a:ln/>
            </p:spPr>
            <p:txBody>
              <a:bodyPr/>
              <a:lstStyle/>
              <a:p>
                <a:endParaRPr lang="en-US"/>
              </a:p>
            </p:txBody>
          </p:sp>
        </p:grpSp>
        <p:sp>
          <p:nvSpPr>
            <p:cNvPr id="73" name="Text 9">
              <a:extLst>
                <a:ext uri="{FF2B5EF4-FFF2-40B4-BE49-F238E27FC236}">
                  <a16:creationId xmlns:a16="http://schemas.microsoft.com/office/drawing/2014/main" id="{D024AFFB-E992-820F-AB12-175DC18A1DBB}"/>
                </a:ext>
              </a:extLst>
            </p:cNvPr>
            <p:cNvSpPr txBox="1"/>
            <p:nvPr/>
          </p:nvSpPr>
          <p:spPr>
            <a:xfrm>
              <a:off x="704088" y="2029968"/>
              <a:ext cx="5440680" cy="2606040"/>
            </a:xfrm>
            <a:prstGeom prst="rect">
              <a:avLst/>
            </a:prstGeom>
            <a:noFill/>
            <a:ln/>
          </p:spPr>
          <p:txBody>
            <a:bodyPr wrap="square" lIns="0" tIns="0" rIns="0" bIns="0" rtlCol="0" anchor="t"/>
            <a:lstStyle/>
            <a:p>
              <a:pPr marL="0" indent="0">
                <a:buNone/>
              </a:pPr>
              <a:r>
                <a:rPr lang="en-US" sz="2000" dirty="0">
                  <a:solidFill>
                    <a:srgbClr val="7FB8A6"/>
                  </a:solidFill>
                  <a:latin typeface="Consolas" pitchFamily="34" charset="0"/>
                  <a:ea typeface="Consolas" pitchFamily="34" charset="-122"/>
                  <a:cs typeface="Consolas" pitchFamily="34" charset="-120"/>
                </a:rPr>
                <a:t># Option 1 -- register while logging</a:t>
              </a:r>
              <a:endParaRPr lang="en-US" sz="2000" dirty="0"/>
            </a:p>
            <a:p>
              <a:pPr marL="0" indent="0">
                <a:buNone/>
              </a:pPr>
              <a:r>
                <a:rPr lang="en-US" sz="2000" dirty="0" err="1">
                  <a:solidFill>
                    <a:srgbClr val="D6E4F0"/>
                  </a:solidFill>
                  <a:latin typeface="Consolas" pitchFamily="34" charset="0"/>
                  <a:ea typeface="Consolas" pitchFamily="34" charset="-122"/>
                  <a:cs typeface="Consolas" pitchFamily="34" charset="-120"/>
                </a:rPr>
                <a:t>mlflow.sklearn.log_model</a:t>
              </a:r>
              <a:r>
                <a:rPr lang="en-US" sz="2000" dirty="0">
                  <a:solidFill>
                    <a:srgbClr val="D6E4F0"/>
                  </a:solidFill>
                  <a:latin typeface="Consolas" pitchFamily="34" charset="0"/>
                  <a:ea typeface="Consolas" pitchFamily="34" charset="-122"/>
                  <a:cs typeface="Consolas" pitchFamily="34" charset="-120"/>
                </a:rPr>
                <a:t>(</a:t>
              </a:r>
              <a:endParaRPr lang="en-US" sz="2000" dirty="0"/>
            </a:p>
            <a:p>
              <a:pPr marL="0" indent="0">
                <a:buNone/>
              </a:pPr>
              <a:r>
                <a:rPr lang="en-US" sz="2000" dirty="0">
                  <a:solidFill>
                    <a:srgbClr val="D6E4F0"/>
                  </a:solidFill>
                  <a:latin typeface="Consolas" pitchFamily="34" charset="0"/>
                  <a:ea typeface="Consolas" pitchFamily="34" charset="-122"/>
                  <a:cs typeface="Consolas" pitchFamily="34" charset="-120"/>
                </a:rPr>
                <a:t>    ..., </a:t>
              </a:r>
              <a:r>
                <a:rPr lang="en-US" sz="2000" dirty="0" err="1">
                  <a:solidFill>
                    <a:srgbClr val="D6E4F0"/>
                  </a:solidFill>
                  <a:latin typeface="Consolas" pitchFamily="34" charset="0"/>
                  <a:ea typeface="Consolas" pitchFamily="34" charset="-122"/>
                  <a:cs typeface="Consolas" pitchFamily="34" charset="-120"/>
                </a:rPr>
                <a:t>registered_model_name</a:t>
              </a:r>
              <a:r>
                <a:rPr lang="en-US" sz="2000" dirty="0">
                  <a:solidFill>
                    <a:srgbClr val="D6E4F0"/>
                  </a:solidFill>
                  <a:latin typeface="Consolas" pitchFamily="34" charset="0"/>
                  <a:ea typeface="Consolas" pitchFamily="34" charset="-122"/>
                  <a:cs typeface="Consolas" pitchFamily="34" charset="-120"/>
                </a:rPr>
                <a:t>=”model"</a:t>
              </a:r>
              <a:endParaRPr lang="en-US" sz="2000" dirty="0"/>
            </a:p>
            <a:p>
              <a:pPr marL="0" indent="0">
                <a:buNone/>
              </a:pPr>
              <a:r>
                <a:rPr lang="en-US" sz="2000" dirty="0">
                  <a:solidFill>
                    <a:srgbClr val="D6E4F0"/>
                  </a:solidFill>
                  <a:latin typeface="Consolas" pitchFamily="34" charset="0"/>
                  <a:ea typeface="Consolas" pitchFamily="34" charset="-122"/>
                  <a:cs typeface="Consolas" pitchFamily="34" charset="-120"/>
                </a:rPr>
                <a:t>)</a:t>
              </a:r>
              <a:endParaRPr lang="en-US" sz="2000" dirty="0"/>
            </a:p>
            <a:p>
              <a:pPr marL="0" indent="0">
                <a:buNone/>
              </a:pPr>
              <a:r>
                <a:rPr lang="en-US" sz="2000" dirty="0">
                  <a:solidFill>
                    <a:srgbClr val="D6E4F0"/>
                  </a:solidFill>
                  <a:latin typeface="Consolas" pitchFamily="34" charset="0"/>
                  <a:ea typeface="Consolas" pitchFamily="34" charset="-122"/>
                  <a:cs typeface="Consolas" pitchFamily="34" charset="-120"/>
                </a:rPr>
                <a:t> </a:t>
              </a:r>
              <a:endParaRPr lang="en-US" sz="2000" dirty="0"/>
            </a:p>
            <a:p>
              <a:pPr marL="0" indent="0">
                <a:buNone/>
              </a:pPr>
              <a:r>
                <a:rPr lang="en-US" sz="2000" dirty="0">
                  <a:solidFill>
                    <a:srgbClr val="7FB8A6"/>
                  </a:solidFill>
                  <a:latin typeface="Consolas" pitchFamily="34" charset="0"/>
                  <a:ea typeface="Consolas" pitchFamily="34" charset="-122"/>
                  <a:cs typeface="Consolas" pitchFamily="34" charset="-120"/>
                </a:rPr>
                <a:t># Option 2 -- register an already-logged model</a:t>
              </a:r>
              <a:endParaRPr lang="en-US" sz="2000" dirty="0"/>
            </a:p>
            <a:p>
              <a:pPr marL="0" indent="0">
                <a:buNone/>
              </a:pPr>
              <a:r>
                <a:rPr lang="en-US" sz="2000" dirty="0">
                  <a:solidFill>
                    <a:srgbClr val="D6E4F0"/>
                  </a:solidFill>
                  <a:latin typeface="Consolas" pitchFamily="34" charset="0"/>
                  <a:ea typeface="Consolas" pitchFamily="34" charset="-122"/>
                  <a:cs typeface="Consolas" pitchFamily="34" charset="-120"/>
                </a:rPr>
                <a:t>mlflow.register_model(</a:t>
              </a:r>
              <a:endParaRPr lang="en-US" sz="2000" dirty="0"/>
            </a:p>
            <a:p>
              <a:r>
                <a:rPr lang="en-ID" sz="2000" dirty="0">
                  <a:solidFill>
                    <a:srgbClr val="D6E4F0"/>
                  </a:solidFill>
                  <a:latin typeface="Consolas" pitchFamily="34" charset="0"/>
                  <a:cs typeface="Consolas" pitchFamily="34" charset="-120"/>
                </a:rPr>
                <a:t>	</a:t>
              </a:r>
              <a:r>
                <a:rPr lang="en-ID" sz="2000" dirty="0" err="1">
                  <a:solidFill>
                    <a:srgbClr val="D6E4F0"/>
                  </a:solidFill>
                  <a:latin typeface="Consolas" pitchFamily="34" charset="0"/>
                  <a:cs typeface="Consolas" pitchFamily="34" charset="-120"/>
                </a:rPr>
                <a:t>f"runs</a:t>
              </a:r>
              <a:r>
                <a:rPr lang="en-ID" sz="2000" dirty="0">
                  <a:solidFill>
                    <a:srgbClr val="D6E4F0"/>
                  </a:solidFill>
                  <a:latin typeface="Consolas" pitchFamily="34" charset="0"/>
                  <a:cs typeface="Consolas" pitchFamily="34" charset="-120"/>
                </a:rPr>
                <a:t>:/{</a:t>
              </a:r>
              <a:r>
                <a:rPr lang="en-ID" sz="2000" dirty="0" err="1">
                  <a:solidFill>
                    <a:srgbClr val="D6E4F0"/>
                  </a:solidFill>
                  <a:latin typeface="Consolas" pitchFamily="34" charset="0"/>
                  <a:cs typeface="Consolas" pitchFamily="34" charset="-120"/>
                </a:rPr>
                <a:t>best_run_id</a:t>
              </a:r>
              <a:r>
                <a:rPr lang="en-ID" sz="2000" dirty="0">
                  <a:solidFill>
                    <a:srgbClr val="D6E4F0"/>
                  </a:solidFill>
                  <a:latin typeface="Consolas" pitchFamily="34" charset="0"/>
                  <a:cs typeface="Consolas" pitchFamily="34" charset="-120"/>
                </a:rPr>
                <a:t>}/</a:t>
              </a:r>
              <a:r>
                <a:rPr lang="en-ID" sz="2000" dirty="0" err="1">
                  <a:solidFill>
                    <a:srgbClr val="D6E4F0"/>
                  </a:solidFill>
                  <a:latin typeface="Consolas" pitchFamily="34" charset="0"/>
                  <a:cs typeface="Consolas" pitchFamily="34" charset="-120"/>
                </a:rPr>
                <a:t>model”,"insurance</a:t>
              </a:r>
              <a:r>
                <a:rPr lang="en-ID" sz="2000" dirty="0">
                  <a:solidFill>
                    <a:srgbClr val="D6E4F0"/>
                  </a:solidFill>
                  <a:latin typeface="Consolas" pitchFamily="34" charset="0"/>
                  <a:cs typeface="Consolas" pitchFamily="34" charset="-120"/>
                </a:rPr>
                <a:t>-approval-model"</a:t>
              </a:r>
              <a:r>
                <a:rPr lang="en-US" sz="2000" dirty="0">
                  <a:solidFill>
                    <a:srgbClr val="D6E4F0"/>
                  </a:solidFill>
                  <a:latin typeface="Consolas" pitchFamily="34" charset="0"/>
                  <a:ea typeface="Consolas" pitchFamily="34" charset="-122"/>
                  <a:cs typeface="Consolas" pitchFamily="34" charset="-120"/>
                </a:rPr>
                <a:t>)</a:t>
              </a:r>
              <a:endParaRPr lang="en-US" sz="2000" dirty="0"/>
            </a:p>
            <a:p>
              <a:pPr marL="0" indent="0">
                <a:buNone/>
              </a:pPr>
              <a:r>
                <a:rPr lang="en-US" sz="2000" dirty="0">
                  <a:solidFill>
                    <a:srgbClr val="D6E4F0"/>
                  </a:solidFill>
                  <a:latin typeface="Consolas" pitchFamily="34" charset="0"/>
                  <a:ea typeface="Consolas" pitchFamily="34" charset="-122"/>
                  <a:cs typeface="Consolas" pitchFamily="34" charset="-120"/>
                </a:rPr>
                <a:t> </a:t>
              </a:r>
              <a:endParaRPr lang="en-US" sz="2000" dirty="0"/>
            </a:p>
            <a:p>
              <a:pPr marL="0" indent="0">
                <a:buNone/>
              </a:pPr>
              <a:r>
                <a:rPr lang="en-US" sz="2000" dirty="0">
                  <a:solidFill>
                    <a:srgbClr val="7FB8A6"/>
                  </a:solidFill>
                  <a:latin typeface="Consolas" pitchFamily="34" charset="0"/>
                  <a:ea typeface="Consolas" pitchFamily="34" charset="-122"/>
                  <a:cs typeface="Consolas" pitchFamily="34" charset="-120"/>
                </a:rPr>
                <a:t># Load a specific version</a:t>
              </a:r>
              <a:endParaRPr lang="en-US" sz="2000" dirty="0"/>
            </a:p>
            <a:p>
              <a:pPr marL="0" indent="0">
                <a:buNone/>
              </a:pPr>
              <a:r>
                <a:rPr lang="en-US" sz="2000" dirty="0" err="1">
                  <a:solidFill>
                    <a:srgbClr val="D6E4F0"/>
                  </a:solidFill>
                  <a:latin typeface="Consolas" pitchFamily="34" charset="0"/>
                  <a:ea typeface="Consolas" pitchFamily="34" charset="-122"/>
                  <a:cs typeface="Consolas" pitchFamily="34" charset="-120"/>
                </a:rPr>
                <a:t>mlflow.sklearn.load_model</a:t>
              </a:r>
              <a:r>
                <a:rPr lang="en-US" sz="2000" dirty="0">
                  <a:solidFill>
                    <a:srgbClr val="D6E4F0"/>
                  </a:solidFill>
                  <a:latin typeface="Consolas" pitchFamily="34" charset="0"/>
                  <a:ea typeface="Consolas" pitchFamily="34" charset="-122"/>
                  <a:cs typeface="Consolas" pitchFamily="34" charset="-120"/>
                </a:rPr>
                <a:t>("models:/model/1")</a:t>
              </a:r>
              <a:endParaRPr lang="en-US" sz="2000" dirty="0"/>
            </a:p>
            <a:p>
              <a:pPr marL="0" indent="0">
                <a:buNone/>
              </a:pPr>
              <a:r>
                <a:rPr lang="en-US" sz="2000" dirty="0">
                  <a:solidFill>
                    <a:srgbClr val="D6E4F0"/>
                  </a:solidFill>
                  <a:latin typeface="Consolas" pitchFamily="34" charset="0"/>
                  <a:ea typeface="Consolas" pitchFamily="34" charset="-122"/>
                  <a:cs typeface="Consolas" pitchFamily="34" charset="-120"/>
                </a:rPr>
                <a:t> </a:t>
              </a:r>
              <a:endParaRPr lang="en-US" sz="2000" dirty="0"/>
            </a:p>
            <a:p>
              <a:pPr marL="0" indent="0">
                <a:buNone/>
              </a:pPr>
              <a:r>
                <a:rPr lang="en-US" sz="2000" dirty="0">
                  <a:solidFill>
                    <a:srgbClr val="7FB8A6"/>
                  </a:solidFill>
                  <a:latin typeface="Consolas" pitchFamily="34" charset="0"/>
                  <a:ea typeface="Consolas" pitchFamily="34" charset="-122"/>
                  <a:cs typeface="Consolas" pitchFamily="34" charset="-120"/>
                </a:rPr>
                <a:t># Load via alias -- consumer code never changes</a:t>
              </a:r>
              <a:endParaRPr lang="en-US" sz="2000" dirty="0"/>
            </a:p>
            <a:p>
              <a:pPr marL="0" indent="0">
                <a:buNone/>
              </a:pPr>
              <a:r>
                <a:rPr lang="en-US" sz="2000" dirty="0" err="1">
                  <a:solidFill>
                    <a:srgbClr val="D6E4F0"/>
                  </a:solidFill>
                  <a:latin typeface="Consolas" pitchFamily="34" charset="0"/>
                  <a:ea typeface="Consolas" pitchFamily="34" charset="-122"/>
                  <a:cs typeface="Consolas" pitchFamily="34" charset="-120"/>
                </a:rPr>
                <a:t>mlflow.sklearn.load_model</a:t>
              </a:r>
              <a:r>
                <a:rPr lang="en-US" sz="2000" dirty="0">
                  <a:solidFill>
                    <a:srgbClr val="D6E4F0"/>
                  </a:solidFill>
                  <a:latin typeface="Consolas" pitchFamily="34" charset="0"/>
                  <a:ea typeface="Consolas" pitchFamily="34" charset="-122"/>
                  <a:cs typeface="Consolas" pitchFamily="34" charset="-120"/>
                </a:rPr>
                <a:t>("models:/</a:t>
              </a:r>
              <a:r>
                <a:rPr lang="en-US" sz="2000" dirty="0" err="1">
                  <a:solidFill>
                    <a:srgbClr val="D6E4F0"/>
                  </a:solidFill>
                  <a:latin typeface="Consolas" pitchFamily="34" charset="0"/>
                  <a:ea typeface="Consolas" pitchFamily="34" charset="-122"/>
                  <a:cs typeface="Consolas" pitchFamily="34" charset="-120"/>
                </a:rPr>
                <a:t>model@champion</a:t>
              </a:r>
              <a:r>
                <a:rPr lang="en-US" sz="2000" dirty="0">
                  <a:solidFill>
                    <a:srgbClr val="D6E4F0"/>
                  </a:solidFill>
                  <a:latin typeface="Consolas" pitchFamily="34" charset="0"/>
                  <a:ea typeface="Consolas" pitchFamily="34" charset="-122"/>
                  <a:cs typeface="Consolas" pitchFamily="34" charset="-120"/>
                </a:rPr>
                <a:t>")</a:t>
              </a:r>
              <a:endParaRPr lang="en-US" sz="2000" dirty="0"/>
            </a:p>
            <a:p>
              <a:pPr marL="0" indent="0">
                <a:buNone/>
              </a:pPr>
              <a:r>
                <a:rPr lang="en-US" sz="1150" dirty="0">
                  <a:solidFill>
                    <a:srgbClr val="D6E4F0"/>
                  </a:solidFill>
                  <a:latin typeface="Consolas" pitchFamily="34" charset="0"/>
                  <a:ea typeface="Consolas" pitchFamily="34" charset="-122"/>
                  <a:cs typeface="Consolas" pitchFamily="34" charset="-120"/>
                </a:rPr>
                <a:t> </a:t>
              </a:r>
              <a:endParaRPr lang="en-US" sz="1150" dirty="0"/>
            </a:p>
          </p:txBody>
        </p:sp>
      </p:grpSp>
      <p:graphicFrame>
        <p:nvGraphicFramePr>
          <p:cNvPr id="82" name="Table 81">
            <a:extLst>
              <a:ext uri="{FF2B5EF4-FFF2-40B4-BE49-F238E27FC236}">
                <a16:creationId xmlns:a16="http://schemas.microsoft.com/office/drawing/2014/main" id="{F140148B-31ED-9F78-25A6-4320094A1407}"/>
              </a:ext>
            </a:extLst>
          </p:cNvPr>
          <p:cNvGraphicFramePr>
            <a:graphicFrameLocks noGrp="1"/>
          </p:cNvGraphicFramePr>
          <p:nvPr>
            <p:extLst>
              <p:ext uri="{D42A27DB-BD31-4B8C-83A1-F6EECF244321}">
                <p14:modId xmlns:p14="http://schemas.microsoft.com/office/powerpoint/2010/main" val="4018029853"/>
              </p:ext>
            </p:extLst>
          </p:nvPr>
        </p:nvGraphicFramePr>
        <p:xfrm>
          <a:off x="1008888" y="9847371"/>
          <a:ext cx="22713258" cy="3251233"/>
        </p:xfrm>
        <a:graphic>
          <a:graphicData uri="http://schemas.openxmlformats.org/drawingml/2006/table">
            <a:tbl>
              <a:tblPr firstRow="1" bandRow="1">
                <a:tableStyleId>{073A0DAA-6AF3-43AB-8588-CEC1D06C72B9}</a:tableStyleId>
              </a:tblPr>
              <a:tblGrid>
                <a:gridCol w="4033375">
                  <a:extLst>
                    <a:ext uri="{9D8B030D-6E8A-4147-A177-3AD203B41FA5}">
                      <a16:colId xmlns:a16="http://schemas.microsoft.com/office/drawing/2014/main" val="1521679281"/>
                    </a:ext>
                  </a:extLst>
                </a:gridCol>
                <a:gridCol w="8229600">
                  <a:extLst>
                    <a:ext uri="{9D8B030D-6E8A-4147-A177-3AD203B41FA5}">
                      <a16:colId xmlns:a16="http://schemas.microsoft.com/office/drawing/2014/main" val="597864668"/>
                    </a:ext>
                  </a:extLst>
                </a:gridCol>
                <a:gridCol w="10450283">
                  <a:extLst>
                    <a:ext uri="{9D8B030D-6E8A-4147-A177-3AD203B41FA5}">
                      <a16:colId xmlns:a16="http://schemas.microsoft.com/office/drawing/2014/main" val="2485764218"/>
                    </a:ext>
                  </a:extLst>
                </a:gridCol>
              </a:tblGrid>
              <a:tr h="674209">
                <a:tc>
                  <a:txBody>
                    <a:bodyPr/>
                    <a:lstStyle/>
                    <a:p>
                      <a:pPr algn="ctr"/>
                      <a:r>
                        <a:rPr lang="en-US" sz="3200" b="1" dirty="0">
                          <a:solidFill>
                            <a:srgbClr val="FFFFFF"/>
                          </a:solidFill>
                        </a:rPr>
                        <a:t>Aspect</a:t>
                      </a:r>
                      <a:endParaRPr lang="en-US" sz="3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solidFill>
                            <a:srgbClr val="FFFFFF"/>
                          </a:solidFill>
                        </a:rPr>
                        <a:t>OSS </a:t>
                      </a:r>
                      <a:r>
                        <a:rPr lang="en-US" sz="3200" b="1" dirty="0" err="1">
                          <a:solidFill>
                            <a:srgbClr val="FFFFFF"/>
                          </a:solidFill>
                        </a:rPr>
                        <a:t>MLflow</a:t>
                      </a:r>
                      <a:endParaRPr lang="en-US" sz="3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solidFill>
                            <a:srgbClr val="FFFFFF"/>
                          </a:solidFill>
                        </a:rPr>
                        <a:t>Databricks Unity Catalog</a:t>
                      </a:r>
                      <a:endParaRPr lang="en-US" sz="3200" dirty="0"/>
                    </a:p>
                  </a:txBody>
                  <a:tcPr/>
                </a:tc>
                <a:extLst>
                  <a:ext uri="{0D108BD9-81ED-4DB2-BD59-A6C34878D82A}">
                    <a16:rowId xmlns:a16="http://schemas.microsoft.com/office/drawing/2014/main" val="3984886275"/>
                  </a:ext>
                </a:extLst>
              </a:tr>
              <a:tr h="6442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21295C"/>
                          </a:solidFill>
                          <a:latin typeface="Calibri" panose="020F0502020204030204" pitchFamily="34" charset="0"/>
                          <a:ea typeface="Calibri" pitchFamily="34" charset="-122"/>
                          <a:cs typeface="Calibri" panose="020F0502020204030204" pitchFamily="34" charset="0"/>
                        </a:rPr>
                        <a:t>Registry URI</a:t>
                      </a:r>
                      <a:endParaRPr lang="en-US" sz="32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rgbClr val="232A33"/>
                          </a:solidFill>
                          <a:latin typeface="Calibri" panose="020F0502020204030204" pitchFamily="34" charset="0"/>
                          <a:ea typeface="Consolas" pitchFamily="34" charset="-122"/>
                          <a:cs typeface="Calibri" panose="020F0502020204030204" pitchFamily="34" charset="0"/>
                        </a:rPr>
                        <a:t>Local / default tracking store</a:t>
                      </a:r>
                      <a:endParaRPr lang="en-US" sz="32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err="1">
                          <a:solidFill>
                            <a:srgbClr val="232A33"/>
                          </a:solidFill>
                          <a:latin typeface="Calibri" panose="020F0502020204030204" pitchFamily="34" charset="0"/>
                          <a:ea typeface="Consolas" pitchFamily="34" charset="-122"/>
                          <a:cs typeface="Calibri" panose="020F0502020204030204" pitchFamily="34" charset="0"/>
                        </a:rPr>
                        <a:t>set_registry_uri</a:t>
                      </a:r>
                      <a:r>
                        <a:rPr lang="en-US" sz="3200" dirty="0">
                          <a:solidFill>
                            <a:srgbClr val="232A33"/>
                          </a:solidFill>
                          <a:latin typeface="Calibri" panose="020F0502020204030204" pitchFamily="34" charset="0"/>
                          <a:ea typeface="Consolas" pitchFamily="34" charset="-122"/>
                          <a:cs typeface="Calibri" panose="020F0502020204030204" pitchFamily="34" charset="0"/>
                        </a:rPr>
                        <a:t>("</a:t>
                      </a:r>
                      <a:r>
                        <a:rPr lang="en-US" sz="3200" dirty="0" err="1">
                          <a:solidFill>
                            <a:srgbClr val="232A33"/>
                          </a:solidFill>
                          <a:latin typeface="Calibri" panose="020F0502020204030204" pitchFamily="34" charset="0"/>
                          <a:ea typeface="Consolas" pitchFamily="34" charset="-122"/>
                          <a:cs typeface="Calibri" panose="020F0502020204030204" pitchFamily="34" charset="0"/>
                        </a:rPr>
                        <a:t>databricks</a:t>
                      </a:r>
                      <a:r>
                        <a:rPr lang="en-US" sz="3200" dirty="0">
                          <a:solidFill>
                            <a:srgbClr val="232A33"/>
                          </a:solidFill>
                          <a:latin typeface="Calibri" panose="020F0502020204030204" pitchFamily="34" charset="0"/>
                          <a:ea typeface="Consolas" pitchFamily="34" charset="-122"/>
                          <a:cs typeface="Calibri" panose="020F0502020204030204" pitchFamily="34" charset="0"/>
                        </a:rPr>
                        <a:t>-uc")</a:t>
                      </a:r>
                      <a:endParaRPr lang="en-US" sz="3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11655372"/>
                  </a:ext>
                </a:extLst>
              </a:tr>
              <a:tr h="6442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21295C"/>
                          </a:solidFill>
                          <a:latin typeface="Calibri" panose="020F0502020204030204" pitchFamily="34" charset="0"/>
                          <a:ea typeface="Calibri" pitchFamily="34" charset="-122"/>
                          <a:cs typeface="Calibri" panose="020F0502020204030204" pitchFamily="34" charset="0"/>
                        </a:rPr>
                        <a:t>Governance</a:t>
                      </a:r>
                      <a:endParaRPr lang="en-US" sz="32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rgbClr val="232A33"/>
                          </a:solidFill>
                          <a:latin typeface="Calibri" panose="020F0502020204030204" pitchFamily="34" charset="0"/>
                          <a:ea typeface="Consolas" pitchFamily="34" charset="-122"/>
                          <a:cs typeface="Calibri" panose="020F0502020204030204" pitchFamily="34" charset="0"/>
                        </a:rPr>
                        <a:t>Tags &amp; descriptions</a:t>
                      </a:r>
                      <a:endParaRPr lang="en-US" sz="32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rgbClr val="232A33"/>
                          </a:solidFill>
                          <a:latin typeface="Calibri" panose="020F0502020204030204" pitchFamily="34" charset="0"/>
                          <a:ea typeface="Consolas" pitchFamily="34" charset="-122"/>
                          <a:cs typeface="Calibri" panose="020F0502020204030204" pitchFamily="34" charset="0"/>
                        </a:rPr>
                        <a:t>Fine-grained RBAC, access policies</a:t>
                      </a:r>
                      <a:endParaRPr lang="en-US" sz="3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373171465"/>
                  </a:ext>
                </a:extLst>
              </a:tr>
              <a:tr h="6442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21295C"/>
                          </a:solidFill>
                          <a:latin typeface="Calibri" panose="020F0502020204030204" pitchFamily="34" charset="0"/>
                          <a:ea typeface="Calibri" pitchFamily="34" charset="-122"/>
                          <a:cs typeface="Calibri" panose="020F0502020204030204" pitchFamily="34" charset="0"/>
                        </a:rPr>
                        <a:t>Scope</a:t>
                      </a:r>
                      <a:endParaRPr lang="en-US" sz="32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rgbClr val="232A33"/>
                          </a:solidFill>
                          <a:latin typeface="Calibri" panose="020F0502020204030204" pitchFamily="34" charset="0"/>
                          <a:ea typeface="Consolas" pitchFamily="34" charset="-122"/>
                          <a:cs typeface="Calibri" panose="020F0502020204030204" pitchFamily="34" charset="0"/>
                        </a:rPr>
                        <a:t>Single tracking store</a:t>
                      </a:r>
                      <a:endParaRPr lang="en-US" sz="32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rgbClr val="232A33"/>
                          </a:solidFill>
                          <a:latin typeface="Calibri" panose="020F0502020204030204" pitchFamily="34" charset="0"/>
                          <a:ea typeface="Consolas" pitchFamily="34" charset="-122"/>
                          <a:cs typeface="Calibri" panose="020F0502020204030204" pitchFamily="34" charset="0"/>
                        </a:rPr>
                        <a:t>Cross-workspace shared catalog</a:t>
                      </a:r>
                      <a:endParaRPr lang="en-US" sz="3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712773022"/>
                  </a:ext>
                </a:extLst>
              </a:tr>
              <a:tr h="6442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21295C"/>
                          </a:solidFill>
                          <a:latin typeface="Calibri" panose="020F0502020204030204" pitchFamily="34" charset="0"/>
                          <a:ea typeface="Calibri" pitchFamily="34" charset="-122"/>
                          <a:cs typeface="Calibri" panose="020F0502020204030204" pitchFamily="34" charset="0"/>
                        </a:rPr>
                        <a:t>Model signature</a:t>
                      </a:r>
                      <a:endParaRPr lang="en-US" sz="32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srgbClr val="232A33"/>
                          </a:solidFill>
                          <a:latin typeface="Calibri" panose="020F0502020204030204" pitchFamily="34" charset="0"/>
                          <a:ea typeface="Consolas" pitchFamily="34" charset="-122"/>
                          <a:cs typeface="Calibri" panose="020F0502020204030204" pitchFamily="34" charset="0"/>
                        </a:rPr>
                        <a:t>Optional</a:t>
                      </a:r>
                      <a:endParaRPr lang="en-US" sz="3200" dirty="0">
                        <a:latin typeface="Calibri" panose="020F0502020204030204" pitchFamily="34" charset="0"/>
                        <a:cs typeface="Calibri" panose="020F0502020204030204" pitchFamily="34" charset="0"/>
                      </a:endParaRPr>
                    </a:p>
                  </a:txBody>
                  <a:tcPr/>
                </a:tc>
                <a:tc>
                  <a:txBody>
                    <a:bodyPr/>
                    <a:lstStyle/>
                    <a:p>
                      <a:r>
                        <a:rPr lang="en-US" sz="3200" dirty="0">
                          <a:solidFill>
                            <a:srgbClr val="232A33"/>
                          </a:solidFill>
                          <a:latin typeface="Calibri" panose="020F0502020204030204" pitchFamily="34" charset="0"/>
                          <a:ea typeface="Consolas" pitchFamily="34" charset="-122"/>
                          <a:cs typeface="Calibri" panose="020F0502020204030204" pitchFamily="34" charset="0"/>
                        </a:rPr>
                        <a:t>Required</a:t>
                      </a:r>
                      <a:endParaRPr lang="en-US" sz="3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31256190"/>
                  </a:ext>
                </a:extLst>
              </a:tr>
            </a:tbl>
          </a:graphicData>
        </a:graphic>
      </p:graphicFrame>
    </p:spTree>
    <p:extLst>
      <p:ext uri="{BB962C8B-B14F-4D97-AF65-F5344CB8AC3E}">
        <p14:creationId xmlns:p14="http://schemas.microsoft.com/office/powerpoint/2010/main" val="915361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190A2-18B8-37BE-AF91-8576FF0B56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4B65D1-F4B4-CB13-8BE4-56BA9F2D0189}"/>
              </a:ext>
            </a:extLst>
          </p:cNvPr>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Register the Best Model + @champion Alias</a:t>
            </a:r>
          </a:p>
        </p:txBody>
      </p:sp>
      <p:sp>
        <p:nvSpPr>
          <p:cNvPr id="3" name="Rectangle 2">
            <a:extLst>
              <a:ext uri="{FF2B5EF4-FFF2-40B4-BE49-F238E27FC236}">
                <a16:creationId xmlns:a16="http://schemas.microsoft.com/office/drawing/2014/main" id="{51496163-F231-87E4-848E-B578F69CDCF2}"/>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FD3E09E-A5BA-91EC-2BFB-BE4F591E691E}"/>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pic>
        <p:nvPicPr>
          <p:cNvPr id="16" name="Picture 15" descr="A screenshot of a computer&#10;&#10;AI-generated content may be incorrect.">
            <a:extLst>
              <a:ext uri="{FF2B5EF4-FFF2-40B4-BE49-F238E27FC236}">
                <a16:creationId xmlns:a16="http://schemas.microsoft.com/office/drawing/2014/main" id="{B7C55B45-EEFC-DE75-E009-58CD55C09838}"/>
              </a:ext>
            </a:extLst>
          </p:cNvPr>
          <p:cNvPicPr>
            <a:picLocks noChangeAspect="1"/>
          </p:cNvPicPr>
          <p:nvPr/>
        </p:nvPicPr>
        <p:blipFill>
          <a:blip r:embed="rId3"/>
          <a:stretch>
            <a:fillRect/>
          </a:stretch>
        </p:blipFill>
        <p:spPr>
          <a:xfrm>
            <a:off x="805979" y="2816352"/>
            <a:ext cx="18056787" cy="10602422"/>
          </a:xfrm>
          <a:prstGeom prst="rect">
            <a:avLst/>
          </a:prstGeom>
        </p:spPr>
      </p:pic>
      <p:sp>
        <p:nvSpPr>
          <p:cNvPr id="18" name="TextBox 17">
            <a:extLst>
              <a:ext uri="{FF2B5EF4-FFF2-40B4-BE49-F238E27FC236}">
                <a16:creationId xmlns:a16="http://schemas.microsoft.com/office/drawing/2014/main" id="{3FBA5E96-D7F8-CDB2-A727-76C3C4DD168C}"/>
              </a:ext>
            </a:extLst>
          </p:cNvPr>
          <p:cNvSpPr txBox="1"/>
          <p:nvPr/>
        </p:nvSpPr>
        <p:spPr>
          <a:xfrm>
            <a:off x="1014984" y="2320336"/>
            <a:ext cx="12200708" cy="314253"/>
          </a:xfrm>
          <a:prstGeom prst="rect">
            <a:avLst/>
          </a:prstGeom>
          <a:noFill/>
        </p:spPr>
        <p:txBody>
          <a:bodyPr wrap="square">
            <a:spAutoFit/>
          </a:bodyPr>
          <a:lstStyle/>
          <a:p>
            <a:pPr>
              <a:lnSpc>
                <a:spcPts val="1350"/>
              </a:lnSpc>
              <a:buNone/>
            </a:pPr>
            <a:r>
              <a:rPr lang="en-ID" sz="2800" b="0" dirty="0" err="1">
                <a:effectLst/>
                <a:latin typeface="Menlo" panose="020B0609030804020204" pitchFamily="49" charset="0"/>
              </a:rPr>
              <a:t>client.get_model_version_by_alias</a:t>
            </a:r>
            <a:r>
              <a:rPr lang="en-ID" sz="2800" b="0" dirty="0">
                <a:effectLst/>
                <a:latin typeface="Menlo" panose="020B0609030804020204" pitchFamily="49" charset="0"/>
              </a:rPr>
              <a:t>(MODEL_NAME, ALIAS)</a:t>
            </a:r>
          </a:p>
        </p:txBody>
      </p:sp>
      <p:sp>
        <p:nvSpPr>
          <p:cNvPr id="19" name="Rectangle 18">
            <a:extLst>
              <a:ext uri="{FF2B5EF4-FFF2-40B4-BE49-F238E27FC236}">
                <a16:creationId xmlns:a16="http://schemas.microsoft.com/office/drawing/2014/main" id="{DA8BD8BD-8917-95E6-1F31-F55E9AABCA97}"/>
              </a:ext>
            </a:extLst>
          </p:cNvPr>
          <p:cNvSpPr/>
          <p:nvPr/>
        </p:nvSpPr>
        <p:spPr>
          <a:xfrm>
            <a:off x="3918857" y="8595360"/>
            <a:ext cx="14578149" cy="83602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09144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3D2E2-F456-195B-0315-D3062277B9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FE43D5-5360-E825-314E-C9060CF73DD5}"/>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Assignments Experiment </a:t>
            </a:r>
            <a:r>
              <a:rPr lang="en-US" sz="4400" b="1" dirty="0">
                <a:solidFill>
                  <a:srgbClr val="1B2A4A"/>
                </a:solidFill>
                <a:latin typeface="Liter"/>
              </a:rPr>
              <a:t>Tracking with</a:t>
            </a:r>
            <a:r>
              <a:rPr lang="en-US" sz="4400" b="1" i="0" dirty="0">
                <a:solidFill>
                  <a:srgbClr val="1B2A4A"/>
                </a:solidFill>
                <a:latin typeface="Liter"/>
              </a:rPr>
              <a:t> </a:t>
            </a:r>
            <a:r>
              <a:rPr sz="4400" b="1" i="0" dirty="0" err="1">
                <a:solidFill>
                  <a:srgbClr val="1B2A4A"/>
                </a:solidFill>
                <a:latin typeface="Liter"/>
              </a:rPr>
              <a:t>MLflow</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32DD88D1-EEDC-BC91-4420-02B58D875737}"/>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158EF06-62B5-73DA-5F36-9B06441B5818}"/>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5" name="TextBox 4">
            <a:extLst>
              <a:ext uri="{FF2B5EF4-FFF2-40B4-BE49-F238E27FC236}">
                <a16:creationId xmlns:a16="http://schemas.microsoft.com/office/drawing/2014/main" id="{D3B804B4-416B-3DB7-A9B0-B50A899CFA12}"/>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11</a:t>
            </a:r>
          </a:p>
        </p:txBody>
      </p:sp>
      <p:sp>
        <p:nvSpPr>
          <p:cNvPr id="6" name="TextBox 5">
            <a:extLst>
              <a:ext uri="{FF2B5EF4-FFF2-40B4-BE49-F238E27FC236}">
                <a16:creationId xmlns:a16="http://schemas.microsoft.com/office/drawing/2014/main" id="{99353853-4902-C58D-07A6-83FFB239032A}"/>
              </a:ext>
            </a:extLst>
          </p:cNvPr>
          <p:cNvSpPr txBox="1"/>
          <p:nvPr/>
        </p:nvSpPr>
        <p:spPr>
          <a:xfrm>
            <a:off x="1014984" y="3297381"/>
            <a:ext cx="20690472" cy="2308324"/>
          </a:xfrm>
          <a:prstGeom prst="rect">
            <a:avLst/>
          </a:prstGeom>
          <a:noFill/>
        </p:spPr>
        <p:txBody>
          <a:bodyPr wrap="none" rtlCol="0">
            <a:spAutoFit/>
          </a:bodyPr>
          <a:lstStyle/>
          <a:p>
            <a:r>
              <a:rPr lang="en-US" sz="4800" dirty="0"/>
              <a:t>1. Inspect any fatal issue within the </a:t>
            </a:r>
            <a:r>
              <a:rPr lang="en-US" sz="4800" dirty="0" err="1">
                <a:latin typeface="Courier New" panose="02070309020205020404" pitchFamily="49" charset="0"/>
                <a:cs typeface="Courier New" panose="02070309020205020404" pitchFamily="49" charset="0"/>
              </a:rPr>
              <a:t>train_with_mlflow.py</a:t>
            </a:r>
            <a:r>
              <a:rPr lang="en-US" sz="4800" dirty="0"/>
              <a:t> code and explain</a:t>
            </a:r>
          </a:p>
          <a:p>
            <a:r>
              <a:rPr lang="en-US" sz="4800" dirty="0"/>
              <a:t>2. Improve the code to solve the issue</a:t>
            </a:r>
          </a:p>
          <a:p>
            <a:endParaRPr lang="en-US" sz="4800" dirty="0"/>
          </a:p>
        </p:txBody>
      </p:sp>
    </p:spTree>
    <p:extLst>
      <p:ext uri="{BB962C8B-B14F-4D97-AF65-F5344CB8AC3E}">
        <p14:creationId xmlns:p14="http://schemas.microsoft.com/office/powerpoint/2010/main" val="8652084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2">
            <a:extLst>
              <a:ext uri="{FF2B5EF4-FFF2-40B4-BE49-F238E27FC236}">
                <a16:creationId xmlns:a16="http://schemas.microsoft.com/office/drawing/2014/main" id="{62763A1A-0935-4A5E-FE9C-F87FDB7642F5}"/>
              </a:ext>
            </a:extLst>
          </p:cNvPr>
          <p:cNvSpPr/>
          <p:nvPr/>
        </p:nvSpPr>
        <p:spPr>
          <a:xfrm>
            <a:off x="1649562" y="4206240"/>
            <a:ext cx="5080000" cy="381000"/>
          </a:xfrm>
          <a:prstGeom prst="rect">
            <a:avLst/>
          </a:prstGeom>
          <a:noFill/>
          <a:ln/>
        </p:spPr>
        <p:txBody>
          <a:bodyPr wrap="none" lIns="0" tIns="0" rIns="0" bIns="0" rtlCol="0" anchor="ctr"/>
          <a:lstStyle/>
          <a:p>
            <a:pPr algn="l">
              <a:lnSpc>
                <a:spcPct val="120000"/>
              </a:lnSpc>
            </a:pPr>
            <a:r>
              <a:rPr lang="en-US" sz="5000" b="1" kern="0" spc="400" dirty="0">
                <a:solidFill>
                  <a:srgbClr val="D4A03A"/>
                </a:solidFill>
                <a:latin typeface="Liter" pitchFamily="34" charset="0"/>
                <a:ea typeface="Liter" pitchFamily="34" charset="-122"/>
                <a:cs typeface="Liter" pitchFamily="34" charset="-120"/>
              </a:rPr>
              <a:t>02</a:t>
            </a:r>
            <a:endParaRPr lang="en-US" sz="5000" dirty="0"/>
          </a:p>
        </p:txBody>
      </p:sp>
      <p:sp>
        <p:nvSpPr>
          <p:cNvPr id="21" name="Text 3">
            <a:extLst>
              <a:ext uri="{FF2B5EF4-FFF2-40B4-BE49-F238E27FC236}">
                <a16:creationId xmlns:a16="http://schemas.microsoft.com/office/drawing/2014/main" id="{EDE4DF64-756A-6BDE-4A9C-3DF7AF92A34D}"/>
              </a:ext>
            </a:extLst>
          </p:cNvPr>
          <p:cNvSpPr/>
          <p:nvPr/>
        </p:nvSpPr>
        <p:spPr>
          <a:xfrm>
            <a:off x="1649562" y="4983480"/>
            <a:ext cx="11155680" cy="2651760"/>
          </a:xfrm>
          <a:prstGeom prst="rect">
            <a:avLst/>
          </a:prstGeom>
          <a:noFill/>
          <a:ln/>
        </p:spPr>
        <p:txBody>
          <a:bodyPr wrap="square" lIns="0" tIns="0" rIns="0" bIns="0" rtlCol="0" anchor="t"/>
          <a:lstStyle/>
          <a:p>
            <a:pPr algn="l">
              <a:lnSpc>
                <a:spcPct val="110000"/>
              </a:lnSpc>
            </a:pPr>
            <a:r>
              <a:rPr lang="en-US" sz="6000" kern="0" spc="200" dirty="0">
                <a:solidFill>
                  <a:srgbClr val="1B2A4A"/>
                </a:solidFill>
                <a:latin typeface="Liter" pitchFamily="34" charset="0"/>
                <a:ea typeface="Liter" pitchFamily="34" charset="-122"/>
                <a:cs typeface="Liter" pitchFamily="34" charset="-120"/>
              </a:rPr>
              <a:t>Machine Learning Deployment Strategies</a:t>
            </a:r>
            <a:endParaRPr lang="en-US" sz="7200" dirty="0"/>
          </a:p>
        </p:txBody>
      </p:sp>
      <p:sp>
        <p:nvSpPr>
          <p:cNvPr id="23" name="Shape 4">
            <a:extLst>
              <a:ext uri="{FF2B5EF4-FFF2-40B4-BE49-F238E27FC236}">
                <a16:creationId xmlns:a16="http://schemas.microsoft.com/office/drawing/2014/main" id="{1CC7B515-BF06-6CCF-F4A0-76A6E14F43FC}"/>
              </a:ext>
            </a:extLst>
          </p:cNvPr>
          <p:cNvSpPr/>
          <p:nvPr/>
        </p:nvSpPr>
        <p:spPr>
          <a:xfrm>
            <a:off x="1649562" y="8001000"/>
            <a:ext cx="1016000" cy="50800"/>
          </a:xfrm>
          <a:prstGeom prst="rect">
            <a:avLst/>
          </a:prstGeom>
          <a:solidFill>
            <a:srgbClr val="D4A03A"/>
          </a:solidFill>
          <a:ln/>
        </p:spPr>
        <p:txBody>
          <a:bodyPr/>
          <a:lstStyle/>
          <a:p>
            <a:endParaRPr lang="en-ID"/>
          </a:p>
        </p:txBody>
      </p:sp>
      <p:sp>
        <p:nvSpPr>
          <p:cNvPr id="24" name="TextBox 23"/>
          <p:cNvSpPr txBox="1"/>
          <p:nvPr/>
        </p:nvSpPr>
        <p:spPr>
          <a:xfrm>
            <a:off x="1645920" y="8412480"/>
            <a:ext cx="10972800" cy="640080"/>
          </a:xfrm>
          <a:prstGeom prst="rect">
            <a:avLst/>
          </a:prstGeom>
          <a:noFill/>
        </p:spPr>
        <p:txBody>
          <a:bodyPr wrap="square" lIns="0" tIns="0" rIns="0" bIns="0" anchor="t">
            <a:spAutoFit/>
          </a:bodyPr>
          <a:lstStyle/>
          <a:p>
            <a:pPr algn="l">
              <a:lnSpc>
                <a:spcPct val="120000"/>
              </a:lnSpc>
              <a:spcAft>
                <a:spcPts val="600"/>
              </a:spcAft>
            </a:pPr>
            <a:r>
              <a:rPr sz="2800" b="0" i="0">
                <a:solidFill>
                  <a:srgbClr val="6B7B8D"/>
                </a:solidFill>
                <a:latin typeface="Quattrocento Sans"/>
              </a:rPr>
              <a:t>10:45–12:00</a:t>
            </a:r>
          </a:p>
        </p:txBody>
      </p:sp>
      <p:sp>
        <p:nvSpPr>
          <p:cNvPr id="25" name="TextBox 24"/>
          <p:cNvSpPr txBox="1"/>
          <p:nvPr/>
        </p:nvSpPr>
        <p:spPr>
          <a:xfrm>
            <a:off x="13681878" y="4396740"/>
            <a:ext cx="8686800" cy="457200"/>
          </a:xfrm>
          <a:prstGeom prst="rect">
            <a:avLst/>
          </a:prstGeom>
          <a:noFill/>
        </p:spPr>
        <p:txBody>
          <a:bodyPr wrap="square" lIns="0" tIns="0" rIns="0" bIns="0" anchor="t">
            <a:spAutoFit/>
          </a:bodyPr>
          <a:lstStyle/>
          <a:p>
            <a:pPr algn="l">
              <a:lnSpc>
                <a:spcPct val="120000"/>
              </a:lnSpc>
              <a:spcAft>
                <a:spcPts val="600"/>
              </a:spcAft>
            </a:pPr>
            <a:r>
              <a:rPr sz="1600" b="1" i="0" spc="300">
                <a:solidFill>
                  <a:srgbClr val="D4A03A"/>
                </a:solidFill>
                <a:latin typeface="Liter"/>
              </a:rPr>
              <a:t>IN THIS SESSION</a:t>
            </a:r>
          </a:p>
        </p:txBody>
      </p:sp>
      <p:sp>
        <p:nvSpPr>
          <p:cNvPr id="26" name="TextBox 25"/>
          <p:cNvSpPr txBox="1"/>
          <p:nvPr/>
        </p:nvSpPr>
        <p:spPr>
          <a:xfrm>
            <a:off x="13681878" y="517398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01</a:t>
            </a:r>
          </a:p>
        </p:txBody>
      </p:sp>
      <p:sp>
        <p:nvSpPr>
          <p:cNvPr id="27" name="TextBox 26"/>
          <p:cNvSpPr txBox="1"/>
          <p:nvPr/>
        </p:nvSpPr>
        <p:spPr>
          <a:xfrm>
            <a:off x="14687718" y="5173980"/>
            <a:ext cx="8046720" cy="914400"/>
          </a:xfrm>
          <a:prstGeom prst="rect">
            <a:avLst/>
          </a:prstGeom>
          <a:noFill/>
        </p:spPr>
        <p:txBody>
          <a:bodyPr wrap="square" lIns="0" tIns="0" rIns="0" bIns="0" anchor="ctr">
            <a:spAutoFit/>
          </a:bodyPr>
          <a:lstStyle/>
          <a:p>
            <a:pPr algn="l">
              <a:lnSpc>
                <a:spcPct val="120000"/>
              </a:lnSpc>
              <a:spcAft>
                <a:spcPts val="600"/>
              </a:spcAft>
            </a:pPr>
            <a:r>
              <a:rPr sz="2600" b="0" i="0">
                <a:solidFill>
                  <a:srgbClr val="1E293B"/>
                </a:solidFill>
                <a:latin typeface="Quattrocento Sans"/>
              </a:rPr>
              <a:t>Serving patterns</a:t>
            </a:r>
          </a:p>
        </p:txBody>
      </p:sp>
      <p:sp>
        <p:nvSpPr>
          <p:cNvPr id="28" name="Rectangle 27"/>
          <p:cNvSpPr/>
          <p:nvPr/>
        </p:nvSpPr>
        <p:spPr>
          <a:xfrm>
            <a:off x="13681878" y="622554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681878" y="636270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02</a:t>
            </a:r>
          </a:p>
        </p:txBody>
      </p:sp>
      <p:sp>
        <p:nvSpPr>
          <p:cNvPr id="30" name="TextBox 29"/>
          <p:cNvSpPr txBox="1"/>
          <p:nvPr/>
        </p:nvSpPr>
        <p:spPr>
          <a:xfrm>
            <a:off x="14687718" y="6362700"/>
            <a:ext cx="8046720" cy="914400"/>
          </a:xfrm>
          <a:prstGeom prst="rect">
            <a:avLst/>
          </a:prstGeom>
          <a:noFill/>
        </p:spPr>
        <p:txBody>
          <a:bodyPr wrap="square" lIns="0" tIns="0" rIns="0" bIns="0" anchor="ctr">
            <a:spAutoFit/>
          </a:bodyPr>
          <a:lstStyle/>
          <a:p>
            <a:pPr algn="l">
              <a:lnSpc>
                <a:spcPct val="120000"/>
              </a:lnSpc>
              <a:spcAft>
                <a:spcPts val="600"/>
              </a:spcAft>
            </a:pPr>
            <a:r>
              <a:rPr sz="2600" b="0" i="0">
                <a:solidFill>
                  <a:srgbClr val="1E293B"/>
                </a:solidFill>
                <a:latin typeface="Quattrocento Sans"/>
              </a:rPr>
              <a:t>FastAPI with a validated contract</a:t>
            </a:r>
          </a:p>
        </p:txBody>
      </p:sp>
      <p:sp>
        <p:nvSpPr>
          <p:cNvPr id="31" name="Rectangle 30"/>
          <p:cNvSpPr/>
          <p:nvPr/>
        </p:nvSpPr>
        <p:spPr>
          <a:xfrm>
            <a:off x="13681878" y="741426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3681878" y="755142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03</a:t>
            </a:r>
          </a:p>
        </p:txBody>
      </p:sp>
      <p:sp>
        <p:nvSpPr>
          <p:cNvPr id="33" name="TextBox 32"/>
          <p:cNvSpPr txBox="1"/>
          <p:nvPr/>
        </p:nvSpPr>
        <p:spPr>
          <a:xfrm>
            <a:off x="14687718" y="7551420"/>
            <a:ext cx="8046720" cy="914400"/>
          </a:xfrm>
          <a:prstGeom prst="rect">
            <a:avLst/>
          </a:prstGeom>
          <a:noFill/>
        </p:spPr>
        <p:txBody>
          <a:bodyPr wrap="square" lIns="0" tIns="0" rIns="0" bIns="0" anchor="ctr">
            <a:spAutoFit/>
          </a:bodyPr>
          <a:lstStyle/>
          <a:p>
            <a:pPr algn="l">
              <a:lnSpc>
                <a:spcPct val="120000"/>
              </a:lnSpc>
              <a:spcAft>
                <a:spcPts val="600"/>
              </a:spcAft>
            </a:pPr>
            <a:r>
              <a:rPr sz="2600" b="0" i="0">
                <a:solidFill>
                  <a:srgbClr val="1E293B"/>
                </a:solidFill>
                <a:latin typeface="Quattrocento Sans"/>
              </a:rPr>
              <a:t>A self-contained container image</a:t>
            </a:r>
          </a:p>
        </p:txBody>
      </p:sp>
      <p:sp>
        <p:nvSpPr>
          <p:cNvPr id="34" name="Rectangle 33"/>
          <p:cNvSpPr/>
          <p:nvPr/>
        </p:nvSpPr>
        <p:spPr>
          <a:xfrm>
            <a:off x="13681878" y="860298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3681878" y="8740140"/>
            <a:ext cx="822960" cy="914400"/>
          </a:xfrm>
          <a:prstGeom prst="rect">
            <a:avLst/>
          </a:prstGeom>
          <a:noFill/>
        </p:spPr>
        <p:txBody>
          <a:bodyPr wrap="square" lIns="0" tIns="0" rIns="0" bIns="0" anchor="ctr">
            <a:spAutoFit/>
          </a:bodyPr>
          <a:lstStyle/>
          <a:p>
            <a:pPr algn="l">
              <a:lnSpc>
                <a:spcPct val="120000"/>
              </a:lnSpc>
              <a:spcAft>
                <a:spcPts val="600"/>
              </a:spcAft>
            </a:pPr>
            <a:r>
              <a:rPr sz="3000" b="1" i="0" dirty="0">
                <a:solidFill>
                  <a:srgbClr val="D4A03A"/>
                </a:solidFill>
                <a:latin typeface="Liter"/>
              </a:rPr>
              <a:t>04</a:t>
            </a:r>
          </a:p>
        </p:txBody>
      </p:sp>
      <p:sp>
        <p:nvSpPr>
          <p:cNvPr id="37" name="Rectangle 36"/>
          <p:cNvSpPr/>
          <p:nvPr/>
        </p:nvSpPr>
        <p:spPr>
          <a:xfrm>
            <a:off x="13681878" y="979170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4687718" y="8970355"/>
            <a:ext cx="8046720" cy="453970"/>
          </a:xfrm>
          <a:prstGeom prst="rect">
            <a:avLst/>
          </a:prstGeom>
          <a:noFill/>
        </p:spPr>
        <p:txBody>
          <a:bodyPr wrap="square" lIns="0" tIns="0" rIns="0" bIns="0" anchor="ctr">
            <a:spAutoFit/>
          </a:bodyPr>
          <a:lstStyle/>
          <a:p>
            <a:pPr algn="l">
              <a:lnSpc>
                <a:spcPct val="120000"/>
              </a:lnSpc>
              <a:spcAft>
                <a:spcPts val="600"/>
              </a:spcAft>
            </a:pPr>
            <a:r>
              <a:rPr lang="en-US" sz="2600" b="0" i="0" dirty="0">
                <a:solidFill>
                  <a:srgbClr val="1E293B"/>
                </a:solidFill>
                <a:latin typeface="Quattrocento Sans"/>
              </a:rPr>
              <a:t>Deployment strategy</a:t>
            </a:r>
            <a:endParaRPr sz="2600" b="0" i="0" dirty="0">
              <a:solidFill>
                <a:srgbClr val="1E293B"/>
              </a:solidFill>
              <a:latin typeface="Quattrocento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Model Serving Patterns</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CONCEPT</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28</a:t>
            </a:r>
          </a:p>
        </p:txBody>
      </p:sp>
      <p:graphicFrame>
        <p:nvGraphicFramePr>
          <p:cNvPr id="6" name="Table 5"/>
          <p:cNvGraphicFramePr>
            <a:graphicFrameLocks noGrp="1"/>
          </p:cNvGraphicFramePr>
          <p:nvPr/>
        </p:nvGraphicFramePr>
        <p:xfrm>
          <a:off x="1014984" y="2514600"/>
          <a:ext cx="22347936" cy="7315200"/>
        </p:xfrm>
        <a:graphic>
          <a:graphicData uri="http://schemas.openxmlformats.org/drawingml/2006/table">
            <a:tbl>
              <a:tblPr/>
              <a:tblGrid>
                <a:gridCol w="4655820">
                  <a:extLst>
                    <a:ext uri="{9D8B030D-6E8A-4147-A177-3AD203B41FA5}">
                      <a16:colId xmlns:a16="http://schemas.microsoft.com/office/drawing/2014/main" val="20000"/>
                    </a:ext>
                  </a:extLst>
                </a:gridCol>
                <a:gridCol w="8380476">
                  <a:extLst>
                    <a:ext uri="{9D8B030D-6E8A-4147-A177-3AD203B41FA5}">
                      <a16:colId xmlns:a16="http://schemas.microsoft.com/office/drawing/2014/main" val="20001"/>
                    </a:ext>
                  </a:extLst>
                </a:gridCol>
                <a:gridCol w="9311640">
                  <a:extLst>
                    <a:ext uri="{9D8B030D-6E8A-4147-A177-3AD203B41FA5}">
                      <a16:colId xmlns:a16="http://schemas.microsoft.com/office/drawing/2014/main" val="20002"/>
                    </a:ext>
                  </a:extLst>
                </a:gridCol>
              </a:tblGrid>
              <a:tr h="1828800">
                <a:tc>
                  <a:txBody>
                    <a:bodyPr/>
                    <a:lstStyle/>
                    <a:p>
                      <a:r>
                        <a:rPr sz="2600" b="1">
                          <a:solidFill>
                            <a:srgbClr val="FFFFFF"/>
                          </a:solidFill>
                          <a:latin typeface="Quattrocento Sans"/>
                        </a:rPr>
                        <a:t>Pattern</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tc>
                  <a:txBody>
                    <a:bodyPr/>
                    <a:lstStyle/>
                    <a:p>
                      <a:r>
                        <a:rPr sz="2600" b="1">
                          <a:solidFill>
                            <a:srgbClr val="FFFFFF"/>
                          </a:solidFill>
                          <a:latin typeface="Quattrocento Sans"/>
                        </a:rPr>
                        <a:t>How it works</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tc>
                  <a:txBody>
                    <a:bodyPr/>
                    <a:lstStyle/>
                    <a:p>
                      <a:r>
                        <a:rPr sz="2600" b="1">
                          <a:solidFill>
                            <a:srgbClr val="FFFFFF"/>
                          </a:solidFill>
                          <a:latin typeface="Quattrocento Sans"/>
                        </a:rPr>
                        <a:t>When to use it</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extLst>
                  <a:ext uri="{0D108BD9-81ED-4DB2-BD59-A6C34878D82A}">
                    <a16:rowId xmlns:a16="http://schemas.microsoft.com/office/drawing/2014/main" val="10000"/>
                  </a:ext>
                </a:extLst>
              </a:tr>
              <a:tr h="1828800">
                <a:tc>
                  <a:txBody>
                    <a:bodyPr/>
                    <a:lstStyle/>
                    <a:p>
                      <a:r>
                        <a:rPr sz="2600" b="1">
                          <a:solidFill>
                            <a:srgbClr val="1B2A4A"/>
                          </a:solidFill>
                          <a:latin typeface="Quattrocento Sans"/>
                        </a:rPr>
                        <a:t>Real-time (REST/gRPC)</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600" b="0">
                          <a:solidFill>
                            <a:srgbClr val="1E293B"/>
                          </a:solidFill>
                          <a:latin typeface="Quattrocento Sans"/>
                        </a:rPr>
                        <a:t>Request in → instant prediction → response</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600" b="0">
                          <a:solidFill>
                            <a:srgbClr val="1E293B"/>
                          </a:solidFill>
                          <a:latin typeface="Quattrocento Sans"/>
                        </a:rPr>
                        <a:t>A decision needs an immediate answer, e.g. validation at submission time</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extLst>
                  <a:ext uri="{0D108BD9-81ED-4DB2-BD59-A6C34878D82A}">
                    <a16:rowId xmlns:a16="http://schemas.microsoft.com/office/drawing/2014/main" val="10001"/>
                  </a:ext>
                </a:extLst>
              </a:tr>
              <a:tr h="1828800">
                <a:tc>
                  <a:txBody>
                    <a:bodyPr/>
                    <a:lstStyle/>
                    <a:p>
                      <a:r>
                        <a:rPr sz="2600" b="1">
                          <a:solidFill>
                            <a:srgbClr val="1B2A4A"/>
                          </a:solidFill>
                          <a:latin typeface="Quattrocento Sans"/>
                        </a:rPr>
                        <a:t>Batch</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600" b="0">
                          <a:solidFill>
                            <a:srgbClr val="1E293B"/>
                          </a:solidFill>
                          <a:latin typeface="Quattrocento Sans"/>
                        </a:rPr>
                        <a:t>Scheduled predictions over a whole dataset</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600" b="0">
                          <a:solidFill>
                            <a:srgbClr val="1E293B"/>
                          </a:solidFill>
                          <a:latin typeface="Quattrocento Sans"/>
                        </a:rPr>
                        <a:t>High volume without an instant need, e.g. periodic risk scoring</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extLst>
                  <a:ext uri="{0D108BD9-81ED-4DB2-BD59-A6C34878D82A}">
                    <a16:rowId xmlns:a16="http://schemas.microsoft.com/office/drawing/2014/main" val="10002"/>
                  </a:ext>
                </a:extLst>
              </a:tr>
              <a:tr h="1828800">
                <a:tc>
                  <a:txBody>
                    <a:bodyPr/>
                    <a:lstStyle/>
                    <a:p>
                      <a:r>
                        <a:rPr sz="2600" b="1">
                          <a:solidFill>
                            <a:srgbClr val="1B2A4A"/>
                          </a:solidFill>
                          <a:latin typeface="Quattrocento Sans"/>
                        </a:rPr>
                        <a:t>Streaming</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600" b="0">
                          <a:solidFill>
                            <a:srgbClr val="1E293B"/>
                          </a:solidFill>
                          <a:latin typeface="Quattrocento Sans"/>
                        </a:rPr>
                        <a:t>Predictions on a continuous data stream (Kafka, Pub/Sub)</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600" b="0">
                          <a:solidFill>
                            <a:srgbClr val="1E293B"/>
                          </a:solidFill>
                          <a:latin typeface="Quattrocento Sans"/>
                        </a:rPr>
                        <a:t>Data flows constantly, e.g. transaction anomaly detection</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1014984" y="10698480"/>
            <a:ext cx="22347936" cy="1234440"/>
          </a:xfrm>
          <a:prstGeom prst="roundRect">
            <a:avLst>
              <a:gd name="adj" fmla="val 8888"/>
            </a:avLst>
          </a:prstGeom>
          <a:solidFill>
            <a:srgbClr val="FB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14984" y="10698480"/>
            <a:ext cx="128016" cy="1234440"/>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17904" y="10698480"/>
            <a:ext cx="21524976" cy="1234440"/>
          </a:xfrm>
          <a:prstGeom prst="rect">
            <a:avLst/>
          </a:prstGeom>
          <a:noFill/>
        </p:spPr>
        <p:txBody>
          <a:bodyPr wrap="square" lIns="0" tIns="0" rIns="0" bIns="0" anchor="ctr">
            <a:spAutoFit/>
          </a:bodyPr>
          <a:lstStyle/>
          <a:p>
            <a:pPr algn="l">
              <a:lnSpc>
                <a:spcPct val="120000"/>
              </a:lnSpc>
              <a:spcAft>
                <a:spcPts val="600"/>
              </a:spcAft>
            </a:pPr>
            <a:r>
              <a:rPr sz="2400" b="0" i="1">
                <a:solidFill>
                  <a:srgbClr val="1B2A4A"/>
                </a:solidFill>
                <a:latin typeface="Quattrocento Sans"/>
              </a:rPr>
              <a:t>Today's hands-on uses the real-time (REST) pattern, because that is what we containerise and deploy.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An API Contract with Pydantic</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29</a:t>
            </a:r>
          </a:p>
        </p:txBody>
      </p:sp>
      <p:sp>
        <p:nvSpPr>
          <p:cNvPr id="6" name="Rounded Rectangle 5"/>
          <p:cNvSpPr/>
          <p:nvPr/>
        </p:nvSpPr>
        <p:spPr>
          <a:xfrm>
            <a:off x="1014984" y="2514600"/>
            <a:ext cx="13350240" cy="9966960"/>
          </a:xfrm>
          <a:prstGeom prst="roundRect">
            <a:avLst>
              <a:gd name="adj" fmla="val 1651"/>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44168" y="278892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728216" y="278892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112264" y="278892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60904" y="2697480"/>
            <a:ext cx="11338559" cy="384048"/>
          </a:xfrm>
          <a:prstGeom prst="rect">
            <a:avLst/>
          </a:prstGeom>
          <a:noFill/>
        </p:spPr>
        <p:txBody>
          <a:bodyPr wrap="square" lIns="0" tIns="0" rIns="0" bIns="0" anchor="t">
            <a:spAutoFit/>
          </a:bodyPr>
          <a:lstStyle/>
          <a:p>
            <a:pPr algn="l">
              <a:lnSpc>
                <a:spcPct val="120000"/>
              </a:lnSpc>
              <a:spcAft>
                <a:spcPts val="600"/>
              </a:spcAft>
            </a:pPr>
            <a:r>
              <a:rPr sz="1800" b="0" i="0">
                <a:solidFill>
                  <a:srgbClr val="8B9BB4"/>
                </a:solidFill>
                <a:latin typeface="Consolas"/>
              </a:rPr>
              <a:t>api/app.py</a:t>
            </a:r>
          </a:p>
        </p:txBody>
      </p:sp>
      <p:sp>
        <p:nvSpPr>
          <p:cNvPr id="11" name="TextBox 10"/>
          <p:cNvSpPr txBox="1"/>
          <p:nvPr/>
        </p:nvSpPr>
        <p:spPr>
          <a:xfrm>
            <a:off x="1426464" y="3227832"/>
            <a:ext cx="12618719" cy="9098280"/>
          </a:xfrm>
          <a:prstGeom prst="rect">
            <a:avLst/>
          </a:prstGeom>
          <a:noFill/>
        </p:spPr>
        <p:txBody>
          <a:bodyPr wrap="square" lIns="0" tIns="0" rIns="0" bIns="0" anchor="t">
            <a:spAutoFit/>
          </a:bodyPr>
          <a:lstStyle/>
          <a:p>
            <a:pPr algn="l">
              <a:lnSpc>
                <a:spcPct val="100000"/>
              </a:lnSpc>
              <a:spcAft>
                <a:spcPts val="0"/>
              </a:spcAft>
            </a:pPr>
            <a:r>
              <a:rPr sz="2500" b="0" i="0">
                <a:solidFill>
                  <a:srgbClr val="E6EDF3"/>
                </a:solidFill>
                <a:latin typeface="Consolas"/>
              </a:rPr>
              <a:t>class ApplicantData(BaseModel):</a:t>
            </a:r>
          </a:p>
          <a:p>
            <a:pPr algn="l">
              <a:lnSpc>
                <a:spcPct val="100000"/>
              </a:lnSpc>
              <a:spcAft>
                <a:spcPts val="0"/>
              </a:spcAft>
            </a:pPr>
            <a:r>
              <a:rPr sz="2500" b="0" i="0">
                <a:solidFill>
                  <a:srgbClr val="E6EDF3"/>
                </a:solidFill>
                <a:latin typeface="Consolas"/>
              </a:rPr>
              <a:t>    age: float = Field(..., examples=[34])</a:t>
            </a:r>
          </a:p>
          <a:p>
            <a:pPr algn="l">
              <a:lnSpc>
                <a:spcPct val="100000"/>
              </a:lnSpc>
              <a:spcAft>
                <a:spcPts val="0"/>
              </a:spcAft>
            </a:pPr>
            <a:r>
              <a:rPr sz="2500" b="0" i="0">
                <a:solidFill>
                  <a:srgbClr val="E6EDF3"/>
                </a:solidFill>
                <a:latin typeface="Consolas"/>
              </a:rPr>
              <a:t>    income: float = Field(..., examples=[78000])</a:t>
            </a:r>
          </a:p>
          <a:p>
            <a:pPr algn="l">
              <a:lnSpc>
                <a:spcPct val="100000"/>
              </a:lnSpc>
              <a:spcAft>
                <a:spcPts val="0"/>
              </a:spcAft>
            </a:pPr>
            <a:r>
              <a:rPr sz="2500" b="0" i="0">
                <a:solidFill>
                  <a:srgbClr val="E6EDF3"/>
                </a:solidFill>
                <a:latin typeface="Consolas"/>
              </a:rPr>
              <a:t>    bmi: float = Field(..., examples=[24.5])</a:t>
            </a:r>
          </a:p>
          <a:p>
            <a:pPr algn="l">
              <a:lnSpc>
                <a:spcPct val="100000"/>
              </a:lnSpc>
              <a:spcAft>
                <a:spcPts val="0"/>
              </a:spcAft>
            </a:pPr>
            <a:r>
              <a:rPr sz="2500" b="0" i="0">
                <a:solidFill>
                  <a:srgbClr val="E6EDF3"/>
                </a:solidFill>
                <a:latin typeface="Consolas"/>
              </a:rPr>
              <a:t>    tenure_months: float = Field(..., examples=[18])</a:t>
            </a:r>
          </a:p>
          <a:p>
            <a:pPr algn="l">
              <a:lnSpc>
                <a:spcPct val="100000"/>
              </a:lnSpc>
              <a:spcAft>
                <a:spcPts val="0"/>
              </a:spcAft>
            </a:pPr>
            <a:r>
              <a:rPr sz="2500" b="0" i="0">
                <a:solidFill>
                  <a:srgbClr val="E6EDF3"/>
                </a:solidFill>
                <a:latin typeface="Consolas"/>
              </a:rPr>
              <a:t>    num_claims: float = Field(..., examples=[1])</a:t>
            </a:r>
          </a:p>
          <a:p>
            <a:pPr algn="l">
              <a:lnSpc>
                <a:spcPct val="100000"/>
              </a:lnSpc>
              <a:spcAft>
                <a:spcPts val="0"/>
              </a:spcAft>
            </a:pPr>
            <a:r>
              <a:rPr sz="2500" b="0" i="0">
                <a:solidFill>
                  <a:srgbClr val="E6EDF3"/>
                </a:solidFill>
                <a:latin typeface="Consolas"/>
              </a:rPr>
              <a:t>    credit_score: float = Field(..., examples=[720])</a:t>
            </a:r>
          </a:p>
          <a:p>
            <a:pPr algn="l">
              <a:lnSpc>
                <a:spcPct val="100000"/>
              </a:lnSpc>
              <a:spcAft>
                <a:spcPts val="0"/>
              </a:spcAft>
            </a:pPr>
            <a:r>
              <a:rPr sz="2500" b="0" i="0">
                <a:solidFill>
                  <a:srgbClr val="E6EDF3"/>
                </a:solidFill>
                <a:latin typeface="Consolas"/>
              </a:rPr>
              <a:t>    policy_value: float = Field(..., examples=[150000])</a:t>
            </a:r>
          </a:p>
          <a:p>
            <a:pPr algn="l">
              <a:lnSpc>
                <a:spcPct val="100000"/>
              </a:lnSpc>
              <a:spcAft>
                <a:spcPts val="0"/>
              </a:spcAft>
            </a:pPr>
            <a:r>
              <a:rPr sz="2500" b="0" i="0">
                <a:solidFill>
                  <a:srgbClr val="E6EDF3"/>
                </a:solidFill>
                <a:latin typeface="Consolas"/>
              </a:rPr>
              <a:t>    risk_score: float = Field(..., examples=[42.5])</a:t>
            </a:r>
          </a:p>
          <a:p>
            <a:pPr algn="l">
              <a:lnSpc>
                <a:spcPct val="100000"/>
              </a:lnSpc>
              <a:spcAft>
                <a:spcPts val="0"/>
              </a:spcAft>
            </a:pPr>
            <a:r>
              <a:rPr sz="2500" b="0" i="0">
                <a:solidFill>
                  <a:srgbClr val="E6EDF3"/>
                </a:solidFill>
                <a:latin typeface="Consolas"/>
              </a:rPr>
              <a:t> </a:t>
            </a:r>
          </a:p>
          <a:p>
            <a:pPr algn="l">
              <a:lnSpc>
                <a:spcPct val="100000"/>
              </a:lnSpc>
              <a:spcAft>
                <a:spcPts val="0"/>
              </a:spcAft>
            </a:pPr>
            <a:r>
              <a:rPr sz="2500" b="0" i="0">
                <a:solidFill>
                  <a:srgbClr val="E6EDF3"/>
                </a:solidFill>
                <a:latin typeface="Consolas"/>
              </a:rPr>
              <a:t>class PredictionResponse(BaseModel):</a:t>
            </a:r>
          </a:p>
          <a:p>
            <a:pPr algn="l">
              <a:lnSpc>
                <a:spcPct val="100000"/>
              </a:lnSpc>
              <a:spcAft>
                <a:spcPts val="0"/>
              </a:spcAft>
            </a:pPr>
            <a:r>
              <a:rPr sz="2500" b="0" i="0">
                <a:solidFill>
                  <a:srgbClr val="E6EDF3"/>
                </a:solidFill>
                <a:latin typeface="Consolas"/>
              </a:rPr>
              <a:t>    approved: bool</a:t>
            </a:r>
          </a:p>
          <a:p>
            <a:pPr algn="l">
              <a:lnSpc>
                <a:spcPct val="100000"/>
              </a:lnSpc>
              <a:spcAft>
                <a:spcPts val="0"/>
              </a:spcAft>
            </a:pPr>
            <a:r>
              <a:rPr sz="2500" b="0" i="0">
                <a:solidFill>
                  <a:srgbClr val="E6EDF3"/>
                </a:solidFill>
                <a:latin typeface="Consolas"/>
              </a:rPr>
              <a:t>    probability: float</a:t>
            </a:r>
          </a:p>
          <a:p>
            <a:pPr algn="l">
              <a:lnSpc>
                <a:spcPct val="100000"/>
              </a:lnSpc>
              <a:spcAft>
                <a:spcPts val="0"/>
              </a:spcAft>
            </a:pPr>
            <a:r>
              <a:rPr sz="2500" b="0" i="0">
                <a:solidFill>
                  <a:srgbClr val="E6EDF3"/>
                </a:solidFill>
                <a:latin typeface="Consolas"/>
              </a:rPr>
              <a:t>    model_version: str</a:t>
            </a:r>
          </a:p>
        </p:txBody>
      </p:sp>
      <p:sp>
        <p:nvSpPr>
          <p:cNvPr id="12" name="Rounded Rectangle 11"/>
          <p:cNvSpPr/>
          <p:nvPr/>
        </p:nvSpPr>
        <p:spPr>
          <a:xfrm>
            <a:off x="14813280" y="2514600"/>
            <a:ext cx="8549640" cy="9966960"/>
          </a:xfrm>
          <a:prstGeom prst="roundRect">
            <a:avLst>
              <a:gd name="adj" fmla="val 3743"/>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361920" y="2926080"/>
            <a:ext cx="7498079" cy="731520"/>
          </a:xfrm>
          <a:prstGeom prst="rect">
            <a:avLst/>
          </a:prstGeom>
          <a:noFill/>
        </p:spPr>
        <p:txBody>
          <a:bodyPr wrap="square" lIns="0" tIns="0" rIns="0" bIns="0" anchor="t">
            <a:spAutoFit/>
          </a:bodyPr>
          <a:lstStyle/>
          <a:p>
            <a:pPr algn="l">
              <a:lnSpc>
                <a:spcPct val="120000"/>
              </a:lnSpc>
              <a:spcAft>
                <a:spcPts val="600"/>
              </a:spcAft>
            </a:pPr>
            <a:r>
              <a:rPr sz="3200" b="1" i="0">
                <a:solidFill>
                  <a:srgbClr val="1B2A4A"/>
                </a:solidFill>
                <a:latin typeface="Liter"/>
              </a:rPr>
              <a:t>A two-way contract</a:t>
            </a:r>
          </a:p>
        </p:txBody>
      </p:sp>
      <p:sp>
        <p:nvSpPr>
          <p:cNvPr id="14" name="TextBox 13"/>
          <p:cNvSpPr txBox="1"/>
          <p:nvPr/>
        </p:nvSpPr>
        <p:spPr>
          <a:xfrm>
            <a:off x="15361920" y="4023360"/>
            <a:ext cx="7498079" cy="8229600"/>
          </a:xfrm>
          <a:prstGeom prst="rect">
            <a:avLst/>
          </a:prstGeom>
          <a:noFill/>
        </p:spPr>
        <p:txBody>
          <a:bodyPr wrap="square" lIns="0" tIns="0" rIns="0" bIns="0" anchor="t">
            <a:spAutoFit/>
          </a:bodyPr>
          <a:lstStyle/>
          <a:p>
            <a:pPr marL="408939" indent="-408939" algn="l">
              <a:lnSpc>
                <a:spcPct val="125000"/>
              </a:lnSpc>
              <a:spcAft>
                <a:spcPts val="2000"/>
              </a:spcAft>
              <a:buClr>
                <a:srgbClr val="D4A03A"/>
              </a:buClr>
              <a:buFont typeface="Arial"/>
              <a:buChar char="•"/>
            </a:pPr>
            <a:r>
              <a:rPr sz="2800" b="0" i="0">
                <a:solidFill>
                  <a:srgbClr val="1E293B"/>
                </a:solidFill>
                <a:latin typeface="Quattrocento Sans"/>
              </a:rPr>
              <a:t>Requests are validated before the handler runs</a:t>
            </a:r>
          </a:p>
          <a:p>
            <a:pPr marL="408939" indent="-408939" algn="l">
              <a:lnSpc>
                <a:spcPct val="125000"/>
              </a:lnSpc>
              <a:spcAft>
                <a:spcPts val="2000"/>
              </a:spcAft>
              <a:buClr>
                <a:srgbClr val="D4A03A"/>
              </a:buClr>
              <a:buFont typeface="Arial"/>
              <a:buChar char="•"/>
            </a:pPr>
            <a:r>
              <a:rPr sz="2800" b="0" i="0">
                <a:solidFill>
                  <a:srgbClr val="1E293B"/>
                </a:solidFill>
                <a:latin typeface="Quattrocento Sans"/>
              </a:rPr>
              <a:t>Missing field or wrong type → HTTP 422 automatically</a:t>
            </a:r>
          </a:p>
          <a:p>
            <a:pPr marL="408939" indent="-408939" algn="l">
              <a:lnSpc>
                <a:spcPct val="125000"/>
              </a:lnSpc>
              <a:spcAft>
                <a:spcPts val="2000"/>
              </a:spcAft>
              <a:buClr>
                <a:srgbClr val="D4A03A"/>
              </a:buClr>
              <a:buFont typeface="Arial"/>
              <a:buChar char="•"/>
            </a:pPr>
            <a:r>
              <a:rPr sz="2800" b="0" i="0">
                <a:solidFill>
                  <a:srgbClr val="1E293B"/>
                </a:solidFill>
                <a:latin typeface="Quattrocento Sans"/>
              </a:rPr>
              <a:t>response_model keeps the output shape stable</a:t>
            </a:r>
          </a:p>
          <a:p>
            <a:pPr marL="408939" indent="-408939" algn="l">
              <a:lnSpc>
                <a:spcPct val="125000"/>
              </a:lnSpc>
              <a:spcAft>
                <a:spcPts val="2000"/>
              </a:spcAft>
              <a:buClr>
                <a:srgbClr val="D4A03A"/>
              </a:buClr>
              <a:buFont typeface="Arial"/>
              <a:buChar char="•"/>
            </a:pPr>
            <a:r>
              <a:rPr sz="2800" b="0" i="0">
                <a:solidFill>
                  <a:srgbClr val="1E293B"/>
                </a:solidFill>
                <a:latin typeface="Quattrocento Sans"/>
              </a:rPr>
              <a:t>The /docs page is generated from this schema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Loading the Model &amp; the /predict Endpoint</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30</a:t>
            </a:r>
          </a:p>
        </p:txBody>
      </p:sp>
      <p:sp>
        <p:nvSpPr>
          <p:cNvPr id="6" name="Rounded Rectangle 5"/>
          <p:cNvSpPr/>
          <p:nvPr/>
        </p:nvSpPr>
        <p:spPr>
          <a:xfrm>
            <a:off x="1014984" y="2514600"/>
            <a:ext cx="22347936" cy="9966960"/>
          </a:xfrm>
          <a:prstGeom prst="roundRect">
            <a:avLst>
              <a:gd name="adj" fmla="val 1651"/>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44168" y="278892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728216" y="278892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112264" y="278892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60904" y="2697480"/>
            <a:ext cx="20336256" cy="384048"/>
          </a:xfrm>
          <a:prstGeom prst="rect">
            <a:avLst/>
          </a:prstGeom>
          <a:noFill/>
        </p:spPr>
        <p:txBody>
          <a:bodyPr wrap="square" lIns="0" tIns="0" rIns="0" bIns="0" anchor="t">
            <a:spAutoFit/>
          </a:bodyPr>
          <a:lstStyle/>
          <a:p>
            <a:pPr algn="l">
              <a:lnSpc>
                <a:spcPct val="120000"/>
              </a:lnSpc>
              <a:spcAft>
                <a:spcPts val="600"/>
              </a:spcAft>
            </a:pPr>
            <a:r>
              <a:rPr sz="1800" b="0" i="0">
                <a:solidFill>
                  <a:srgbClr val="8B9BB4"/>
                </a:solidFill>
                <a:latin typeface="Consolas"/>
              </a:rPr>
              <a:t>api/app.py (abridged)</a:t>
            </a:r>
          </a:p>
        </p:txBody>
      </p:sp>
      <p:sp>
        <p:nvSpPr>
          <p:cNvPr id="11" name="TextBox 10"/>
          <p:cNvSpPr txBox="1"/>
          <p:nvPr/>
        </p:nvSpPr>
        <p:spPr>
          <a:xfrm>
            <a:off x="1426464" y="3227832"/>
            <a:ext cx="21616416" cy="9098280"/>
          </a:xfrm>
          <a:prstGeom prst="rect">
            <a:avLst/>
          </a:prstGeom>
          <a:noFill/>
        </p:spPr>
        <p:txBody>
          <a:bodyPr wrap="square" lIns="0" tIns="0" rIns="0" bIns="0" anchor="t">
            <a:spAutoFit/>
          </a:bodyPr>
          <a:lstStyle/>
          <a:p>
            <a:pPr algn="l">
              <a:lnSpc>
                <a:spcPct val="100000"/>
              </a:lnSpc>
              <a:spcAft>
                <a:spcPts val="0"/>
              </a:spcAft>
            </a:pPr>
            <a:r>
              <a:rPr sz="2600" b="0" i="0">
                <a:solidFill>
                  <a:srgbClr val="E6EDF3"/>
                </a:solidFill>
                <a:latin typeface="Consolas"/>
              </a:rPr>
              <a:t>if os.path.exists(MODEL_PATH):              # container path</a:t>
            </a:r>
          </a:p>
          <a:p>
            <a:pPr algn="l">
              <a:lnSpc>
                <a:spcPct val="100000"/>
              </a:lnSpc>
              <a:spcAft>
                <a:spcPts val="0"/>
              </a:spcAft>
            </a:pPr>
            <a:r>
              <a:rPr sz="2600" b="0" i="0">
                <a:solidFill>
                  <a:srgbClr val="E6EDF3"/>
                </a:solidFill>
                <a:latin typeface="Consolas"/>
              </a:rPr>
              <a:t>    model = joblib.load(MODEL_PATH)           # + model_info.json</a:t>
            </a:r>
          </a:p>
          <a:p>
            <a:pPr algn="l">
              <a:lnSpc>
                <a:spcPct val="100000"/>
              </a:lnSpc>
              <a:spcAft>
                <a:spcPts val="0"/>
              </a:spcAft>
            </a:pPr>
            <a:r>
              <a:rPr sz="2600" b="0" i="0">
                <a:solidFill>
                  <a:srgbClr val="E6EDF3"/>
                </a:solidFill>
                <a:latin typeface="Consolas"/>
              </a:rPr>
              <a:t>else:                                         # local development path</a:t>
            </a:r>
          </a:p>
          <a:p>
            <a:pPr algn="l">
              <a:lnSpc>
                <a:spcPct val="100000"/>
              </a:lnSpc>
              <a:spcAft>
                <a:spcPts val="0"/>
              </a:spcAft>
            </a:pPr>
            <a:r>
              <a:rPr sz="2600" b="0" i="0">
                <a:solidFill>
                  <a:srgbClr val="E6EDF3"/>
                </a:solidFill>
                <a:latin typeface="Consolas"/>
              </a:rPr>
              <a:t>    mv = MlflowClient().get_model_version_by_alias(MODEL_NAME, "champion")</a:t>
            </a:r>
          </a:p>
          <a:p>
            <a:pPr algn="l">
              <a:lnSpc>
                <a:spcPct val="100000"/>
              </a:lnSpc>
              <a:spcAft>
                <a:spcPts val="0"/>
              </a:spcAft>
            </a:pPr>
            <a:r>
              <a:rPr sz="2600" b="0" i="0">
                <a:solidFill>
                  <a:srgbClr val="E6EDF3"/>
                </a:solidFill>
                <a:latin typeface="Consolas"/>
              </a:rPr>
              <a:t>    model = mlflow.sklearn.load_model(f"models:/{MODEL_NAME}/{mv.version}")</a:t>
            </a:r>
          </a:p>
          <a:p>
            <a:pPr algn="l">
              <a:lnSpc>
                <a:spcPct val="100000"/>
              </a:lnSpc>
              <a:spcAft>
                <a:spcPts val="0"/>
              </a:spcAft>
            </a:pPr>
            <a:r>
              <a:rPr sz="2600" b="0" i="0">
                <a:solidFill>
                  <a:srgbClr val="E6EDF3"/>
                </a:solidFill>
                <a:latin typeface="Consolas"/>
              </a:rPr>
              <a:t>MODEL_VERSION = f"{type(model).__name__}-v{version}"</a:t>
            </a:r>
          </a:p>
          <a:p>
            <a:pPr algn="l">
              <a:lnSpc>
                <a:spcPct val="100000"/>
              </a:lnSpc>
              <a:spcAft>
                <a:spcPts val="0"/>
              </a:spcAft>
            </a:pPr>
            <a:r>
              <a:rPr sz="2600" b="0" i="0">
                <a:solidFill>
                  <a:srgbClr val="E6EDF3"/>
                </a:solidFill>
                <a:latin typeface="Consolas"/>
              </a:rPr>
              <a:t> </a:t>
            </a:r>
          </a:p>
          <a:p>
            <a:pPr algn="l">
              <a:lnSpc>
                <a:spcPct val="100000"/>
              </a:lnSpc>
              <a:spcAft>
                <a:spcPts val="0"/>
              </a:spcAft>
            </a:pPr>
            <a:r>
              <a:rPr sz="2600" b="0" i="0">
                <a:solidFill>
                  <a:srgbClr val="E6EDF3"/>
                </a:solidFill>
                <a:latin typeface="Consolas"/>
              </a:rPr>
              <a:t>@app.post("/predict", response_model=PredictionResponse)</a:t>
            </a:r>
          </a:p>
          <a:p>
            <a:pPr algn="l">
              <a:lnSpc>
                <a:spcPct val="100000"/>
              </a:lnSpc>
              <a:spcAft>
                <a:spcPts val="0"/>
              </a:spcAft>
            </a:pPr>
            <a:r>
              <a:rPr sz="2600" b="0" i="0">
                <a:solidFill>
                  <a:srgbClr val="E6EDF3"/>
                </a:solidFill>
                <a:latin typeface="Consolas"/>
              </a:rPr>
              <a:t>def predict(data: ApplicantData):</a:t>
            </a:r>
          </a:p>
          <a:p>
            <a:pPr algn="l">
              <a:lnSpc>
                <a:spcPct val="100000"/>
              </a:lnSpc>
              <a:spcAft>
                <a:spcPts val="0"/>
              </a:spcAft>
            </a:pPr>
            <a:r>
              <a:rPr sz="2600" b="0" i="0">
                <a:solidFill>
                  <a:srgbClr val="E6EDF3"/>
                </a:solidFill>
                <a:latin typeface="Consolas"/>
              </a:rPr>
              <a:t>    df = pd.DataFrame([data.model_dump()])</a:t>
            </a:r>
          </a:p>
          <a:p>
            <a:pPr algn="l">
              <a:lnSpc>
                <a:spcPct val="100000"/>
              </a:lnSpc>
              <a:spcAft>
                <a:spcPts val="0"/>
              </a:spcAft>
            </a:pPr>
            <a:r>
              <a:rPr sz="2600" b="0" i="0">
                <a:solidFill>
                  <a:srgbClr val="E6EDF3"/>
                </a:solidFill>
                <a:latin typeface="Consolas"/>
              </a:rPr>
              <a:t>    proba = model.predict_proba(df)[0][1]</a:t>
            </a:r>
          </a:p>
          <a:p>
            <a:pPr algn="l">
              <a:lnSpc>
                <a:spcPct val="100000"/>
              </a:lnSpc>
              <a:spcAft>
                <a:spcPts val="0"/>
              </a:spcAft>
            </a:pPr>
            <a:r>
              <a:rPr sz="2600" b="0" i="0">
                <a:solidFill>
                  <a:srgbClr val="E6EDF3"/>
                </a:solidFill>
                <a:latin typeface="Consolas"/>
              </a:rPr>
              <a:t>    return PredictionResponse(approved=bool(proba &gt;= 0.5),</a:t>
            </a:r>
          </a:p>
          <a:p>
            <a:pPr algn="l">
              <a:lnSpc>
                <a:spcPct val="100000"/>
              </a:lnSpc>
              <a:spcAft>
                <a:spcPts val="0"/>
              </a:spcAft>
            </a:pPr>
            <a:r>
              <a:rPr sz="2600" b="0" i="0">
                <a:solidFill>
                  <a:srgbClr val="E6EDF3"/>
                </a:solidFill>
                <a:latin typeface="Consolas"/>
              </a:rPr>
              <a:t>                              probability=round(float(proba), 4),</a:t>
            </a:r>
          </a:p>
          <a:p>
            <a:pPr algn="l">
              <a:lnSpc>
                <a:spcPct val="100000"/>
              </a:lnSpc>
              <a:spcAft>
                <a:spcPts val="0"/>
              </a:spcAft>
            </a:pPr>
            <a:r>
              <a:rPr sz="2600" b="0" i="0">
                <a:solidFill>
                  <a:srgbClr val="E6EDF3"/>
                </a:solidFill>
                <a:latin typeface="Consolas"/>
              </a:rPr>
              <a:t>                              model_version=MODEL_VERSION)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Run and Test the API</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HANDS-ON 2</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31</a:t>
            </a:r>
          </a:p>
        </p:txBody>
      </p:sp>
      <p:sp>
        <p:nvSpPr>
          <p:cNvPr id="6" name="Rounded Rectangle 5"/>
          <p:cNvSpPr/>
          <p:nvPr/>
        </p:nvSpPr>
        <p:spPr>
          <a:xfrm>
            <a:off x="1014984" y="2514600"/>
            <a:ext cx="22347936" cy="9966960"/>
          </a:xfrm>
          <a:prstGeom prst="roundRect">
            <a:avLst>
              <a:gd name="adj" fmla="val 1651"/>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44168" y="278892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728216" y="278892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112264" y="278892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60904" y="2697480"/>
            <a:ext cx="20336256" cy="384048"/>
          </a:xfrm>
          <a:prstGeom prst="rect">
            <a:avLst/>
          </a:prstGeom>
          <a:noFill/>
        </p:spPr>
        <p:txBody>
          <a:bodyPr wrap="square" lIns="0" tIns="0" rIns="0" bIns="0" anchor="t">
            <a:spAutoFit/>
          </a:bodyPr>
          <a:lstStyle/>
          <a:p>
            <a:pPr algn="l">
              <a:lnSpc>
                <a:spcPct val="120000"/>
              </a:lnSpc>
              <a:spcAft>
                <a:spcPts val="600"/>
              </a:spcAft>
            </a:pPr>
            <a:r>
              <a:rPr sz="1800" b="0" i="0">
                <a:solidFill>
                  <a:srgbClr val="8B9BB4"/>
                </a:solidFill>
                <a:latin typeface="Consolas"/>
              </a:rPr>
              <a:t>bash — terminal (real output)</a:t>
            </a:r>
          </a:p>
        </p:txBody>
      </p:sp>
      <p:sp>
        <p:nvSpPr>
          <p:cNvPr id="11" name="TextBox 10"/>
          <p:cNvSpPr txBox="1"/>
          <p:nvPr/>
        </p:nvSpPr>
        <p:spPr>
          <a:xfrm>
            <a:off x="1426464" y="3227832"/>
            <a:ext cx="21616416" cy="9098280"/>
          </a:xfrm>
          <a:prstGeom prst="rect">
            <a:avLst/>
          </a:prstGeom>
          <a:noFill/>
        </p:spPr>
        <p:txBody>
          <a:bodyPr wrap="square" lIns="0" tIns="0" rIns="0" bIns="0" anchor="t">
            <a:spAutoFit/>
          </a:bodyPr>
          <a:lstStyle/>
          <a:p>
            <a:pPr algn="l">
              <a:lnSpc>
                <a:spcPct val="100000"/>
              </a:lnSpc>
              <a:spcAft>
                <a:spcPts val="0"/>
              </a:spcAft>
            </a:pPr>
            <a:r>
              <a:rPr sz="2500" b="0" i="0">
                <a:solidFill>
                  <a:srgbClr val="F5C66B"/>
                </a:solidFill>
                <a:latin typeface="Consolas"/>
              </a:rPr>
              <a:t>$ make serve      # PREDICTION_LOG=logs/predictions.jsonl uvicorn api.app:app --reload</a:t>
            </a:r>
          </a:p>
          <a:p>
            <a:pPr algn="l">
              <a:lnSpc>
                <a:spcPct val="100000"/>
              </a:lnSpc>
              <a:spcAft>
                <a:spcPts val="0"/>
              </a:spcAft>
            </a:pPr>
            <a:r>
              <a:rPr sz="2500" b="0" i="0">
                <a:solidFill>
                  <a:srgbClr val="E6EDF3"/>
                </a:solidFill>
                <a:latin typeface="Consolas"/>
              </a:rPr>
              <a:t>INFO:     Uvicorn running on http://127.0.0.1:8000</a:t>
            </a:r>
          </a:p>
          <a:p>
            <a:pPr algn="l">
              <a:lnSpc>
                <a:spcPct val="100000"/>
              </a:lnSpc>
              <a:spcAft>
                <a:spcPts val="0"/>
              </a:spcAft>
            </a:pPr>
            <a:r>
              <a:rPr sz="2500" b="0" i="0">
                <a:solidFill>
                  <a:srgbClr val="E6EDF3"/>
                </a:solidFill>
                <a:latin typeface="Consolas"/>
              </a:rPr>
              <a:t> </a:t>
            </a:r>
          </a:p>
          <a:p>
            <a:pPr algn="l">
              <a:lnSpc>
                <a:spcPct val="100000"/>
              </a:lnSpc>
              <a:spcAft>
                <a:spcPts val="0"/>
              </a:spcAft>
            </a:pPr>
            <a:r>
              <a:rPr sz="2500" b="0" i="0">
                <a:solidFill>
                  <a:srgbClr val="8B9BB4"/>
                </a:solidFill>
                <a:latin typeface="Consolas"/>
              </a:rPr>
              <a:t># second terminal</a:t>
            </a:r>
          </a:p>
          <a:p>
            <a:pPr algn="l">
              <a:lnSpc>
                <a:spcPct val="100000"/>
              </a:lnSpc>
              <a:spcAft>
                <a:spcPts val="0"/>
              </a:spcAft>
            </a:pPr>
            <a:r>
              <a:rPr sz="2500" b="0" i="0">
                <a:solidFill>
                  <a:srgbClr val="F5C66B"/>
                </a:solidFill>
                <a:latin typeface="Consolas"/>
              </a:rPr>
              <a:t>$ curl http://127.0.0.1:8000/</a:t>
            </a:r>
          </a:p>
          <a:p>
            <a:pPr algn="l">
              <a:lnSpc>
                <a:spcPct val="100000"/>
              </a:lnSpc>
              <a:spcAft>
                <a:spcPts val="0"/>
              </a:spcAft>
            </a:pPr>
            <a:r>
              <a:rPr sz="2500" b="0" i="0">
                <a:solidFill>
                  <a:srgbClr val="E6EDF3"/>
                </a:solidFill>
                <a:latin typeface="Consolas"/>
              </a:rPr>
              <a:t>{"status":"ok","service":"insurance-approval-api",</a:t>
            </a:r>
          </a:p>
          <a:p>
            <a:pPr algn="l">
              <a:lnSpc>
                <a:spcPct val="100000"/>
              </a:lnSpc>
              <a:spcAft>
                <a:spcPts val="0"/>
              </a:spcAft>
            </a:pPr>
            <a:r>
              <a:rPr sz="2500" b="0" i="0">
                <a:solidFill>
                  <a:srgbClr val="E6EDF3"/>
                </a:solidFill>
                <a:latin typeface="Consolas"/>
              </a:rPr>
              <a:t> "model_version":"RandomForestClassifier-v1","model_source":"MLflow Model Registry (@champion)"}</a:t>
            </a:r>
          </a:p>
          <a:p>
            <a:pPr algn="l">
              <a:lnSpc>
                <a:spcPct val="100000"/>
              </a:lnSpc>
              <a:spcAft>
                <a:spcPts val="0"/>
              </a:spcAft>
            </a:pPr>
            <a:r>
              <a:rPr sz="2500" b="0" i="0">
                <a:solidFill>
                  <a:srgbClr val="E6EDF3"/>
                </a:solidFill>
                <a:latin typeface="Consolas"/>
              </a:rPr>
              <a:t> </a:t>
            </a:r>
          </a:p>
          <a:p>
            <a:pPr algn="l">
              <a:lnSpc>
                <a:spcPct val="100000"/>
              </a:lnSpc>
              <a:spcAft>
                <a:spcPts val="0"/>
              </a:spcAft>
            </a:pPr>
            <a:r>
              <a:rPr sz="2500" b="0" i="0">
                <a:solidFill>
                  <a:srgbClr val="F5C66B"/>
                </a:solidFill>
                <a:latin typeface="Consolas"/>
              </a:rPr>
              <a:t>$ curl -X POST http://127.0.0.1:8000/predict -H "Content-Type: application/json" \</a:t>
            </a:r>
          </a:p>
          <a:p>
            <a:pPr algn="l">
              <a:lnSpc>
                <a:spcPct val="100000"/>
              </a:lnSpc>
              <a:spcAft>
                <a:spcPts val="0"/>
              </a:spcAft>
            </a:pPr>
            <a:r>
              <a:rPr sz="2500" b="0" i="0">
                <a:solidFill>
                  <a:srgbClr val="E6EDF3"/>
                </a:solidFill>
                <a:latin typeface="Consolas"/>
              </a:rPr>
              <a:t>  -d '{"age":34,"income":78000,"bmi":24.5,"tenure_months":18,</a:t>
            </a:r>
          </a:p>
          <a:p>
            <a:pPr algn="l">
              <a:lnSpc>
                <a:spcPct val="100000"/>
              </a:lnSpc>
              <a:spcAft>
                <a:spcPts val="0"/>
              </a:spcAft>
            </a:pPr>
            <a:r>
              <a:rPr sz="2500" b="0" i="0">
                <a:solidFill>
                  <a:srgbClr val="E6EDF3"/>
                </a:solidFill>
                <a:latin typeface="Consolas"/>
              </a:rPr>
              <a:t>       "num_claims":1,"credit_score":720,"policy_value":150000,"risk_score":42.5}'</a:t>
            </a:r>
          </a:p>
          <a:p>
            <a:pPr algn="l">
              <a:lnSpc>
                <a:spcPct val="100000"/>
              </a:lnSpc>
              <a:spcAft>
                <a:spcPts val="0"/>
              </a:spcAft>
            </a:pPr>
            <a:r>
              <a:rPr sz="2500" b="0" i="0">
                <a:solidFill>
                  <a:srgbClr val="E6EDF3"/>
                </a:solidFill>
                <a:latin typeface="Consolas"/>
              </a:rPr>
              <a:t>{"approved":false,"probability":0.4112,"model_version":"RandomForestClassifier-v1"}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Swagger UI — http://127.0.0.1:8000/docs</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REAL SCREENSHOT</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32</a:t>
            </a:r>
          </a:p>
        </p:txBody>
      </p:sp>
      <p:pic>
        <p:nvPicPr>
          <p:cNvPr id="6" name="Picture 5" descr="crop_sw_resp.png"/>
          <p:cNvPicPr>
            <a:picLocks noChangeAspect="1"/>
          </p:cNvPicPr>
          <p:nvPr/>
        </p:nvPicPr>
        <p:blipFill>
          <a:blip r:embed="rId3"/>
          <a:stretch>
            <a:fillRect/>
          </a:stretch>
        </p:blipFill>
        <p:spPr>
          <a:xfrm>
            <a:off x="1014984" y="2520269"/>
            <a:ext cx="22347936" cy="8629741"/>
          </a:xfrm>
          <a:prstGeom prst="rect">
            <a:avLst/>
          </a:prstGeom>
          <a:ln w="19050">
            <a:solidFill>
              <a:srgbClr val="E0DCD3"/>
            </a:solidFill>
          </a:ln>
        </p:spPr>
      </p:pic>
      <p:sp>
        <p:nvSpPr>
          <p:cNvPr id="7" name="Rounded Rectangle 6"/>
          <p:cNvSpPr/>
          <p:nvPr/>
        </p:nvSpPr>
        <p:spPr>
          <a:xfrm>
            <a:off x="1014984" y="11338560"/>
            <a:ext cx="22347936" cy="1143000"/>
          </a:xfrm>
          <a:prstGeom prst="roundRect">
            <a:avLst>
              <a:gd name="adj" fmla="val 9600"/>
            </a:avLst>
          </a:prstGeom>
          <a:solidFill>
            <a:srgbClr val="FBE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14984" y="11338560"/>
            <a:ext cx="128016" cy="1143000"/>
          </a:xfrm>
          <a:prstGeom prst="rect">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17904" y="11338560"/>
            <a:ext cx="21524976" cy="1143000"/>
          </a:xfrm>
          <a:prstGeom prst="rect">
            <a:avLst/>
          </a:prstGeom>
          <a:noFill/>
        </p:spPr>
        <p:txBody>
          <a:bodyPr wrap="square" lIns="0" tIns="0" rIns="0" bIns="0" anchor="ctr">
            <a:spAutoFit/>
          </a:bodyPr>
          <a:lstStyle/>
          <a:p>
            <a:pPr algn="l">
              <a:lnSpc>
                <a:spcPct val="120000"/>
              </a:lnSpc>
              <a:spcAft>
                <a:spcPts val="600"/>
              </a:spcAft>
            </a:pPr>
            <a:r>
              <a:rPr sz="2400" b="0" i="1">
                <a:solidFill>
                  <a:srgbClr val="1B2A4A"/>
                </a:solidFill>
                <a:latin typeface="Quattrocento Sans"/>
              </a:rPr>
              <a:t>Swagger UI loads its assets from a CDN. If the network blocks it, /docs is blank — use curl or make drill-check instead.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Invalid Requests Are Rejected Automatically</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VALIDATION</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33</a:t>
            </a:r>
          </a:p>
        </p:txBody>
      </p:sp>
      <p:sp>
        <p:nvSpPr>
          <p:cNvPr id="6" name="Rounded Rectangle 5"/>
          <p:cNvSpPr/>
          <p:nvPr/>
        </p:nvSpPr>
        <p:spPr>
          <a:xfrm>
            <a:off x="1014984" y="2514600"/>
            <a:ext cx="7174992" cy="4754880"/>
          </a:xfrm>
          <a:prstGeom prst="roundRect">
            <a:avLst>
              <a:gd name="adj" fmla="val 673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63624"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01</a:t>
            </a:r>
          </a:p>
        </p:txBody>
      </p:sp>
      <p:sp>
        <p:nvSpPr>
          <p:cNvPr id="8" name="TextBox 7"/>
          <p:cNvSpPr txBox="1"/>
          <p:nvPr/>
        </p:nvSpPr>
        <p:spPr>
          <a:xfrm>
            <a:off x="2615184" y="2926080"/>
            <a:ext cx="5209032" cy="731520"/>
          </a:xfrm>
          <a:prstGeom prst="rect">
            <a:avLst/>
          </a:prstGeom>
          <a:noFill/>
        </p:spPr>
        <p:txBody>
          <a:bodyPr wrap="square" lIns="0" tIns="0" rIns="0" bIns="0" anchor="ctr">
            <a:spAutoFit/>
          </a:bodyPr>
          <a:lstStyle/>
          <a:p>
            <a:pPr algn="l">
              <a:lnSpc>
                <a:spcPct val="120000"/>
              </a:lnSpc>
              <a:spcAft>
                <a:spcPts val="600"/>
              </a:spcAft>
            </a:pPr>
            <a:r>
              <a:rPr sz="3000" b="1" i="0">
                <a:solidFill>
                  <a:srgbClr val="1B2A4A"/>
                </a:solidFill>
                <a:latin typeface="Liter"/>
              </a:rPr>
              <a:t>Missing field</a:t>
            </a:r>
          </a:p>
        </p:txBody>
      </p:sp>
      <p:sp>
        <p:nvSpPr>
          <p:cNvPr id="9" name="TextBox 8"/>
          <p:cNvSpPr txBox="1"/>
          <p:nvPr/>
        </p:nvSpPr>
        <p:spPr>
          <a:xfrm>
            <a:off x="1563624" y="3931920"/>
            <a:ext cx="6077712" cy="3108960"/>
          </a:xfrm>
          <a:prstGeom prst="rect">
            <a:avLst/>
          </a:prstGeom>
          <a:noFill/>
        </p:spPr>
        <p:txBody>
          <a:bodyPr wrap="square" lIns="0" tIns="0" rIns="0" bIns="0" anchor="t">
            <a:spAutoFit/>
          </a:bodyPr>
          <a:lstStyle/>
          <a:p>
            <a:pPr algn="l">
              <a:lnSpc>
                <a:spcPct val="130000"/>
              </a:lnSpc>
              <a:spcAft>
                <a:spcPts val="600"/>
              </a:spcAft>
            </a:pPr>
            <a:r>
              <a:rPr sz="2600" b="0" i="0">
                <a:solidFill>
                  <a:srgbClr val="1E293B"/>
                </a:solidFill>
                <a:latin typeface="Quattrocento Sans"/>
              </a:rPr>
              <a:t>A request without credit_score → HTTP 422, with no extra validation code.</a:t>
            </a:r>
          </a:p>
        </p:txBody>
      </p:sp>
      <p:sp>
        <p:nvSpPr>
          <p:cNvPr id="10" name="Rounded Rectangle 9"/>
          <p:cNvSpPr/>
          <p:nvPr/>
        </p:nvSpPr>
        <p:spPr>
          <a:xfrm>
            <a:off x="8601456" y="2514600"/>
            <a:ext cx="7174992" cy="4754880"/>
          </a:xfrm>
          <a:prstGeom prst="roundRect">
            <a:avLst>
              <a:gd name="adj" fmla="val 673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50096"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02</a:t>
            </a:r>
          </a:p>
        </p:txBody>
      </p:sp>
      <p:sp>
        <p:nvSpPr>
          <p:cNvPr id="12" name="TextBox 11"/>
          <p:cNvSpPr txBox="1"/>
          <p:nvPr/>
        </p:nvSpPr>
        <p:spPr>
          <a:xfrm>
            <a:off x="10201656" y="2926080"/>
            <a:ext cx="5209032" cy="731520"/>
          </a:xfrm>
          <a:prstGeom prst="rect">
            <a:avLst/>
          </a:prstGeom>
          <a:noFill/>
        </p:spPr>
        <p:txBody>
          <a:bodyPr wrap="square" lIns="0" tIns="0" rIns="0" bIns="0" anchor="ctr">
            <a:spAutoFit/>
          </a:bodyPr>
          <a:lstStyle/>
          <a:p>
            <a:pPr algn="l">
              <a:lnSpc>
                <a:spcPct val="120000"/>
              </a:lnSpc>
              <a:spcAft>
                <a:spcPts val="600"/>
              </a:spcAft>
            </a:pPr>
            <a:r>
              <a:rPr sz="3000" b="1" i="0">
                <a:solidFill>
                  <a:srgbClr val="1B2A4A"/>
                </a:solidFill>
                <a:latin typeface="Liter"/>
              </a:rPr>
              <a:t>Wrong type</a:t>
            </a:r>
          </a:p>
        </p:txBody>
      </p:sp>
      <p:sp>
        <p:nvSpPr>
          <p:cNvPr id="13" name="TextBox 12"/>
          <p:cNvSpPr txBox="1"/>
          <p:nvPr/>
        </p:nvSpPr>
        <p:spPr>
          <a:xfrm>
            <a:off x="9150096" y="3931920"/>
            <a:ext cx="6077712" cy="3108960"/>
          </a:xfrm>
          <a:prstGeom prst="rect">
            <a:avLst/>
          </a:prstGeom>
          <a:noFill/>
        </p:spPr>
        <p:txBody>
          <a:bodyPr wrap="square" lIns="0" tIns="0" rIns="0" bIns="0" anchor="t">
            <a:spAutoFit/>
          </a:bodyPr>
          <a:lstStyle/>
          <a:p>
            <a:pPr algn="l">
              <a:lnSpc>
                <a:spcPct val="130000"/>
              </a:lnSpc>
              <a:spcAft>
                <a:spcPts val="600"/>
              </a:spcAft>
            </a:pPr>
            <a:r>
              <a:rPr sz="2600" b="0" i="0">
                <a:solidFill>
                  <a:srgbClr val="1E293B"/>
                </a:solidFill>
                <a:latin typeface="Quattrocento Sans"/>
              </a:rPr>
              <a:t>credit_score = "high" is rejected before predict() ever runs.</a:t>
            </a:r>
          </a:p>
        </p:txBody>
      </p:sp>
      <p:sp>
        <p:nvSpPr>
          <p:cNvPr id="14" name="Rounded Rectangle 13"/>
          <p:cNvSpPr/>
          <p:nvPr/>
        </p:nvSpPr>
        <p:spPr>
          <a:xfrm>
            <a:off x="16187928" y="2514600"/>
            <a:ext cx="7174992" cy="4754880"/>
          </a:xfrm>
          <a:prstGeom prst="roundRect">
            <a:avLst>
              <a:gd name="adj" fmla="val 673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736568"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03</a:t>
            </a:r>
          </a:p>
        </p:txBody>
      </p:sp>
      <p:sp>
        <p:nvSpPr>
          <p:cNvPr id="16" name="TextBox 15"/>
          <p:cNvSpPr txBox="1"/>
          <p:nvPr/>
        </p:nvSpPr>
        <p:spPr>
          <a:xfrm>
            <a:off x="17788128" y="2926080"/>
            <a:ext cx="5209032" cy="731520"/>
          </a:xfrm>
          <a:prstGeom prst="rect">
            <a:avLst/>
          </a:prstGeom>
          <a:noFill/>
        </p:spPr>
        <p:txBody>
          <a:bodyPr wrap="square" lIns="0" tIns="0" rIns="0" bIns="0" anchor="ctr">
            <a:spAutoFit/>
          </a:bodyPr>
          <a:lstStyle/>
          <a:p>
            <a:pPr algn="l">
              <a:lnSpc>
                <a:spcPct val="120000"/>
              </a:lnSpc>
              <a:spcAft>
                <a:spcPts val="600"/>
              </a:spcAft>
            </a:pPr>
            <a:r>
              <a:rPr sz="3000" b="1" i="0">
                <a:solidFill>
                  <a:srgbClr val="1B2A4A"/>
                </a:solidFill>
                <a:latin typeface="Liter"/>
              </a:rPr>
              <a:t>Structured errors</a:t>
            </a:r>
          </a:p>
        </p:txBody>
      </p:sp>
      <p:sp>
        <p:nvSpPr>
          <p:cNvPr id="17" name="TextBox 16"/>
          <p:cNvSpPr txBox="1"/>
          <p:nvPr/>
        </p:nvSpPr>
        <p:spPr>
          <a:xfrm>
            <a:off x="16736568" y="3931920"/>
            <a:ext cx="6077712" cy="3108960"/>
          </a:xfrm>
          <a:prstGeom prst="rect">
            <a:avLst/>
          </a:prstGeom>
          <a:noFill/>
        </p:spPr>
        <p:txBody>
          <a:bodyPr wrap="square" lIns="0" tIns="0" rIns="0" bIns="0" anchor="t">
            <a:spAutoFit/>
          </a:bodyPr>
          <a:lstStyle/>
          <a:p>
            <a:pPr algn="l">
              <a:lnSpc>
                <a:spcPct val="130000"/>
              </a:lnSpc>
              <a:spcAft>
                <a:spcPts val="600"/>
              </a:spcAft>
            </a:pPr>
            <a:r>
              <a:rPr sz="2600" b="0" i="0">
                <a:solidFill>
                  <a:srgbClr val="1E293B"/>
                </a:solidFill>
                <a:latin typeface="Quattrocento Sans"/>
              </a:rPr>
              <a:t>The 422 body names the field and the reason — easy for client teams to fix.</a:t>
            </a:r>
          </a:p>
        </p:txBody>
      </p:sp>
      <p:sp>
        <p:nvSpPr>
          <p:cNvPr id="18" name="Rounded Rectangle 17"/>
          <p:cNvSpPr/>
          <p:nvPr/>
        </p:nvSpPr>
        <p:spPr>
          <a:xfrm>
            <a:off x="1014984" y="7680960"/>
            <a:ext cx="22347936" cy="4800600"/>
          </a:xfrm>
          <a:prstGeom prst="roundRect">
            <a:avLst>
              <a:gd name="adj" fmla="val 3428"/>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344168" y="795528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728216" y="795528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112264" y="795528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426464" y="8394192"/>
            <a:ext cx="21616416" cy="3931920"/>
          </a:xfrm>
          <a:prstGeom prst="rect">
            <a:avLst/>
          </a:prstGeom>
          <a:noFill/>
        </p:spPr>
        <p:txBody>
          <a:bodyPr wrap="square" lIns="0" tIns="0" rIns="0" bIns="0" anchor="t">
            <a:spAutoFit/>
          </a:bodyPr>
          <a:lstStyle/>
          <a:p>
            <a:pPr algn="l">
              <a:lnSpc>
                <a:spcPct val="100000"/>
              </a:lnSpc>
              <a:spcAft>
                <a:spcPts val="0"/>
              </a:spcAft>
            </a:pPr>
            <a:r>
              <a:rPr sz="2400" b="0" i="0">
                <a:solidFill>
                  <a:srgbClr val="8B9BB4"/>
                </a:solidFill>
                <a:latin typeface="Consolas"/>
              </a:rPr>
              <a:t># real response when credit_score is missing</a:t>
            </a:r>
          </a:p>
          <a:p>
            <a:pPr algn="l">
              <a:lnSpc>
                <a:spcPct val="100000"/>
              </a:lnSpc>
              <a:spcAft>
                <a:spcPts val="0"/>
              </a:spcAft>
            </a:pPr>
            <a:r>
              <a:rPr sz="2400" b="0" i="0">
                <a:solidFill>
                  <a:srgbClr val="E6EDF3"/>
                </a:solidFill>
                <a:latin typeface="Consolas"/>
              </a:rPr>
              <a:t>{"detail":[{"type":"missing","loc":["body","credit_score"],"msg":"Field required", ...}]}</a:t>
            </a:r>
          </a:p>
          <a:p>
            <a:pPr algn="l">
              <a:lnSpc>
                <a:spcPct val="100000"/>
              </a:lnSpc>
              <a:spcAft>
                <a:spcPts val="0"/>
              </a:spcAft>
            </a:pPr>
            <a:r>
              <a:rPr sz="2400" b="0" i="0">
                <a:solidFill>
                  <a:srgbClr val="E6EDF3"/>
                </a:solidFill>
                <a:latin typeface="Consolas"/>
              </a:rPr>
              <a:t> </a:t>
            </a:r>
          </a:p>
          <a:p>
            <a:pPr algn="l">
              <a:lnSpc>
                <a:spcPct val="100000"/>
              </a:lnSpc>
              <a:spcAft>
                <a:spcPts val="0"/>
              </a:spcAft>
            </a:pPr>
            <a:r>
              <a:rPr sz="2400" b="0" i="0">
                <a:solidFill>
                  <a:srgbClr val="8B9BB4"/>
                </a:solidFill>
                <a:latin typeface="Consolas"/>
              </a:rPr>
              <a:t># real response when credit_score = "high"</a:t>
            </a:r>
          </a:p>
          <a:p>
            <a:pPr algn="l">
              <a:lnSpc>
                <a:spcPct val="100000"/>
              </a:lnSpc>
              <a:spcAft>
                <a:spcPts val="0"/>
              </a:spcAft>
            </a:pPr>
            <a:r>
              <a:rPr sz="2400" b="0" i="0">
                <a:solidFill>
                  <a:srgbClr val="E6EDF3"/>
                </a:solidFill>
                <a:latin typeface="Consolas"/>
              </a:rPr>
              <a:t>{"detail":[{"type":"float_parsing","loc":["body","credit_score"],</a:t>
            </a:r>
          </a:p>
          <a:p>
            <a:pPr algn="l">
              <a:lnSpc>
                <a:spcPct val="100000"/>
              </a:lnSpc>
              <a:spcAft>
                <a:spcPts val="0"/>
              </a:spcAft>
            </a:pPr>
            <a:r>
              <a:rPr sz="2400" b="0" i="0">
                <a:solidFill>
                  <a:srgbClr val="E6EDF3"/>
                </a:solidFill>
                <a:latin typeface="Consolas"/>
              </a:rPr>
              <a:t>  "msg":"Input should be a valid number, unable to parse string as a number","input":"high"}]}</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From the Registry to a Self-Contained Image</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CONTAINERISATION</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34</a:t>
            </a:r>
          </a:p>
        </p:txBody>
      </p:sp>
      <p:sp>
        <p:nvSpPr>
          <p:cNvPr id="6" name="Rounded Rectangle 5"/>
          <p:cNvSpPr/>
          <p:nvPr/>
        </p:nvSpPr>
        <p:spPr>
          <a:xfrm>
            <a:off x="1014984" y="2514600"/>
            <a:ext cx="10945368" cy="9966960"/>
          </a:xfrm>
          <a:prstGeom prst="roundRect">
            <a:avLst>
              <a:gd name="adj" fmla="val 1651"/>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44168" y="278892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728216" y="278892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112264" y="278892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60904" y="2697480"/>
            <a:ext cx="8933688" cy="384048"/>
          </a:xfrm>
          <a:prstGeom prst="rect">
            <a:avLst/>
          </a:prstGeom>
          <a:noFill/>
        </p:spPr>
        <p:txBody>
          <a:bodyPr wrap="square" lIns="0" tIns="0" rIns="0" bIns="0" anchor="t">
            <a:spAutoFit/>
          </a:bodyPr>
          <a:lstStyle/>
          <a:p>
            <a:pPr algn="l">
              <a:lnSpc>
                <a:spcPct val="120000"/>
              </a:lnSpc>
              <a:spcAft>
                <a:spcPts val="600"/>
              </a:spcAft>
            </a:pPr>
            <a:r>
              <a:rPr sz="1800" b="0" i="0">
                <a:solidFill>
                  <a:srgbClr val="8B9BB4"/>
                </a:solidFill>
                <a:latin typeface="Consolas"/>
              </a:rPr>
              <a:t>step 0 — export (real output)</a:t>
            </a:r>
          </a:p>
        </p:txBody>
      </p:sp>
      <p:sp>
        <p:nvSpPr>
          <p:cNvPr id="11" name="TextBox 10"/>
          <p:cNvSpPr txBox="1"/>
          <p:nvPr/>
        </p:nvSpPr>
        <p:spPr>
          <a:xfrm>
            <a:off x="1426464" y="3227832"/>
            <a:ext cx="10213848" cy="9098280"/>
          </a:xfrm>
          <a:prstGeom prst="rect">
            <a:avLst/>
          </a:prstGeom>
          <a:noFill/>
        </p:spPr>
        <p:txBody>
          <a:bodyPr wrap="square" lIns="0" tIns="0" rIns="0" bIns="0" anchor="t">
            <a:spAutoFit/>
          </a:bodyPr>
          <a:lstStyle/>
          <a:p>
            <a:pPr algn="l">
              <a:lnSpc>
                <a:spcPct val="100000"/>
              </a:lnSpc>
              <a:spcAft>
                <a:spcPts val="0"/>
              </a:spcAft>
            </a:pPr>
            <a:r>
              <a:rPr sz="2400" b="0" i="0">
                <a:solidFill>
                  <a:srgbClr val="F5C66B"/>
                </a:solidFill>
                <a:latin typeface="Consolas"/>
              </a:rPr>
              <a:t>$ make export</a:t>
            </a:r>
          </a:p>
          <a:p>
            <a:pPr algn="l">
              <a:lnSpc>
                <a:spcPct val="100000"/>
              </a:lnSpc>
              <a:spcAft>
                <a:spcPts val="0"/>
              </a:spcAft>
            </a:pPr>
            <a:r>
              <a:rPr sz="2400" b="0" i="0">
                <a:solidFill>
                  <a:srgbClr val="E6EDF3"/>
                </a:solidFill>
                <a:latin typeface="Consolas"/>
              </a:rPr>
              <a:t>Model 'insurance-approval-model'</a:t>
            </a:r>
          </a:p>
          <a:p>
            <a:pPr algn="l">
              <a:lnSpc>
                <a:spcPct val="100000"/>
              </a:lnSpc>
              <a:spcAft>
                <a:spcPts val="0"/>
              </a:spcAft>
            </a:pPr>
            <a:r>
              <a:rPr sz="2400" b="0" i="0">
                <a:solidFill>
                  <a:srgbClr val="E6EDF3"/>
                </a:solidFill>
                <a:latin typeface="Consolas"/>
              </a:rPr>
              <a:t>version 1 (RandomForestClassifier)</a:t>
            </a:r>
          </a:p>
          <a:p>
            <a:pPr algn="l">
              <a:lnSpc>
                <a:spcPct val="100000"/>
              </a:lnSpc>
              <a:spcAft>
                <a:spcPts val="0"/>
              </a:spcAft>
            </a:pPr>
            <a:r>
              <a:rPr sz="2400" b="0" i="0">
                <a:solidFill>
                  <a:srgbClr val="E6EDF3"/>
                </a:solidFill>
                <a:latin typeface="Consolas"/>
              </a:rPr>
              <a:t>exported to api/models/model.pkl</a:t>
            </a:r>
          </a:p>
          <a:p>
            <a:pPr algn="l">
              <a:lnSpc>
                <a:spcPct val="100000"/>
              </a:lnSpc>
              <a:spcAft>
                <a:spcPts val="0"/>
              </a:spcAft>
            </a:pPr>
            <a:r>
              <a:rPr sz="2400" b="0" i="0">
                <a:solidFill>
                  <a:srgbClr val="E6EDF3"/>
                </a:solidFill>
                <a:latin typeface="Consolas"/>
              </a:rPr>
              <a:t> </a:t>
            </a:r>
          </a:p>
          <a:p>
            <a:pPr algn="l">
              <a:lnSpc>
                <a:spcPct val="100000"/>
              </a:lnSpc>
              <a:spcAft>
                <a:spcPts val="0"/>
              </a:spcAft>
            </a:pPr>
            <a:r>
              <a:rPr sz="2400" b="0" i="0">
                <a:solidFill>
                  <a:srgbClr val="8B9BB4"/>
                </a:solidFill>
                <a:latin typeface="Consolas"/>
              </a:rPr>
              <a:t># api/models/model_info.json</a:t>
            </a:r>
          </a:p>
          <a:p>
            <a:pPr algn="l">
              <a:lnSpc>
                <a:spcPct val="100000"/>
              </a:lnSpc>
              <a:spcAft>
                <a:spcPts val="0"/>
              </a:spcAft>
            </a:pPr>
            <a:r>
              <a:rPr sz="2400" b="0" i="0">
                <a:solidFill>
                  <a:srgbClr val="E6EDF3"/>
                </a:solidFill>
                <a:latin typeface="Consolas"/>
              </a:rPr>
              <a:t>{</a:t>
            </a:r>
          </a:p>
          <a:p>
            <a:pPr algn="l">
              <a:lnSpc>
                <a:spcPct val="100000"/>
              </a:lnSpc>
              <a:spcAft>
                <a:spcPts val="0"/>
              </a:spcAft>
            </a:pPr>
            <a:r>
              <a:rPr sz="2400" b="0" i="0">
                <a:solidFill>
                  <a:srgbClr val="E6EDF3"/>
                </a:solidFill>
                <a:latin typeface="Consolas"/>
              </a:rPr>
              <a:t>  "model_name": "insurance-approval-model",</a:t>
            </a:r>
          </a:p>
          <a:p>
            <a:pPr algn="l">
              <a:lnSpc>
                <a:spcPct val="100000"/>
              </a:lnSpc>
              <a:spcAft>
                <a:spcPts val="0"/>
              </a:spcAft>
            </a:pPr>
            <a:r>
              <a:rPr sz="2400" b="0" i="0">
                <a:solidFill>
                  <a:srgbClr val="E6EDF3"/>
                </a:solidFill>
                <a:latin typeface="Consolas"/>
              </a:rPr>
              <a:t>  "version": "1",</a:t>
            </a:r>
          </a:p>
          <a:p>
            <a:pPr algn="l">
              <a:lnSpc>
                <a:spcPct val="100000"/>
              </a:lnSpc>
              <a:spcAft>
                <a:spcPts val="0"/>
              </a:spcAft>
            </a:pPr>
            <a:r>
              <a:rPr sz="2400" b="0" i="0">
                <a:solidFill>
                  <a:srgbClr val="E6EDF3"/>
                </a:solidFill>
                <a:latin typeface="Consolas"/>
              </a:rPr>
              <a:t>  "model_class": "RandomForestClassifier",</a:t>
            </a:r>
          </a:p>
          <a:p>
            <a:pPr algn="l">
              <a:lnSpc>
                <a:spcPct val="100000"/>
              </a:lnSpc>
              <a:spcAft>
                <a:spcPts val="0"/>
              </a:spcAft>
            </a:pPr>
            <a:r>
              <a:rPr sz="2400" b="0" i="0">
                <a:solidFill>
                  <a:srgbClr val="E6EDF3"/>
                </a:solidFill>
                <a:latin typeface="Consolas"/>
              </a:rPr>
              <a:t>  "run_id": "..."</a:t>
            </a:r>
          </a:p>
          <a:p>
            <a:pPr algn="l">
              <a:lnSpc>
                <a:spcPct val="100000"/>
              </a:lnSpc>
              <a:spcAft>
                <a:spcPts val="0"/>
              </a:spcAft>
            </a:pPr>
            <a:r>
              <a:rPr sz="2400" b="0" i="0">
                <a:solidFill>
                  <a:srgbClr val="E6EDF3"/>
                </a:solidFill>
                <a:latin typeface="Consolas"/>
              </a:rPr>
              <a:t>}</a:t>
            </a:r>
          </a:p>
        </p:txBody>
      </p:sp>
      <p:sp>
        <p:nvSpPr>
          <p:cNvPr id="12" name="Rounded Rectangle 11"/>
          <p:cNvSpPr/>
          <p:nvPr/>
        </p:nvSpPr>
        <p:spPr>
          <a:xfrm>
            <a:off x="12417552" y="2514600"/>
            <a:ext cx="10945368" cy="9966960"/>
          </a:xfrm>
          <a:prstGeom prst="roundRect">
            <a:avLst>
              <a:gd name="adj" fmla="val 1651"/>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2746736" y="278892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3130784" y="278892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3514832" y="278892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063472" y="2697480"/>
            <a:ext cx="8933688" cy="384048"/>
          </a:xfrm>
          <a:prstGeom prst="rect">
            <a:avLst/>
          </a:prstGeom>
          <a:noFill/>
        </p:spPr>
        <p:txBody>
          <a:bodyPr wrap="square" lIns="0" tIns="0" rIns="0" bIns="0" anchor="t">
            <a:spAutoFit/>
          </a:bodyPr>
          <a:lstStyle/>
          <a:p>
            <a:pPr algn="l">
              <a:lnSpc>
                <a:spcPct val="120000"/>
              </a:lnSpc>
              <a:spcAft>
                <a:spcPts val="600"/>
              </a:spcAft>
            </a:pPr>
            <a:r>
              <a:rPr sz="1800" b="0" i="0">
                <a:solidFill>
                  <a:srgbClr val="8B9BB4"/>
                </a:solidFill>
                <a:latin typeface="Consolas"/>
              </a:rPr>
              <a:t>docker/Dockerfile</a:t>
            </a:r>
          </a:p>
        </p:txBody>
      </p:sp>
      <p:sp>
        <p:nvSpPr>
          <p:cNvPr id="17" name="TextBox 16"/>
          <p:cNvSpPr txBox="1"/>
          <p:nvPr/>
        </p:nvSpPr>
        <p:spPr>
          <a:xfrm>
            <a:off x="12829032" y="3227832"/>
            <a:ext cx="10213848" cy="9098280"/>
          </a:xfrm>
          <a:prstGeom prst="rect">
            <a:avLst/>
          </a:prstGeom>
          <a:noFill/>
        </p:spPr>
        <p:txBody>
          <a:bodyPr wrap="square" lIns="0" tIns="0" rIns="0" bIns="0" anchor="t">
            <a:spAutoFit/>
          </a:bodyPr>
          <a:lstStyle/>
          <a:p>
            <a:pPr algn="l">
              <a:lnSpc>
                <a:spcPct val="100000"/>
              </a:lnSpc>
              <a:spcAft>
                <a:spcPts val="0"/>
              </a:spcAft>
            </a:pPr>
            <a:r>
              <a:rPr sz="2300" b="0" i="0">
                <a:solidFill>
                  <a:srgbClr val="E6EDF3"/>
                </a:solidFill>
                <a:latin typeface="Consolas"/>
              </a:rPr>
              <a:t>FROM python:3.11-slim</a:t>
            </a:r>
          </a:p>
          <a:p>
            <a:pPr algn="l">
              <a:lnSpc>
                <a:spcPct val="100000"/>
              </a:lnSpc>
              <a:spcAft>
                <a:spcPts val="0"/>
              </a:spcAft>
            </a:pPr>
            <a:r>
              <a:rPr sz="2300" b="0" i="0">
                <a:solidFill>
                  <a:srgbClr val="E6EDF3"/>
                </a:solidFill>
                <a:latin typeface="Consolas"/>
              </a:rPr>
              <a:t>WORKDIR /app</a:t>
            </a:r>
          </a:p>
          <a:p>
            <a:pPr algn="l">
              <a:lnSpc>
                <a:spcPct val="100000"/>
              </a:lnSpc>
              <a:spcAft>
                <a:spcPts val="0"/>
              </a:spcAft>
            </a:pPr>
            <a:r>
              <a:rPr sz="2300" b="0" i="0">
                <a:solidFill>
                  <a:srgbClr val="E6EDF3"/>
                </a:solidFill>
                <a:latin typeface="Consolas"/>
              </a:rPr>
              <a:t> </a:t>
            </a:r>
          </a:p>
          <a:p>
            <a:pPr algn="l">
              <a:lnSpc>
                <a:spcPct val="100000"/>
              </a:lnSpc>
              <a:spcAft>
                <a:spcPts val="0"/>
              </a:spcAft>
            </a:pPr>
            <a:r>
              <a:rPr sz="2300" b="0" i="0">
                <a:solidFill>
                  <a:srgbClr val="8B9BB4"/>
                </a:solidFill>
                <a:latin typeface="Consolas"/>
              </a:rPr>
              <a:t># requirements first -&gt; cached pip layer</a:t>
            </a:r>
          </a:p>
          <a:p>
            <a:pPr algn="l">
              <a:lnSpc>
                <a:spcPct val="100000"/>
              </a:lnSpc>
              <a:spcAft>
                <a:spcPts val="0"/>
              </a:spcAft>
            </a:pPr>
            <a:r>
              <a:rPr sz="2300" b="0" i="0">
                <a:solidFill>
                  <a:srgbClr val="E6EDF3"/>
                </a:solidFill>
                <a:latin typeface="Consolas"/>
              </a:rPr>
              <a:t>COPY api/requirements.txt .</a:t>
            </a:r>
          </a:p>
          <a:p>
            <a:pPr algn="l">
              <a:lnSpc>
                <a:spcPct val="100000"/>
              </a:lnSpc>
              <a:spcAft>
                <a:spcPts val="0"/>
              </a:spcAft>
            </a:pPr>
            <a:r>
              <a:rPr sz="2300" b="0" i="0">
                <a:solidFill>
                  <a:srgbClr val="E6EDF3"/>
                </a:solidFill>
                <a:latin typeface="Consolas"/>
              </a:rPr>
              <a:t>RUN pip install --no-cache-dir \</a:t>
            </a:r>
          </a:p>
          <a:p>
            <a:pPr algn="l">
              <a:lnSpc>
                <a:spcPct val="100000"/>
              </a:lnSpc>
              <a:spcAft>
                <a:spcPts val="0"/>
              </a:spcAft>
            </a:pPr>
            <a:r>
              <a:rPr sz="2300" b="0" i="0">
                <a:solidFill>
                  <a:srgbClr val="E6EDF3"/>
                </a:solidFill>
                <a:latin typeface="Consolas"/>
              </a:rPr>
              <a:t>    -r requirements.txt</a:t>
            </a:r>
          </a:p>
          <a:p>
            <a:pPr algn="l">
              <a:lnSpc>
                <a:spcPct val="100000"/>
              </a:lnSpc>
              <a:spcAft>
                <a:spcPts val="0"/>
              </a:spcAft>
            </a:pPr>
            <a:r>
              <a:rPr sz="2300" b="0" i="0">
                <a:solidFill>
                  <a:srgbClr val="E6EDF3"/>
                </a:solidFill>
                <a:latin typeface="Consolas"/>
              </a:rPr>
              <a:t> </a:t>
            </a:r>
          </a:p>
          <a:p>
            <a:pPr algn="l">
              <a:lnSpc>
                <a:spcPct val="100000"/>
              </a:lnSpc>
              <a:spcAft>
                <a:spcPts val="0"/>
              </a:spcAft>
            </a:pPr>
            <a:r>
              <a:rPr sz="2300" b="0" i="0">
                <a:solidFill>
                  <a:srgbClr val="E6EDF3"/>
                </a:solidFill>
                <a:latin typeface="Consolas"/>
              </a:rPr>
              <a:t>COPY api/app.py .</a:t>
            </a:r>
          </a:p>
          <a:p>
            <a:pPr algn="l">
              <a:lnSpc>
                <a:spcPct val="100000"/>
              </a:lnSpc>
              <a:spcAft>
                <a:spcPts val="0"/>
              </a:spcAft>
            </a:pPr>
            <a:r>
              <a:rPr sz="2300" b="0" i="0">
                <a:solidFill>
                  <a:srgbClr val="E6EDF3"/>
                </a:solidFill>
                <a:latin typeface="Consolas"/>
              </a:rPr>
              <a:t>COPY api/models/ ./models/</a:t>
            </a:r>
          </a:p>
          <a:p>
            <a:pPr algn="l">
              <a:lnSpc>
                <a:spcPct val="100000"/>
              </a:lnSpc>
              <a:spcAft>
                <a:spcPts val="0"/>
              </a:spcAft>
            </a:pPr>
            <a:r>
              <a:rPr sz="2300" b="0" i="0">
                <a:solidFill>
                  <a:srgbClr val="E6EDF3"/>
                </a:solidFill>
                <a:latin typeface="Consolas"/>
              </a:rPr>
              <a:t> </a:t>
            </a:r>
          </a:p>
          <a:p>
            <a:pPr algn="l">
              <a:lnSpc>
                <a:spcPct val="100000"/>
              </a:lnSpc>
              <a:spcAft>
                <a:spcPts val="0"/>
              </a:spcAft>
            </a:pPr>
            <a:r>
              <a:rPr sz="2300" b="0" i="0">
                <a:solidFill>
                  <a:srgbClr val="E6EDF3"/>
                </a:solidFill>
                <a:latin typeface="Consolas"/>
              </a:rPr>
              <a:t>ENV PORT=8080</a:t>
            </a:r>
          </a:p>
          <a:p>
            <a:pPr algn="l">
              <a:lnSpc>
                <a:spcPct val="100000"/>
              </a:lnSpc>
              <a:spcAft>
                <a:spcPts val="0"/>
              </a:spcAft>
            </a:pPr>
            <a:r>
              <a:rPr sz="2300" b="0" i="0">
                <a:solidFill>
                  <a:srgbClr val="8B9BB4"/>
                </a:solidFill>
                <a:latin typeface="Consolas"/>
              </a:rPr>
              <a:t># exec: uvicorn is PID 1, receives SIGTERM</a:t>
            </a:r>
          </a:p>
          <a:p>
            <a:pPr algn="l">
              <a:lnSpc>
                <a:spcPct val="100000"/>
              </a:lnSpc>
              <a:spcAft>
                <a:spcPts val="0"/>
              </a:spcAft>
            </a:pPr>
            <a:r>
              <a:rPr sz="2300" b="0" i="0">
                <a:solidFill>
                  <a:srgbClr val="E6EDF3"/>
                </a:solidFill>
                <a:latin typeface="Consolas"/>
              </a:rPr>
              <a:t>CMD exec uvicorn app:app \</a:t>
            </a:r>
          </a:p>
          <a:p>
            <a:pPr algn="l">
              <a:lnSpc>
                <a:spcPct val="100000"/>
              </a:lnSpc>
              <a:spcAft>
                <a:spcPts val="0"/>
              </a:spcAft>
            </a:pPr>
            <a:r>
              <a:rPr sz="2300" b="0" i="0">
                <a:solidFill>
                  <a:srgbClr val="E6EDF3"/>
                </a:solidFill>
                <a:latin typeface="Consolas"/>
              </a:rPr>
              <a:t>    --host 0.0.0.0 --port ${PORT}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Build &amp; Run the Container Locally</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HANDS-ON 3</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35</a:t>
            </a:r>
          </a:p>
        </p:txBody>
      </p:sp>
      <p:sp>
        <p:nvSpPr>
          <p:cNvPr id="6" name="Rounded Rectangle 5"/>
          <p:cNvSpPr/>
          <p:nvPr/>
        </p:nvSpPr>
        <p:spPr>
          <a:xfrm>
            <a:off x="1014984" y="2514600"/>
            <a:ext cx="22347936" cy="6949440"/>
          </a:xfrm>
          <a:prstGeom prst="roundRect">
            <a:avLst>
              <a:gd name="adj" fmla="val 2368"/>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44168" y="278892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728216" y="278892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112264" y="278892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60904" y="2697480"/>
            <a:ext cx="20336256" cy="384048"/>
          </a:xfrm>
          <a:prstGeom prst="rect">
            <a:avLst/>
          </a:prstGeom>
          <a:noFill/>
        </p:spPr>
        <p:txBody>
          <a:bodyPr wrap="square" lIns="0" tIns="0" rIns="0" bIns="0" anchor="t">
            <a:spAutoFit/>
          </a:bodyPr>
          <a:lstStyle/>
          <a:p>
            <a:pPr algn="l">
              <a:lnSpc>
                <a:spcPct val="120000"/>
              </a:lnSpc>
              <a:spcAft>
                <a:spcPts val="600"/>
              </a:spcAft>
            </a:pPr>
            <a:r>
              <a:rPr sz="1800" b="0" i="0">
                <a:solidFill>
                  <a:srgbClr val="8B9BB4"/>
                </a:solidFill>
                <a:latin typeface="Consolas"/>
              </a:rPr>
              <a:t>bash — terminal</a:t>
            </a:r>
          </a:p>
        </p:txBody>
      </p:sp>
      <p:sp>
        <p:nvSpPr>
          <p:cNvPr id="11" name="TextBox 10"/>
          <p:cNvSpPr txBox="1"/>
          <p:nvPr/>
        </p:nvSpPr>
        <p:spPr>
          <a:xfrm>
            <a:off x="1426464" y="3227832"/>
            <a:ext cx="21616416" cy="6080759"/>
          </a:xfrm>
          <a:prstGeom prst="rect">
            <a:avLst/>
          </a:prstGeom>
          <a:noFill/>
        </p:spPr>
        <p:txBody>
          <a:bodyPr wrap="square" lIns="0" tIns="0" rIns="0" bIns="0" anchor="t">
            <a:spAutoFit/>
          </a:bodyPr>
          <a:lstStyle/>
          <a:p>
            <a:pPr algn="l">
              <a:lnSpc>
                <a:spcPct val="100000"/>
              </a:lnSpc>
              <a:spcAft>
                <a:spcPts val="0"/>
              </a:spcAft>
            </a:pPr>
            <a:r>
              <a:rPr sz="2400" b="0" i="0">
                <a:solidFill>
                  <a:srgbClr val="F5C66B"/>
                </a:solidFill>
                <a:latin typeface="Consolas"/>
              </a:rPr>
              <a:t>$ make docker-build      # docker build -f docker/Dockerfile -t insurance-api .</a:t>
            </a:r>
          </a:p>
          <a:p>
            <a:pPr algn="l">
              <a:lnSpc>
                <a:spcPct val="100000"/>
              </a:lnSpc>
              <a:spcAft>
                <a:spcPts val="0"/>
              </a:spcAft>
            </a:pPr>
            <a:r>
              <a:rPr sz="2400" b="0" i="0">
                <a:solidFill>
                  <a:srgbClr val="F5C66B"/>
                </a:solidFill>
                <a:latin typeface="Consolas"/>
              </a:rPr>
              <a:t>$ make docker-run        # docker run -d -p 8080:8080 --name api insurance-api</a:t>
            </a:r>
          </a:p>
          <a:p>
            <a:pPr algn="l">
              <a:lnSpc>
                <a:spcPct val="100000"/>
              </a:lnSpc>
              <a:spcAft>
                <a:spcPts val="0"/>
              </a:spcAft>
            </a:pPr>
            <a:r>
              <a:rPr sz="2400" b="0" i="0">
                <a:solidFill>
                  <a:srgbClr val="F5C66B"/>
                </a:solidFill>
                <a:latin typeface="Consolas"/>
              </a:rPr>
              <a:t>$ python3 scripts/test_deployment.py http://127.0.0.1:8080</a:t>
            </a:r>
          </a:p>
          <a:p>
            <a:pPr algn="l">
              <a:lnSpc>
                <a:spcPct val="100000"/>
              </a:lnSpc>
              <a:spcAft>
                <a:spcPts val="0"/>
              </a:spcAft>
            </a:pPr>
            <a:r>
              <a:rPr sz="2400" b="0" i="0">
                <a:solidFill>
                  <a:srgbClr val="E6EDF3"/>
                </a:solidFill>
                <a:latin typeface="Consolas"/>
              </a:rPr>
              <a:t>&gt;&gt; Health check...</a:t>
            </a:r>
          </a:p>
          <a:p>
            <a:pPr algn="l">
              <a:lnSpc>
                <a:spcPct val="100000"/>
              </a:lnSpc>
              <a:spcAft>
                <a:spcPts val="0"/>
              </a:spcAft>
            </a:pPr>
            <a:r>
              <a:rPr sz="2400" b="0" i="0">
                <a:solidFill>
                  <a:srgbClr val="E6EDF3"/>
                </a:solidFill>
                <a:latin typeface="Consolas"/>
              </a:rPr>
              <a:t>200 {'status': 'ok', ..., 'model_version': 'RandomForestClassifier-v1',</a:t>
            </a:r>
          </a:p>
          <a:p>
            <a:pPr algn="l">
              <a:lnSpc>
                <a:spcPct val="100000"/>
              </a:lnSpc>
              <a:spcAft>
                <a:spcPts val="0"/>
              </a:spcAft>
            </a:pPr>
            <a:r>
              <a:rPr sz="2400" b="0" i="0">
                <a:solidFill>
                  <a:srgbClr val="E6EDF3"/>
                </a:solidFill>
                <a:latin typeface="Consolas"/>
              </a:rPr>
              <a:t>     'model_source': 'local file (api/models/model.pkl)'}</a:t>
            </a:r>
          </a:p>
          <a:p>
            <a:pPr algn="l">
              <a:lnSpc>
                <a:spcPct val="100000"/>
              </a:lnSpc>
              <a:spcAft>
                <a:spcPts val="0"/>
              </a:spcAft>
            </a:pPr>
            <a:r>
              <a:rPr sz="2400" b="0" i="0">
                <a:solidFill>
                  <a:srgbClr val="E6EDF3"/>
                </a:solidFill>
                <a:latin typeface="Consolas"/>
              </a:rPr>
              <a:t>&gt;&gt; Predict (compare elapsed time for cold vs warm start)...</a:t>
            </a:r>
          </a:p>
          <a:p>
            <a:pPr algn="l">
              <a:lnSpc>
                <a:spcPct val="100000"/>
              </a:lnSpc>
              <a:spcAft>
                <a:spcPts val="0"/>
              </a:spcAft>
            </a:pPr>
            <a:r>
              <a:rPr sz="2400" b="0" i="0">
                <a:solidFill>
                  <a:srgbClr val="E6EDF3"/>
                </a:solidFill>
                <a:latin typeface="Consolas"/>
              </a:rPr>
              <a:t>200 {'approved': False, 'probability': 0.4112, 'model_version': 'RandomForestClassifier-v1'}</a:t>
            </a:r>
          </a:p>
          <a:p>
            <a:pPr algn="l">
              <a:lnSpc>
                <a:spcPct val="100000"/>
              </a:lnSpc>
              <a:spcAft>
                <a:spcPts val="0"/>
              </a:spcAft>
            </a:pPr>
            <a:r>
              <a:rPr sz="2400" b="0" i="0">
                <a:solidFill>
                  <a:srgbClr val="F5C66B"/>
                </a:solidFill>
                <a:latin typeface="Consolas"/>
              </a:rPr>
              <a:t>$ docker stop api &amp;&amp; docker rm api</a:t>
            </a:r>
          </a:p>
        </p:txBody>
      </p:sp>
      <p:sp>
        <p:nvSpPr>
          <p:cNvPr id="12" name="Rounded Rectangle 11"/>
          <p:cNvSpPr/>
          <p:nvPr/>
        </p:nvSpPr>
        <p:spPr>
          <a:xfrm>
            <a:off x="1014984" y="9829800"/>
            <a:ext cx="10968228" cy="2651760"/>
          </a:xfrm>
          <a:prstGeom prst="roundRect">
            <a:avLst>
              <a:gd name="adj" fmla="val 800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63624" y="10241280"/>
            <a:ext cx="10053828" cy="731520"/>
          </a:xfrm>
          <a:prstGeom prst="rect">
            <a:avLst/>
          </a:prstGeom>
          <a:noFill/>
        </p:spPr>
        <p:txBody>
          <a:bodyPr wrap="square" lIns="0" tIns="0" rIns="0" bIns="0" anchor="ctr">
            <a:spAutoFit/>
          </a:bodyPr>
          <a:lstStyle/>
          <a:p>
            <a:pPr algn="l">
              <a:lnSpc>
                <a:spcPct val="120000"/>
              </a:lnSpc>
              <a:spcAft>
                <a:spcPts val="600"/>
              </a:spcAft>
            </a:pPr>
            <a:r>
              <a:rPr sz="2800" b="1" i="0">
                <a:solidFill>
                  <a:srgbClr val="1B2A4A"/>
                </a:solidFill>
                <a:latin typeface="Liter"/>
              </a:rPr>
              <a:t>Layer caching</a:t>
            </a:r>
          </a:p>
        </p:txBody>
      </p:sp>
      <p:sp>
        <p:nvSpPr>
          <p:cNvPr id="14" name="TextBox 13"/>
          <p:cNvSpPr txBox="1"/>
          <p:nvPr/>
        </p:nvSpPr>
        <p:spPr>
          <a:xfrm>
            <a:off x="1563624" y="11247120"/>
            <a:ext cx="9870948" cy="1005839"/>
          </a:xfrm>
          <a:prstGeom prst="rect">
            <a:avLst/>
          </a:prstGeom>
          <a:noFill/>
        </p:spPr>
        <p:txBody>
          <a:bodyPr wrap="square" lIns="0" tIns="0" rIns="0" bIns="0" anchor="t">
            <a:spAutoFit/>
          </a:bodyPr>
          <a:lstStyle/>
          <a:p>
            <a:pPr algn="l">
              <a:lnSpc>
                <a:spcPct val="130000"/>
              </a:lnSpc>
              <a:spcAft>
                <a:spcPts val="600"/>
              </a:spcAft>
            </a:pPr>
            <a:r>
              <a:rPr sz="2500" b="0" i="0">
                <a:solidFill>
                  <a:srgbClr val="1E293B"/>
                </a:solidFill>
                <a:latin typeface="Quattrocento Sans"/>
              </a:rPr>
              <a:t>Change one line in app.py and rebuild: the pip install layer stays CACHED.</a:t>
            </a:r>
          </a:p>
        </p:txBody>
      </p:sp>
      <p:sp>
        <p:nvSpPr>
          <p:cNvPr id="15" name="Rounded Rectangle 14"/>
          <p:cNvSpPr/>
          <p:nvPr/>
        </p:nvSpPr>
        <p:spPr>
          <a:xfrm>
            <a:off x="12394692" y="9829800"/>
            <a:ext cx="10968228" cy="2651760"/>
          </a:xfrm>
          <a:prstGeom prst="roundRect">
            <a:avLst>
              <a:gd name="adj" fmla="val 800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943332" y="10241280"/>
            <a:ext cx="10053828" cy="731520"/>
          </a:xfrm>
          <a:prstGeom prst="rect">
            <a:avLst/>
          </a:prstGeom>
          <a:noFill/>
        </p:spPr>
        <p:txBody>
          <a:bodyPr wrap="square" lIns="0" tIns="0" rIns="0" bIns="0" anchor="ctr">
            <a:spAutoFit/>
          </a:bodyPr>
          <a:lstStyle/>
          <a:p>
            <a:pPr algn="l">
              <a:lnSpc>
                <a:spcPct val="120000"/>
              </a:lnSpc>
              <a:spcAft>
                <a:spcPts val="600"/>
              </a:spcAft>
            </a:pPr>
            <a:r>
              <a:rPr sz="2800" b="1" i="0">
                <a:solidFill>
                  <a:srgbClr val="1B2A4A"/>
                </a:solidFill>
                <a:latin typeface="Liter"/>
              </a:rPr>
              <a:t>model_source</a:t>
            </a:r>
          </a:p>
        </p:txBody>
      </p:sp>
      <p:sp>
        <p:nvSpPr>
          <p:cNvPr id="17" name="TextBox 16"/>
          <p:cNvSpPr txBox="1"/>
          <p:nvPr/>
        </p:nvSpPr>
        <p:spPr>
          <a:xfrm>
            <a:off x="12943332" y="11247120"/>
            <a:ext cx="9870948" cy="1005839"/>
          </a:xfrm>
          <a:prstGeom prst="rect">
            <a:avLst/>
          </a:prstGeom>
          <a:noFill/>
        </p:spPr>
        <p:txBody>
          <a:bodyPr wrap="square" lIns="0" tIns="0" rIns="0" bIns="0" anchor="t">
            <a:spAutoFit/>
          </a:bodyPr>
          <a:lstStyle/>
          <a:p>
            <a:pPr algn="l">
              <a:lnSpc>
                <a:spcPct val="130000"/>
              </a:lnSpc>
              <a:spcAft>
                <a:spcPts val="600"/>
              </a:spcAft>
            </a:pPr>
            <a:r>
              <a:rPr sz="2500" b="0" i="0">
                <a:solidFill>
                  <a:srgbClr val="1E293B"/>
                </a:solidFill>
                <a:latin typeface="Quattrocento Sans"/>
              </a:rPr>
              <a:t>Must say "local file" — proof that the image does not depend on MLflow.</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Safely Replacing a Model in Production</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RELEASE STRATEGIES</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38</a:t>
            </a:r>
          </a:p>
        </p:txBody>
      </p:sp>
      <p:graphicFrame>
        <p:nvGraphicFramePr>
          <p:cNvPr id="6" name="Table 5"/>
          <p:cNvGraphicFramePr>
            <a:graphicFrameLocks noGrp="1"/>
          </p:cNvGraphicFramePr>
          <p:nvPr>
            <p:extLst>
              <p:ext uri="{D42A27DB-BD31-4B8C-83A1-F6EECF244321}">
                <p14:modId xmlns:p14="http://schemas.microsoft.com/office/powerpoint/2010/main" val="61951432"/>
              </p:ext>
            </p:extLst>
          </p:nvPr>
        </p:nvGraphicFramePr>
        <p:xfrm>
          <a:off x="1014984" y="2514600"/>
          <a:ext cx="22347935" cy="9601200"/>
        </p:xfrm>
        <a:graphic>
          <a:graphicData uri="http://schemas.openxmlformats.org/drawingml/2006/table">
            <a:tbl>
              <a:tblPr/>
              <a:tblGrid>
                <a:gridCol w="3352190">
                  <a:extLst>
                    <a:ext uri="{9D8B030D-6E8A-4147-A177-3AD203B41FA5}">
                      <a16:colId xmlns:a16="http://schemas.microsoft.com/office/drawing/2014/main" val="20000"/>
                    </a:ext>
                  </a:extLst>
                </a:gridCol>
                <a:gridCol w="8380476">
                  <a:extLst>
                    <a:ext uri="{9D8B030D-6E8A-4147-A177-3AD203B41FA5}">
                      <a16:colId xmlns:a16="http://schemas.microsoft.com/office/drawing/2014/main" val="20001"/>
                    </a:ext>
                  </a:extLst>
                </a:gridCol>
                <a:gridCol w="4655820">
                  <a:extLst>
                    <a:ext uri="{9D8B030D-6E8A-4147-A177-3AD203B41FA5}">
                      <a16:colId xmlns:a16="http://schemas.microsoft.com/office/drawing/2014/main" val="20002"/>
                    </a:ext>
                  </a:extLst>
                </a:gridCol>
                <a:gridCol w="5959449">
                  <a:extLst>
                    <a:ext uri="{9D8B030D-6E8A-4147-A177-3AD203B41FA5}">
                      <a16:colId xmlns:a16="http://schemas.microsoft.com/office/drawing/2014/main" val="20003"/>
                    </a:ext>
                  </a:extLst>
                </a:gridCol>
              </a:tblGrid>
              <a:tr h="1600200">
                <a:tc>
                  <a:txBody>
                    <a:bodyPr/>
                    <a:lstStyle/>
                    <a:p>
                      <a:r>
                        <a:rPr sz="2400" b="1">
                          <a:solidFill>
                            <a:srgbClr val="FFFFFF"/>
                          </a:solidFill>
                          <a:latin typeface="Quattrocento Sans"/>
                        </a:rPr>
                        <a:t>Strategy</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tc>
                  <a:txBody>
                    <a:bodyPr/>
                    <a:lstStyle/>
                    <a:p>
                      <a:r>
                        <a:rPr sz="2400" b="1">
                          <a:solidFill>
                            <a:srgbClr val="FFFFFF"/>
                          </a:solidFill>
                          <a:latin typeface="Quattrocento Sans"/>
                        </a:rPr>
                        <a:t>How it works</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tc>
                  <a:txBody>
                    <a:bodyPr/>
                    <a:lstStyle/>
                    <a:p>
                      <a:r>
                        <a:rPr sz="2400" b="1">
                          <a:solidFill>
                            <a:srgbClr val="FFFFFF"/>
                          </a:solidFill>
                          <a:latin typeface="Quattrocento Sans"/>
                        </a:rPr>
                        <a:t>Strength</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tc>
                  <a:txBody>
                    <a:bodyPr/>
                    <a:lstStyle/>
                    <a:p>
                      <a:r>
                        <a:rPr sz="2400" b="1">
                          <a:solidFill>
                            <a:srgbClr val="FFFFFF"/>
                          </a:solidFill>
                          <a:latin typeface="Quattrocento Sans"/>
                        </a:rPr>
                        <a:t>Risk / cost</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extLst>
                  <a:ext uri="{0D108BD9-81ED-4DB2-BD59-A6C34878D82A}">
                    <a16:rowId xmlns:a16="http://schemas.microsoft.com/office/drawing/2014/main" val="10000"/>
                  </a:ext>
                </a:extLst>
              </a:tr>
              <a:tr h="1600200">
                <a:tc>
                  <a:txBody>
                    <a:bodyPr/>
                    <a:lstStyle/>
                    <a:p>
                      <a:r>
                        <a:rPr sz="2400" b="1" dirty="0">
                          <a:solidFill>
                            <a:srgbClr val="0070C0"/>
                          </a:solidFill>
                          <a:latin typeface="Quattrocento Sans"/>
                        </a:rPr>
                        <a:t>Recreate</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dirty="0">
                          <a:solidFill>
                            <a:srgbClr val="0070C0"/>
                          </a:solidFill>
                          <a:latin typeface="Quattrocento Sans"/>
                        </a:rPr>
                        <a:t>Stop the old version, start the new one</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dirty="0">
                          <a:solidFill>
                            <a:srgbClr val="0070C0"/>
                          </a:solidFill>
                          <a:latin typeface="Quattrocento Sans"/>
                        </a:rPr>
                        <a:t>Simplest</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dirty="0">
                          <a:solidFill>
                            <a:srgbClr val="0070C0"/>
                          </a:solidFill>
                          <a:latin typeface="Quattrocento Sans"/>
                        </a:rPr>
                        <a:t>Downtime; slow rollback</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extLst>
                  <a:ext uri="{0D108BD9-81ED-4DB2-BD59-A6C34878D82A}">
                    <a16:rowId xmlns:a16="http://schemas.microsoft.com/office/drawing/2014/main" val="10001"/>
                  </a:ext>
                </a:extLst>
              </a:tr>
              <a:tr h="1600200">
                <a:tc>
                  <a:txBody>
                    <a:bodyPr/>
                    <a:lstStyle/>
                    <a:p>
                      <a:r>
                        <a:rPr sz="2400" b="1">
                          <a:solidFill>
                            <a:srgbClr val="1B2A4A"/>
                          </a:solidFill>
                          <a:latin typeface="Quattrocento Sans"/>
                        </a:rPr>
                        <a:t>Blue/Green</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400" b="0">
                          <a:solidFill>
                            <a:srgbClr val="1E293B"/>
                          </a:solidFill>
                          <a:latin typeface="Quattrocento Sans"/>
                        </a:rPr>
                        <a:t>Two identical environments; switch traffic at once</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400" b="0">
                          <a:solidFill>
                            <a:srgbClr val="1E293B"/>
                          </a:solidFill>
                          <a:latin typeface="Quattrocento Sans"/>
                        </a:rPr>
                        <a:t>Instant rollback</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400" b="0">
                          <a:solidFill>
                            <a:srgbClr val="1E293B"/>
                          </a:solidFill>
                          <a:latin typeface="Quattrocento Sans"/>
                        </a:rPr>
                        <a:t>Double capacity</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extLst>
                  <a:ext uri="{0D108BD9-81ED-4DB2-BD59-A6C34878D82A}">
                    <a16:rowId xmlns:a16="http://schemas.microsoft.com/office/drawing/2014/main" val="10002"/>
                  </a:ext>
                </a:extLst>
              </a:tr>
              <a:tr h="1600200">
                <a:tc>
                  <a:txBody>
                    <a:bodyPr/>
                    <a:lstStyle/>
                    <a:p>
                      <a:r>
                        <a:rPr sz="2400" b="1">
                          <a:solidFill>
                            <a:srgbClr val="1B2A4A"/>
                          </a:solidFill>
                          <a:latin typeface="Quattrocento Sans"/>
                        </a:rPr>
                        <a:t>Canary</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a:solidFill>
                            <a:srgbClr val="1E293B"/>
                          </a:solidFill>
                          <a:latin typeface="Quattrocento Sans"/>
                        </a:rPr>
                        <a:t>The new version gets a small share of traffic (e.g. 10%)</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a:solidFill>
                            <a:srgbClr val="1E293B"/>
                          </a:solidFill>
                          <a:latin typeface="Quattrocento Sans"/>
                        </a:rPr>
                        <a:t>Limited blast radius</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a:solidFill>
                            <a:srgbClr val="1E293B"/>
                          </a:solidFill>
                          <a:latin typeface="Quattrocento Sans"/>
                        </a:rPr>
                        <a:t>Needs per-version monitoring</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extLst>
                  <a:ext uri="{0D108BD9-81ED-4DB2-BD59-A6C34878D82A}">
                    <a16:rowId xmlns:a16="http://schemas.microsoft.com/office/drawing/2014/main" val="10003"/>
                  </a:ext>
                </a:extLst>
              </a:tr>
              <a:tr h="1600200">
                <a:tc>
                  <a:txBody>
                    <a:bodyPr/>
                    <a:lstStyle/>
                    <a:p>
                      <a:r>
                        <a:rPr sz="2400" b="1">
                          <a:solidFill>
                            <a:srgbClr val="1B2A4A"/>
                          </a:solidFill>
                          <a:latin typeface="Quattrocento Sans"/>
                        </a:rPr>
                        <a:t>Shadow</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400" b="0">
                          <a:solidFill>
                            <a:srgbClr val="1E293B"/>
                          </a:solidFill>
                          <a:latin typeface="Quattrocento Sans"/>
                        </a:rPr>
                        <a:t>The new version gets a copy of traffic; its output is ignored</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400" b="0">
                          <a:solidFill>
                            <a:srgbClr val="1E293B"/>
                          </a:solidFill>
                          <a:latin typeface="Quattrocento Sans"/>
                        </a:rPr>
                        <a:t>Zero user risk</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400" b="0">
                          <a:solidFill>
                            <a:srgbClr val="1E293B"/>
                          </a:solidFill>
                          <a:latin typeface="Quattrocento Sans"/>
                        </a:rPr>
                        <a:t>Double compute cost</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extLst>
                  <a:ext uri="{0D108BD9-81ED-4DB2-BD59-A6C34878D82A}">
                    <a16:rowId xmlns:a16="http://schemas.microsoft.com/office/drawing/2014/main" val="10004"/>
                  </a:ext>
                </a:extLst>
              </a:tr>
              <a:tr h="1600200">
                <a:tc>
                  <a:txBody>
                    <a:bodyPr/>
                    <a:lstStyle/>
                    <a:p>
                      <a:r>
                        <a:rPr sz="2400" b="1">
                          <a:solidFill>
                            <a:srgbClr val="1B2A4A"/>
                          </a:solidFill>
                          <a:latin typeface="Quattrocento Sans"/>
                        </a:rPr>
                        <a:t>A/B test</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a:solidFill>
                            <a:srgbClr val="1E293B"/>
                          </a:solidFill>
                          <a:latin typeface="Quattrocento Sans"/>
                        </a:rPr>
                        <a:t>Traffic split at random; impact compared statistically</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a:solidFill>
                            <a:srgbClr val="1E293B"/>
                          </a:solidFill>
                          <a:latin typeface="Quattrocento Sans"/>
                        </a:rPr>
                        <a:t>Measures business impact</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dirty="0">
                          <a:solidFill>
                            <a:srgbClr val="1E293B"/>
                          </a:solidFill>
                          <a:latin typeface="Quattrocento Sans"/>
                        </a:rPr>
                        <a:t>Needs volume &amp; experiment design</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2">
            <a:extLst>
              <a:ext uri="{FF2B5EF4-FFF2-40B4-BE49-F238E27FC236}">
                <a16:creationId xmlns:a16="http://schemas.microsoft.com/office/drawing/2014/main" id="{62763A1A-0935-4A5E-FE9C-F87FDB7642F5}"/>
              </a:ext>
            </a:extLst>
          </p:cNvPr>
          <p:cNvSpPr/>
          <p:nvPr/>
        </p:nvSpPr>
        <p:spPr>
          <a:xfrm>
            <a:off x="1649562" y="4206240"/>
            <a:ext cx="5080000" cy="381000"/>
          </a:xfrm>
          <a:prstGeom prst="rect">
            <a:avLst/>
          </a:prstGeom>
          <a:noFill/>
          <a:ln/>
        </p:spPr>
        <p:txBody>
          <a:bodyPr wrap="none" lIns="0" tIns="0" rIns="0" bIns="0" rtlCol="0" anchor="ctr"/>
          <a:lstStyle/>
          <a:p>
            <a:pPr algn="l">
              <a:lnSpc>
                <a:spcPct val="120000"/>
              </a:lnSpc>
            </a:pPr>
            <a:r>
              <a:rPr lang="en-US" sz="5000" b="1" kern="0" spc="400" dirty="0">
                <a:solidFill>
                  <a:srgbClr val="D4A03A"/>
                </a:solidFill>
                <a:latin typeface="Liter" pitchFamily="34" charset="0"/>
                <a:ea typeface="Liter" pitchFamily="34" charset="-122"/>
                <a:cs typeface="Liter" pitchFamily="34" charset="-120"/>
              </a:rPr>
              <a:t>03</a:t>
            </a:r>
            <a:endParaRPr lang="en-US" sz="5000" dirty="0"/>
          </a:p>
        </p:txBody>
      </p:sp>
      <p:sp>
        <p:nvSpPr>
          <p:cNvPr id="21" name="Text 3">
            <a:extLst>
              <a:ext uri="{FF2B5EF4-FFF2-40B4-BE49-F238E27FC236}">
                <a16:creationId xmlns:a16="http://schemas.microsoft.com/office/drawing/2014/main" id="{EDE4DF64-756A-6BDE-4A9C-3DF7AF92A34D}"/>
              </a:ext>
            </a:extLst>
          </p:cNvPr>
          <p:cNvSpPr/>
          <p:nvPr/>
        </p:nvSpPr>
        <p:spPr>
          <a:xfrm>
            <a:off x="1649562" y="4983480"/>
            <a:ext cx="11155680" cy="2651760"/>
          </a:xfrm>
          <a:prstGeom prst="rect">
            <a:avLst/>
          </a:prstGeom>
          <a:noFill/>
          <a:ln/>
        </p:spPr>
        <p:txBody>
          <a:bodyPr wrap="square" lIns="0" tIns="0" rIns="0" bIns="0" rtlCol="0" anchor="t"/>
          <a:lstStyle/>
          <a:p>
            <a:pPr algn="l">
              <a:lnSpc>
                <a:spcPct val="110000"/>
              </a:lnSpc>
            </a:pPr>
            <a:r>
              <a:rPr lang="en-US" sz="6000" kern="0" spc="200" dirty="0">
                <a:solidFill>
                  <a:srgbClr val="1B2A4A"/>
                </a:solidFill>
                <a:latin typeface="Liter" pitchFamily="34" charset="0"/>
                <a:ea typeface="Liter" pitchFamily="34" charset="-122"/>
                <a:cs typeface="Liter" pitchFamily="34" charset="-120"/>
              </a:rPr>
              <a:t>Monitoring and Observability</a:t>
            </a:r>
            <a:endParaRPr lang="en-US" sz="7200" dirty="0"/>
          </a:p>
        </p:txBody>
      </p:sp>
      <p:sp>
        <p:nvSpPr>
          <p:cNvPr id="23" name="Shape 4">
            <a:extLst>
              <a:ext uri="{FF2B5EF4-FFF2-40B4-BE49-F238E27FC236}">
                <a16:creationId xmlns:a16="http://schemas.microsoft.com/office/drawing/2014/main" id="{1CC7B515-BF06-6CCF-F4A0-76A6E14F43FC}"/>
              </a:ext>
            </a:extLst>
          </p:cNvPr>
          <p:cNvSpPr/>
          <p:nvPr/>
        </p:nvSpPr>
        <p:spPr>
          <a:xfrm>
            <a:off x="1649562" y="8001000"/>
            <a:ext cx="1016000" cy="50800"/>
          </a:xfrm>
          <a:prstGeom prst="rect">
            <a:avLst/>
          </a:prstGeom>
          <a:solidFill>
            <a:srgbClr val="D4A03A"/>
          </a:solidFill>
          <a:ln/>
        </p:spPr>
        <p:txBody>
          <a:bodyPr/>
          <a:lstStyle/>
          <a:p>
            <a:endParaRPr lang="en-ID"/>
          </a:p>
        </p:txBody>
      </p:sp>
      <p:sp>
        <p:nvSpPr>
          <p:cNvPr id="24" name="TextBox 23"/>
          <p:cNvSpPr txBox="1"/>
          <p:nvPr/>
        </p:nvSpPr>
        <p:spPr>
          <a:xfrm>
            <a:off x="1645920" y="8412480"/>
            <a:ext cx="10972800" cy="640080"/>
          </a:xfrm>
          <a:prstGeom prst="rect">
            <a:avLst/>
          </a:prstGeom>
          <a:noFill/>
        </p:spPr>
        <p:txBody>
          <a:bodyPr wrap="square" lIns="0" tIns="0" rIns="0" bIns="0" anchor="t">
            <a:spAutoFit/>
          </a:bodyPr>
          <a:lstStyle/>
          <a:p>
            <a:pPr algn="l">
              <a:lnSpc>
                <a:spcPct val="120000"/>
              </a:lnSpc>
              <a:spcAft>
                <a:spcPts val="600"/>
              </a:spcAft>
            </a:pPr>
            <a:r>
              <a:rPr sz="2800" b="0" i="0">
                <a:solidFill>
                  <a:srgbClr val="6B7B8D"/>
                </a:solidFill>
                <a:latin typeface="Quattrocento Sans"/>
              </a:rPr>
              <a:t>13:15–14:45</a:t>
            </a:r>
          </a:p>
        </p:txBody>
      </p:sp>
      <p:sp>
        <p:nvSpPr>
          <p:cNvPr id="25" name="TextBox 24"/>
          <p:cNvSpPr txBox="1"/>
          <p:nvPr/>
        </p:nvSpPr>
        <p:spPr>
          <a:xfrm>
            <a:off x="13898880" y="3291840"/>
            <a:ext cx="8686800" cy="457200"/>
          </a:xfrm>
          <a:prstGeom prst="rect">
            <a:avLst/>
          </a:prstGeom>
          <a:noFill/>
        </p:spPr>
        <p:txBody>
          <a:bodyPr wrap="square" lIns="0" tIns="0" rIns="0" bIns="0" anchor="t">
            <a:spAutoFit/>
          </a:bodyPr>
          <a:lstStyle/>
          <a:p>
            <a:pPr algn="l">
              <a:lnSpc>
                <a:spcPct val="120000"/>
              </a:lnSpc>
              <a:spcAft>
                <a:spcPts val="600"/>
              </a:spcAft>
            </a:pPr>
            <a:r>
              <a:rPr sz="1600" b="1" i="0" spc="300">
                <a:solidFill>
                  <a:srgbClr val="D4A03A"/>
                </a:solidFill>
                <a:latin typeface="Liter"/>
              </a:rPr>
              <a:t>IN THIS SESSION</a:t>
            </a:r>
          </a:p>
        </p:txBody>
      </p:sp>
      <p:sp>
        <p:nvSpPr>
          <p:cNvPr id="26" name="TextBox 25"/>
          <p:cNvSpPr txBox="1"/>
          <p:nvPr/>
        </p:nvSpPr>
        <p:spPr>
          <a:xfrm>
            <a:off x="13898880" y="406908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01</a:t>
            </a:r>
          </a:p>
        </p:txBody>
      </p:sp>
      <p:sp>
        <p:nvSpPr>
          <p:cNvPr id="27" name="TextBox 26"/>
          <p:cNvSpPr txBox="1"/>
          <p:nvPr/>
        </p:nvSpPr>
        <p:spPr>
          <a:xfrm>
            <a:off x="14904720" y="4069080"/>
            <a:ext cx="8046720" cy="914400"/>
          </a:xfrm>
          <a:prstGeom prst="rect">
            <a:avLst/>
          </a:prstGeom>
          <a:noFill/>
        </p:spPr>
        <p:txBody>
          <a:bodyPr wrap="square" lIns="0" tIns="0" rIns="0" bIns="0" anchor="ctr">
            <a:spAutoFit/>
          </a:bodyPr>
          <a:lstStyle/>
          <a:p>
            <a:pPr algn="l">
              <a:lnSpc>
                <a:spcPct val="120000"/>
              </a:lnSpc>
              <a:spcAft>
                <a:spcPts val="600"/>
              </a:spcAft>
            </a:pPr>
            <a:r>
              <a:rPr sz="2600" b="0" i="0">
                <a:solidFill>
                  <a:srgbClr val="1E293B"/>
                </a:solidFill>
                <a:latin typeface="Quattrocento Sans"/>
              </a:rPr>
              <a:t>Monitoring vs observability</a:t>
            </a:r>
          </a:p>
        </p:txBody>
      </p:sp>
      <p:sp>
        <p:nvSpPr>
          <p:cNvPr id="28" name="Rectangle 27"/>
          <p:cNvSpPr/>
          <p:nvPr/>
        </p:nvSpPr>
        <p:spPr>
          <a:xfrm>
            <a:off x="13898880" y="512064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898880" y="525780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02</a:t>
            </a:r>
          </a:p>
        </p:txBody>
      </p:sp>
      <p:sp>
        <p:nvSpPr>
          <p:cNvPr id="30" name="TextBox 29"/>
          <p:cNvSpPr txBox="1"/>
          <p:nvPr/>
        </p:nvSpPr>
        <p:spPr>
          <a:xfrm>
            <a:off x="14904720" y="5257800"/>
            <a:ext cx="8046720" cy="914400"/>
          </a:xfrm>
          <a:prstGeom prst="rect">
            <a:avLst/>
          </a:prstGeom>
          <a:noFill/>
        </p:spPr>
        <p:txBody>
          <a:bodyPr wrap="square" lIns="0" tIns="0" rIns="0" bIns="0" anchor="ctr">
            <a:spAutoFit/>
          </a:bodyPr>
          <a:lstStyle/>
          <a:p>
            <a:pPr algn="l">
              <a:lnSpc>
                <a:spcPct val="120000"/>
              </a:lnSpc>
              <a:spcAft>
                <a:spcPts val="600"/>
              </a:spcAft>
            </a:pPr>
            <a:r>
              <a:rPr sz="2600" b="0" i="0">
                <a:solidFill>
                  <a:srgbClr val="1E293B"/>
                </a:solidFill>
                <a:latin typeface="Quattrocento Sans"/>
              </a:rPr>
              <a:t>Structured prediction logs</a:t>
            </a:r>
          </a:p>
        </p:txBody>
      </p:sp>
      <p:sp>
        <p:nvSpPr>
          <p:cNvPr id="31" name="Rectangle 30"/>
          <p:cNvSpPr/>
          <p:nvPr/>
        </p:nvSpPr>
        <p:spPr>
          <a:xfrm>
            <a:off x="13898880" y="630936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3898880" y="644652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03</a:t>
            </a:r>
          </a:p>
        </p:txBody>
      </p:sp>
      <p:sp>
        <p:nvSpPr>
          <p:cNvPr id="33" name="TextBox 32"/>
          <p:cNvSpPr txBox="1"/>
          <p:nvPr/>
        </p:nvSpPr>
        <p:spPr>
          <a:xfrm>
            <a:off x="14904720" y="6446520"/>
            <a:ext cx="8046720" cy="914400"/>
          </a:xfrm>
          <a:prstGeom prst="rect">
            <a:avLst/>
          </a:prstGeom>
          <a:noFill/>
        </p:spPr>
        <p:txBody>
          <a:bodyPr wrap="square" lIns="0" tIns="0" rIns="0" bIns="0" anchor="ctr">
            <a:spAutoFit/>
          </a:bodyPr>
          <a:lstStyle/>
          <a:p>
            <a:pPr algn="l">
              <a:lnSpc>
                <a:spcPct val="120000"/>
              </a:lnSpc>
              <a:spcAft>
                <a:spcPts val="600"/>
              </a:spcAft>
            </a:pPr>
            <a:r>
              <a:rPr sz="2600" b="0" i="0">
                <a:solidFill>
                  <a:srgbClr val="1E293B"/>
                </a:solidFill>
                <a:latin typeface="Quattrocento Sans"/>
              </a:rPr>
              <a:t>Data drift with Evidently AI</a:t>
            </a:r>
          </a:p>
        </p:txBody>
      </p:sp>
      <p:sp>
        <p:nvSpPr>
          <p:cNvPr id="34" name="Rectangle 33"/>
          <p:cNvSpPr/>
          <p:nvPr/>
        </p:nvSpPr>
        <p:spPr>
          <a:xfrm>
            <a:off x="13898880" y="749808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3898880" y="763524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04</a:t>
            </a:r>
          </a:p>
        </p:txBody>
      </p:sp>
      <p:sp>
        <p:nvSpPr>
          <p:cNvPr id="36" name="TextBox 35"/>
          <p:cNvSpPr txBox="1"/>
          <p:nvPr/>
        </p:nvSpPr>
        <p:spPr>
          <a:xfrm>
            <a:off x="14904720" y="7635240"/>
            <a:ext cx="8046720" cy="914400"/>
          </a:xfrm>
          <a:prstGeom prst="rect">
            <a:avLst/>
          </a:prstGeom>
          <a:noFill/>
        </p:spPr>
        <p:txBody>
          <a:bodyPr wrap="square" lIns="0" tIns="0" rIns="0" bIns="0" anchor="ctr">
            <a:spAutoFit/>
          </a:bodyPr>
          <a:lstStyle/>
          <a:p>
            <a:pPr algn="l">
              <a:lnSpc>
                <a:spcPct val="120000"/>
              </a:lnSpc>
              <a:spcAft>
                <a:spcPts val="600"/>
              </a:spcAft>
            </a:pPr>
            <a:r>
              <a:rPr sz="2600" b="0" i="0">
                <a:solidFill>
                  <a:srgbClr val="1E293B"/>
                </a:solidFill>
                <a:latin typeface="Quattrocento Sans"/>
              </a:rPr>
              <a:t>Reading the drift report</a:t>
            </a:r>
          </a:p>
        </p:txBody>
      </p:sp>
      <p:sp>
        <p:nvSpPr>
          <p:cNvPr id="37" name="Rectangle 36"/>
          <p:cNvSpPr/>
          <p:nvPr/>
        </p:nvSpPr>
        <p:spPr>
          <a:xfrm>
            <a:off x="13898880" y="868680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3898880" y="882396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05</a:t>
            </a:r>
          </a:p>
        </p:txBody>
      </p:sp>
      <p:sp>
        <p:nvSpPr>
          <p:cNvPr id="39" name="TextBox 38"/>
          <p:cNvSpPr txBox="1"/>
          <p:nvPr/>
        </p:nvSpPr>
        <p:spPr>
          <a:xfrm>
            <a:off x="14904720" y="8823960"/>
            <a:ext cx="8046720" cy="914400"/>
          </a:xfrm>
          <a:prstGeom prst="rect">
            <a:avLst/>
          </a:prstGeom>
          <a:noFill/>
        </p:spPr>
        <p:txBody>
          <a:bodyPr wrap="square" lIns="0" tIns="0" rIns="0" bIns="0" anchor="ctr">
            <a:spAutoFit/>
          </a:bodyPr>
          <a:lstStyle/>
          <a:p>
            <a:pPr algn="l">
              <a:lnSpc>
                <a:spcPct val="120000"/>
              </a:lnSpc>
              <a:spcAft>
                <a:spcPts val="600"/>
              </a:spcAft>
            </a:pPr>
            <a:r>
              <a:rPr sz="2600" b="0" i="0">
                <a:solidFill>
                  <a:srgbClr val="1E293B"/>
                </a:solidFill>
                <a:latin typeface="Quattrocento Sans"/>
              </a:rPr>
              <a:t>Retraining policy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Monitoring vs Observability</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CONCEPT</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42</a:t>
            </a:r>
          </a:p>
        </p:txBody>
      </p:sp>
      <p:sp>
        <p:nvSpPr>
          <p:cNvPr id="6" name="Rounded Rectangle 5"/>
          <p:cNvSpPr/>
          <p:nvPr/>
        </p:nvSpPr>
        <p:spPr>
          <a:xfrm>
            <a:off x="1014984" y="2514600"/>
            <a:ext cx="10968228" cy="5577840"/>
          </a:xfrm>
          <a:prstGeom prst="roundRect">
            <a:avLst>
              <a:gd name="adj" fmla="val 5737"/>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563624" y="3017520"/>
            <a:ext cx="822960" cy="7315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63624" y="3246120"/>
            <a:ext cx="9870948" cy="82296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Monitoring</a:t>
            </a:r>
          </a:p>
        </p:txBody>
      </p:sp>
      <p:sp>
        <p:nvSpPr>
          <p:cNvPr id="9" name="TextBox 8"/>
          <p:cNvSpPr txBox="1"/>
          <p:nvPr/>
        </p:nvSpPr>
        <p:spPr>
          <a:xfrm>
            <a:off x="1563624" y="4160520"/>
            <a:ext cx="9870948" cy="914400"/>
          </a:xfrm>
          <a:prstGeom prst="rect">
            <a:avLst/>
          </a:prstGeom>
          <a:noFill/>
        </p:spPr>
        <p:txBody>
          <a:bodyPr wrap="square" lIns="0" tIns="0" rIns="0" bIns="0" anchor="t">
            <a:spAutoFit/>
          </a:bodyPr>
          <a:lstStyle/>
          <a:p>
            <a:pPr algn="l">
              <a:lnSpc>
                <a:spcPct val="120000"/>
              </a:lnSpc>
              <a:spcAft>
                <a:spcPts val="600"/>
              </a:spcAft>
            </a:pPr>
            <a:r>
              <a:rPr sz="2600" b="0" i="1">
                <a:solidFill>
                  <a:srgbClr val="6B7B8D"/>
                </a:solidFill>
                <a:latin typeface="Quattrocento Sans"/>
              </a:rPr>
              <a:t>Answers: is the system healthy?</a:t>
            </a:r>
          </a:p>
        </p:txBody>
      </p:sp>
      <p:sp>
        <p:nvSpPr>
          <p:cNvPr id="10" name="TextBox 9"/>
          <p:cNvSpPr txBox="1"/>
          <p:nvPr/>
        </p:nvSpPr>
        <p:spPr>
          <a:xfrm>
            <a:off x="1563624" y="5212079"/>
            <a:ext cx="9870948" cy="2514600"/>
          </a:xfrm>
          <a:prstGeom prst="rect">
            <a:avLst/>
          </a:prstGeom>
          <a:noFill/>
        </p:spPr>
        <p:txBody>
          <a:bodyPr wrap="square" lIns="0" tIns="0" rIns="0" bIns="0" anchor="t">
            <a:spAutoFit/>
          </a:bodyPr>
          <a:lstStyle/>
          <a:p>
            <a:pPr marL="379729" indent="-379729" algn="l">
              <a:lnSpc>
                <a:spcPct val="120000"/>
              </a:lnSpc>
              <a:spcAft>
                <a:spcPts val="1200"/>
              </a:spcAft>
              <a:buClr>
                <a:srgbClr val="1B2A4A"/>
              </a:buClr>
              <a:buFont typeface="Arial"/>
              <a:buChar char="•"/>
            </a:pPr>
            <a:r>
              <a:rPr sz="2600" b="0" i="0">
                <a:solidFill>
                  <a:srgbClr val="1E293B"/>
                </a:solidFill>
                <a:latin typeface="Quattrocento Sans"/>
              </a:rPr>
              <a:t>Predefined metrics and thresholds</a:t>
            </a:r>
          </a:p>
          <a:p>
            <a:pPr marL="379729" indent="-379729" algn="l">
              <a:lnSpc>
                <a:spcPct val="120000"/>
              </a:lnSpc>
              <a:spcAft>
                <a:spcPts val="1200"/>
              </a:spcAft>
              <a:buClr>
                <a:srgbClr val="1B2A4A"/>
              </a:buClr>
              <a:buFont typeface="Arial"/>
              <a:buChar char="•"/>
            </a:pPr>
            <a:r>
              <a:rPr sz="2600" b="0" i="0">
                <a:solidFill>
                  <a:srgbClr val="1E293B"/>
                </a:solidFill>
                <a:latin typeface="Quattrocento Sans"/>
              </a:rPr>
              <a:t>Alerts when a threshold is crossed</a:t>
            </a:r>
          </a:p>
          <a:p>
            <a:pPr marL="379729" indent="-379729" algn="l">
              <a:lnSpc>
                <a:spcPct val="120000"/>
              </a:lnSpc>
              <a:spcAft>
                <a:spcPts val="1200"/>
              </a:spcAft>
              <a:buClr>
                <a:srgbClr val="1B2A4A"/>
              </a:buClr>
              <a:buFont typeface="Arial"/>
              <a:buChar char="•"/>
            </a:pPr>
            <a:r>
              <a:rPr sz="2600" b="0" i="0">
                <a:solidFill>
                  <a:srgbClr val="1E293B"/>
                </a:solidFill>
                <a:latin typeface="Quattrocento Sans"/>
              </a:rPr>
              <a:t>Example: p95 latency &gt; 500 ms, drift &gt; 30%</a:t>
            </a:r>
          </a:p>
        </p:txBody>
      </p:sp>
      <p:sp>
        <p:nvSpPr>
          <p:cNvPr id="11" name="Rounded Rectangle 10"/>
          <p:cNvSpPr/>
          <p:nvPr/>
        </p:nvSpPr>
        <p:spPr>
          <a:xfrm>
            <a:off x="12394692" y="2514600"/>
            <a:ext cx="10968228" cy="5577840"/>
          </a:xfrm>
          <a:prstGeom prst="roundRect">
            <a:avLst>
              <a:gd name="adj" fmla="val 5737"/>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2943332" y="3017520"/>
            <a:ext cx="822960" cy="73152"/>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943332" y="3246120"/>
            <a:ext cx="9870948" cy="82296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Observability</a:t>
            </a:r>
          </a:p>
        </p:txBody>
      </p:sp>
      <p:sp>
        <p:nvSpPr>
          <p:cNvPr id="14" name="TextBox 13"/>
          <p:cNvSpPr txBox="1"/>
          <p:nvPr/>
        </p:nvSpPr>
        <p:spPr>
          <a:xfrm>
            <a:off x="12943332" y="4160520"/>
            <a:ext cx="9870948" cy="914400"/>
          </a:xfrm>
          <a:prstGeom prst="rect">
            <a:avLst/>
          </a:prstGeom>
          <a:noFill/>
        </p:spPr>
        <p:txBody>
          <a:bodyPr wrap="square" lIns="0" tIns="0" rIns="0" bIns="0" anchor="t">
            <a:spAutoFit/>
          </a:bodyPr>
          <a:lstStyle/>
          <a:p>
            <a:pPr algn="l">
              <a:lnSpc>
                <a:spcPct val="120000"/>
              </a:lnSpc>
              <a:spcAft>
                <a:spcPts val="600"/>
              </a:spcAft>
            </a:pPr>
            <a:r>
              <a:rPr sz="2600" b="0" i="1">
                <a:solidFill>
                  <a:srgbClr val="6B7B8D"/>
                </a:solidFill>
                <a:latin typeface="Quattrocento Sans"/>
              </a:rPr>
              <a:t>Answers: why is it behaving this way?</a:t>
            </a:r>
          </a:p>
        </p:txBody>
      </p:sp>
      <p:sp>
        <p:nvSpPr>
          <p:cNvPr id="15" name="TextBox 14"/>
          <p:cNvSpPr txBox="1"/>
          <p:nvPr/>
        </p:nvSpPr>
        <p:spPr>
          <a:xfrm>
            <a:off x="12943332" y="5212079"/>
            <a:ext cx="9870948" cy="2514600"/>
          </a:xfrm>
          <a:prstGeom prst="rect">
            <a:avLst/>
          </a:prstGeom>
          <a:noFill/>
        </p:spPr>
        <p:txBody>
          <a:bodyPr wrap="square" lIns="0" tIns="0" rIns="0" bIns="0" anchor="t">
            <a:spAutoFit/>
          </a:bodyPr>
          <a:lstStyle/>
          <a:p>
            <a:pPr marL="379729" indent="-379729" algn="l">
              <a:lnSpc>
                <a:spcPct val="120000"/>
              </a:lnSpc>
              <a:spcAft>
                <a:spcPts val="1200"/>
              </a:spcAft>
              <a:buClr>
                <a:srgbClr val="D4A03A"/>
              </a:buClr>
              <a:buFont typeface="Arial"/>
              <a:buChar char="•"/>
            </a:pPr>
            <a:r>
              <a:rPr sz="2600" b="0" i="0">
                <a:solidFill>
                  <a:srgbClr val="1E293B"/>
                </a:solidFill>
                <a:latin typeface="Quattrocento Sans"/>
              </a:rPr>
              <a:t>Context-rich logs, metrics and traces</a:t>
            </a:r>
          </a:p>
          <a:p>
            <a:pPr marL="379729" indent="-379729" algn="l">
              <a:lnSpc>
                <a:spcPct val="120000"/>
              </a:lnSpc>
              <a:spcAft>
                <a:spcPts val="1200"/>
              </a:spcAft>
              <a:buClr>
                <a:srgbClr val="D4A03A"/>
              </a:buClr>
              <a:buFont typeface="Arial"/>
              <a:buChar char="•"/>
            </a:pPr>
            <a:r>
              <a:rPr sz="2600" b="0" i="0">
                <a:solidFill>
                  <a:srgbClr val="1E293B"/>
                </a:solidFill>
                <a:latin typeface="Quattrocento Sans"/>
              </a:rPr>
              <a:t>Lets you investigate problems you did not predict</a:t>
            </a:r>
          </a:p>
          <a:p>
            <a:pPr marL="379729" indent="-379729" algn="l">
              <a:lnSpc>
                <a:spcPct val="120000"/>
              </a:lnSpc>
              <a:spcAft>
                <a:spcPts val="1200"/>
              </a:spcAft>
              <a:buClr>
                <a:srgbClr val="D4A03A"/>
              </a:buClr>
              <a:buFont typeface="Arial"/>
              <a:buChar char="•"/>
            </a:pPr>
            <a:r>
              <a:rPr sz="2600" b="0" i="0">
                <a:solidFill>
                  <a:srgbClr val="1E293B"/>
                </a:solidFill>
                <a:latin typeface="Quattrocento Sans"/>
              </a:rPr>
              <a:t>Example: per-prediction logs with model version &amp; features</a:t>
            </a:r>
          </a:p>
        </p:txBody>
      </p:sp>
      <p:sp>
        <p:nvSpPr>
          <p:cNvPr id="16" name="TextBox 15"/>
          <p:cNvSpPr txBox="1"/>
          <p:nvPr/>
        </p:nvSpPr>
        <p:spPr>
          <a:xfrm>
            <a:off x="1014984" y="8412480"/>
            <a:ext cx="22347936" cy="731520"/>
          </a:xfrm>
          <a:prstGeom prst="rect">
            <a:avLst/>
          </a:prstGeom>
          <a:noFill/>
        </p:spPr>
        <p:txBody>
          <a:bodyPr wrap="square" lIns="0" tIns="0" rIns="0" bIns="0" anchor="t">
            <a:spAutoFit/>
          </a:bodyPr>
          <a:lstStyle/>
          <a:p>
            <a:pPr algn="l">
              <a:lnSpc>
                <a:spcPct val="120000"/>
              </a:lnSpc>
              <a:spcAft>
                <a:spcPts val="600"/>
              </a:spcAft>
            </a:pPr>
            <a:r>
              <a:rPr sz="3000" b="1" i="0">
                <a:solidFill>
                  <a:srgbClr val="1B2A4A"/>
                </a:solidFill>
                <a:latin typeface="Liter"/>
              </a:rPr>
              <a:t>What to watch in an ML system</a:t>
            </a:r>
          </a:p>
        </p:txBody>
      </p:sp>
      <p:sp>
        <p:nvSpPr>
          <p:cNvPr id="17" name="Rounded Rectangle 16"/>
          <p:cNvSpPr/>
          <p:nvPr/>
        </p:nvSpPr>
        <p:spPr>
          <a:xfrm>
            <a:off x="1014984" y="9372600"/>
            <a:ext cx="5175504" cy="2651760"/>
          </a:xfrm>
          <a:prstGeom prst="roundRect">
            <a:avLst>
              <a:gd name="adj" fmla="val 6896"/>
            </a:avLst>
          </a:prstGeom>
          <a:solidFill>
            <a:srgbClr val="4A5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97864" y="9464040"/>
            <a:ext cx="4809744" cy="2468879"/>
          </a:xfrm>
          <a:prstGeom prst="rect">
            <a:avLst/>
          </a:prstGeom>
          <a:noFill/>
        </p:spPr>
        <p:txBody>
          <a:bodyPr wrap="square" lIns="0" tIns="0" rIns="0" bIns="0" anchor="ctr">
            <a:spAutoFit/>
          </a:bodyPr>
          <a:lstStyle/>
          <a:p>
            <a:pPr algn="ctr">
              <a:lnSpc>
                <a:spcPct val="120000"/>
              </a:lnSpc>
              <a:spcAft>
                <a:spcPts val="600"/>
              </a:spcAft>
            </a:pPr>
            <a:r>
              <a:rPr sz="2400" b="1" i="0">
                <a:solidFill>
                  <a:srgbClr val="FFFFFF"/>
                </a:solidFill>
                <a:latin typeface="Quattrocento Sans"/>
              </a:rPr>
              <a:t>Service</a:t>
            </a:r>
          </a:p>
          <a:p>
            <a:pPr algn="ctr">
              <a:lnSpc>
                <a:spcPct val="120000"/>
              </a:lnSpc>
              <a:spcAft>
                <a:spcPts val="600"/>
              </a:spcAft>
            </a:pPr>
            <a:r>
              <a:rPr sz="2400" b="1" i="0">
                <a:solidFill>
                  <a:srgbClr val="FFFFFF"/>
                </a:solidFill>
                <a:latin typeface="Quattrocento Sans"/>
              </a:rPr>
              <a:t>latency · errors · traffic</a:t>
            </a:r>
          </a:p>
        </p:txBody>
      </p:sp>
      <p:sp>
        <p:nvSpPr>
          <p:cNvPr id="19" name="TextBox 18"/>
          <p:cNvSpPr txBox="1"/>
          <p:nvPr/>
        </p:nvSpPr>
        <p:spPr>
          <a:xfrm>
            <a:off x="6190488" y="9372600"/>
            <a:ext cx="548640" cy="2651760"/>
          </a:xfrm>
          <a:prstGeom prst="rect">
            <a:avLst/>
          </a:prstGeom>
          <a:noFill/>
        </p:spPr>
        <p:txBody>
          <a:bodyPr wrap="square" lIns="0" tIns="0" rIns="0" bIns="0" anchor="ctr">
            <a:spAutoFit/>
          </a:bodyPr>
          <a:lstStyle/>
          <a:p>
            <a:pPr algn="ctr">
              <a:lnSpc>
                <a:spcPct val="120000"/>
              </a:lnSpc>
              <a:spcAft>
                <a:spcPts val="600"/>
              </a:spcAft>
            </a:pPr>
            <a:r>
              <a:rPr sz="3600" b="1" i="0">
                <a:solidFill>
                  <a:srgbClr val="D4A03A"/>
                </a:solidFill>
                <a:latin typeface="Quattrocento Sans"/>
              </a:rPr>
              <a:t>→</a:t>
            </a:r>
          </a:p>
        </p:txBody>
      </p:sp>
      <p:sp>
        <p:nvSpPr>
          <p:cNvPr id="20" name="Rounded Rectangle 19"/>
          <p:cNvSpPr/>
          <p:nvPr/>
        </p:nvSpPr>
        <p:spPr>
          <a:xfrm>
            <a:off x="6739128" y="9372600"/>
            <a:ext cx="5175504" cy="2651760"/>
          </a:xfrm>
          <a:prstGeom prst="roundRect">
            <a:avLst>
              <a:gd name="adj" fmla="val 6896"/>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22008" y="9464040"/>
            <a:ext cx="4809744" cy="2468879"/>
          </a:xfrm>
          <a:prstGeom prst="rect">
            <a:avLst/>
          </a:prstGeom>
          <a:noFill/>
        </p:spPr>
        <p:txBody>
          <a:bodyPr wrap="square" lIns="0" tIns="0" rIns="0" bIns="0" anchor="ctr">
            <a:spAutoFit/>
          </a:bodyPr>
          <a:lstStyle/>
          <a:p>
            <a:pPr algn="ctr">
              <a:lnSpc>
                <a:spcPct val="120000"/>
              </a:lnSpc>
              <a:spcAft>
                <a:spcPts val="600"/>
              </a:spcAft>
            </a:pPr>
            <a:r>
              <a:rPr sz="2400" b="1" i="0">
                <a:solidFill>
                  <a:srgbClr val="FFFFFF"/>
                </a:solidFill>
                <a:latin typeface="Quattrocento Sans"/>
              </a:rPr>
              <a:t>Data</a:t>
            </a:r>
          </a:p>
          <a:p>
            <a:pPr algn="ctr">
              <a:lnSpc>
                <a:spcPct val="120000"/>
              </a:lnSpc>
              <a:spcAft>
                <a:spcPts val="600"/>
              </a:spcAft>
            </a:pPr>
            <a:r>
              <a:rPr sz="2400" b="1" i="0">
                <a:solidFill>
                  <a:srgbClr val="FFFFFF"/>
                </a:solidFill>
                <a:latin typeface="Quattrocento Sans"/>
              </a:rPr>
              <a:t>feature distributions</a:t>
            </a:r>
          </a:p>
        </p:txBody>
      </p:sp>
      <p:sp>
        <p:nvSpPr>
          <p:cNvPr id="22" name="TextBox 21"/>
          <p:cNvSpPr txBox="1"/>
          <p:nvPr/>
        </p:nvSpPr>
        <p:spPr>
          <a:xfrm>
            <a:off x="11914632" y="9372600"/>
            <a:ext cx="548640" cy="2651760"/>
          </a:xfrm>
          <a:prstGeom prst="rect">
            <a:avLst/>
          </a:prstGeom>
          <a:noFill/>
        </p:spPr>
        <p:txBody>
          <a:bodyPr wrap="square" lIns="0" tIns="0" rIns="0" bIns="0" anchor="ctr">
            <a:spAutoFit/>
          </a:bodyPr>
          <a:lstStyle/>
          <a:p>
            <a:pPr algn="ctr">
              <a:lnSpc>
                <a:spcPct val="120000"/>
              </a:lnSpc>
              <a:spcAft>
                <a:spcPts val="600"/>
              </a:spcAft>
            </a:pPr>
            <a:r>
              <a:rPr sz="3600" b="1" i="0">
                <a:solidFill>
                  <a:srgbClr val="D4A03A"/>
                </a:solidFill>
                <a:latin typeface="Quattrocento Sans"/>
              </a:rPr>
              <a:t>→</a:t>
            </a:r>
          </a:p>
        </p:txBody>
      </p:sp>
      <p:sp>
        <p:nvSpPr>
          <p:cNvPr id="23" name="Rounded Rectangle 22"/>
          <p:cNvSpPr/>
          <p:nvPr/>
        </p:nvSpPr>
        <p:spPr>
          <a:xfrm>
            <a:off x="12463272" y="9372600"/>
            <a:ext cx="5175504" cy="2651760"/>
          </a:xfrm>
          <a:prstGeom prst="roundRect">
            <a:avLst>
              <a:gd name="adj" fmla="val 6896"/>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2646151" y="9464040"/>
            <a:ext cx="4809744" cy="2468879"/>
          </a:xfrm>
          <a:prstGeom prst="rect">
            <a:avLst/>
          </a:prstGeom>
          <a:noFill/>
        </p:spPr>
        <p:txBody>
          <a:bodyPr wrap="square" lIns="0" tIns="0" rIns="0" bIns="0" anchor="ctr">
            <a:spAutoFit/>
          </a:bodyPr>
          <a:lstStyle/>
          <a:p>
            <a:pPr algn="ctr">
              <a:lnSpc>
                <a:spcPct val="120000"/>
              </a:lnSpc>
              <a:spcAft>
                <a:spcPts val="600"/>
              </a:spcAft>
            </a:pPr>
            <a:r>
              <a:rPr sz="2400" b="1" i="0">
                <a:solidFill>
                  <a:srgbClr val="FFFFFF"/>
                </a:solidFill>
                <a:latin typeface="Quattrocento Sans"/>
              </a:rPr>
              <a:t>Model</a:t>
            </a:r>
          </a:p>
          <a:p>
            <a:pPr algn="ctr">
              <a:lnSpc>
                <a:spcPct val="120000"/>
              </a:lnSpc>
              <a:spcAft>
                <a:spcPts val="600"/>
              </a:spcAft>
            </a:pPr>
            <a:r>
              <a:rPr sz="2400" b="1" i="0">
                <a:solidFill>
                  <a:srgbClr val="FFFFFF"/>
                </a:solidFill>
                <a:latin typeface="Quattrocento Sans"/>
              </a:rPr>
              <a:t>prediction quality</a:t>
            </a:r>
          </a:p>
        </p:txBody>
      </p:sp>
      <p:sp>
        <p:nvSpPr>
          <p:cNvPr id="25" name="TextBox 24"/>
          <p:cNvSpPr txBox="1"/>
          <p:nvPr/>
        </p:nvSpPr>
        <p:spPr>
          <a:xfrm>
            <a:off x="17638776" y="9372600"/>
            <a:ext cx="548640" cy="2651760"/>
          </a:xfrm>
          <a:prstGeom prst="rect">
            <a:avLst/>
          </a:prstGeom>
          <a:noFill/>
        </p:spPr>
        <p:txBody>
          <a:bodyPr wrap="square" lIns="0" tIns="0" rIns="0" bIns="0" anchor="ctr">
            <a:spAutoFit/>
          </a:bodyPr>
          <a:lstStyle/>
          <a:p>
            <a:pPr algn="ctr">
              <a:lnSpc>
                <a:spcPct val="120000"/>
              </a:lnSpc>
              <a:spcAft>
                <a:spcPts val="600"/>
              </a:spcAft>
            </a:pPr>
            <a:r>
              <a:rPr sz="3600" b="1" i="0">
                <a:solidFill>
                  <a:srgbClr val="D4A03A"/>
                </a:solidFill>
                <a:latin typeface="Quattrocento Sans"/>
              </a:rPr>
              <a:t>→</a:t>
            </a:r>
          </a:p>
        </p:txBody>
      </p:sp>
      <p:sp>
        <p:nvSpPr>
          <p:cNvPr id="26" name="Rounded Rectangle 25"/>
          <p:cNvSpPr/>
          <p:nvPr/>
        </p:nvSpPr>
        <p:spPr>
          <a:xfrm>
            <a:off x="18187416" y="9372600"/>
            <a:ext cx="5175504" cy="2651760"/>
          </a:xfrm>
          <a:prstGeom prst="roundRect">
            <a:avLst>
              <a:gd name="adj" fmla="val 6896"/>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8370296" y="9464040"/>
            <a:ext cx="4809744" cy="2468879"/>
          </a:xfrm>
          <a:prstGeom prst="rect">
            <a:avLst/>
          </a:prstGeom>
          <a:noFill/>
        </p:spPr>
        <p:txBody>
          <a:bodyPr wrap="square" lIns="0" tIns="0" rIns="0" bIns="0" anchor="ctr">
            <a:spAutoFit/>
          </a:bodyPr>
          <a:lstStyle/>
          <a:p>
            <a:pPr algn="ctr">
              <a:lnSpc>
                <a:spcPct val="120000"/>
              </a:lnSpc>
              <a:spcAft>
                <a:spcPts val="600"/>
              </a:spcAft>
            </a:pPr>
            <a:r>
              <a:rPr sz="2400" b="1" i="0">
                <a:solidFill>
                  <a:srgbClr val="FFFFFF"/>
                </a:solidFill>
                <a:latin typeface="Quattrocento Sans"/>
              </a:rPr>
              <a:t>Business</a:t>
            </a:r>
          </a:p>
          <a:p>
            <a:pPr algn="ctr">
              <a:lnSpc>
                <a:spcPct val="120000"/>
              </a:lnSpc>
              <a:spcAft>
                <a:spcPts val="600"/>
              </a:spcAft>
            </a:pPr>
            <a:r>
              <a:rPr sz="2400" b="1" i="0">
                <a:solidFill>
                  <a:srgbClr val="FFFFFF"/>
                </a:solidFill>
                <a:latin typeface="Quattrocento Sans"/>
              </a:rPr>
              <a:t>decision impact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67B53-59A6-7CCE-FDC8-BCACDCB113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ABA1E5-413B-CBE7-CA27-849E711D0592}"/>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Evidently Major Monitoring Capabilities</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3F58C7E8-1A95-B80D-5FA7-CA2F822445A4}"/>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19F11D2-ACF8-54CB-B88F-EFC05D912B06}"/>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TAXONOMY</a:t>
            </a:r>
          </a:p>
        </p:txBody>
      </p:sp>
      <p:sp>
        <p:nvSpPr>
          <p:cNvPr id="5" name="TextBox 4">
            <a:extLst>
              <a:ext uri="{FF2B5EF4-FFF2-40B4-BE49-F238E27FC236}">
                <a16:creationId xmlns:a16="http://schemas.microsoft.com/office/drawing/2014/main" id="{5E609886-0399-BCCD-D198-7580BA46FAB6}"/>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43</a:t>
            </a:r>
          </a:p>
        </p:txBody>
      </p:sp>
      <p:graphicFrame>
        <p:nvGraphicFramePr>
          <p:cNvPr id="22" name="Table 21">
            <a:extLst>
              <a:ext uri="{FF2B5EF4-FFF2-40B4-BE49-F238E27FC236}">
                <a16:creationId xmlns:a16="http://schemas.microsoft.com/office/drawing/2014/main" id="{348FE2B2-12AA-86EF-9D2C-7435E7CEB478}"/>
              </a:ext>
            </a:extLst>
          </p:cNvPr>
          <p:cNvGraphicFramePr>
            <a:graphicFrameLocks noGrp="1"/>
          </p:cNvGraphicFramePr>
          <p:nvPr>
            <p:extLst>
              <p:ext uri="{D42A27DB-BD31-4B8C-83A1-F6EECF244321}">
                <p14:modId xmlns:p14="http://schemas.microsoft.com/office/powerpoint/2010/main" val="743454670"/>
              </p:ext>
            </p:extLst>
          </p:nvPr>
        </p:nvGraphicFramePr>
        <p:xfrm>
          <a:off x="1071302" y="2977187"/>
          <a:ext cx="22337336" cy="8688339"/>
        </p:xfrm>
        <a:graphic>
          <a:graphicData uri="http://schemas.openxmlformats.org/drawingml/2006/table">
            <a:tbl>
              <a:tblPr firstRow="1" bandRow="1">
                <a:tableStyleId>{073A0DAA-6AF3-43AB-8588-CEC1D06C72B9}</a:tableStyleId>
              </a:tblPr>
              <a:tblGrid>
                <a:gridCol w="1240115">
                  <a:extLst>
                    <a:ext uri="{9D8B030D-6E8A-4147-A177-3AD203B41FA5}">
                      <a16:colId xmlns:a16="http://schemas.microsoft.com/office/drawing/2014/main" val="1409327052"/>
                    </a:ext>
                  </a:extLst>
                </a:gridCol>
                <a:gridCol w="7526419">
                  <a:extLst>
                    <a:ext uri="{9D8B030D-6E8A-4147-A177-3AD203B41FA5}">
                      <a16:colId xmlns:a16="http://schemas.microsoft.com/office/drawing/2014/main" val="3998777679"/>
                    </a:ext>
                  </a:extLst>
                </a:gridCol>
                <a:gridCol w="13570802">
                  <a:extLst>
                    <a:ext uri="{9D8B030D-6E8A-4147-A177-3AD203B41FA5}">
                      <a16:colId xmlns:a16="http://schemas.microsoft.com/office/drawing/2014/main" val="502641734"/>
                    </a:ext>
                  </a:extLst>
                </a:gridCol>
              </a:tblGrid>
              <a:tr h="1421802">
                <a:tc>
                  <a:txBody>
                    <a:bodyPr/>
                    <a:lstStyle/>
                    <a:p>
                      <a:pPr algn="ctr"/>
                      <a:r>
                        <a:rPr lang="en-US" sz="4000" dirty="0"/>
                        <a:t>No</a:t>
                      </a:r>
                    </a:p>
                  </a:txBody>
                  <a:tcPr anchor="ctr"/>
                </a:tc>
                <a:tc>
                  <a:txBody>
                    <a:bodyPr/>
                    <a:lstStyle/>
                    <a:p>
                      <a:pPr algn="ctr"/>
                      <a:r>
                        <a:rPr lang="en-US" sz="4000" dirty="0"/>
                        <a:t>Area</a:t>
                      </a:r>
                    </a:p>
                  </a:txBody>
                  <a:tcPr anchor="ctr"/>
                </a:tc>
                <a:tc>
                  <a:txBody>
                    <a:bodyPr/>
                    <a:lstStyle/>
                    <a:p>
                      <a:pPr algn="ctr"/>
                      <a:r>
                        <a:rPr lang="en-US" sz="4000" dirty="0"/>
                        <a:t>What it answers?</a:t>
                      </a:r>
                    </a:p>
                  </a:txBody>
                  <a:tcPr anchor="ctr"/>
                </a:tc>
                <a:extLst>
                  <a:ext uri="{0D108BD9-81ED-4DB2-BD59-A6C34878D82A}">
                    <a16:rowId xmlns:a16="http://schemas.microsoft.com/office/drawing/2014/main" val="29871166"/>
                  </a:ext>
                </a:extLst>
              </a:tr>
              <a:tr h="1443366">
                <a:tc>
                  <a:txBody>
                    <a:bodyPr/>
                    <a:lstStyle/>
                    <a:p>
                      <a:pPr algn="ctr"/>
                      <a:r>
                        <a:rPr lang="en-US" sz="4000" dirty="0"/>
                        <a:t>1</a:t>
                      </a:r>
                    </a:p>
                  </a:txBody>
                  <a:tcPr anchor="ctr"/>
                </a:tc>
                <a:tc>
                  <a:txBody>
                    <a:bodyPr/>
                    <a:lstStyle/>
                    <a:p>
                      <a:r>
                        <a:rPr lang="en-US" sz="4000" dirty="0"/>
                        <a:t>Data Quality</a:t>
                      </a:r>
                    </a:p>
                  </a:txBody>
                  <a:tcPr anchor="ctr"/>
                </a:tc>
                <a:tc>
                  <a:txBody>
                    <a:bodyPr/>
                    <a:lstStyle/>
                    <a:p>
                      <a:r>
                        <a:rPr lang="en-US" sz="4000" dirty="0"/>
                        <a:t>Is the incoming data valid?</a:t>
                      </a:r>
                    </a:p>
                    <a:p>
                      <a:r>
                        <a:rPr lang="en-US" sz="4000" dirty="0">
                          <a:sym typeface="Wingdings" pitchFamily="2" charset="2"/>
                        </a:rPr>
                        <a:t> Is there any missing data, invalid data, invalid format?</a:t>
                      </a:r>
                      <a:endParaRPr lang="en-US" sz="4000" dirty="0"/>
                    </a:p>
                  </a:txBody>
                  <a:tcPr anchor="ctr"/>
                </a:tc>
                <a:extLst>
                  <a:ext uri="{0D108BD9-81ED-4DB2-BD59-A6C34878D82A}">
                    <a16:rowId xmlns:a16="http://schemas.microsoft.com/office/drawing/2014/main" val="3710741296"/>
                  </a:ext>
                </a:extLst>
              </a:tr>
              <a:tr h="1421802">
                <a:tc>
                  <a:txBody>
                    <a:bodyPr/>
                    <a:lstStyle/>
                    <a:p>
                      <a:pPr algn="ctr"/>
                      <a:r>
                        <a:rPr lang="en-US" sz="4000" dirty="0"/>
                        <a:t>2</a:t>
                      </a:r>
                    </a:p>
                  </a:txBody>
                  <a:tcPr anchor="ctr"/>
                </a:tc>
                <a:tc>
                  <a:txBody>
                    <a:bodyPr/>
                    <a:lstStyle/>
                    <a:p>
                      <a:r>
                        <a:rPr lang="en-US" sz="4000" dirty="0"/>
                        <a:t>Data Drift</a:t>
                      </a:r>
                    </a:p>
                  </a:txBody>
                  <a:tcPr anchor="ctr"/>
                </a:tc>
                <a:tc>
                  <a:txBody>
                    <a:bodyPr/>
                    <a:lstStyle/>
                    <a:p>
                      <a:r>
                        <a:rPr lang="en-US" sz="4000" dirty="0"/>
                        <a:t>Has input distribution changed?</a:t>
                      </a:r>
                    </a:p>
                  </a:txBody>
                  <a:tcPr anchor="ctr"/>
                </a:tc>
                <a:extLst>
                  <a:ext uri="{0D108BD9-81ED-4DB2-BD59-A6C34878D82A}">
                    <a16:rowId xmlns:a16="http://schemas.microsoft.com/office/drawing/2014/main" val="2929404214"/>
                  </a:ext>
                </a:extLst>
              </a:tr>
              <a:tr h="1421802">
                <a:tc>
                  <a:txBody>
                    <a:bodyPr/>
                    <a:lstStyle/>
                    <a:p>
                      <a:pPr algn="ctr"/>
                      <a:r>
                        <a:rPr lang="en-US" sz="4000" dirty="0"/>
                        <a:t>3</a:t>
                      </a:r>
                    </a:p>
                  </a:txBody>
                  <a:tcPr anchor="ctr"/>
                </a:tc>
                <a:tc>
                  <a:txBody>
                    <a:bodyPr/>
                    <a:lstStyle/>
                    <a:p>
                      <a:r>
                        <a:rPr lang="en-US" sz="4000" dirty="0"/>
                        <a:t>Prediction Drift</a:t>
                      </a:r>
                    </a:p>
                  </a:txBody>
                  <a:tcPr anchor="ctr"/>
                </a:tc>
                <a:tc>
                  <a:txBody>
                    <a:bodyPr/>
                    <a:lstStyle/>
                    <a:p>
                      <a:r>
                        <a:rPr lang="en-US" sz="4000" dirty="0"/>
                        <a:t>Has model output changed?</a:t>
                      </a:r>
                    </a:p>
                  </a:txBody>
                  <a:tcPr anchor="ctr"/>
                </a:tc>
                <a:extLst>
                  <a:ext uri="{0D108BD9-81ED-4DB2-BD59-A6C34878D82A}">
                    <a16:rowId xmlns:a16="http://schemas.microsoft.com/office/drawing/2014/main" val="1385901627"/>
                  </a:ext>
                </a:extLst>
              </a:tr>
              <a:tr h="1421802">
                <a:tc>
                  <a:txBody>
                    <a:bodyPr/>
                    <a:lstStyle/>
                    <a:p>
                      <a:pPr algn="ctr"/>
                      <a:r>
                        <a:rPr lang="en-US" sz="4000" dirty="0"/>
                        <a:t>4</a:t>
                      </a:r>
                    </a:p>
                  </a:txBody>
                  <a:tcPr anchor="ctr"/>
                </a:tc>
                <a:tc>
                  <a:txBody>
                    <a:bodyPr/>
                    <a:lstStyle/>
                    <a:p>
                      <a:r>
                        <a:rPr lang="en-US" sz="4000" dirty="0"/>
                        <a:t>Model Performance</a:t>
                      </a:r>
                    </a:p>
                  </a:txBody>
                  <a:tcPr anchor="ctr"/>
                </a:tc>
                <a:tc>
                  <a:txBody>
                    <a:bodyPr/>
                    <a:lstStyle/>
                    <a:p>
                      <a:r>
                        <a:rPr lang="en-US" sz="4000" dirty="0"/>
                        <a:t>Is the model still accurate?</a:t>
                      </a:r>
                    </a:p>
                  </a:txBody>
                  <a:tcPr anchor="ctr"/>
                </a:tc>
                <a:extLst>
                  <a:ext uri="{0D108BD9-81ED-4DB2-BD59-A6C34878D82A}">
                    <a16:rowId xmlns:a16="http://schemas.microsoft.com/office/drawing/2014/main" val="3223833670"/>
                  </a:ext>
                </a:extLst>
              </a:tr>
              <a:tr h="1557765">
                <a:tc>
                  <a:txBody>
                    <a:bodyPr/>
                    <a:lstStyle/>
                    <a:p>
                      <a:pPr algn="ctr"/>
                      <a:r>
                        <a:rPr lang="en-US" sz="4000" dirty="0"/>
                        <a:t>5</a:t>
                      </a:r>
                    </a:p>
                  </a:txBody>
                  <a:tcPr anchor="ctr"/>
                </a:tc>
                <a:tc>
                  <a:txBody>
                    <a:bodyPr/>
                    <a:lstStyle/>
                    <a:p>
                      <a:r>
                        <a:rPr lang="en-US" sz="4000" dirty="0"/>
                        <a:t>Model Quality</a:t>
                      </a:r>
                    </a:p>
                  </a:txBody>
                  <a:tcPr anchor="ctr"/>
                </a:tc>
                <a:tc>
                  <a:txBody>
                    <a:bodyPr/>
                    <a:lstStyle/>
                    <a:p>
                      <a:r>
                        <a:rPr lang="en-US" sz="4000" dirty="0"/>
                        <a:t>Is the model behaving acceptably according to domain metrics?</a:t>
                      </a:r>
                    </a:p>
                    <a:p>
                      <a:r>
                        <a:rPr lang="en-US" sz="4000" dirty="0">
                          <a:sym typeface="Wingdings" pitchFamily="2" charset="2"/>
                        </a:rPr>
                        <a:t> Define threshold requirements</a:t>
                      </a:r>
                      <a:endParaRPr lang="en-US" sz="4000" dirty="0"/>
                    </a:p>
                  </a:txBody>
                  <a:tcPr anchor="ctr"/>
                </a:tc>
                <a:extLst>
                  <a:ext uri="{0D108BD9-81ED-4DB2-BD59-A6C34878D82A}">
                    <a16:rowId xmlns:a16="http://schemas.microsoft.com/office/drawing/2014/main" val="3471150804"/>
                  </a:ext>
                </a:extLst>
              </a:tr>
            </a:tbl>
          </a:graphicData>
        </a:graphic>
      </p:graphicFrame>
    </p:spTree>
    <p:extLst>
      <p:ext uri="{BB962C8B-B14F-4D97-AF65-F5344CB8AC3E}">
        <p14:creationId xmlns:p14="http://schemas.microsoft.com/office/powerpoint/2010/main" val="37666240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C1061-45BD-607D-B2CD-D72E0F5867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43F5CA9-AD4E-694C-82BB-8E6C6B510670}"/>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Data Drift</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254C7A79-9B51-B4C1-7BD8-1330481FB93A}"/>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A98A0CD-1FBC-8D92-39AD-67D18894793E}"/>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TAXONOMY</a:t>
            </a:r>
          </a:p>
        </p:txBody>
      </p:sp>
      <p:sp>
        <p:nvSpPr>
          <p:cNvPr id="5" name="TextBox 4">
            <a:extLst>
              <a:ext uri="{FF2B5EF4-FFF2-40B4-BE49-F238E27FC236}">
                <a16:creationId xmlns:a16="http://schemas.microsoft.com/office/drawing/2014/main" id="{4FF8AF1D-194E-92A7-F173-6B9053984F97}"/>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43</a:t>
            </a:r>
          </a:p>
        </p:txBody>
      </p:sp>
      <p:pic>
        <p:nvPicPr>
          <p:cNvPr id="7" name="Picture 6" descr="A graph with black squares&#10;&#10;AI-generated content may be incorrect.">
            <a:extLst>
              <a:ext uri="{FF2B5EF4-FFF2-40B4-BE49-F238E27FC236}">
                <a16:creationId xmlns:a16="http://schemas.microsoft.com/office/drawing/2014/main" id="{5088A97E-559F-9A18-0FAA-2C79390F0993}"/>
              </a:ext>
            </a:extLst>
          </p:cNvPr>
          <p:cNvPicPr>
            <a:picLocks noChangeAspect="1"/>
          </p:cNvPicPr>
          <p:nvPr/>
        </p:nvPicPr>
        <p:blipFill>
          <a:blip r:embed="rId2"/>
          <a:stretch>
            <a:fillRect/>
          </a:stretch>
        </p:blipFill>
        <p:spPr>
          <a:xfrm>
            <a:off x="1014984" y="3207905"/>
            <a:ext cx="10625702" cy="7211822"/>
          </a:xfrm>
          <a:prstGeom prst="rect">
            <a:avLst/>
          </a:prstGeom>
        </p:spPr>
      </p:pic>
      <p:pic>
        <p:nvPicPr>
          <p:cNvPr id="9" name="Picture 8" descr="A graph with numbers and a bar&#10;&#10;AI-generated content may be incorrect.">
            <a:extLst>
              <a:ext uri="{FF2B5EF4-FFF2-40B4-BE49-F238E27FC236}">
                <a16:creationId xmlns:a16="http://schemas.microsoft.com/office/drawing/2014/main" id="{225D27BD-294D-D11D-C22F-556DC6E91FAD}"/>
              </a:ext>
            </a:extLst>
          </p:cNvPr>
          <p:cNvPicPr>
            <a:picLocks noChangeAspect="1"/>
          </p:cNvPicPr>
          <p:nvPr/>
        </p:nvPicPr>
        <p:blipFill>
          <a:blip r:embed="rId3"/>
          <a:stretch>
            <a:fillRect/>
          </a:stretch>
        </p:blipFill>
        <p:spPr>
          <a:xfrm>
            <a:off x="12743316" y="3207905"/>
            <a:ext cx="11153687" cy="7211822"/>
          </a:xfrm>
          <a:prstGeom prst="rect">
            <a:avLst/>
          </a:prstGeom>
        </p:spPr>
      </p:pic>
      <p:sp>
        <p:nvSpPr>
          <p:cNvPr id="10" name="TextBox 9">
            <a:extLst>
              <a:ext uri="{FF2B5EF4-FFF2-40B4-BE49-F238E27FC236}">
                <a16:creationId xmlns:a16="http://schemas.microsoft.com/office/drawing/2014/main" id="{D01ED335-F5F3-C6AE-1208-C7ED944AD9EC}"/>
              </a:ext>
            </a:extLst>
          </p:cNvPr>
          <p:cNvSpPr txBox="1"/>
          <p:nvPr/>
        </p:nvSpPr>
        <p:spPr>
          <a:xfrm>
            <a:off x="11640685" y="6429095"/>
            <a:ext cx="930448" cy="769441"/>
          </a:xfrm>
          <a:prstGeom prst="rect">
            <a:avLst/>
          </a:prstGeom>
          <a:noFill/>
        </p:spPr>
        <p:txBody>
          <a:bodyPr wrap="none" rtlCol="0">
            <a:spAutoFit/>
          </a:bodyPr>
          <a:lstStyle/>
          <a:p>
            <a:r>
              <a:rPr lang="en-US" sz="4400" b="1" dirty="0">
                <a:solidFill>
                  <a:srgbClr val="C00000"/>
                </a:solidFill>
              </a:rPr>
              <a:t>VS.</a:t>
            </a:r>
          </a:p>
        </p:txBody>
      </p:sp>
      <p:sp>
        <p:nvSpPr>
          <p:cNvPr id="11" name="TextBox 10">
            <a:extLst>
              <a:ext uri="{FF2B5EF4-FFF2-40B4-BE49-F238E27FC236}">
                <a16:creationId xmlns:a16="http://schemas.microsoft.com/office/drawing/2014/main" id="{F622443B-B552-326E-A13B-6071D70BE778}"/>
              </a:ext>
            </a:extLst>
          </p:cNvPr>
          <p:cNvSpPr txBox="1"/>
          <p:nvPr/>
        </p:nvSpPr>
        <p:spPr>
          <a:xfrm>
            <a:off x="3370268" y="10508095"/>
            <a:ext cx="5599995" cy="584775"/>
          </a:xfrm>
          <a:prstGeom prst="rect">
            <a:avLst/>
          </a:prstGeom>
          <a:noFill/>
        </p:spPr>
        <p:txBody>
          <a:bodyPr wrap="none" rtlCol="0">
            <a:spAutoFit/>
          </a:bodyPr>
          <a:lstStyle/>
          <a:p>
            <a:r>
              <a:rPr lang="en-US" sz="3200" b="1" dirty="0"/>
              <a:t>Data for training and evaluation</a:t>
            </a:r>
          </a:p>
        </p:txBody>
      </p:sp>
      <p:sp>
        <p:nvSpPr>
          <p:cNvPr id="12" name="TextBox 11">
            <a:extLst>
              <a:ext uri="{FF2B5EF4-FFF2-40B4-BE49-F238E27FC236}">
                <a16:creationId xmlns:a16="http://schemas.microsoft.com/office/drawing/2014/main" id="{AD4D2147-05BA-8101-A00D-DA74946E9E5F}"/>
              </a:ext>
            </a:extLst>
          </p:cNvPr>
          <p:cNvSpPr txBox="1"/>
          <p:nvPr/>
        </p:nvSpPr>
        <p:spPr>
          <a:xfrm>
            <a:off x="17348961" y="10508094"/>
            <a:ext cx="3044423" cy="584775"/>
          </a:xfrm>
          <a:prstGeom prst="rect">
            <a:avLst/>
          </a:prstGeom>
          <a:noFill/>
        </p:spPr>
        <p:txBody>
          <a:bodyPr wrap="none" rtlCol="0">
            <a:spAutoFit/>
          </a:bodyPr>
          <a:lstStyle/>
          <a:p>
            <a:r>
              <a:rPr lang="en-US" sz="3200" b="1" dirty="0"/>
              <a:t>Data production</a:t>
            </a:r>
          </a:p>
        </p:txBody>
      </p:sp>
      <p:sp>
        <p:nvSpPr>
          <p:cNvPr id="14" name="TextBox 13">
            <a:extLst>
              <a:ext uri="{FF2B5EF4-FFF2-40B4-BE49-F238E27FC236}">
                <a16:creationId xmlns:a16="http://schemas.microsoft.com/office/drawing/2014/main" id="{1E9AB680-9B40-3005-4379-387F02BAF561}"/>
              </a:ext>
            </a:extLst>
          </p:cNvPr>
          <p:cNvSpPr txBox="1"/>
          <p:nvPr/>
        </p:nvSpPr>
        <p:spPr>
          <a:xfrm>
            <a:off x="4431974" y="12046609"/>
            <a:ext cx="16622684" cy="707886"/>
          </a:xfrm>
          <a:prstGeom prst="rect">
            <a:avLst/>
          </a:prstGeom>
          <a:noFill/>
        </p:spPr>
        <p:txBody>
          <a:bodyPr wrap="square">
            <a:spAutoFit/>
          </a:bodyPr>
          <a:lstStyle/>
          <a:p>
            <a:r>
              <a:rPr lang="en-ID" sz="4000" b="1" dirty="0">
                <a:solidFill>
                  <a:srgbClr val="0070C0"/>
                </a:solidFill>
              </a:rPr>
              <a:t>Evidently can compare: </a:t>
            </a:r>
            <a:r>
              <a:rPr lang="en-US" sz="4000" b="1" dirty="0">
                <a:solidFill>
                  <a:srgbClr val="0070C0"/>
                </a:solidFill>
              </a:rPr>
              <a:t>Reference dataset VS Current production dataset</a:t>
            </a:r>
          </a:p>
        </p:txBody>
      </p:sp>
    </p:spTree>
    <p:extLst>
      <p:ext uri="{BB962C8B-B14F-4D97-AF65-F5344CB8AC3E}">
        <p14:creationId xmlns:p14="http://schemas.microsoft.com/office/powerpoint/2010/main" val="11638568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BAAE7-186C-4EA1-8B92-08A7F585B87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6B49C25-4004-D77A-8399-854A9F16BAFF}"/>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Prediction Drift</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4C83442A-C78E-1035-CDC4-7E8A4BFAB118}"/>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43D7DD7-D0DB-5AE6-E351-4074FE6C1925}"/>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TAXONOMY</a:t>
            </a:r>
          </a:p>
        </p:txBody>
      </p:sp>
      <p:sp>
        <p:nvSpPr>
          <p:cNvPr id="5" name="TextBox 4">
            <a:extLst>
              <a:ext uri="{FF2B5EF4-FFF2-40B4-BE49-F238E27FC236}">
                <a16:creationId xmlns:a16="http://schemas.microsoft.com/office/drawing/2014/main" id="{8E067E06-FD07-A52F-A316-873B5379C330}"/>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43</a:t>
            </a:r>
          </a:p>
        </p:txBody>
      </p:sp>
      <p:sp>
        <p:nvSpPr>
          <p:cNvPr id="10" name="TextBox 9">
            <a:extLst>
              <a:ext uri="{FF2B5EF4-FFF2-40B4-BE49-F238E27FC236}">
                <a16:creationId xmlns:a16="http://schemas.microsoft.com/office/drawing/2014/main" id="{C31A4ACF-3AA0-F9D4-3F62-5B40E42DA26C}"/>
              </a:ext>
            </a:extLst>
          </p:cNvPr>
          <p:cNvSpPr txBox="1"/>
          <p:nvPr/>
        </p:nvSpPr>
        <p:spPr>
          <a:xfrm>
            <a:off x="11726776" y="5348440"/>
            <a:ext cx="930448" cy="769441"/>
          </a:xfrm>
          <a:prstGeom prst="rect">
            <a:avLst/>
          </a:prstGeom>
          <a:noFill/>
        </p:spPr>
        <p:txBody>
          <a:bodyPr wrap="none" rtlCol="0">
            <a:spAutoFit/>
          </a:bodyPr>
          <a:lstStyle/>
          <a:p>
            <a:r>
              <a:rPr lang="en-US" sz="4400" b="1" dirty="0">
                <a:solidFill>
                  <a:srgbClr val="C00000"/>
                </a:solidFill>
              </a:rPr>
              <a:t>VS.</a:t>
            </a:r>
          </a:p>
        </p:txBody>
      </p:sp>
      <p:sp>
        <p:nvSpPr>
          <p:cNvPr id="11" name="TextBox 10">
            <a:extLst>
              <a:ext uri="{FF2B5EF4-FFF2-40B4-BE49-F238E27FC236}">
                <a16:creationId xmlns:a16="http://schemas.microsoft.com/office/drawing/2014/main" id="{E44646F1-E665-0FD9-DD83-6F2F0E39F1FA}"/>
              </a:ext>
            </a:extLst>
          </p:cNvPr>
          <p:cNvSpPr txBox="1"/>
          <p:nvPr/>
        </p:nvSpPr>
        <p:spPr>
          <a:xfrm>
            <a:off x="2967553" y="8487196"/>
            <a:ext cx="6154505" cy="584775"/>
          </a:xfrm>
          <a:prstGeom prst="rect">
            <a:avLst/>
          </a:prstGeom>
          <a:noFill/>
        </p:spPr>
        <p:txBody>
          <a:bodyPr wrap="none" rtlCol="0">
            <a:spAutoFit/>
          </a:bodyPr>
          <a:lstStyle/>
          <a:p>
            <a:r>
              <a:rPr lang="en-US" sz="3200" b="1" dirty="0"/>
              <a:t>Testing results during development</a:t>
            </a:r>
          </a:p>
        </p:txBody>
      </p:sp>
      <p:sp>
        <p:nvSpPr>
          <p:cNvPr id="12" name="TextBox 11">
            <a:extLst>
              <a:ext uri="{FF2B5EF4-FFF2-40B4-BE49-F238E27FC236}">
                <a16:creationId xmlns:a16="http://schemas.microsoft.com/office/drawing/2014/main" id="{0494CC36-385D-A6D3-E044-5B4F6B83B019}"/>
              </a:ext>
            </a:extLst>
          </p:cNvPr>
          <p:cNvSpPr txBox="1"/>
          <p:nvPr/>
        </p:nvSpPr>
        <p:spPr>
          <a:xfrm>
            <a:off x="16094270" y="8487195"/>
            <a:ext cx="5542095" cy="584775"/>
          </a:xfrm>
          <a:prstGeom prst="rect">
            <a:avLst/>
          </a:prstGeom>
          <a:noFill/>
        </p:spPr>
        <p:txBody>
          <a:bodyPr wrap="none" rtlCol="0">
            <a:spAutoFit/>
          </a:bodyPr>
          <a:lstStyle/>
          <a:p>
            <a:r>
              <a:rPr lang="en-US" sz="3200" b="1" dirty="0"/>
              <a:t>Prediction results in production</a:t>
            </a:r>
          </a:p>
        </p:txBody>
      </p:sp>
      <p:pic>
        <p:nvPicPr>
          <p:cNvPr id="18" name="Picture 17" descr="A screenshot of a white background&#10;&#10;AI-generated content may be incorrect.">
            <a:extLst>
              <a:ext uri="{FF2B5EF4-FFF2-40B4-BE49-F238E27FC236}">
                <a16:creationId xmlns:a16="http://schemas.microsoft.com/office/drawing/2014/main" id="{4B3BC8D8-4176-2447-0F7A-583D51F24BAC}"/>
              </a:ext>
            </a:extLst>
          </p:cNvPr>
          <p:cNvPicPr>
            <a:picLocks noChangeAspect="1"/>
          </p:cNvPicPr>
          <p:nvPr/>
        </p:nvPicPr>
        <p:blipFill>
          <a:blip r:embed="rId2"/>
          <a:stretch>
            <a:fillRect/>
          </a:stretch>
        </p:blipFill>
        <p:spPr>
          <a:xfrm>
            <a:off x="1014984" y="2871191"/>
            <a:ext cx="10160242" cy="5441004"/>
          </a:xfrm>
          <a:prstGeom prst="rect">
            <a:avLst/>
          </a:prstGeom>
        </p:spPr>
      </p:pic>
      <p:pic>
        <p:nvPicPr>
          <p:cNvPr id="20" name="Picture 19" descr="A close-up of a number of black text&#10;&#10;AI-generated content may be incorrect.">
            <a:extLst>
              <a:ext uri="{FF2B5EF4-FFF2-40B4-BE49-F238E27FC236}">
                <a16:creationId xmlns:a16="http://schemas.microsoft.com/office/drawing/2014/main" id="{04581C4F-C429-7F42-18CE-2627F5C97DC5}"/>
              </a:ext>
            </a:extLst>
          </p:cNvPr>
          <p:cNvPicPr>
            <a:picLocks noChangeAspect="1"/>
          </p:cNvPicPr>
          <p:nvPr/>
        </p:nvPicPr>
        <p:blipFill>
          <a:blip r:embed="rId3"/>
          <a:stretch>
            <a:fillRect/>
          </a:stretch>
        </p:blipFill>
        <p:spPr>
          <a:xfrm>
            <a:off x="12984480" y="2911779"/>
            <a:ext cx="10084450" cy="5400416"/>
          </a:xfrm>
          <a:prstGeom prst="rect">
            <a:avLst/>
          </a:prstGeom>
        </p:spPr>
      </p:pic>
      <p:sp>
        <p:nvSpPr>
          <p:cNvPr id="21" name="TextBox 20">
            <a:extLst>
              <a:ext uri="{FF2B5EF4-FFF2-40B4-BE49-F238E27FC236}">
                <a16:creationId xmlns:a16="http://schemas.microsoft.com/office/drawing/2014/main" id="{421AB86A-58CD-EF1C-5BCC-3DB9806A7F41}"/>
              </a:ext>
            </a:extLst>
          </p:cNvPr>
          <p:cNvSpPr txBox="1"/>
          <p:nvPr/>
        </p:nvSpPr>
        <p:spPr>
          <a:xfrm>
            <a:off x="3415434" y="10297925"/>
            <a:ext cx="16622684" cy="1323439"/>
          </a:xfrm>
          <a:prstGeom prst="rect">
            <a:avLst/>
          </a:prstGeom>
          <a:noFill/>
        </p:spPr>
        <p:txBody>
          <a:bodyPr wrap="square">
            <a:spAutoFit/>
          </a:bodyPr>
          <a:lstStyle/>
          <a:p>
            <a:r>
              <a:rPr lang="en-ID" sz="4000" b="1" dirty="0">
                <a:solidFill>
                  <a:srgbClr val="0070C0"/>
                </a:solidFill>
              </a:rPr>
              <a:t>Evidently can </a:t>
            </a:r>
            <a:r>
              <a:rPr lang="en-US" sz="4000" b="1" dirty="0">
                <a:solidFill>
                  <a:srgbClr val="0070C0"/>
                </a:solidFill>
              </a:rPr>
              <a:t>monitor the prediction results in production and compared with reference values populated during model development</a:t>
            </a:r>
          </a:p>
        </p:txBody>
      </p:sp>
    </p:spTree>
    <p:extLst>
      <p:ext uri="{BB962C8B-B14F-4D97-AF65-F5344CB8AC3E}">
        <p14:creationId xmlns:p14="http://schemas.microsoft.com/office/powerpoint/2010/main" val="23746679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BCA96-C319-38C3-5651-ECDA5D82E8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7B520E-9B26-FDA9-7BD2-09AF98A8CA3D}"/>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Model Performance Monitoring</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23210E82-FDD1-5CBF-8984-B0D24B01898A}"/>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A8A7C89-220C-9D4D-30AE-EDEFBB0C0EE5}"/>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TAXONOMY</a:t>
            </a:r>
          </a:p>
        </p:txBody>
      </p:sp>
      <p:sp>
        <p:nvSpPr>
          <p:cNvPr id="5" name="TextBox 4">
            <a:extLst>
              <a:ext uri="{FF2B5EF4-FFF2-40B4-BE49-F238E27FC236}">
                <a16:creationId xmlns:a16="http://schemas.microsoft.com/office/drawing/2014/main" id="{F4388518-A674-0775-F416-9BBDCA14C732}"/>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43</a:t>
            </a:r>
          </a:p>
        </p:txBody>
      </p:sp>
      <p:sp>
        <p:nvSpPr>
          <p:cNvPr id="6" name="TextBox 5">
            <a:extLst>
              <a:ext uri="{FF2B5EF4-FFF2-40B4-BE49-F238E27FC236}">
                <a16:creationId xmlns:a16="http://schemas.microsoft.com/office/drawing/2014/main" id="{939AB753-584D-02E8-DF02-9B157C4E1245}"/>
              </a:ext>
            </a:extLst>
          </p:cNvPr>
          <p:cNvSpPr txBox="1"/>
          <p:nvPr/>
        </p:nvSpPr>
        <p:spPr>
          <a:xfrm>
            <a:off x="1773936" y="2791772"/>
            <a:ext cx="16622684" cy="707886"/>
          </a:xfrm>
          <a:prstGeom prst="rect">
            <a:avLst/>
          </a:prstGeom>
          <a:noFill/>
        </p:spPr>
        <p:txBody>
          <a:bodyPr wrap="square">
            <a:spAutoFit/>
          </a:bodyPr>
          <a:lstStyle/>
          <a:p>
            <a:r>
              <a:rPr lang="en-ID" sz="4000" b="1" dirty="0">
                <a:solidFill>
                  <a:srgbClr val="0070C0"/>
                </a:solidFill>
              </a:rPr>
              <a:t>Evidently </a:t>
            </a:r>
            <a:r>
              <a:rPr lang="en-US" sz="4000" b="1" dirty="0">
                <a:solidFill>
                  <a:srgbClr val="0070C0"/>
                </a:solidFill>
              </a:rPr>
              <a:t>monitors model performance based on pre-defined metrics</a:t>
            </a:r>
          </a:p>
        </p:txBody>
      </p:sp>
      <p:graphicFrame>
        <p:nvGraphicFramePr>
          <p:cNvPr id="7" name="Table 6">
            <a:extLst>
              <a:ext uri="{FF2B5EF4-FFF2-40B4-BE49-F238E27FC236}">
                <a16:creationId xmlns:a16="http://schemas.microsoft.com/office/drawing/2014/main" id="{75133341-9F6F-0967-482F-D0CB8C1A2740}"/>
              </a:ext>
            </a:extLst>
          </p:cNvPr>
          <p:cNvGraphicFramePr>
            <a:graphicFrameLocks noGrp="1"/>
          </p:cNvGraphicFramePr>
          <p:nvPr>
            <p:extLst>
              <p:ext uri="{D42A27DB-BD31-4B8C-83A1-F6EECF244321}">
                <p14:modId xmlns:p14="http://schemas.microsoft.com/office/powerpoint/2010/main" val="1256279483"/>
              </p:ext>
            </p:extLst>
          </p:nvPr>
        </p:nvGraphicFramePr>
        <p:xfrm>
          <a:off x="2540000" y="4434921"/>
          <a:ext cx="16256000" cy="4955690"/>
        </p:xfrm>
        <a:graphic>
          <a:graphicData uri="http://schemas.openxmlformats.org/drawingml/2006/table">
            <a:tbl>
              <a:tblPr firstRow="1" bandRow="1">
                <a:tableStyleId>{073A0DAA-6AF3-43AB-8588-CEC1D06C72B9}</a:tableStyleId>
              </a:tblPr>
              <a:tblGrid>
                <a:gridCol w="8128000">
                  <a:extLst>
                    <a:ext uri="{9D8B030D-6E8A-4147-A177-3AD203B41FA5}">
                      <a16:colId xmlns:a16="http://schemas.microsoft.com/office/drawing/2014/main" val="836255456"/>
                    </a:ext>
                  </a:extLst>
                </a:gridCol>
                <a:gridCol w="8128000">
                  <a:extLst>
                    <a:ext uri="{9D8B030D-6E8A-4147-A177-3AD203B41FA5}">
                      <a16:colId xmlns:a16="http://schemas.microsoft.com/office/drawing/2014/main" val="2843080002"/>
                    </a:ext>
                  </a:extLst>
                </a:gridCol>
              </a:tblGrid>
              <a:tr h="1023770">
                <a:tc>
                  <a:txBody>
                    <a:bodyPr/>
                    <a:lstStyle/>
                    <a:p>
                      <a:pPr algn="ctr"/>
                      <a:r>
                        <a:rPr lang="en-US" sz="4000" dirty="0"/>
                        <a:t>Classification</a:t>
                      </a:r>
                    </a:p>
                  </a:txBody>
                  <a:tcPr anchor="ctr"/>
                </a:tc>
                <a:tc>
                  <a:txBody>
                    <a:bodyPr/>
                    <a:lstStyle/>
                    <a:p>
                      <a:pPr algn="ctr"/>
                      <a:r>
                        <a:rPr lang="en-US" sz="4000" dirty="0"/>
                        <a:t>Regression</a:t>
                      </a:r>
                    </a:p>
                  </a:txBody>
                  <a:tcPr anchor="ctr"/>
                </a:tc>
                <a:extLst>
                  <a:ext uri="{0D108BD9-81ED-4DB2-BD59-A6C34878D82A}">
                    <a16:rowId xmlns:a16="http://schemas.microsoft.com/office/drawing/2014/main" val="1351396871"/>
                  </a:ext>
                </a:extLst>
              </a:tr>
              <a:tr h="1023770">
                <a:tc>
                  <a:txBody>
                    <a:bodyPr/>
                    <a:lstStyle/>
                    <a:p>
                      <a:pPr algn="ctr"/>
                      <a:r>
                        <a:rPr lang="en-US" sz="3600" dirty="0"/>
                        <a:t>Accuracy</a:t>
                      </a:r>
                    </a:p>
                    <a:p>
                      <a:pPr algn="ctr"/>
                      <a:r>
                        <a:rPr lang="en-US" sz="3600" dirty="0"/>
                        <a:t>Precision</a:t>
                      </a:r>
                    </a:p>
                    <a:p>
                      <a:pPr algn="ctr"/>
                      <a:r>
                        <a:rPr lang="en-US" sz="3600" dirty="0"/>
                        <a:t>Recall</a:t>
                      </a:r>
                    </a:p>
                    <a:p>
                      <a:pPr algn="ctr"/>
                      <a:r>
                        <a:rPr lang="en-US" sz="3600" dirty="0"/>
                        <a:t>F1</a:t>
                      </a:r>
                    </a:p>
                    <a:p>
                      <a:pPr algn="ctr"/>
                      <a:r>
                        <a:rPr lang="en-US" sz="3600" dirty="0"/>
                        <a:t>ROC-AUC</a:t>
                      </a:r>
                    </a:p>
                    <a:p>
                      <a:pPr algn="ctr"/>
                      <a:r>
                        <a:rPr lang="en-US" sz="3600" dirty="0"/>
                        <a:t>confusion matrix</a:t>
                      </a:r>
                    </a:p>
                    <a:p>
                      <a:pPr algn="ctr"/>
                      <a:r>
                        <a:rPr lang="en-US" sz="3600" dirty="0"/>
                        <a:t>calibration-related measures</a:t>
                      </a:r>
                    </a:p>
                  </a:txBody>
                  <a:tcPr anchor="ctr"/>
                </a:tc>
                <a:tc>
                  <a:txBody>
                    <a:bodyPr/>
                    <a:lstStyle/>
                    <a:p>
                      <a:pPr algn="ctr"/>
                      <a:r>
                        <a:rPr lang="en-US" sz="3600" dirty="0"/>
                        <a:t>MAE</a:t>
                      </a:r>
                    </a:p>
                    <a:p>
                      <a:pPr algn="ctr"/>
                      <a:r>
                        <a:rPr lang="en-US" sz="3600" dirty="0"/>
                        <a:t>ME</a:t>
                      </a:r>
                    </a:p>
                    <a:p>
                      <a:pPr algn="ctr"/>
                      <a:r>
                        <a:rPr lang="en-US" sz="3600" dirty="0"/>
                        <a:t>RMSE</a:t>
                      </a:r>
                    </a:p>
                    <a:p>
                      <a:pPr algn="ctr"/>
                      <a:r>
                        <a:rPr lang="en-US" sz="3600" dirty="0"/>
                        <a:t>error distributions</a:t>
                      </a:r>
                    </a:p>
                    <a:p>
                      <a:pPr algn="ctr"/>
                      <a:r>
                        <a:rPr lang="en-US" sz="3600" dirty="0"/>
                        <a:t>error normality</a:t>
                      </a:r>
                    </a:p>
                    <a:p>
                      <a:pPr algn="ctr"/>
                      <a:r>
                        <a:rPr lang="en-US" sz="3600" dirty="0"/>
                        <a:t>error bias</a:t>
                      </a:r>
                    </a:p>
                  </a:txBody>
                  <a:tcPr anchor="ctr"/>
                </a:tc>
                <a:extLst>
                  <a:ext uri="{0D108BD9-81ED-4DB2-BD59-A6C34878D82A}">
                    <a16:rowId xmlns:a16="http://schemas.microsoft.com/office/drawing/2014/main" val="2357913331"/>
                  </a:ext>
                </a:extLst>
              </a:tr>
            </a:tbl>
          </a:graphicData>
        </a:graphic>
      </p:graphicFrame>
      <p:sp>
        <p:nvSpPr>
          <p:cNvPr id="8" name="TextBox 7">
            <a:extLst>
              <a:ext uri="{FF2B5EF4-FFF2-40B4-BE49-F238E27FC236}">
                <a16:creationId xmlns:a16="http://schemas.microsoft.com/office/drawing/2014/main" id="{58D69B3D-6158-90B7-81BC-951F4A873633}"/>
              </a:ext>
            </a:extLst>
          </p:cNvPr>
          <p:cNvSpPr txBox="1"/>
          <p:nvPr/>
        </p:nvSpPr>
        <p:spPr>
          <a:xfrm>
            <a:off x="1773936" y="10924228"/>
            <a:ext cx="20580639" cy="707886"/>
          </a:xfrm>
          <a:prstGeom prst="rect">
            <a:avLst/>
          </a:prstGeom>
          <a:noFill/>
        </p:spPr>
        <p:txBody>
          <a:bodyPr wrap="square">
            <a:spAutoFit/>
          </a:bodyPr>
          <a:lstStyle/>
          <a:p>
            <a:r>
              <a:rPr lang="en-US" sz="4000" b="1" dirty="0">
                <a:solidFill>
                  <a:srgbClr val="0070C0"/>
                </a:solidFill>
              </a:rPr>
              <a:t>The prediction in production is compared with the ground truth to measure model performance</a:t>
            </a:r>
          </a:p>
        </p:txBody>
      </p:sp>
    </p:spTree>
    <p:extLst>
      <p:ext uri="{BB962C8B-B14F-4D97-AF65-F5344CB8AC3E}">
        <p14:creationId xmlns:p14="http://schemas.microsoft.com/office/powerpoint/2010/main" val="31883817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Evidently Sequence for Running Monitoring</a:t>
            </a:r>
            <a:endParaRPr sz="4400" b="1" i="0" dirty="0">
              <a:solidFill>
                <a:srgbClr val="1B2A4A"/>
              </a:solidFill>
              <a:latin typeface="Liter"/>
            </a:endParaRP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OBSERVABILITY</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44</a:t>
            </a:r>
          </a:p>
        </p:txBody>
      </p:sp>
      <p:pic>
        <p:nvPicPr>
          <p:cNvPr id="22" name="Picture 21">
            <a:extLst>
              <a:ext uri="{FF2B5EF4-FFF2-40B4-BE49-F238E27FC236}">
                <a16:creationId xmlns:a16="http://schemas.microsoft.com/office/drawing/2014/main" id="{B9DA4EB3-9135-D35B-64F4-7E66A4AC5737}"/>
              </a:ext>
            </a:extLst>
          </p:cNvPr>
          <p:cNvPicPr>
            <a:picLocks noChangeAspect="1"/>
          </p:cNvPicPr>
          <p:nvPr/>
        </p:nvPicPr>
        <p:blipFill>
          <a:blip r:embed="rId3"/>
          <a:stretch>
            <a:fillRect/>
          </a:stretch>
        </p:blipFill>
        <p:spPr>
          <a:xfrm>
            <a:off x="1014983" y="2459736"/>
            <a:ext cx="22249967" cy="2750681"/>
          </a:xfrm>
          <a:prstGeom prst="rect">
            <a:avLst/>
          </a:prstGeom>
        </p:spPr>
      </p:pic>
      <p:pic>
        <p:nvPicPr>
          <p:cNvPr id="24" name="Picture 23" descr="A screen shot of a computer program&#10;&#10;AI-generated content may be incorrect.">
            <a:extLst>
              <a:ext uri="{FF2B5EF4-FFF2-40B4-BE49-F238E27FC236}">
                <a16:creationId xmlns:a16="http://schemas.microsoft.com/office/drawing/2014/main" id="{3B8F76B1-FBFE-65A2-BE92-968922A0CB14}"/>
              </a:ext>
            </a:extLst>
          </p:cNvPr>
          <p:cNvPicPr>
            <a:picLocks noChangeAspect="1"/>
          </p:cNvPicPr>
          <p:nvPr/>
        </p:nvPicPr>
        <p:blipFill>
          <a:blip r:embed="rId4"/>
          <a:stretch>
            <a:fillRect/>
          </a:stretch>
        </p:blipFill>
        <p:spPr>
          <a:xfrm>
            <a:off x="904146" y="5590534"/>
            <a:ext cx="22430079" cy="3617752"/>
          </a:xfrm>
          <a:prstGeom prst="rect">
            <a:avLst/>
          </a:prstGeom>
        </p:spPr>
      </p:pic>
      <p:pic>
        <p:nvPicPr>
          <p:cNvPr id="26" name="Picture 25" descr="A computer screen shot of a black background&#10;&#10;AI-generated content may be incorrect.">
            <a:extLst>
              <a:ext uri="{FF2B5EF4-FFF2-40B4-BE49-F238E27FC236}">
                <a16:creationId xmlns:a16="http://schemas.microsoft.com/office/drawing/2014/main" id="{8DF5BDA9-209E-155D-BE8C-EDF0A38F2F63}"/>
              </a:ext>
            </a:extLst>
          </p:cNvPr>
          <p:cNvPicPr>
            <a:picLocks noChangeAspect="1"/>
          </p:cNvPicPr>
          <p:nvPr/>
        </p:nvPicPr>
        <p:blipFill>
          <a:blip r:embed="rId5"/>
          <a:stretch>
            <a:fillRect/>
          </a:stretch>
        </p:blipFill>
        <p:spPr>
          <a:xfrm>
            <a:off x="904146" y="9555472"/>
            <a:ext cx="22504494" cy="366131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dirty="0">
                <a:solidFill>
                  <a:srgbClr val="1B2A4A"/>
                </a:solidFill>
                <a:latin typeface="Liter"/>
              </a:rPr>
              <a:t>Calculating Drift</a:t>
            </a:r>
            <a:endParaRPr sz="4400" b="1" i="0" dirty="0">
              <a:solidFill>
                <a:srgbClr val="1B2A4A"/>
              </a:solidFill>
              <a:latin typeface="Liter"/>
            </a:endParaRP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46</a:t>
            </a:r>
          </a:p>
        </p:txBody>
      </p:sp>
      <p:pic>
        <p:nvPicPr>
          <p:cNvPr id="13" name="Picture 12" descr="A screen shot of a computer program&#10;&#10;AI-generated content may be incorrect.">
            <a:extLst>
              <a:ext uri="{FF2B5EF4-FFF2-40B4-BE49-F238E27FC236}">
                <a16:creationId xmlns:a16="http://schemas.microsoft.com/office/drawing/2014/main" id="{B27A3E6D-686A-6029-265D-7C6A3D7CC004}"/>
              </a:ext>
            </a:extLst>
          </p:cNvPr>
          <p:cNvPicPr>
            <a:picLocks noChangeAspect="1"/>
          </p:cNvPicPr>
          <p:nvPr/>
        </p:nvPicPr>
        <p:blipFill>
          <a:blip r:embed="rId2"/>
          <a:stretch>
            <a:fillRect/>
          </a:stretch>
        </p:blipFill>
        <p:spPr>
          <a:xfrm>
            <a:off x="975360" y="1928667"/>
            <a:ext cx="20625816" cy="1139306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Storing Report to Local vs Workspace</a:t>
            </a:r>
            <a:endParaRPr sz="4400" b="1" i="0" dirty="0">
              <a:solidFill>
                <a:srgbClr val="1B2A4A"/>
              </a:solidFill>
              <a:latin typeface="Liter"/>
            </a:endParaRP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HANDS-ON 4</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47</a:t>
            </a:r>
          </a:p>
        </p:txBody>
      </p:sp>
      <p:pic>
        <p:nvPicPr>
          <p:cNvPr id="22" name="Picture 21" descr="A computer screen shot of text&#10;&#10;AI-generated content may be incorrect.">
            <a:extLst>
              <a:ext uri="{FF2B5EF4-FFF2-40B4-BE49-F238E27FC236}">
                <a16:creationId xmlns:a16="http://schemas.microsoft.com/office/drawing/2014/main" id="{519AA23F-17E6-8208-88F3-3E85C7C31887}"/>
              </a:ext>
            </a:extLst>
          </p:cNvPr>
          <p:cNvPicPr>
            <a:picLocks noChangeAspect="1"/>
          </p:cNvPicPr>
          <p:nvPr/>
        </p:nvPicPr>
        <p:blipFill>
          <a:blip r:embed="rId3"/>
          <a:stretch>
            <a:fillRect/>
          </a:stretch>
        </p:blipFill>
        <p:spPr>
          <a:xfrm>
            <a:off x="922651" y="5599511"/>
            <a:ext cx="22066689" cy="5778060"/>
          </a:xfrm>
          <a:prstGeom prst="rect">
            <a:avLst/>
          </a:prstGeom>
        </p:spPr>
      </p:pic>
      <p:pic>
        <p:nvPicPr>
          <p:cNvPr id="24" name="Picture 23">
            <a:extLst>
              <a:ext uri="{FF2B5EF4-FFF2-40B4-BE49-F238E27FC236}">
                <a16:creationId xmlns:a16="http://schemas.microsoft.com/office/drawing/2014/main" id="{6B7A2B2C-F674-BCBA-4F4D-126AEFEF7A0E}"/>
              </a:ext>
            </a:extLst>
          </p:cNvPr>
          <p:cNvPicPr>
            <a:picLocks noChangeAspect="1"/>
          </p:cNvPicPr>
          <p:nvPr/>
        </p:nvPicPr>
        <p:blipFill>
          <a:blip r:embed="rId4"/>
          <a:stretch>
            <a:fillRect/>
          </a:stretch>
        </p:blipFill>
        <p:spPr>
          <a:xfrm>
            <a:off x="1014984" y="2815833"/>
            <a:ext cx="21882025" cy="210089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The Evidently Drift Report</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REAL SCREENSHOT</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48</a:t>
            </a:r>
          </a:p>
        </p:txBody>
      </p:sp>
      <p:pic>
        <p:nvPicPr>
          <p:cNvPr id="6" name="Picture 5" descr="crop_ev_summary.png"/>
          <p:cNvPicPr>
            <a:picLocks noChangeAspect="1"/>
          </p:cNvPicPr>
          <p:nvPr/>
        </p:nvPicPr>
        <p:blipFill>
          <a:blip r:embed="rId3"/>
          <a:stretch>
            <a:fillRect/>
          </a:stretch>
        </p:blipFill>
        <p:spPr>
          <a:xfrm>
            <a:off x="2561336" y="2902526"/>
            <a:ext cx="19255232" cy="4206240"/>
          </a:xfrm>
          <a:prstGeom prst="rect">
            <a:avLst/>
          </a:prstGeom>
          <a:ln w="19050">
            <a:solidFill>
              <a:srgbClr val="E0DCD3"/>
            </a:solidFill>
          </a:ln>
        </p:spPr>
      </p:pic>
      <p:pic>
        <p:nvPicPr>
          <p:cNvPr id="7" name="Picture 6" descr="crop_ev_rows.png"/>
          <p:cNvPicPr>
            <a:picLocks noChangeAspect="1"/>
          </p:cNvPicPr>
          <p:nvPr/>
        </p:nvPicPr>
        <p:blipFill>
          <a:blip r:embed="rId4"/>
          <a:stretch>
            <a:fillRect/>
          </a:stretch>
        </p:blipFill>
        <p:spPr>
          <a:xfrm>
            <a:off x="1014984" y="7612529"/>
            <a:ext cx="22347936" cy="4936073"/>
          </a:xfrm>
          <a:prstGeom prst="rect">
            <a:avLst/>
          </a:prstGeom>
          <a:ln w="19050">
            <a:solidFill>
              <a:srgbClr val="E0DCD3"/>
            </a:solidFill>
          </a:ln>
        </p:spPr>
      </p:pic>
      <p:sp>
        <p:nvSpPr>
          <p:cNvPr id="8" name="TextBox 7">
            <a:extLst>
              <a:ext uri="{FF2B5EF4-FFF2-40B4-BE49-F238E27FC236}">
                <a16:creationId xmlns:a16="http://schemas.microsoft.com/office/drawing/2014/main" id="{D9F231FD-AD28-6440-B6BC-4646A19F098E}"/>
              </a:ext>
            </a:extLst>
          </p:cNvPr>
          <p:cNvSpPr txBox="1"/>
          <p:nvPr/>
        </p:nvSpPr>
        <p:spPr>
          <a:xfrm>
            <a:off x="1014984" y="2010837"/>
            <a:ext cx="19655998" cy="707886"/>
          </a:xfrm>
          <a:prstGeom prst="rect">
            <a:avLst/>
          </a:prstGeom>
          <a:noFill/>
        </p:spPr>
        <p:txBody>
          <a:bodyPr wrap="square">
            <a:spAutoFit/>
          </a:bodyPr>
          <a:lstStyle/>
          <a:p>
            <a:r>
              <a:rPr lang="en-US" sz="4000" dirty="0"/>
              <a:t>Check </a:t>
            </a:r>
            <a:r>
              <a:rPr lang="en-US" sz="4000" dirty="0" err="1"/>
              <a:t>drift_report.html</a:t>
            </a:r>
            <a:r>
              <a:rPr lang="en-US" sz="4000" dirty="0"/>
              <a:t> or execute </a:t>
            </a:r>
            <a:r>
              <a:rPr lang="en-US" sz="4000" dirty="0" err="1"/>
              <a:t>run_evidently_service.sh</a:t>
            </a:r>
            <a:r>
              <a:rPr lang="en-US" sz="4000" dirty="0"/>
              <a:t> </a:t>
            </a:r>
            <a:r>
              <a:rPr lang="en-US" sz="4000" dirty="0">
                <a:sym typeface="Wingdings" pitchFamily="2" charset="2"/>
              </a:rPr>
              <a:t> localhost:9002</a:t>
            </a:r>
            <a:r>
              <a:rPr lang="en-US" sz="4000" dirty="0"/>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2AFC9-5043-6D1F-F2A5-DEECD0A786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4886D5D-E25D-D509-2BC6-86815CBD9E5F}"/>
              </a:ext>
            </a:extLst>
          </p:cNvPr>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The Evidently Drift Report</a:t>
            </a:r>
          </a:p>
        </p:txBody>
      </p:sp>
      <p:sp>
        <p:nvSpPr>
          <p:cNvPr id="3" name="Rectangle 2">
            <a:extLst>
              <a:ext uri="{FF2B5EF4-FFF2-40B4-BE49-F238E27FC236}">
                <a16:creationId xmlns:a16="http://schemas.microsoft.com/office/drawing/2014/main" id="{B3AAD6AC-3F12-9476-F31D-18496D62629C}"/>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A2ECD84-291E-50A4-20E1-8D66997F2141}"/>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REAL SCREENSHOT</a:t>
            </a:r>
          </a:p>
        </p:txBody>
      </p:sp>
      <p:sp>
        <p:nvSpPr>
          <p:cNvPr id="5" name="TextBox 4">
            <a:extLst>
              <a:ext uri="{FF2B5EF4-FFF2-40B4-BE49-F238E27FC236}">
                <a16:creationId xmlns:a16="http://schemas.microsoft.com/office/drawing/2014/main" id="{F8B80154-E296-3BD9-D4B9-16E1C8A843BE}"/>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48</a:t>
            </a:r>
          </a:p>
        </p:txBody>
      </p:sp>
      <p:sp>
        <p:nvSpPr>
          <p:cNvPr id="8" name="TextBox 7">
            <a:extLst>
              <a:ext uri="{FF2B5EF4-FFF2-40B4-BE49-F238E27FC236}">
                <a16:creationId xmlns:a16="http://schemas.microsoft.com/office/drawing/2014/main" id="{CBEB52A1-248B-62E6-F493-B507E850AFF4}"/>
              </a:ext>
            </a:extLst>
          </p:cNvPr>
          <p:cNvSpPr txBox="1"/>
          <p:nvPr/>
        </p:nvSpPr>
        <p:spPr>
          <a:xfrm>
            <a:off x="1014984" y="2010837"/>
            <a:ext cx="19655998" cy="707886"/>
          </a:xfrm>
          <a:prstGeom prst="rect">
            <a:avLst/>
          </a:prstGeom>
          <a:noFill/>
        </p:spPr>
        <p:txBody>
          <a:bodyPr wrap="square">
            <a:spAutoFit/>
          </a:bodyPr>
          <a:lstStyle/>
          <a:p>
            <a:r>
              <a:rPr lang="en-US" sz="4000" dirty="0"/>
              <a:t>Check </a:t>
            </a:r>
            <a:r>
              <a:rPr lang="en-US" sz="4000" dirty="0" err="1"/>
              <a:t>drift_report.html</a:t>
            </a:r>
            <a:r>
              <a:rPr lang="en-US" sz="4000" dirty="0"/>
              <a:t> or execute </a:t>
            </a:r>
            <a:r>
              <a:rPr lang="en-US" sz="4000" dirty="0" err="1"/>
              <a:t>run_evidently_service.sh</a:t>
            </a:r>
            <a:r>
              <a:rPr lang="en-US" sz="4000" dirty="0"/>
              <a:t> </a:t>
            </a:r>
            <a:r>
              <a:rPr lang="en-US" sz="4000" dirty="0">
                <a:sym typeface="Wingdings" pitchFamily="2" charset="2"/>
              </a:rPr>
              <a:t> localhost:9002</a:t>
            </a:r>
            <a:r>
              <a:rPr lang="en-US" sz="4000" dirty="0"/>
              <a:t> </a:t>
            </a:r>
          </a:p>
        </p:txBody>
      </p:sp>
      <p:pic>
        <p:nvPicPr>
          <p:cNvPr id="10" name="Picture 9" descr="A screenshot of a graph&#10;&#10;AI-generated content may be incorrect.">
            <a:extLst>
              <a:ext uri="{FF2B5EF4-FFF2-40B4-BE49-F238E27FC236}">
                <a16:creationId xmlns:a16="http://schemas.microsoft.com/office/drawing/2014/main" id="{3B5A0189-111D-DEAB-99B3-79E6B0F4C9C5}"/>
              </a:ext>
            </a:extLst>
          </p:cNvPr>
          <p:cNvPicPr>
            <a:picLocks noChangeAspect="1"/>
          </p:cNvPicPr>
          <p:nvPr/>
        </p:nvPicPr>
        <p:blipFill>
          <a:blip r:embed="rId3"/>
          <a:stretch>
            <a:fillRect/>
          </a:stretch>
        </p:blipFill>
        <p:spPr>
          <a:xfrm>
            <a:off x="906945" y="3202512"/>
            <a:ext cx="22570110" cy="8502651"/>
          </a:xfrm>
          <a:prstGeom prst="rect">
            <a:avLst/>
          </a:prstGeom>
        </p:spPr>
      </p:pic>
    </p:spTree>
    <p:extLst>
      <p:ext uri="{BB962C8B-B14F-4D97-AF65-F5344CB8AC3E}">
        <p14:creationId xmlns:p14="http://schemas.microsoft.com/office/powerpoint/2010/main" val="17190175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90EE-5925-9083-6FF7-449AB5E5738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D68B21-E082-22EF-1952-41F9B4D6CDF8}"/>
              </a:ext>
            </a:extLst>
          </p:cNvPr>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The Evidently Drift Report</a:t>
            </a:r>
          </a:p>
        </p:txBody>
      </p:sp>
      <p:sp>
        <p:nvSpPr>
          <p:cNvPr id="3" name="Rectangle 2">
            <a:extLst>
              <a:ext uri="{FF2B5EF4-FFF2-40B4-BE49-F238E27FC236}">
                <a16:creationId xmlns:a16="http://schemas.microsoft.com/office/drawing/2014/main" id="{CD60D1FE-592E-AA66-8887-29E4FBB3F5F0}"/>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2EA1C03-22CF-FFAE-D27A-0DFFAE026A5A}"/>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REAL SCREENSHOT</a:t>
            </a:r>
          </a:p>
        </p:txBody>
      </p:sp>
      <p:sp>
        <p:nvSpPr>
          <p:cNvPr id="5" name="TextBox 4">
            <a:extLst>
              <a:ext uri="{FF2B5EF4-FFF2-40B4-BE49-F238E27FC236}">
                <a16:creationId xmlns:a16="http://schemas.microsoft.com/office/drawing/2014/main" id="{320CDC9B-8271-7924-3BFA-9049397905DF}"/>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48</a:t>
            </a:r>
          </a:p>
        </p:txBody>
      </p:sp>
      <p:sp>
        <p:nvSpPr>
          <p:cNvPr id="8" name="TextBox 7">
            <a:extLst>
              <a:ext uri="{FF2B5EF4-FFF2-40B4-BE49-F238E27FC236}">
                <a16:creationId xmlns:a16="http://schemas.microsoft.com/office/drawing/2014/main" id="{6FAA105C-78D5-4DA0-F5CF-391947853393}"/>
              </a:ext>
            </a:extLst>
          </p:cNvPr>
          <p:cNvSpPr txBox="1"/>
          <p:nvPr/>
        </p:nvSpPr>
        <p:spPr>
          <a:xfrm>
            <a:off x="1014984" y="2010837"/>
            <a:ext cx="19655998" cy="707886"/>
          </a:xfrm>
          <a:prstGeom prst="rect">
            <a:avLst/>
          </a:prstGeom>
          <a:noFill/>
        </p:spPr>
        <p:txBody>
          <a:bodyPr wrap="square">
            <a:spAutoFit/>
          </a:bodyPr>
          <a:lstStyle/>
          <a:p>
            <a:r>
              <a:rPr lang="en-US" sz="4000" dirty="0"/>
              <a:t>Check </a:t>
            </a:r>
            <a:r>
              <a:rPr lang="en-US" sz="4000" dirty="0" err="1"/>
              <a:t>drift_report.html</a:t>
            </a:r>
            <a:r>
              <a:rPr lang="en-US" sz="4000" dirty="0"/>
              <a:t> or execute </a:t>
            </a:r>
            <a:r>
              <a:rPr lang="en-US" sz="4000" dirty="0" err="1"/>
              <a:t>run_evidently_service.sh</a:t>
            </a:r>
            <a:r>
              <a:rPr lang="en-US" sz="4000" dirty="0"/>
              <a:t> </a:t>
            </a:r>
            <a:r>
              <a:rPr lang="en-US" sz="4000" dirty="0">
                <a:sym typeface="Wingdings" pitchFamily="2" charset="2"/>
              </a:rPr>
              <a:t> localhost:9002</a:t>
            </a:r>
            <a:r>
              <a:rPr lang="en-US" sz="4000" dirty="0"/>
              <a:t> </a:t>
            </a:r>
          </a:p>
        </p:txBody>
      </p:sp>
      <p:pic>
        <p:nvPicPr>
          <p:cNvPr id="7" name="Picture 6" descr="A screenshot of a graph&#10;&#10;AI-generated content may be incorrect.">
            <a:extLst>
              <a:ext uri="{FF2B5EF4-FFF2-40B4-BE49-F238E27FC236}">
                <a16:creationId xmlns:a16="http://schemas.microsoft.com/office/drawing/2014/main" id="{EC19534E-5CA5-A17E-A674-EA2C3BAC12BA}"/>
              </a:ext>
            </a:extLst>
          </p:cNvPr>
          <p:cNvPicPr>
            <a:picLocks noChangeAspect="1"/>
          </p:cNvPicPr>
          <p:nvPr/>
        </p:nvPicPr>
        <p:blipFill>
          <a:blip r:embed="rId3"/>
          <a:stretch>
            <a:fillRect/>
          </a:stretch>
        </p:blipFill>
        <p:spPr>
          <a:xfrm>
            <a:off x="1014984" y="3257375"/>
            <a:ext cx="22204767" cy="8502651"/>
          </a:xfrm>
          <a:prstGeom prst="rect">
            <a:avLst/>
          </a:prstGeom>
        </p:spPr>
      </p:pic>
    </p:spTree>
    <p:extLst>
      <p:ext uri="{BB962C8B-B14F-4D97-AF65-F5344CB8AC3E}">
        <p14:creationId xmlns:p14="http://schemas.microsoft.com/office/powerpoint/2010/main" val="792946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C6BB5-5800-9632-1C3E-FF9660067E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0D242E-B508-686A-C185-37B8A58ABA47}"/>
              </a:ext>
            </a:extLst>
          </p:cNvPr>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The Evidently Drift Report</a:t>
            </a:r>
          </a:p>
        </p:txBody>
      </p:sp>
      <p:sp>
        <p:nvSpPr>
          <p:cNvPr id="3" name="Rectangle 2">
            <a:extLst>
              <a:ext uri="{FF2B5EF4-FFF2-40B4-BE49-F238E27FC236}">
                <a16:creationId xmlns:a16="http://schemas.microsoft.com/office/drawing/2014/main" id="{FEDE339B-3252-7C6F-2122-B3BAA609295C}"/>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B9D0818-8E50-BBD5-BBFB-F68B80ECA4EB}"/>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REAL SCREENSHOT</a:t>
            </a:r>
          </a:p>
        </p:txBody>
      </p:sp>
      <p:sp>
        <p:nvSpPr>
          <p:cNvPr id="5" name="TextBox 4">
            <a:extLst>
              <a:ext uri="{FF2B5EF4-FFF2-40B4-BE49-F238E27FC236}">
                <a16:creationId xmlns:a16="http://schemas.microsoft.com/office/drawing/2014/main" id="{2692BFAF-0FDC-01B8-DC13-1A68CCC45842}"/>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48</a:t>
            </a:r>
          </a:p>
        </p:txBody>
      </p:sp>
      <p:sp>
        <p:nvSpPr>
          <p:cNvPr id="8" name="TextBox 7">
            <a:extLst>
              <a:ext uri="{FF2B5EF4-FFF2-40B4-BE49-F238E27FC236}">
                <a16:creationId xmlns:a16="http://schemas.microsoft.com/office/drawing/2014/main" id="{63BAFD7E-E856-A104-8FA0-3F66ABB8446E}"/>
              </a:ext>
            </a:extLst>
          </p:cNvPr>
          <p:cNvSpPr txBox="1"/>
          <p:nvPr/>
        </p:nvSpPr>
        <p:spPr>
          <a:xfrm>
            <a:off x="1014984" y="2010837"/>
            <a:ext cx="19655998" cy="707886"/>
          </a:xfrm>
          <a:prstGeom prst="rect">
            <a:avLst/>
          </a:prstGeom>
          <a:noFill/>
        </p:spPr>
        <p:txBody>
          <a:bodyPr wrap="square">
            <a:spAutoFit/>
          </a:bodyPr>
          <a:lstStyle/>
          <a:p>
            <a:r>
              <a:rPr lang="en-US" sz="4000" dirty="0"/>
              <a:t>Check </a:t>
            </a:r>
            <a:r>
              <a:rPr lang="en-US" sz="4000" dirty="0" err="1"/>
              <a:t>drift_report.html</a:t>
            </a:r>
            <a:r>
              <a:rPr lang="en-US" sz="4000" dirty="0"/>
              <a:t> or execute </a:t>
            </a:r>
            <a:r>
              <a:rPr lang="en-US" sz="4000" dirty="0" err="1"/>
              <a:t>run_evidently_service.sh</a:t>
            </a:r>
            <a:r>
              <a:rPr lang="en-US" sz="4000" dirty="0"/>
              <a:t> </a:t>
            </a:r>
            <a:r>
              <a:rPr lang="en-US" sz="4000" dirty="0">
                <a:sym typeface="Wingdings" pitchFamily="2" charset="2"/>
              </a:rPr>
              <a:t> localhost:9002</a:t>
            </a:r>
            <a:r>
              <a:rPr lang="en-US" sz="4000" dirty="0"/>
              <a:t> </a:t>
            </a:r>
          </a:p>
        </p:txBody>
      </p:sp>
      <p:pic>
        <p:nvPicPr>
          <p:cNvPr id="11" name="Picture 10">
            <a:extLst>
              <a:ext uri="{FF2B5EF4-FFF2-40B4-BE49-F238E27FC236}">
                <a16:creationId xmlns:a16="http://schemas.microsoft.com/office/drawing/2014/main" id="{116B7A01-1EB2-10F7-6742-A3DCBBDB7BCA}"/>
              </a:ext>
            </a:extLst>
          </p:cNvPr>
          <p:cNvPicPr>
            <a:picLocks noChangeAspect="1"/>
          </p:cNvPicPr>
          <p:nvPr/>
        </p:nvPicPr>
        <p:blipFill>
          <a:blip r:embed="rId3"/>
          <a:stretch>
            <a:fillRect/>
          </a:stretch>
        </p:blipFill>
        <p:spPr>
          <a:xfrm>
            <a:off x="1347493" y="2845896"/>
            <a:ext cx="21179998" cy="10458715"/>
          </a:xfrm>
          <a:prstGeom prst="rect">
            <a:avLst/>
          </a:prstGeom>
        </p:spPr>
      </p:pic>
    </p:spTree>
    <p:extLst>
      <p:ext uri="{BB962C8B-B14F-4D97-AF65-F5344CB8AC3E}">
        <p14:creationId xmlns:p14="http://schemas.microsoft.com/office/powerpoint/2010/main" val="18094780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Reading the Results</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INTERPRETATION</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49</a:t>
            </a:r>
          </a:p>
        </p:txBody>
      </p:sp>
      <p:sp>
        <p:nvSpPr>
          <p:cNvPr id="6" name="Rounded Rectangle 5"/>
          <p:cNvSpPr/>
          <p:nvPr/>
        </p:nvSpPr>
        <p:spPr>
          <a:xfrm>
            <a:off x="1014984" y="251460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63624"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01</a:t>
            </a:r>
          </a:p>
        </p:txBody>
      </p:sp>
      <p:sp>
        <p:nvSpPr>
          <p:cNvPr id="8" name="TextBox 7"/>
          <p:cNvSpPr txBox="1"/>
          <p:nvPr/>
        </p:nvSpPr>
        <p:spPr>
          <a:xfrm>
            <a:off x="2615184" y="292608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3 of 8 columns drifted</a:t>
            </a:r>
          </a:p>
        </p:txBody>
      </p:sp>
      <p:sp>
        <p:nvSpPr>
          <p:cNvPr id="9" name="TextBox 8"/>
          <p:cNvSpPr txBox="1"/>
          <p:nvPr/>
        </p:nvSpPr>
        <p:spPr>
          <a:xfrm>
            <a:off x="1563624" y="393192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income, num_claims, credit_score — K-S p-value = 0, exactly the three features that were shifted.</a:t>
            </a:r>
          </a:p>
        </p:txBody>
      </p:sp>
      <p:sp>
        <p:nvSpPr>
          <p:cNvPr id="10" name="Rounded Rectangle 9"/>
          <p:cNvSpPr/>
          <p:nvPr/>
        </p:nvSpPr>
        <p:spPr>
          <a:xfrm>
            <a:off x="12394692" y="251460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943332"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02</a:t>
            </a:r>
          </a:p>
        </p:txBody>
      </p:sp>
      <p:sp>
        <p:nvSpPr>
          <p:cNvPr id="12" name="TextBox 11"/>
          <p:cNvSpPr txBox="1"/>
          <p:nvPr/>
        </p:nvSpPr>
        <p:spPr>
          <a:xfrm>
            <a:off x="13994892" y="292608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Share 0.375 &lt; 0.5</a:t>
            </a:r>
          </a:p>
        </p:txBody>
      </p:sp>
      <p:sp>
        <p:nvSpPr>
          <p:cNvPr id="13" name="TextBox 12"/>
          <p:cNvSpPr txBox="1"/>
          <p:nvPr/>
        </p:nvSpPr>
        <p:spPr>
          <a:xfrm>
            <a:off x="12943332" y="393192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Below Evidently's default threshold, so the overall status reads "Dataset Drift NOT detected".</a:t>
            </a:r>
          </a:p>
        </p:txBody>
      </p:sp>
      <p:sp>
        <p:nvSpPr>
          <p:cNvPr id="14" name="Rounded Rectangle 13"/>
          <p:cNvSpPr/>
          <p:nvPr/>
        </p:nvSpPr>
        <p:spPr>
          <a:xfrm>
            <a:off x="1014984" y="770382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63624" y="811530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03</a:t>
            </a:r>
          </a:p>
        </p:txBody>
      </p:sp>
      <p:sp>
        <p:nvSpPr>
          <p:cNvPr id="16" name="TextBox 15"/>
          <p:cNvSpPr txBox="1"/>
          <p:nvPr/>
        </p:nvSpPr>
        <p:spPr>
          <a:xfrm>
            <a:off x="2615184" y="811530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5 stable columns</a:t>
            </a:r>
          </a:p>
        </p:txBody>
      </p:sp>
      <p:sp>
        <p:nvSpPr>
          <p:cNvPr id="17" name="TextBox 16"/>
          <p:cNvSpPr txBox="1"/>
          <p:nvPr/>
        </p:nvSpPr>
        <p:spPr>
          <a:xfrm>
            <a:off x="1563624" y="912114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age, bmi, policy_value, risk_score, tenure_months were not shifted — p-value = 1.</a:t>
            </a:r>
          </a:p>
        </p:txBody>
      </p:sp>
      <p:sp>
        <p:nvSpPr>
          <p:cNvPr id="18" name="Rounded Rectangle 17"/>
          <p:cNvSpPr/>
          <p:nvPr/>
        </p:nvSpPr>
        <p:spPr>
          <a:xfrm>
            <a:off x="12394692" y="770382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943332" y="811530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04</a:t>
            </a:r>
          </a:p>
        </p:txBody>
      </p:sp>
      <p:sp>
        <p:nvSpPr>
          <p:cNvPr id="20" name="TextBox 19"/>
          <p:cNvSpPr txBox="1"/>
          <p:nvPr/>
        </p:nvSpPr>
        <p:spPr>
          <a:xfrm>
            <a:off x="13994892" y="811530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Implication</a:t>
            </a:r>
          </a:p>
        </p:txBody>
      </p:sp>
      <p:sp>
        <p:nvSpPr>
          <p:cNvPr id="21" name="TextBox 20"/>
          <p:cNvSpPr txBox="1"/>
          <p:nvPr/>
        </p:nvSpPr>
        <p:spPr>
          <a:xfrm>
            <a:off x="12943332" y="912114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The aggregate status can mislead. A retraining policy should also watch key features individually.</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Defining a Retraining Policy</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OPERATING POLICY</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50</a:t>
            </a:r>
          </a:p>
        </p:txBody>
      </p:sp>
      <p:sp>
        <p:nvSpPr>
          <p:cNvPr id="6" name="TextBox 5"/>
          <p:cNvSpPr txBox="1"/>
          <p:nvPr/>
        </p:nvSpPr>
        <p:spPr>
          <a:xfrm>
            <a:off x="1014984" y="2514600"/>
            <a:ext cx="1005840" cy="1371600"/>
          </a:xfrm>
          <a:prstGeom prst="rect">
            <a:avLst/>
          </a:prstGeom>
          <a:noFill/>
        </p:spPr>
        <p:txBody>
          <a:bodyPr wrap="square" lIns="0" tIns="0" rIns="0" bIns="0" anchor="ctr">
            <a:spAutoFit/>
          </a:bodyPr>
          <a:lstStyle/>
          <a:p>
            <a:pPr algn="l">
              <a:lnSpc>
                <a:spcPct val="120000"/>
              </a:lnSpc>
              <a:spcAft>
                <a:spcPts val="600"/>
              </a:spcAft>
            </a:pPr>
            <a:r>
              <a:rPr sz="4000" b="1" i="0">
                <a:solidFill>
                  <a:srgbClr val="D4A03A"/>
                </a:solidFill>
                <a:latin typeface="Liter"/>
              </a:rPr>
              <a:t>01</a:t>
            </a:r>
          </a:p>
        </p:txBody>
      </p:sp>
      <p:sp>
        <p:nvSpPr>
          <p:cNvPr id="7" name="Rounded Rectangle 6"/>
          <p:cNvSpPr/>
          <p:nvPr/>
        </p:nvSpPr>
        <p:spPr>
          <a:xfrm>
            <a:off x="2157984" y="2514600"/>
            <a:ext cx="21204936" cy="1371600"/>
          </a:xfrm>
          <a:prstGeom prst="roundRect">
            <a:avLst>
              <a:gd name="adj" fmla="val 800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15184" y="2514600"/>
            <a:ext cx="20336256" cy="1371600"/>
          </a:xfrm>
          <a:prstGeom prst="rect">
            <a:avLst/>
          </a:prstGeom>
          <a:noFill/>
        </p:spPr>
        <p:txBody>
          <a:bodyPr wrap="square" lIns="0" tIns="0" rIns="0" bIns="0" anchor="ctr">
            <a:spAutoFit/>
          </a:bodyPr>
          <a:lstStyle/>
          <a:p>
            <a:pPr algn="l">
              <a:lnSpc>
                <a:spcPct val="120000"/>
              </a:lnSpc>
              <a:spcAft>
                <a:spcPts val="600"/>
              </a:spcAft>
            </a:pPr>
            <a:r>
              <a:rPr sz="3100" b="0" i="0">
                <a:solidFill>
                  <a:srgbClr val="1E293B"/>
                </a:solidFill>
                <a:latin typeface="Quattrocento Sans"/>
              </a:rPr>
              <a:t>Set a threshold, e.g. retrain if ≥30% of columns drift for 3 consecutive days</a:t>
            </a:r>
          </a:p>
        </p:txBody>
      </p:sp>
      <p:sp>
        <p:nvSpPr>
          <p:cNvPr id="9" name="TextBox 8"/>
          <p:cNvSpPr txBox="1"/>
          <p:nvPr/>
        </p:nvSpPr>
        <p:spPr>
          <a:xfrm>
            <a:off x="1014984" y="4114800"/>
            <a:ext cx="1005840" cy="1371600"/>
          </a:xfrm>
          <a:prstGeom prst="rect">
            <a:avLst/>
          </a:prstGeom>
          <a:noFill/>
        </p:spPr>
        <p:txBody>
          <a:bodyPr wrap="square" lIns="0" tIns="0" rIns="0" bIns="0" anchor="ctr">
            <a:spAutoFit/>
          </a:bodyPr>
          <a:lstStyle/>
          <a:p>
            <a:pPr algn="l">
              <a:lnSpc>
                <a:spcPct val="120000"/>
              </a:lnSpc>
              <a:spcAft>
                <a:spcPts val="600"/>
              </a:spcAft>
            </a:pPr>
            <a:r>
              <a:rPr sz="4000" b="1" i="0">
                <a:solidFill>
                  <a:srgbClr val="D4A03A"/>
                </a:solidFill>
                <a:latin typeface="Liter"/>
              </a:rPr>
              <a:t>02</a:t>
            </a:r>
          </a:p>
        </p:txBody>
      </p:sp>
      <p:sp>
        <p:nvSpPr>
          <p:cNvPr id="10" name="Rounded Rectangle 9"/>
          <p:cNvSpPr/>
          <p:nvPr/>
        </p:nvSpPr>
        <p:spPr>
          <a:xfrm>
            <a:off x="2157984" y="4114800"/>
            <a:ext cx="21204936" cy="1371600"/>
          </a:xfrm>
          <a:prstGeom prst="roundRect">
            <a:avLst>
              <a:gd name="adj" fmla="val 800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15184" y="4114800"/>
            <a:ext cx="20336256" cy="1371600"/>
          </a:xfrm>
          <a:prstGeom prst="rect">
            <a:avLst/>
          </a:prstGeom>
          <a:noFill/>
        </p:spPr>
        <p:txBody>
          <a:bodyPr wrap="square" lIns="0" tIns="0" rIns="0" bIns="0" anchor="ctr">
            <a:spAutoFit/>
          </a:bodyPr>
          <a:lstStyle/>
          <a:p>
            <a:pPr algn="l">
              <a:lnSpc>
                <a:spcPct val="120000"/>
              </a:lnSpc>
              <a:spcAft>
                <a:spcPts val="600"/>
              </a:spcAft>
            </a:pPr>
            <a:r>
              <a:rPr sz="3100" b="0" i="0">
                <a:solidFill>
                  <a:srgbClr val="1E293B"/>
                </a:solidFill>
                <a:latin typeface="Quattrocento Sans"/>
              </a:rPr>
              <a:t>Run orchestration/pipeline.py daily (a Prefect schedule or Cloud Run Jobs)</a:t>
            </a:r>
          </a:p>
        </p:txBody>
      </p:sp>
      <p:sp>
        <p:nvSpPr>
          <p:cNvPr id="12" name="TextBox 11"/>
          <p:cNvSpPr txBox="1"/>
          <p:nvPr/>
        </p:nvSpPr>
        <p:spPr>
          <a:xfrm>
            <a:off x="1014984" y="5715000"/>
            <a:ext cx="1005840" cy="1371600"/>
          </a:xfrm>
          <a:prstGeom prst="rect">
            <a:avLst/>
          </a:prstGeom>
          <a:noFill/>
        </p:spPr>
        <p:txBody>
          <a:bodyPr wrap="square" lIns="0" tIns="0" rIns="0" bIns="0" anchor="ctr">
            <a:spAutoFit/>
          </a:bodyPr>
          <a:lstStyle/>
          <a:p>
            <a:pPr algn="l">
              <a:lnSpc>
                <a:spcPct val="120000"/>
              </a:lnSpc>
              <a:spcAft>
                <a:spcPts val="600"/>
              </a:spcAft>
            </a:pPr>
            <a:r>
              <a:rPr sz="4000" b="1" i="0">
                <a:solidFill>
                  <a:srgbClr val="D4A03A"/>
                </a:solidFill>
                <a:latin typeface="Liter"/>
              </a:rPr>
              <a:t>03</a:t>
            </a:r>
          </a:p>
        </p:txBody>
      </p:sp>
      <p:sp>
        <p:nvSpPr>
          <p:cNvPr id="13" name="Rounded Rectangle 12"/>
          <p:cNvSpPr/>
          <p:nvPr/>
        </p:nvSpPr>
        <p:spPr>
          <a:xfrm>
            <a:off x="2157984" y="5715000"/>
            <a:ext cx="21204936" cy="1371600"/>
          </a:xfrm>
          <a:prstGeom prst="roundRect">
            <a:avLst>
              <a:gd name="adj" fmla="val 800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15184" y="5715000"/>
            <a:ext cx="20336256" cy="1371600"/>
          </a:xfrm>
          <a:prstGeom prst="rect">
            <a:avLst/>
          </a:prstGeom>
          <a:noFill/>
        </p:spPr>
        <p:txBody>
          <a:bodyPr wrap="square" lIns="0" tIns="0" rIns="0" bIns="0" anchor="ctr">
            <a:spAutoFit/>
          </a:bodyPr>
          <a:lstStyle/>
          <a:p>
            <a:pPr algn="l">
              <a:lnSpc>
                <a:spcPct val="120000"/>
              </a:lnSpc>
              <a:spcAft>
                <a:spcPts val="600"/>
              </a:spcAft>
            </a:pPr>
            <a:r>
              <a:rPr sz="3100" b="0" i="0">
                <a:solidFill>
                  <a:srgbClr val="1E293B"/>
                </a:solidFill>
                <a:latin typeface="Quattrocento Sans"/>
              </a:rPr>
              <a:t>Store report.as_dict() in a table to see trends, not just snapshots</a:t>
            </a:r>
          </a:p>
        </p:txBody>
      </p:sp>
      <p:sp>
        <p:nvSpPr>
          <p:cNvPr id="15" name="TextBox 14"/>
          <p:cNvSpPr txBox="1"/>
          <p:nvPr/>
        </p:nvSpPr>
        <p:spPr>
          <a:xfrm>
            <a:off x="1014984" y="7315200"/>
            <a:ext cx="1005840" cy="1371600"/>
          </a:xfrm>
          <a:prstGeom prst="rect">
            <a:avLst/>
          </a:prstGeom>
          <a:noFill/>
        </p:spPr>
        <p:txBody>
          <a:bodyPr wrap="square" lIns="0" tIns="0" rIns="0" bIns="0" anchor="ctr">
            <a:spAutoFit/>
          </a:bodyPr>
          <a:lstStyle/>
          <a:p>
            <a:pPr algn="l">
              <a:lnSpc>
                <a:spcPct val="120000"/>
              </a:lnSpc>
              <a:spcAft>
                <a:spcPts val="600"/>
              </a:spcAft>
            </a:pPr>
            <a:r>
              <a:rPr sz="4000" b="1" i="0">
                <a:solidFill>
                  <a:srgbClr val="D4A03A"/>
                </a:solidFill>
                <a:latin typeface="Liter"/>
              </a:rPr>
              <a:t>04</a:t>
            </a:r>
          </a:p>
        </p:txBody>
      </p:sp>
      <p:sp>
        <p:nvSpPr>
          <p:cNvPr id="16" name="Rounded Rectangle 15"/>
          <p:cNvSpPr/>
          <p:nvPr/>
        </p:nvSpPr>
        <p:spPr>
          <a:xfrm>
            <a:off x="2157984" y="7315200"/>
            <a:ext cx="21204936" cy="1371600"/>
          </a:xfrm>
          <a:prstGeom prst="roundRect">
            <a:avLst>
              <a:gd name="adj" fmla="val 800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15184" y="7315200"/>
            <a:ext cx="20336256" cy="1371600"/>
          </a:xfrm>
          <a:prstGeom prst="rect">
            <a:avLst/>
          </a:prstGeom>
          <a:noFill/>
        </p:spPr>
        <p:txBody>
          <a:bodyPr wrap="square" lIns="0" tIns="0" rIns="0" bIns="0" anchor="ctr">
            <a:spAutoFit/>
          </a:bodyPr>
          <a:lstStyle/>
          <a:p>
            <a:pPr algn="l">
              <a:lnSpc>
                <a:spcPct val="120000"/>
              </a:lnSpc>
              <a:spcAft>
                <a:spcPts val="600"/>
              </a:spcAft>
            </a:pPr>
            <a:r>
              <a:rPr sz="3100" b="0" i="0">
                <a:solidFill>
                  <a:srgbClr val="1E293B"/>
                </a:solidFill>
                <a:latin typeface="Quattrocento Sans"/>
              </a:rPr>
              <a:t>When the threshold is crossed, trigger the training pipeline (Session 1) on fresh data</a:t>
            </a:r>
          </a:p>
        </p:txBody>
      </p:sp>
      <p:sp>
        <p:nvSpPr>
          <p:cNvPr id="18" name="TextBox 17"/>
          <p:cNvSpPr txBox="1"/>
          <p:nvPr/>
        </p:nvSpPr>
        <p:spPr>
          <a:xfrm>
            <a:off x="1014984" y="8915400"/>
            <a:ext cx="1005840" cy="1371600"/>
          </a:xfrm>
          <a:prstGeom prst="rect">
            <a:avLst/>
          </a:prstGeom>
          <a:noFill/>
        </p:spPr>
        <p:txBody>
          <a:bodyPr wrap="square" lIns="0" tIns="0" rIns="0" bIns="0" anchor="ctr">
            <a:spAutoFit/>
          </a:bodyPr>
          <a:lstStyle/>
          <a:p>
            <a:pPr algn="l">
              <a:lnSpc>
                <a:spcPct val="120000"/>
              </a:lnSpc>
              <a:spcAft>
                <a:spcPts val="600"/>
              </a:spcAft>
            </a:pPr>
            <a:r>
              <a:rPr sz="4000" b="1" i="0">
                <a:solidFill>
                  <a:srgbClr val="D4A03A"/>
                </a:solidFill>
                <a:latin typeface="Liter"/>
              </a:rPr>
              <a:t>05</a:t>
            </a:r>
          </a:p>
        </p:txBody>
      </p:sp>
      <p:sp>
        <p:nvSpPr>
          <p:cNvPr id="19" name="Rounded Rectangle 18"/>
          <p:cNvSpPr/>
          <p:nvPr/>
        </p:nvSpPr>
        <p:spPr>
          <a:xfrm>
            <a:off x="2157984" y="8915400"/>
            <a:ext cx="21204936" cy="1371600"/>
          </a:xfrm>
          <a:prstGeom prst="roundRect">
            <a:avLst>
              <a:gd name="adj" fmla="val 8000"/>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15184" y="8915400"/>
            <a:ext cx="20336256" cy="1371600"/>
          </a:xfrm>
          <a:prstGeom prst="rect">
            <a:avLst/>
          </a:prstGeom>
          <a:noFill/>
        </p:spPr>
        <p:txBody>
          <a:bodyPr wrap="square" lIns="0" tIns="0" rIns="0" bIns="0" anchor="ctr">
            <a:spAutoFit/>
          </a:bodyPr>
          <a:lstStyle/>
          <a:p>
            <a:pPr algn="l">
              <a:lnSpc>
                <a:spcPct val="120000"/>
              </a:lnSpc>
              <a:spcAft>
                <a:spcPts val="600"/>
              </a:spcAft>
            </a:pPr>
            <a:r>
              <a:rPr sz="3100" b="0" i="0">
                <a:solidFill>
                  <a:srgbClr val="1E293B"/>
                </a:solidFill>
                <a:latin typeface="Quattrocento Sans"/>
              </a:rPr>
              <a:t>The new model becomes @challenger → passes the quality gate → canary → @champion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E6B83-1D54-9F02-7594-8D075DF645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406E47-9430-AF41-127E-BAF216396132}"/>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Our Simple Policy</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9F87FFC9-2999-496E-7DBF-112FF1EFAC9F}"/>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2EF944F-017E-413F-7F56-5A0A2A16702A}"/>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HANDS-ON 4</a:t>
            </a:r>
          </a:p>
        </p:txBody>
      </p:sp>
      <p:sp>
        <p:nvSpPr>
          <p:cNvPr id="5" name="TextBox 4">
            <a:extLst>
              <a:ext uri="{FF2B5EF4-FFF2-40B4-BE49-F238E27FC236}">
                <a16:creationId xmlns:a16="http://schemas.microsoft.com/office/drawing/2014/main" id="{7C9D57E2-43EE-6E82-AB7F-CDBC8A3FB7CD}"/>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47</a:t>
            </a:r>
          </a:p>
        </p:txBody>
      </p:sp>
      <p:pic>
        <p:nvPicPr>
          <p:cNvPr id="9" name="Picture 8" descr="A computer screen with text&#10;&#10;AI-generated content may be incorrect.">
            <a:extLst>
              <a:ext uri="{FF2B5EF4-FFF2-40B4-BE49-F238E27FC236}">
                <a16:creationId xmlns:a16="http://schemas.microsoft.com/office/drawing/2014/main" id="{52FA43B2-A94D-FEA9-BCBA-C1F51D4C3A35}"/>
              </a:ext>
            </a:extLst>
          </p:cNvPr>
          <p:cNvPicPr>
            <a:picLocks noChangeAspect="1"/>
          </p:cNvPicPr>
          <p:nvPr/>
        </p:nvPicPr>
        <p:blipFill>
          <a:blip r:embed="rId3"/>
          <a:stretch>
            <a:fillRect/>
          </a:stretch>
        </p:blipFill>
        <p:spPr>
          <a:xfrm>
            <a:off x="959566" y="2633518"/>
            <a:ext cx="22450924" cy="8118162"/>
          </a:xfrm>
          <a:prstGeom prst="rect">
            <a:avLst/>
          </a:prstGeom>
        </p:spPr>
      </p:pic>
      <p:sp>
        <p:nvSpPr>
          <p:cNvPr id="10" name="TextBox 9">
            <a:extLst>
              <a:ext uri="{FF2B5EF4-FFF2-40B4-BE49-F238E27FC236}">
                <a16:creationId xmlns:a16="http://schemas.microsoft.com/office/drawing/2014/main" id="{B4E82DAD-FBFF-E66C-14D3-4A4525DB6EEA}"/>
              </a:ext>
            </a:extLst>
          </p:cNvPr>
          <p:cNvSpPr txBox="1"/>
          <p:nvPr/>
        </p:nvSpPr>
        <p:spPr>
          <a:xfrm>
            <a:off x="959566" y="11240987"/>
            <a:ext cx="20580639" cy="707886"/>
          </a:xfrm>
          <a:prstGeom prst="rect">
            <a:avLst/>
          </a:prstGeom>
          <a:noFill/>
        </p:spPr>
        <p:txBody>
          <a:bodyPr wrap="square">
            <a:spAutoFit/>
          </a:bodyPr>
          <a:lstStyle/>
          <a:p>
            <a:r>
              <a:rPr lang="en-US" sz="4000" b="1" dirty="0">
                <a:solidFill>
                  <a:srgbClr val="0070C0"/>
                </a:solidFill>
              </a:rPr>
              <a:t>We will use this result for defining automation flow with prefect</a:t>
            </a:r>
          </a:p>
        </p:txBody>
      </p:sp>
    </p:spTree>
    <p:extLst>
      <p:ext uri="{BB962C8B-B14F-4D97-AF65-F5344CB8AC3E}">
        <p14:creationId xmlns:p14="http://schemas.microsoft.com/office/powerpoint/2010/main" val="31866136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FEEB2-98A4-875F-4ED5-C3CBBFCF1AA7}"/>
            </a:ext>
          </a:extLst>
        </p:cNvPr>
        <p:cNvGrpSpPr/>
        <p:nvPr/>
      </p:nvGrpSpPr>
      <p:grpSpPr>
        <a:xfrm>
          <a:off x="0" y="0"/>
          <a:ext cx="0" cy="0"/>
          <a:chOff x="0" y="0"/>
          <a:chExt cx="0" cy="0"/>
        </a:xfrm>
      </p:grpSpPr>
      <p:sp>
        <p:nvSpPr>
          <p:cNvPr id="19" name="Text 2">
            <a:extLst>
              <a:ext uri="{FF2B5EF4-FFF2-40B4-BE49-F238E27FC236}">
                <a16:creationId xmlns:a16="http://schemas.microsoft.com/office/drawing/2014/main" id="{552F593E-4AC8-568A-F30B-30A4BBF247DC}"/>
              </a:ext>
            </a:extLst>
          </p:cNvPr>
          <p:cNvSpPr/>
          <p:nvPr/>
        </p:nvSpPr>
        <p:spPr>
          <a:xfrm>
            <a:off x="1649562" y="4206240"/>
            <a:ext cx="5080000" cy="381000"/>
          </a:xfrm>
          <a:prstGeom prst="rect">
            <a:avLst/>
          </a:prstGeom>
          <a:noFill/>
          <a:ln/>
        </p:spPr>
        <p:txBody>
          <a:bodyPr wrap="none" lIns="0" tIns="0" rIns="0" bIns="0" rtlCol="0" anchor="ctr"/>
          <a:lstStyle/>
          <a:p>
            <a:pPr algn="l">
              <a:lnSpc>
                <a:spcPct val="120000"/>
              </a:lnSpc>
            </a:pPr>
            <a:r>
              <a:rPr lang="en-US" sz="5000" b="1" kern="0" spc="400" dirty="0">
                <a:solidFill>
                  <a:srgbClr val="D4A03A"/>
                </a:solidFill>
                <a:latin typeface="Liter" pitchFamily="34" charset="0"/>
                <a:ea typeface="Liter" pitchFamily="34" charset="-122"/>
                <a:cs typeface="Liter" pitchFamily="34" charset="-120"/>
              </a:rPr>
              <a:t>04</a:t>
            </a:r>
            <a:endParaRPr lang="en-US" sz="5000" dirty="0"/>
          </a:p>
        </p:txBody>
      </p:sp>
      <p:sp>
        <p:nvSpPr>
          <p:cNvPr id="21" name="Text 3">
            <a:extLst>
              <a:ext uri="{FF2B5EF4-FFF2-40B4-BE49-F238E27FC236}">
                <a16:creationId xmlns:a16="http://schemas.microsoft.com/office/drawing/2014/main" id="{B5152CCA-3E47-6637-A0E3-4DD1E1423577}"/>
              </a:ext>
            </a:extLst>
          </p:cNvPr>
          <p:cNvSpPr/>
          <p:nvPr/>
        </p:nvSpPr>
        <p:spPr>
          <a:xfrm>
            <a:off x="1649562" y="4983480"/>
            <a:ext cx="11155680" cy="2651760"/>
          </a:xfrm>
          <a:prstGeom prst="rect">
            <a:avLst/>
          </a:prstGeom>
          <a:noFill/>
          <a:ln/>
        </p:spPr>
        <p:txBody>
          <a:bodyPr wrap="square" lIns="0" tIns="0" rIns="0" bIns="0" rtlCol="0" anchor="t"/>
          <a:lstStyle/>
          <a:p>
            <a:pPr algn="l">
              <a:lnSpc>
                <a:spcPct val="110000"/>
              </a:lnSpc>
            </a:pPr>
            <a:r>
              <a:rPr lang="en-US" sz="6000" kern="0" spc="200" dirty="0">
                <a:solidFill>
                  <a:srgbClr val="1B2A4A"/>
                </a:solidFill>
                <a:latin typeface="Liter" pitchFamily="34" charset="0"/>
                <a:ea typeface="Liter" pitchFamily="34" charset="-122"/>
                <a:cs typeface="Liter" pitchFamily="34" charset="-120"/>
              </a:rPr>
              <a:t>Orchestration</a:t>
            </a:r>
            <a:endParaRPr lang="en-US" sz="7200" dirty="0"/>
          </a:p>
        </p:txBody>
      </p:sp>
      <p:sp>
        <p:nvSpPr>
          <p:cNvPr id="23" name="Shape 4">
            <a:extLst>
              <a:ext uri="{FF2B5EF4-FFF2-40B4-BE49-F238E27FC236}">
                <a16:creationId xmlns:a16="http://schemas.microsoft.com/office/drawing/2014/main" id="{636A64F3-0C1F-C206-FD0B-AD12C265E7AA}"/>
              </a:ext>
            </a:extLst>
          </p:cNvPr>
          <p:cNvSpPr/>
          <p:nvPr/>
        </p:nvSpPr>
        <p:spPr>
          <a:xfrm>
            <a:off x="1649562" y="8001000"/>
            <a:ext cx="1016000" cy="50800"/>
          </a:xfrm>
          <a:prstGeom prst="rect">
            <a:avLst/>
          </a:prstGeom>
          <a:solidFill>
            <a:srgbClr val="D4A03A"/>
          </a:solidFill>
          <a:ln/>
        </p:spPr>
        <p:txBody>
          <a:bodyPr/>
          <a:lstStyle/>
          <a:p>
            <a:endParaRPr lang="en-ID"/>
          </a:p>
        </p:txBody>
      </p:sp>
      <p:sp>
        <p:nvSpPr>
          <p:cNvPr id="24" name="TextBox 23">
            <a:extLst>
              <a:ext uri="{FF2B5EF4-FFF2-40B4-BE49-F238E27FC236}">
                <a16:creationId xmlns:a16="http://schemas.microsoft.com/office/drawing/2014/main" id="{C21BDFD8-ACB0-3FAE-91F8-DA07469581CB}"/>
              </a:ext>
            </a:extLst>
          </p:cNvPr>
          <p:cNvSpPr txBox="1"/>
          <p:nvPr/>
        </p:nvSpPr>
        <p:spPr>
          <a:xfrm>
            <a:off x="1645920" y="8412480"/>
            <a:ext cx="10972800" cy="488916"/>
          </a:xfrm>
          <a:prstGeom prst="rect">
            <a:avLst/>
          </a:prstGeom>
          <a:noFill/>
        </p:spPr>
        <p:txBody>
          <a:bodyPr wrap="square" lIns="0" tIns="0" rIns="0" bIns="0" anchor="t">
            <a:spAutoFit/>
          </a:bodyPr>
          <a:lstStyle/>
          <a:p>
            <a:pPr algn="l">
              <a:lnSpc>
                <a:spcPct val="120000"/>
              </a:lnSpc>
              <a:spcAft>
                <a:spcPts val="600"/>
              </a:spcAft>
            </a:pPr>
            <a:r>
              <a:rPr sz="2800" b="0" i="0" dirty="0">
                <a:solidFill>
                  <a:srgbClr val="6B7B8D"/>
                </a:solidFill>
                <a:latin typeface="Quattrocento Sans"/>
              </a:rPr>
              <a:t>15:00–1</a:t>
            </a:r>
            <a:r>
              <a:rPr lang="en-US" sz="2800" b="0" i="0" dirty="0">
                <a:solidFill>
                  <a:srgbClr val="6B7B8D"/>
                </a:solidFill>
                <a:latin typeface="Quattrocento Sans"/>
              </a:rPr>
              <a:t>5</a:t>
            </a:r>
            <a:r>
              <a:rPr sz="2800" b="0" i="0" dirty="0">
                <a:solidFill>
                  <a:srgbClr val="6B7B8D"/>
                </a:solidFill>
                <a:latin typeface="Quattrocento Sans"/>
              </a:rPr>
              <a:t>:</a:t>
            </a:r>
            <a:r>
              <a:rPr lang="en-US" sz="2800" b="0" i="0" dirty="0">
                <a:solidFill>
                  <a:srgbClr val="6B7B8D"/>
                </a:solidFill>
                <a:latin typeface="Quattrocento Sans"/>
              </a:rPr>
              <a:t>4</a:t>
            </a:r>
            <a:r>
              <a:rPr sz="2800" b="0" i="0" dirty="0">
                <a:solidFill>
                  <a:srgbClr val="6B7B8D"/>
                </a:solidFill>
                <a:latin typeface="Quattrocento Sans"/>
              </a:rPr>
              <a:t>0</a:t>
            </a:r>
          </a:p>
        </p:txBody>
      </p:sp>
      <p:sp>
        <p:nvSpPr>
          <p:cNvPr id="25" name="TextBox 24">
            <a:extLst>
              <a:ext uri="{FF2B5EF4-FFF2-40B4-BE49-F238E27FC236}">
                <a16:creationId xmlns:a16="http://schemas.microsoft.com/office/drawing/2014/main" id="{0E7CFAA8-15D6-1816-88DF-45A7590773BD}"/>
              </a:ext>
            </a:extLst>
          </p:cNvPr>
          <p:cNvSpPr txBox="1"/>
          <p:nvPr/>
        </p:nvSpPr>
        <p:spPr>
          <a:xfrm>
            <a:off x="14047638" y="4358640"/>
            <a:ext cx="8686800" cy="457200"/>
          </a:xfrm>
          <a:prstGeom prst="rect">
            <a:avLst/>
          </a:prstGeom>
          <a:noFill/>
        </p:spPr>
        <p:txBody>
          <a:bodyPr wrap="square" lIns="0" tIns="0" rIns="0" bIns="0" anchor="t">
            <a:spAutoFit/>
          </a:bodyPr>
          <a:lstStyle/>
          <a:p>
            <a:pPr algn="l">
              <a:lnSpc>
                <a:spcPct val="120000"/>
              </a:lnSpc>
              <a:spcAft>
                <a:spcPts val="600"/>
              </a:spcAft>
            </a:pPr>
            <a:r>
              <a:rPr sz="1600" b="1" i="0" spc="300">
                <a:solidFill>
                  <a:srgbClr val="D4A03A"/>
                </a:solidFill>
                <a:latin typeface="Liter"/>
              </a:rPr>
              <a:t>IN THIS SESSION</a:t>
            </a:r>
          </a:p>
        </p:txBody>
      </p:sp>
      <p:sp>
        <p:nvSpPr>
          <p:cNvPr id="26" name="TextBox 25">
            <a:extLst>
              <a:ext uri="{FF2B5EF4-FFF2-40B4-BE49-F238E27FC236}">
                <a16:creationId xmlns:a16="http://schemas.microsoft.com/office/drawing/2014/main" id="{3869BBE0-627D-2E26-6690-AF9BF80B3F0F}"/>
              </a:ext>
            </a:extLst>
          </p:cNvPr>
          <p:cNvSpPr txBox="1"/>
          <p:nvPr/>
        </p:nvSpPr>
        <p:spPr>
          <a:xfrm>
            <a:off x="14047638" y="513588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01</a:t>
            </a:r>
          </a:p>
        </p:txBody>
      </p:sp>
      <p:sp>
        <p:nvSpPr>
          <p:cNvPr id="27" name="TextBox 26">
            <a:extLst>
              <a:ext uri="{FF2B5EF4-FFF2-40B4-BE49-F238E27FC236}">
                <a16:creationId xmlns:a16="http://schemas.microsoft.com/office/drawing/2014/main" id="{D05ADCE9-6D07-BF98-B829-334FE0037A5D}"/>
              </a:ext>
            </a:extLst>
          </p:cNvPr>
          <p:cNvSpPr txBox="1"/>
          <p:nvPr/>
        </p:nvSpPr>
        <p:spPr>
          <a:xfrm>
            <a:off x="15053478" y="5366095"/>
            <a:ext cx="8046720" cy="453970"/>
          </a:xfrm>
          <a:prstGeom prst="rect">
            <a:avLst/>
          </a:prstGeom>
          <a:noFill/>
        </p:spPr>
        <p:txBody>
          <a:bodyPr wrap="square" lIns="0" tIns="0" rIns="0" bIns="0" anchor="ctr">
            <a:spAutoFit/>
          </a:bodyPr>
          <a:lstStyle/>
          <a:p>
            <a:pPr algn="l">
              <a:lnSpc>
                <a:spcPct val="120000"/>
              </a:lnSpc>
              <a:spcAft>
                <a:spcPts val="600"/>
              </a:spcAft>
            </a:pPr>
            <a:r>
              <a:rPr lang="en-US" sz="2600" b="0" i="0" dirty="0">
                <a:solidFill>
                  <a:srgbClr val="1E293B"/>
                </a:solidFill>
                <a:latin typeface="Quattrocento Sans"/>
              </a:rPr>
              <a:t>Prefect configuration and running server</a:t>
            </a:r>
            <a:endParaRPr sz="2600" b="0" i="0" dirty="0">
              <a:solidFill>
                <a:srgbClr val="1E293B"/>
              </a:solidFill>
              <a:latin typeface="Quattrocento Sans"/>
            </a:endParaRPr>
          </a:p>
        </p:txBody>
      </p:sp>
      <p:sp>
        <p:nvSpPr>
          <p:cNvPr id="28" name="Rectangle 27">
            <a:extLst>
              <a:ext uri="{FF2B5EF4-FFF2-40B4-BE49-F238E27FC236}">
                <a16:creationId xmlns:a16="http://schemas.microsoft.com/office/drawing/2014/main" id="{8DCC8E26-34E0-0025-4A5D-827CC5A24B80}"/>
              </a:ext>
            </a:extLst>
          </p:cNvPr>
          <p:cNvSpPr/>
          <p:nvPr/>
        </p:nvSpPr>
        <p:spPr>
          <a:xfrm>
            <a:off x="14047638" y="618744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B8E23789-2A4D-9BB5-70AC-D3C3D89D0F6A}"/>
              </a:ext>
            </a:extLst>
          </p:cNvPr>
          <p:cNvSpPr txBox="1"/>
          <p:nvPr/>
        </p:nvSpPr>
        <p:spPr>
          <a:xfrm>
            <a:off x="14047638" y="632460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02</a:t>
            </a:r>
          </a:p>
        </p:txBody>
      </p:sp>
      <p:sp>
        <p:nvSpPr>
          <p:cNvPr id="30" name="TextBox 29">
            <a:extLst>
              <a:ext uri="{FF2B5EF4-FFF2-40B4-BE49-F238E27FC236}">
                <a16:creationId xmlns:a16="http://schemas.microsoft.com/office/drawing/2014/main" id="{396AC629-5445-C23F-CAC6-AAEDD83D84CB}"/>
              </a:ext>
            </a:extLst>
          </p:cNvPr>
          <p:cNvSpPr txBox="1"/>
          <p:nvPr/>
        </p:nvSpPr>
        <p:spPr>
          <a:xfrm>
            <a:off x="15053478" y="6554815"/>
            <a:ext cx="8046720" cy="453970"/>
          </a:xfrm>
          <a:prstGeom prst="rect">
            <a:avLst/>
          </a:prstGeom>
          <a:noFill/>
        </p:spPr>
        <p:txBody>
          <a:bodyPr wrap="square" lIns="0" tIns="0" rIns="0" bIns="0" anchor="ctr">
            <a:spAutoFit/>
          </a:bodyPr>
          <a:lstStyle/>
          <a:p>
            <a:pPr algn="l">
              <a:lnSpc>
                <a:spcPct val="120000"/>
              </a:lnSpc>
              <a:spcAft>
                <a:spcPts val="600"/>
              </a:spcAft>
            </a:pPr>
            <a:r>
              <a:rPr lang="en-US" sz="2600" b="0" i="0" dirty="0">
                <a:solidFill>
                  <a:srgbClr val="1E293B"/>
                </a:solidFill>
                <a:latin typeface="Quattrocento Sans"/>
              </a:rPr>
              <a:t>Defining prefect flow</a:t>
            </a:r>
            <a:endParaRPr sz="2600" b="0" i="0" dirty="0">
              <a:solidFill>
                <a:srgbClr val="1E293B"/>
              </a:solidFill>
              <a:latin typeface="Quattrocento Sans"/>
            </a:endParaRPr>
          </a:p>
        </p:txBody>
      </p:sp>
      <p:sp>
        <p:nvSpPr>
          <p:cNvPr id="31" name="Rectangle 30">
            <a:extLst>
              <a:ext uri="{FF2B5EF4-FFF2-40B4-BE49-F238E27FC236}">
                <a16:creationId xmlns:a16="http://schemas.microsoft.com/office/drawing/2014/main" id="{0289DC7C-EA2D-658B-45F5-143F560CA6DD}"/>
              </a:ext>
            </a:extLst>
          </p:cNvPr>
          <p:cNvSpPr/>
          <p:nvPr/>
        </p:nvSpPr>
        <p:spPr>
          <a:xfrm>
            <a:off x="14047638" y="737616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DCFB35DA-BBED-D788-5F6C-3F3F0206140E}"/>
              </a:ext>
            </a:extLst>
          </p:cNvPr>
          <p:cNvSpPr txBox="1"/>
          <p:nvPr/>
        </p:nvSpPr>
        <p:spPr>
          <a:xfrm>
            <a:off x="14047638" y="751332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03</a:t>
            </a:r>
          </a:p>
        </p:txBody>
      </p:sp>
      <p:sp>
        <p:nvSpPr>
          <p:cNvPr id="33" name="TextBox 32">
            <a:extLst>
              <a:ext uri="{FF2B5EF4-FFF2-40B4-BE49-F238E27FC236}">
                <a16:creationId xmlns:a16="http://schemas.microsoft.com/office/drawing/2014/main" id="{F3BC7FF2-B92A-0F65-1867-16DF1DE42E22}"/>
              </a:ext>
            </a:extLst>
          </p:cNvPr>
          <p:cNvSpPr txBox="1"/>
          <p:nvPr/>
        </p:nvSpPr>
        <p:spPr>
          <a:xfrm>
            <a:off x="15053478" y="7743535"/>
            <a:ext cx="8046720" cy="453970"/>
          </a:xfrm>
          <a:prstGeom prst="rect">
            <a:avLst/>
          </a:prstGeom>
          <a:noFill/>
        </p:spPr>
        <p:txBody>
          <a:bodyPr wrap="square" lIns="0" tIns="0" rIns="0" bIns="0" anchor="ctr">
            <a:spAutoFit/>
          </a:bodyPr>
          <a:lstStyle/>
          <a:p>
            <a:pPr algn="l">
              <a:lnSpc>
                <a:spcPct val="120000"/>
              </a:lnSpc>
              <a:spcAft>
                <a:spcPts val="600"/>
              </a:spcAft>
            </a:pPr>
            <a:r>
              <a:rPr lang="en-US" sz="2600" b="0" i="0" dirty="0">
                <a:solidFill>
                  <a:srgbClr val="1E293B"/>
                </a:solidFill>
                <a:latin typeface="Quattrocento Sans"/>
              </a:rPr>
              <a:t>Create automation with prefect</a:t>
            </a:r>
            <a:endParaRPr sz="2600" b="0" i="0" dirty="0">
              <a:solidFill>
                <a:srgbClr val="1E293B"/>
              </a:solidFill>
              <a:latin typeface="Quattrocento Sans"/>
            </a:endParaRPr>
          </a:p>
        </p:txBody>
      </p:sp>
      <p:sp>
        <p:nvSpPr>
          <p:cNvPr id="34" name="Rectangle 33">
            <a:extLst>
              <a:ext uri="{FF2B5EF4-FFF2-40B4-BE49-F238E27FC236}">
                <a16:creationId xmlns:a16="http://schemas.microsoft.com/office/drawing/2014/main" id="{B24C0DAA-7538-9E77-6436-577E18BA5DA1}"/>
              </a:ext>
            </a:extLst>
          </p:cNvPr>
          <p:cNvSpPr/>
          <p:nvPr/>
        </p:nvSpPr>
        <p:spPr>
          <a:xfrm>
            <a:off x="14047638" y="856488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B7314A9F-DBA5-8DFC-4E4E-35D392F0B451}"/>
              </a:ext>
            </a:extLst>
          </p:cNvPr>
          <p:cNvSpPr txBox="1"/>
          <p:nvPr/>
        </p:nvSpPr>
        <p:spPr>
          <a:xfrm>
            <a:off x="14047638" y="870204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04</a:t>
            </a:r>
          </a:p>
        </p:txBody>
      </p:sp>
      <p:sp>
        <p:nvSpPr>
          <p:cNvPr id="36" name="TextBox 35">
            <a:extLst>
              <a:ext uri="{FF2B5EF4-FFF2-40B4-BE49-F238E27FC236}">
                <a16:creationId xmlns:a16="http://schemas.microsoft.com/office/drawing/2014/main" id="{922D849A-54B2-8F30-4DCA-9C4AC94B73CF}"/>
              </a:ext>
            </a:extLst>
          </p:cNvPr>
          <p:cNvSpPr txBox="1"/>
          <p:nvPr/>
        </p:nvSpPr>
        <p:spPr>
          <a:xfrm>
            <a:off x="15053478" y="8932255"/>
            <a:ext cx="8046720" cy="453970"/>
          </a:xfrm>
          <a:prstGeom prst="rect">
            <a:avLst/>
          </a:prstGeom>
          <a:noFill/>
        </p:spPr>
        <p:txBody>
          <a:bodyPr wrap="square" lIns="0" tIns="0" rIns="0" bIns="0" anchor="ctr">
            <a:spAutoFit/>
          </a:bodyPr>
          <a:lstStyle/>
          <a:p>
            <a:pPr algn="l">
              <a:lnSpc>
                <a:spcPct val="120000"/>
              </a:lnSpc>
              <a:spcAft>
                <a:spcPts val="600"/>
              </a:spcAft>
            </a:pPr>
            <a:r>
              <a:rPr lang="en-US" sz="2600" b="0" i="0" dirty="0">
                <a:solidFill>
                  <a:srgbClr val="1E293B"/>
                </a:solidFill>
                <a:latin typeface="Quattrocento Sans"/>
              </a:rPr>
              <a:t>Exercise and discussion</a:t>
            </a:r>
            <a:endParaRPr sz="2600" b="0" i="0" dirty="0">
              <a:solidFill>
                <a:srgbClr val="1E293B"/>
              </a:solidFill>
              <a:latin typeface="Quattrocento Sans"/>
            </a:endParaRPr>
          </a:p>
        </p:txBody>
      </p:sp>
      <p:sp>
        <p:nvSpPr>
          <p:cNvPr id="37" name="Rectangle 36">
            <a:extLst>
              <a:ext uri="{FF2B5EF4-FFF2-40B4-BE49-F238E27FC236}">
                <a16:creationId xmlns:a16="http://schemas.microsoft.com/office/drawing/2014/main" id="{EA270478-C61D-87B9-B191-D8D695F41A66}"/>
              </a:ext>
            </a:extLst>
          </p:cNvPr>
          <p:cNvSpPr/>
          <p:nvPr/>
        </p:nvSpPr>
        <p:spPr>
          <a:xfrm>
            <a:off x="14047638" y="975360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7159389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When Should a Model Be Retrained?</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CONTINUOUS TRAINING</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18</a:t>
            </a:r>
          </a:p>
        </p:txBody>
      </p:sp>
      <p:sp>
        <p:nvSpPr>
          <p:cNvPr id="6" name="Rounded Rectangle 5"/>
          <p:cNvSpPr/>
          <p:nvPr/>
        </p:nvSpPr>
        <p:spPr>
          <a:xfrm>
            <a:off x="1014984" y="2514600"/>
            <a:ext cx="10968228" cy="3863340"/>
          </a:xfrm>
          <a:prstGeom prst="roundRect">
            <a:avLst>
              <a:gd name="adj" fmla="val 8284"/>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63624"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01</a:t>
            </a:r>
          </a:p>
        </p:txBody>
      </p:sp>
      <p:sp>
        <p:nvSpPr>
          <p:cNvPr id="8" name="TextBox 7"/>
          <p:cNvSpPr txBox="1"/>
          <p:nvPr/>
        </p:nvSpPr>
        <p:spPr>
          <a:xfrm>
            <a:off x="2615184" y="292608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On a schedule</a:t>
            </a:r>
          </a:p>
        </p:txBody>
      </p:sp>
      <p:sp>
        <p:nvSpPr>
          <p:cNvPr id="9" name="TextBox 8"/>
          <p:cNvSpPr txBox="1"/>
          <p:nvPr/>
        </p:nvSpPr>
        <p:spPr>
          <a:xfrm>
            <a:off x="1563624" y="3931920"/>
            <a:ext cx="9870948" cy="22174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Retrain daily, weekly or monthly. Simple, but wasteful when the data has not changed.</a:t>
            </a:r>
          </a:p>
        </p:txBody>
      </p:sp>
      <p:sp>
        <p:nvSpPr>
          <p:cNvPr id="10" name="Rounded Rectangle 9"/>
          <p:cNvSpPr/>
          <p:nvPr/>
        </p:nvSpPr>
        <p:spPr>
          <a:xfrm>
            <a:off x="12394692" y="2514600"/>
            <a:ext cx="10968228" cy="3863340"/>
          </a:xfrm>
          <a:prstGeom prst="roundRect">
            <a:avLst>
              <a:gd name="adj" fmla="val 8284"/>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943332"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02</a:t>
            </a:r>
          </a:p>
        </p:txBody>
      </p:sp>
      <p:sp>
        <p:nvSpPr>
          <p:cNvPr id="12" name="TextBox 11"/>
          <p:cNvSpPr txBox="1"/>
          <p:nvPr/>
        </p:nvSpPr>
        <p:spPr>
          <a:xfrm>
            <a:off x="13994892" y="292608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New data arrives</a:t>
            </a:r>
          </a:p>
        </p:txBody>
      </p:sp>
      <p:sp>
        <p:nvSpPr>
          <p:cNvPr id="13" name="TextBox 12"/>
          <p:cNvSpPr txBox="1"/>
          <p:nvPr/>
        </p:nvSpPr>
        <p:spPr>
          <a:xfrm>
            <a:off x="12943332" y="3931920"/>
            <a:ext cx="9870948" cy="22174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Retrain when a new batch of labelled data lands, e.g. at every period close.</a:t>
            </a:r>
          </a:p>
        </p:txBody>
      </p:sp>
      <p:sp>
        <p:nvSpPr>
          <p:cNvPr id="14" name="Rounded Rectangle 13"/>
          <p:cNvSpPr/>
          <p:nvPr/>
        </p:nvSpPr>
        <p:spPr>
          <a:xfrm>
            <a:off x="1014984" y="6789420"/>
            <a:ext cx="10968228" cy="3863340"/>
          </a:xfrm>
          <a:prstGeom prst="roundRect">
            <a:avLst>
              <a:gd name="adj" fmla="val 8284"/>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63624" y="720090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03</a:t>
            </a:r>
          </a:p>
        </p:txBody>
      </p:sp>
      <p:sp>
        <p:nvSpPr>
          <p:cNvPr id="16" name="TextBox 15"/>
          <p:cNvSpPr txBox="1"/>
          <p:nvPr/>
        </p:nvSpPr>
        <p:spPr>
          <a:xfrm>
            <a:off x="2615184" y="720090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Drift detected</a:t>
            </a:r>
          </a:p>
        </p:txBody>
      </p:sp>
      <p:sp>
        <p:nvSpPr>
          <p:cNvPr id="17" name="TextBox 16"/>
          <p:cNvSpPr txBox="1"/>
          <p:nvPr/>
        </p:nvSpPr>
        <p:spPr>
          <a:xfrm>
            <a:off x="1563624" y="8206740"/>
            <a:ext cx="9870948" cy="22174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Retrain when monitoring shows feature distributions shifting past a threshold (Session 3).</a:t>
            </a:r>
          </a:p>
        </p:txBody>
      </p:sp>
      <p:sp>
        <p:nvSpPr>
          <p:cNvPr id="18" name="Rounded Rectangle 17"/>
          <p:cNvSpPr/>
          <p:nvPr/>
        </p:nvSpPr>
        <p:spPr>
          <a:xfrm>
            <a:off x="12394692" y="6789420"/>
            <a:ext cx="10968228" cy="3863340"/>
          </a:xfrm>
          <a:prstGeom prst="roundRect">
            <a:avLst>
              <a:gd name="adj" fmla="val 8284"/>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943332" y="720090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04</a:t>
            </a:r>
          </a:p>
        </p:txBody>
      </p:sp>
      <p:sp>
        <p:nvSpPr>
          <p:cNvPr id="20" name="TextBox 19"/>
          <p:cNvSpPr txBox="1"/>
          <p:nvPr/>
        </p:nvSpPr>
        <p:spPr>
          <a:xfrm>
            <a:off x="13994892" y="720090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Performance drops</a:t>
            </a:r>
          </a:p>
        </p:txBody>
      </p:sp>
      <p:sp>
        <p:nvSpPr>
          <p:cNvPr id="21" name="TextBox 20"/>
          <p:cNvSpPr txBox="1"/>
          <p:nvPr/>
        </p:nvSpPr>
        <p:spPr>
          <a:xfrm>
            <a:off x="12943332" y="8206740"/>
            <a:ext cx="9870948" cy="22174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Retrain when live metrics (with ground truth) fall below the agreed threshold.</a:t>
            </a:r>
          </a:p>
        </p:txBody>
      </p:sp>
      <p:sp>
        <p:nvSpPr>
          <p:cNvPr id="22" name="Rounded Rectangle 21"/>
          <p:cNvSpPr/>
          <p:nvPr/>
        </p:nvSpPr>
        <p:spPr>
          <a:xfrm>
            <a:off x="1014984" y="11247120"/>
            <a:ext cx="22347936" cy="1188720"/>
          </a:xfrm>
          <a:prstGeom prst="roundRect">
            <a:avLst>
              <a:gd name="adj" fmla="val 9230"/>
            </a:avLst>
          </a:prstGeom>
          <a:solidFill>
            <a:srgbClr val="FB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014984" y="11247120"/>
            <a:ext cx="128016" cy="1188720"/>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517904" y="11247120"/>
            <a:ext cx="21524976" cy="1188720"/>
          </a:xfrm>
          <a:prstGeom prst="rect">
            <a:avLst/>
          </a:prstGeom>
          <a:noFill/>
        </p:spPr>
        <p:txBody>
          <a:bodyPr wrap="square" lIns="0" tIns="0" rIns="0" bIns="0" anchor="ctr">
            <a:spAutoFit/>
          </a:bodyPr>
          <a:lstStyle/>
          <a:p>
            <a:pPr algn="l">
              <a:lnSpc>
                <a:spcPct val="120000"/>
              </a:lnSpc>
              <a:spcAft>
                <a:spcPts val="600"/>
              </a:spcAft>
            </a:pPr>
            <a:r>
              <a:rPr sz="2400" b="0" i="1">
                <a:solidFill>
                  <a:srgbClr val="1B2A4A"/>
                </a:solidFill>
                <a:latin typeface="Quattrocento Sans"/>
              </a:rPr>
              <a:t>Whatever the trigger, a retrained model must pass the same quality gate before it becomes @champion.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Manual Orchestration Is Maturity Level 0</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PROBLEM</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19</a:t>
            </a:r>
          </a:p>
        </p:txBody>
      </p:sp>
      <p:sp>
        <p:nvSpPr>
          <p:cNvPr id="6" name="Rounded Rectangle 5"/>
          <p:cNvSpPr/>
          <p:nvPr/>
        </p:nvSpPr>
        <p:spPr>
          <a:xfrm>
            <a:off x="1014984" y="2834640"/>
            <a:ext cx="4030675" cy="2377440"/>
          </a:xfrm>
          <a:prstGeom prst="roundRect">
            <a:avLst>
              <a:gd name="adj" fmla="val 7692"/>
            </a:avLst>
          </a:prstGeom>
          <a:solidFill>
            <a:srgbClr val="4A5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97864" y="2926080"/>
            <a:ext cx="3664915" cy="2194560"/>
          </a:xfrm>
          <a:prstGeom prst="rect">
            <a:avLst/>
          </a:prstGeom>
          <a:noFill/>
        </p:spPr>
        <p:txBody>
          <a:bodyPr wrap="square" lIns="0" tIns="0" rIns="0" bIns="0" anchor="ctr">
            <a:spAutoFit/>
          </a:bodyPr>
          <a:lstStyle/>
          <a:p>
            <a:pPr algn="ctr">
              <a:lnSpc>
                <a:spcPct val="120000"/>
              </a:lnSpc>
              <a:spcAft>
                <a:spcPts val="600"/>
              </a:spcAft>
            </a:pPr>
            <a:r>
              <a:rPr sz="2400" b="1" i="0">
                <a:solidFill>
                  <a:srgbClr val="FFFFFF"/>
                </a:solidFill>
                <a:latin typeface="Quattrocento Sans"/>
              </a:rPr>
              <a:t>Check drift</a:t>
            </a:r>
          </a:p>
          <a:p>
            <a:pPr algn="ctr">
              <a:lnSpc>
                <a:spcPct val="120000"/>
              </a:lnSpc>
              <a:spcAft>
                <a:spcPts val="600"/>
              </a:spcAft>
            </a:pPr>
            <a:r>
              <a:rPr sz="2400" b="1" i="0">
                <a:solidFill>
                  <a:srgbClr val="FFFFFF"/>
                </a:solidFill>
                <a:latin typeface="Quattrocento Sans"/>
              </a:rPr>
              <a:t>monitor.py</a:t>
            </a:r>
          </a:p>
        </p:txBody>
      </p:sp>
      <p:sp>
        <p:nvSpPr>
          <p:cNvPr id="8" name="TextBox 7"/>
          <p:cNvSpPr txBox="1"/>
          <p:nvPr/>
        </p:nvSpPr>
        <p:spPr>
          <a:xfrm>
            <a:off x="1060704" y="5486400"/>
            <a:ext cx="3939235" cy="2743200"/>
          </a:xfrm>
          <a:prstGeom prst="rect">
            <a:avLst/>
          </a:prstGeom>
          <a:noFill/>
        </p:spPr>
        <p:txBody>
          <a:bodyPr wrap="square" lIns="0" tIns="0" rIns="0" bIns="0" anchor="t">
            <a:spAutoFit/>
          </a:bodyPr>
          <a:lstStyle/>
          <a:p>
            <a:pPr algn="ctr">
              <a:lnSpc>
                <a:spcPct val="125000"/>
              </a:lnSpc>
              <a:spcAft>
                <a:spcPts val="600"/>
              </a:spcAft>
            </a:pPr>
            <a:r>
              <a:rPr sz="2800" b="0" i="0">
                <a:solidFill>
                  <a:srgbClr val="1E293B"/>
                </a:solidFill>
                <a:latin typeface="Quattrocento Sans"/>
              </a:rPr>
              <a:t>A person reads the output and decides</a:t>
            </a:r>
          </a:p>
        </p:txBody>
      </p:sp>
      <p:sp>
        <p:nvSpPr>
          <p:cNvPr id="9" name="TextBox 8"/>
          <p:cNvSpPr txBox="1"/>
          <p:nvPr/>
        </p:nvSpPr>
        <p:spPr>
          <a:xfrm>
            <a:off x="5045659" y="2834640"/>
            <a:ext cx="548640" cy="2377440"/>
          </a:xfrm>
          <a:prstGeom prst="rect">
            <a:avLst/>
          </a:prstGeom>
          <a:noFill/>
        </p:spPr>
        <p:txBody>
          <a:bodyPr wrap="square" lIns="0" tIns="0" rIns="0" bIns="0" anchor="ctr">
            <a:spAutoFit/>
          </a:bodyPr>
          <a:lstStyle/>
          <a:p>
            <a:pPr algn="ctr">
              <a:lnSpc>
                <a:spcPct val="120000"/>
              </a:lnSpc>
              <a:spcAft>
                <a:spcPts val="600"/>
              </a:spcAft>
            </a:pPr>
            <a:r>
              <a:rPr sz="3600" b="1" i="0">
                <a:solidFill>
                  <a:srgbClr val="D4A03A"/>
                </a:solidFill>
                <a:latin typeface="Quattrocento Sans"/>
              </a:rPr>
              <a:t>→</a:t>
            </a:r>
          </a:p>
        </p:txBody>
      </p:sp>
      <p:sp>
        <p:nvSpPr>
          <p:cNvPr id="10" name="Rounded Rectangle 9"/>
          <p:cNvSpPr/>
          <p:nvPr/>
        </p:nvSpPr>
        <p:spPr>
          <a:xfrm>
            <a:off x="5594299" y="2834640"/>
            <a:ext cx="4030675" cy="2377440"/>
          </a:xfrm>
          <a:prstGeom prst="roundRect">
            <a:avLst>
              <a:gd name="adj" fmla="val 7692"/>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77179" y="2926080"/>
            <a:ext cx="3664915" cy="2194560"/>
          </a:xfrm>
          <a:prstGeom prst="rect">
            <a:avLst/>
          </a:prstGeom>
          <a:noFill/>
        </p:spPr>
        <p:txBody>
          <a:bodyPr wrap="square" lIns="0" tIns="0" rIns="0" bIns="0" anchor="ctr">
            <a:spAutoFit/>
          </a:bodyPr>
          <a:lstStyle/>
          <a:p>
            <a:pPr algn="ctr">
              <a:lnSpc>
                <a:spcPct val="120000"/>
              </a:lnSpc>
              <a:spcAft>
                <a:spcPts val="600"/>
              </a:spcAft>
            </a:pPr>
            <a:r>
              <a:rPr sz="2400" b="1" i="0">
                <a:solidFill>
                  <a:srgbClr val="FFFFFF"/>
                </a:solidFill>
                <a:latin typeface="Quattrocento Sans"/>
              </a:rPr>
              <a:t>Retrain</a:t>
            </a:r>
          </a:p>
          <a:p>
            <a:pPr algn="ctr">
              <a:lnSpc>
                <a:spcPct val="120000"/>
              </a:lnSpc>
              <a:spcAft>
                <a:spcPts val="600"/>
              </a:spcAft>
            </a:pPr>
            <a:r>
              <a:rPr sz="2400" b="1" i="0">
                <a:solidFill>
                  <a:srgbClr val="FFFFFF"/>
                </a:solidFill>
                <a:latin typeface="Quattrocento Sans"/>
              </a:rPr>
              <a:t>train_with_mlflow.py</a:t>
            </a:r>
          </a:p>
        </p:txBody>
      </p:sp>
      <p:sp>
        <p:nvSpPr>
          <p:cNvPr id="12" name="TextBox 11"/>
          <p:cNvSpPr txBox="1"/>
          <p:nvPr/>
        </p:nvSpPr>
        <p:spPr>
          <a:xfrm>
            <a:off x="5640019" y="5486400"/>
            <a:ext cx="3939235" cy="2743200"/>
          </a:xfrm>
          <a:prstGeom prst="rect">
            <a:avLst/>
          </a:prstGeom>
          <a:noFill/>
        </p:spPr>
        <p:txBody>
          <a:bodyPr wrap="square" lIns="0" tIns="0" rIns="0" bIns="0" anchor="t">
            <a:spAutoFit/>
          </a:bodyPr>
          <a:lstStyle/>
          <a:p>
            <a:pPr algn="ctr">
              <a:lnSpc>
                <a:spcPct val="125000"/>
              </a:lnSpc>
              <a:spcAft>
                <a:spcPts val="600"/>
              </a:spcAft>
            </a:pPr>
            <a:r>
              <a:rPr sz="2800" b="0" i="0">
                <a:solidFill>
                  <a:srgbClr val="1E293B"/>
                </a:solidFill>
                <a:latin typeface="Quattrocento Sans"/>
              </a:rPr>
              <a:t>Run when someone remembers</a:t>
            </a:r>
          </a:p>
        </p:txBody>
      </p:sp>
      <p:sp>
        <p:nvSpPr>
          <p:cNvPr id="13" name="TextBox 12"/>
          <p:cNvSpPr txBox="1"/>
          <p:nvPr/>
        </p:nvSpPr>
        <p:spPr>
          <a:xfrm>
            <a:off x="9624974" y="2834640"/>
            <a:ext cx="548640" cy="2377440"/>
          </a:xfrm>
          <a:prstGeom prst="rect">
            <a:avLst/>
          </a:prstGeom>
          <a:noFill/>
        </p:spPr>
        <p:txBody>
          <a:bodyPr wrap="square" lIns="0" tIns="0" rIns="0" bIns="0" anchor="ctr">
            <a:spAutoFit/>
          </a:bodyPr>
          <a:lstStyle/>
          <a:p>
            <a:pPr algn="ctr">
              <a:lnSpc>
                <a:spcPct val="120000"/>
              </a:lnSpc>
              <a:spcAft>
                <a:spcPts val="600"/>
              </a:spcAft>
            </a:pPr>
            <a:r>
              <a:rPr sz="3600" b="1" i="0">
                <a:solidFill>
                  <a:srgbClr val="D4A03A"/>
                </a:solidFill>
                <a:latin typeface="Quattrocento Sans"/>
              </a:rPr>
              <a:t>→</a:t>
            </a:r>
          </a:p>
        </p:txBody>
      </p:sp>
      <p:sp>
        <p:nvSpPr>
          <p:cNvPr id="14" name="Rounded Rectangle 13"/>
          <p:cNvSpPr/>
          <p:nvPr/>
        </p:nvSpPr>
        <p:spPr>
          <a:xfrm>
            <a:off x="10173614" y="2834640"/>
            <a:ext cx="4030675" cy="2377440"/>
          </a:xfrm>
          <a:prstGeom prst="roundRect">
            <a:avLst>
              <a:gd name="adj" fmla="val 7692"/>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356494" y="2926080"/>
            <a:ext cx="3664915" cy="2194560"/>
          </a:xfrm>
          <a:prstGeom prst="rect">
            <a:avLst/>
          </a:prstGeom>
          <a:noFill/>
        </p:spPr>
        <p:txBody>
          <a:bodyPr wrap="square" lIns="0" tIns="0" rIns="0" bIns="0" anchor="ctr">
            <a:spAutoFit/>
          </a:bodyPr>
          <a:lstStyle/>
          <a:p>
            <a:pPr algn="ctr">
              <a:lnSpc>
                <a:spcPct val="120000"/>
              </a:lnSpc>
              <a:spcAft>
                <a:spcPts val="600"/>
              </a:spcAft>
            </a:pPr>
            <a:r>
              <a:rPr sz="2400" b="1" i="0">
                <a:solidFill>
                  <a:srgbClr val="FFFFFF"/>
                </a:solidFill>
                <a:latin typeface="Quattrocento Sans"/>
              </a:rPr>
              <a:t>Check quality</a:t>
            </a:r>
          </a:p>
          <a:p>
            <a:pPr algn="ctr">
              <a:lnSpc>
                <a:spcPct val="120000"/>
              </a:lnSpc>
              <a:spcAft>
                <a:spcPts val="600"/>
              </a:spcAft>
            </a:pPr>
            <a:r>
              <a:rPr sz="2400" b="1" i="0">
                <a:solidFill>
                  <a:srgbClr val="FFFFFF"/>
                </a:solidFill>
                <a:latin typeface="Quattrocento Sans"/>
              </a:rPr>
              <a:t>quality_gate.py</a:t>
            </a:r>
          </a:p>
        </p:txBody>
      </p:sp>
      <p:sp>
        <p:nvSpPr>
          <p:cNvPr id="16" name="TextBox 15"/>
          <p:cNvSpPr txBox="1"/>
          <p:nvPr/>
        </p:nvSpPr>
        <p:spPr>
          <a:xfrm>
            <a:off x="10219334" y="5486400"/>
            <a:ext cx="3939235" cy="2743200"/>
          </a:xfrm>
          <a:prstGeom prst="rect">
            <a:avLst/>
          </a:prstGeom>
          <a:noFill/>
        </p:spPr>
        <p:txBody>
          <a:bodyPr wrap="square" lIns="0" tIns="0" rIns="0" bIns="0" anchor="t">
            <a:spAutoFit/>
          </a:bodyPr>
          <a:lstStyle/>
          <a:p>
            <a:pPr algn="ctr">
              <a:lnSpc>
                <a:spcPct val="125000"/>
              </a:lnSpc>
              <a:spcAft>
                <a:spcPts val="600"/>
              </a:spcAft>
            </a:pPr>
            <a:r>
              <a:rPr sz="2800" b="0" i="0">
                <a:solidFill>
                  <a:srgbClr val="1E293B"/>
                </a:solidFill>
                <a:latin typeface="Quattrocento Sans"/>
              </a:rPr>
              <a:t>Easy to skip under time pressure</a:t>
            </a:r>
          </a:p>
        </p:txBody>
      </p:sp>
      <p:sp>
        <p:nvSpPr>
          <p:cNvPr id="17" name="TextBox 16"/>
          <p:cNvSpPr txBox="1"/>
          <p:nvPr/>
        </p:nvSpPr>
        <p:spPr>
          <a:xfrm>
            <a:off x="14204289" y="2834640"/>
            <a:ext cx="548640" cy="2377440"/>
          </a:xfrm>
          <a:prstGeom prst="rect">
            <a:avLst/>
          </a:prstGeom>
          <a:noFill/>
        </p:spPr>
        <p:txBody>
          <a:bodyPr wrap="square" lIns="0" tIns="0" rIns="0" bIns="0" anchor="ctr">
            <a:spAutoFit/>
          </a:bodyPr>
          <a:lstStyle/>
          <a:p>
            <a:pPr algn="ctr">
              <a:lnSpc>
                <a:spcPct val="120000"/>
              </a:lnSpc>
              <a:spcAft>
                <a:spcPts val="600"/>
              </a:spcAft>
            </a:pPr>
            <a:r>
              <a:rPr sz="3600" b="1" i="0">
                <a:solidFill>
                  <a:srgbClr val="D4A03A"/>
                </a:solidFill>
                <a:latin typeface="Quattrocento Sans"/>
              </a:rPr>
              <a:t>→</a:t>
            </a:r>
          </a:p>
        </p:txBody>
      </p:sp>
      <p:sp>
        <p:nvSpPr>
          <p:cNvPr id="18" name="Rounded Rectangle 17"/>
          <p:cNvSpPr/>
          <p:nvPr/>
        </p:nvSpPr>
        <p:spPr>
          <a:xfrm>
            <a:off x="14752929" y="2834640"/>
            <a:ext cx="4030675" cy="2377440"/>
          </a:xfrm>
          <a:prstGeom prst="roundRect">
            <a:avLst>
              <a:gd name="adj" fmla="val 7692"/>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935809" y="2926080"/>
            <a:ext cx="3664915" cy="2194560"/>
          </a:xfrm>
          <a:prstGeom prst="rect">
            <a:avLst/>
          </a:prstGeom>
          <a:noFill/>
        </p:spPr>
        <p:txBody>
          <a:bodyPr wrap="square" lIns="0" tIns="0" rIns="0" bIns="0" anchor="ctr">
            <a:spAutoFit/>
          </a:bodyPr>
          <a:lstStyle/>
          <a:p>
            <a:pPr algn="ctr">
              <a:lnSpc>
                <a:spcPct val="120000"/>
              </a:lnSpc>
              <a:spcAft>
                <a:spcPts val="600"/>
              </a:spcAft>
            </a:pPr>
            <a:r>
              <a:rPr sz="2400" b="1" i="0">
                <a:solidFill>
                  <a:srgbClr val="FFFFFF"/>
                </a:solidFill>
                <a:latin typeface="Quattrocento Sans"/>
              </a:rPr>
              <a:t>Export</a:t>
            </a:r>
          </a:p>
          <a:p>
            <a:pPr algn="ctr">
              <a:lnSpc>
                <a:spcPct val="120000"/>
              </a:lnSpc>
              <a:spcAft>
                <a:spcPts val="600"/>
              </a:spcAft>
            </a:pPr>
            <a:r>
              <a:rPr sz="2400" b="1" i="0">
                <a:solidFill>
                  <a:srgbClr val="FFFFFF"/>
                </a:solidFill>
                <a:latin typeface="Quattrocento Sans"/>
              </a:rPr>
              <a:t>export_model.py</a:t>
            </a:r>
          </a:p>
        </p:txBody>
      </p:sp>
      <p:sp>
        <p:nvSpPr>
          <p:cNvPr id="20" name="TextBox 19"/>
          <p:cNvSpPr txBox="1"/>
          <p:nvPr/>
        </p:nvSpPr>
        <p:spPr>
          <a:xfrm>
            <a:off x="14798649" y="5486400"/>
            <a:ext cx="3939235" cy="2743200"/>
          </a:xfrm>
          <a:prstGeom prst="rect">
            <a:avLst/>
          </a:prstGeom>
          <a:noFill/>
        </p:spPr>
        <p:txBody>
          <a:bodyPr wrap="square" lIns="0" tIns="0" rIns="0" bIns="0" anchor="t">
            <a:spAutoFit/>
          </a:bodyPr>
          <a:lstStyle/>
          <a:p>
            <a:pPr algn="ctr">
              <a:lnSpc>
                <a:spcPct val="125000"/>
              </a:lnSpc>
              <a:spcAft>
                <a:spcPts val="600"/>
              </a:spcAft>
            </a:pPr>
            <a:r>
              <a:rPr sz="2800" b="0" i="0">
                <a:solidFill>
                  <a:srgbClr val="1E293B"/>
                </a:solidFill>
                <a:latin typeface="Quattrocento Sans"/>
              </a:rPr>
              <a:t>The bridge step that gets forgotten</a:t>
            </a:r>
          </a:p>
        </p:txBody>
      </p:sp>
      <p:sp>
        <p:nvSpPr>
          <p:cNvPr id="21" name="TextBox 20"/>
          <p:cNvSpPr txBox="1"/>
          <p:nvPr/>
        </p:nvSpPr>
        <p:spPr>
          <a:xfrm>
            <a:off x="18783604" y="2834640"/>
            <a:ext cx="548640" cy="2377440"/>
          </a:xfrm>
          <a:prstGeom prst="rect">
            <a:avLst/>
          </a:prstGeom>
          <a:noFill/>
        </p:spPr>
        <p:txBody>
          <a:bodyPr wrap="square" lIns="0" tIns="0" rIns="0" bIns="0" anchor="ctr">
            <a:spAutoFit/>
          </a:bodyPr>
          <a:lstStyle/>
          <a:p>
            <a:pPr algn="ctr">
              <a:lnSpc>
                <a:spcPct val="120000"/>
              </a:lnSpc>
              <a:spcAft>
                <a:spcPts val="600"/>
              </a:spcAft>
            </a:pPr>
            <a:r>
              <a:rPr sz="3600" b="1" i="0">
                <a:solidFill>
                  <a:srgbClr val="D4A03A"/>
                </a:solidFill>
                <a:latin typeface="Quattrocento Sans"/>
              </a:rPr>
              <a:t>→</a:t>
            </a:r>
          </a:p>
        </p:txBody>
      </p:sp>
      <p:sp>
        <p:nvSpPr>
          <p:cNvPr id="22" name="Rounded Rectangle 21"/>
          <p:cNvSpPr/>
          <p:nvPr/>
        </p:nvSpPr>
        <p:spPr>
          <a:xfrm>
            <a:off x="19332244" y="2834640"/>
            <a:ext cx="4030675" cy="2377440"/>
          </a:xfrm>
          <a:prstGeom prst="roundRect">
            <a:avLst>
              <a:gd name="adj" fmla="val 7692"/>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9515124" y="3553744"/>
            <a:ext cx="3664915" cy="939231"/>
          </a:xfrm>
          <a:prstGeom prst="rect">
            <a:avLst/>
          </a:prstGeom>
          <a:noFill/>
        </p:spPr>
        <p:txBody>
          <a:bodyPr wrap="square" lIns="0" tIns="0" rIns="0" bIns="0" anchor="ctr">
            <a:spAutoFit/>
          </a:bodyPr>
          <a:lstStyle/>
          <a:p>
            <a:pPr algn="ctr">
              <a:lnSpc>
                <a:spcPct val="120000"/>
              </a:lnSpc>
              <a:spcAft>
                <a:spcPts val="600"/>
              </a:spcAft>
            </a:pPr>
            <a:r>
              <a:rPr sz="2400" b="1" i="0" dirty="0">
                <a:solidFill>
                  <a:srgbClr val="FFFFFF"/>
                </a:solidFill>
                <a:latin typeface="Quattrocento Sans"/>
              </a:rPr>
              <a:t>Deploy</a:t>
            </a:r>
          </a:p>
          <a:p>
            <a:pPr algn="ctr">
              <a:lnSpc>
                <a:spcPct val="120000"/>
              </a:lnSpc>
              <a:spcAft>
                <a:spcPts val="600"/>
              </a:spcAft>
            </a:pPr>
            <a:r>
              <a:rPr lang="en-US" sz="2400" b="1" i="0" dirty="0" err="1">
                <a:solidFill>
                  <a:srgbClr val="FFFFFF"/>
                </a:solidFill>
                <a:latin typeface="Quattrocento Sans"/>
              </a:rPr>
              <a:t>Local_</a:t>
            </a:r>
            <a:r>
              <a:rPr sz="2400" b="1" i="0" dirty="0" err="1">
                <a:solidFill>
                  <a:srgbClr val="FFFFFF"/>
                </a:solidFill>
                <a:latin typeface="Quattrocento Sans"/>
              </a:rPr>
              <a:t>deploy.sh</a:t>
            </a:r>
            <a:endParaRPr sz="2400" b="1" i="0" dirty="0">
              <a:solidFill>
                <a:srgbClr val="FFFFFF"/>
              </a:solidFill>
              <a:latin typeface="Quattrocento Sans"/>
            </a:endParaRPr>
          </a:p>
        </p:txBody>
      </p:sp>
      <p:sp>
        <p:nvSpPr>
          <p:cNvPr id="24" name="TextBox 23"/>
          <p:cNvSpPr txBox="1"/>
          <p:nvPr/>
        </p:nvSpPr>
        <p:spPr>
          <a:xfrm>
            <a:off x="19377964" y="5486400"/>
            <a:ext cx="3939235" cy="2743200"/>
          </a:xfrm>
          <a:prstGeom prst="rect">
            <a:avLst/>
          </a:prstGeom>
          <a:noFill/>
        </p:spPr>
        <p:txBody>
          <a:bodyPr wrap="square" lIns="0" tIns="0" rIns="0" bIns="0" anchor="t">
            <a:spAutoFit/>
          </a:bodyPr>
          <a:lstStyle/>
          <a:p>
            <a:pPr algn="ctr">
              <a:lnSpc>
                <a:spcPct val="125000"/>
              </a:lnSpc>
              <a:spcAft>
                <a:spcPts val="600"/>
              </a:spcAft>
            </a:pPr>
            <a:r>
              <a:rPr sz="2800" b="0" i="0">
                <a:solidFill>
                  <a:srgbClr val="1E293B"/>
                </a:solidFill>
                <a:latin typeface="Quattrocento Sans"/>
              </a:rPr>
              <a:t>No retry when the network fails</a:t>
            </a:r>
          </a:p>
        </p:txBody>
      </p:sp>
      <p:sp>
        <p:nvSpPr>
          <p:cNvPr id="25" name="Rounded Rectangle 24"/>
          <p:cNvSpPr/>
          <p:nvPr/>
        </p:nvSpPr>
        <p:spPr>
          <a:xfrm>
            <a:off x="1014984" y="8229600"/>
            <a:ext cx="22347936" cy="1554480"/>
          </a:xfrm>
          <a:prstGeom prst="roundRect">
            <a:avLst>
              <a:gd name="adj" fmla="val 7058"/>
            </a:avLst>
          </a:prstGeom>
          <a:solidFill>
            <a:srgbClr val="FBE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14984" y="8229600"/>
            <a:ext cx="128016" cy="1554480"/>
          </a:xfrm>
          <a:prstGeom prst="rect">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17904" y="8229600"/>
            <a:ext cx="21524976" cy="1554480"/>
          </a:xfrm>
          <a:prstGeom prst="rect">
            <a:avLst/>
          </a:prstGeom>
          <a:noFill/>
        </p:spPr>
        <p:txBody>
          <a:bodyPr wrap="square" lIns="0" tIns="0" rIns="0" bIns="0" anchor="ctr">
            <a:spAutoFit/>
          </a:bodyPr>
          <a:lstStyle/>
          <a:p>
            <a:pPr algn="l">
              <a:lnSpc>
                <a:spcPct val="120000"/>
              </a:lnSpc>
              <a:spcAft>
                <a:spcPts val="600"/>
              </a:spcAft>
            </a:pPr>
            <a:r>
              <a:rPr sz="2700" b="0" i="1">
                <a:solidFill>
                  <a:srgbClr val="1B2A4A"/>
                </a:solidFill>
                <a:latin typeface="Quattrocento Sans"/>
              </a:rPr>
              <a:t>Each arrow is a human decision, not code. The retraining policy exists only as a sentence in a document.</a:t>
            </a:r>
          </a:p>
        </p:txBody>
      </p:sp>
      <p:sp>
        <p:nvSpPr>
          <p:cNvPr id="28" name="Rounded Rectangle 27"/>
          <p:cNvSpPr/>
          <p:nvPr/>
        </p:nvSpPr>
        <p:spPr>
          <a:xfrm>
            <a:off x="1014984" y="10149840"/>
            <a:ext cx="22347936" cy="1554480"/>
          </a:xfrm>
          <a:prstGeom prst="roundRect">
            <a:avLst>
              <a:gd name="adj" fmla="val 7058"/>
            </a:avLst>
          </a:prstGeom>
          <a:solidFill>
            <a:srgbClr val="F2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14984" y="10149840"/>
            <a:ext cx="128016" cy="15544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517904" y="10149840"/>
            <a:ext cx="21524976" cy="1554480"/>
          </a:xfrm>
          <a:prstGeom prst="rect">
            <a:avLst/>
          </a:prstGeom>
          <a:noFill/>
        </p:spPr>
        <p:txBody>
          <a:bodyPr wrap="square" lIns="0" tIns="0" rIns="0" bIns="0" anchor="ctr">
            <a:spAutoFit/>
          </a:bodyPr>
          <a:lstStyle/>
          <a:p>
            <a:pPr algn="l">
              <a:lnSpc>
                <a:spcPct val="120000"/>
              </a:lnSpc>
              <a:spcAft>
                <a:spcPts val="600"/>
              </a:spcAft>
            </a:pPr>
            <a:r>
              <a:rPr sz="2700" b="0" i="1">
                <a:solidFill>
                  <a:srgbClr val="1B2A4A"/>
                </a:solidFill>
                <a:latin typeface="Quattrocento Sans"/>
              </a:rPr>
              <a:t>Orchestration moves the arrows into code: order, conditions, retries and history.</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What an Orchestrator Adds</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CONCEPT</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20</a:t>
            </a:r>
          </a:p>
        </p:txBody>
      </p:sp>
      <p:sp>
        <p:nvSpPr>
          <p:cNvPr id="6" name="Rounded Rectangle 5"/>
          <p:cNvSpPr/>
          <p:nvPr/>
        </p:nvSpPr>
        <p:spPr>
          <a:xfrm>
            <a:off x="1014984" y="251460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63624"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01</a:t>
            </a:r>
          </a:p>
        </p:txBody>
      </p:sp>
      <p:sp>
        <p:nvSpPr>
          <p:cNvPr id="8" name="TextBox 7"/>
          <p:cNvSpPr txBox="1"/>
          <p:nvPr/>
        </p:nvSpPr>
        <p:spPr>
          <a:xfrm>
            <a:off x="2615184" y="292608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Scheduling</a:t>
            </a:r>
          </a:p>
        </p:txBody>
      </p:sp>
      <p:sp>
        <p:nvSpPr>
          <p:cNvPr id="9" name="TextBox 8"/>
          <p:cNvSpPr txBox="1"/>
          <p:nvPr/>
        </p:nvSpPr>
        <p:spPr>
          <a:xfrm>
            <a:off x="1563624" y="393192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The pipeline runs every night at 02:00, not whenever an engineer remembers to run it.</a:t>
            </a:r>
          </a:p>
        </p:txBody>
      </p:sp>
      <p:sp>
        <p:nvSpPr>
          <p:cNvPr id="10" name="Rounded Rectangle 9"/>
          <p:cNvSpPr/>
          <p:nvPr/>
        </p:nvSpPr>
        <p:spPr>
          <a:xfrm>
            <a:off x="12394692" y="251460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943332"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02</a:t>
            </a:r>
          </a:p>
        </p:txBody>
      </p:sp>
      <p:sp>
        <p:nvSpPr>
          <p:cNvPr id="12" name="TextBox 11"/>
          <p:cNvSpPr txBox="1"/>
          <p:nvPr/>
        </p:nvSpPr>
        <p:spPr>
          <a:xfrm>
            <a:off x="13994892" y="292608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Conditional branching</a:t>
            </a:r>
          </a:p>
        </p:txBody>
      </p:sp>
      <p:sp>
        <p:nvSpPr>
          <p:cNvPr id="13" name="TextBox 12"/>
          <p:cNvSpPr txBox="1"/>
          <p:nvPr/>
        </p:nvSpPr>
        <p:spPr>
          <a:xfrm>
            <a:off x="12943332" y="393192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"Release ONLY IF the candidate passes the gate" — logic that used to live in someone's head.</a:t>
            </a:r>
          </a:p>
        </p:txBody>
      </p:sp>
      <p:sp>
        <p:nvSpPr>
          <p:cNvPr id="14" name="Rounded Rectangle 13"/>
          <p:cNvSpPr/>
          <p:nvPr/>
        </p:nvSpPr>
        <p:spPr>
          <a:xfrm>
            <a:off x="1014984" y="770382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63624" y="811530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03</a:t>
            </a:r>
          </a:p>
        </p:txBody>
      </p:sp>
      <p:sp>
        <p:nvSpPr>
          <p:cNvPr id="16" name="TextBox 15"/>
          <p:cNvSpPr txBox="1"/>
          <p:nvPr/>
        </p:nvSpPr>
        <p:spPr>
          <a:xfrm>
            <a:off x="2615184" y="811530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Closing the loop</a:t>
            </a:r>
          </a:p>
        </p:txBody>
      </p:sp>
      <p:sp>
        <p:nvSpPr>
          <p:cNvPr id="17" name="TextBox 16"/>
          <p:cNvSpPr txBox="1"/>
          <p:nvPr/>
        </p:nvSpPr>
        <p:spPr>
          <a:xfrm>
            <a:off x="1563624" y="912114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The retraining policy from Session 3 ("retrain if ≥30% of columns drift") is actually executed.</a:t>
            </a:r>
          </a:p>
        </p:txBody>
      </p:sp>
      <p:sp>
        <p:nvSpPr>
          <p:cNvPr id="18" name="Rounded Rectangle 17"/>
          <p:cNvSpPr/>
          <p:nvPr/>
        </p:nvSpPr>
        <p:spPr>
          <a:xfrm>
            <a:off x="12394692" y="770382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943332" y="811530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04</a:t>
            </a:r>
          </a:p>
        </p:txBody>
      </p:sp>
      <p:sp>
        <p:nvSpPr>
          <p:cNvPr id="20" name="TextBox 19"/>
          <p:cNvSpPr txBox="1"/>
          <p:nvPr/>
        </p:nvSpPr>
        <p:spPr>
          <a:xfrm>
            <a:off x="13994892" y="811530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Retries &amp; history</a:t>
            </a:r>
          </a:p>
        </p:txBody>
      </p:sp>
      <p:sp>
        <p:nvSpPr>
          <p:cNvPr id="21" name="TextBox 20"/>
          <p:cNvSpPr txBox="1"/>
          <p:nvPr/>
        </p:nvSpPr>
        <p:spPr>
          <a:xfrm>
            <a:off x="12943332" y="912114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A flaky gcloud call is retried automatically; every run is recorded and can be audited in a UI.</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Orchestration Tools: Infrastructure Trade-offs</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COMPARISON</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21</a:t>
            </a:r>
          </a:p>
        </p:txBody>
      </p:sp>
      <p:graphicFrame>
        <p:nvGraphicFramePr>
          <p:cNvPr id="6" name="Table 5"/>
          <p:cNvGraphicFramePr>
            <a:graphicFrameLocks noGrp="1"/>
          </p:cNvGraphicFramePr>
          <p:nvPr/>
        </p:nvGraphicFramePr>
        <p:xfrm>
          <a:off x="1014984" y="2514600"/>
          <a:ext cx="22347933" cy="8001000"/>
        </p:xfrm>
        <a:graphic>
          <a:graphicData uri="http://schemas.openxmlformats.org/drawingml/2006/table">
            <a:tbl>
              <a:tblPr/>
              <a:tblGrid>
                <a:gridCol w="3846775">
                  <a:extLst>
                    <a:ext uri="{9D8B030D-6E8A-4147-A177-3AD203B41FA5}">
                      <a16:colId xmlns:a16="http://schemas.microsoft.com/office/drawing/2014/main" val="20000"/>
                    </a:ext>
                  </a:extLst>
                </a:gridCol>
                <a:gridCol w="4945854">
                  <a:extLst>
                    <a:ext uri="{9D8B030D-6E8A-4147-A177-3AD203B41FA5}">
                      <a16:colId xmlns:a16="http://schemas.microsoft.com/office/drawing/2014/main" val="20001"/>
                    </a:ext>
                  </a:extLst>
                </a:gridCol>
                <a:gridCol w="6777652">
                  <a:extLst>
                    <a:ext uri="{9D8B030D-6E8A-4147-A177-3AD203B41FA5}">
                      <a16:colId xmlns:a16="http://schemas.microsoft.com/office/drawing/2014/main" val="20002"/>
                    </a:ext>
                  </a:extLst>
                </a:gridCol>
                <a:gridCol w="6777652">
                  <a:extLst>
                    <a:ext uri="{9D8B030D-6E8A-4147-A177-3AD203B41FA5}">
                      <a16:colId xmlns:a16="http://schemas.microsoft.com/office/drawing/2014/main" val="20003"/>
                    </a:ext>
                  </a:extLst>
                </a:gridCol>
              </a:tblGrid>
              <a:tr h="1600200">
                <a:tc>
                  <a:txBody>
                    <a:bodyPr/>
                    <a:lstStyle/>
                    <a:p>
                      <a:r>
                        <a:rPr sz="2400" b="1">
                          <a:solidFill>
                            <a:srgbClr val="FFFFFF"/>
                          </a:solidFill>
                          <a:latin typeface="Quattrocento Sans"/>
                        </a:rPr>
                        <a:t>Tool</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tc>
                  <a:txBody>
                    <a:bodyPr/>
                    <a:lstStyle/>
                    <a:p>
                      <a:r>
                        <a:rPr sz="2400" b="1">
                          <a:solidFill>
                            <a:srgbClr val="FFFFFF"/>
                          </a:solidFill>
                          <a:latin typeface="Quattrocento Sans"/>
                        </a:rPr>
                        <a:t>Execution model</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tc>
                  <a:txBody>
                    <a:bodyPr/>
                    <a:lstStyle/>
                    <a:p>
                      <a:r>
                        <a:rPr sz="2400" b="1">
                          <a:solidFill>
                            <a:srgbClr val="FFFFFF"/>
                          </a:solidFill>
                          <a:latin typeface="Quattrocento Sans"/>
                        </a:rPr>
                        <a:t>Infrastructure required</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tc>
                  <a:txBody>
                    <a:bodyPr/>
                    <a:lstStyle/>
                    <a:p>
                      <a:r>
                        <a:rPr sz="2400" b="1">
                          <a:solidFill>
                            <a:srgbClr val="FFFFFF"/>
                          </a:solidFill>
                          <a:latin typeface="Quattrocento Sans"/>
                        </a:rPr>
                        <a:t>When to choose it</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1B2A4A"/>
                    </a:solidFill>
                  </a:tcPr>
                </a:tc>
                <a:extLst>
                  <a:ext uri="{0D108BD9-81ED-4DB2-BD59-A6C34878D82A}">
                    <a16:rowId xmlns:a16="http://schemas.microsoft.com/office/drawing/2014/main" val="10000"/>
                  </a:ext>
                </a:extLst>
              </a:tr>
              <a:tr h="1600200">
                <a:tc>
                  <a:txBody>
                    <a:bodyPr/>
                    <a:lstStyle/>
                    <a:p>
                      <a:r>
                        <a:rPr sz="2400" b="1">
                          <a:solidFill>
                            <a:srgbClr val="1B2A4A"/>
                          </a:solidFill>
                          <a:latin typeface="Quattrocento Sans"/>
                        </a:rPr>
                        <a:t>Airflow</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a:solidFill>
                            <a:srgbClr val="1E293B"/>
                          </a:solidFill>
                          <a:latin typeface="Quattrocento Sans"/>
                        </a:rPr>
                        <a:t>Scheduler + static DAGs</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a:solidFill>
                            <a:srgbClr val="1E293B"/>
                          </a:solidFill>
                          <a:latin typeface="Quattrocento Sans"/>
                        </a:rPr>
                        <a:t>Metadata DB (Postgres), webserver, scheduler</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a:solidFill>
                            <a:srgbClr val="1E293B"/>
                          </a:solidFill>
                          <a:latin typeface="Quattrocento Sans"/>
                        </a:rPr>
                        <a:t>Many non-ML pipelines already; one central scheduler</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extLst>
                  <a:ext uri="{0D108BD9-81ED-4DB2-BD59-A6C34878D82A}">
                    <a16:rowId xmlns:a16="http://schemas.microsoft.com/office/drawing/2014/main" val="10001"/>
                  </a:ext>
                </a:extLst>
              </a:tr>
              <a:tr h="1600200">
                <a:tc>
                  <a:txBody>
                    <a:bodyPr/>
                    <a:lstStyle/>
                    <a:p>
                      <a:r>
                        <a:rPr sz="2400" b="1">
                          <a:solidFill>
                            <a:srgbClr val="1B2A4A"/>
                          </a:solidFill>
                          <a:latin typeface="Quattrocento Sans"/>
                        </a:rPr>
                        <a:t>Kubeflow Pipelines</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400" b="0">
                          <a:solidFill>
                            <a:srgbClr val="1E293B"/>
                          </a:solidFill>
                          <a:latin typeface="Quattrocento Sans"/>
                        </a:rPr>
                        <a:t>One container per step on K8s</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400" b="0">
                          <a:solidFill>
                            <a:srgbClr val="1E293B"/>
                          </a:solidFill>
                          <a:latin typeface="Quattrocento Sans"/>
                        </a:rPr>
                        <a:t>A Kubernetes cluster</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400" b="0">
                          <a:solidFill>
                            <a:srgbClr val="1E293B"/>
                          </a:solidFill>
                          <a:latin typeface="Quattrocento Sans"/>
                        </a:rPr>
                        <a:t>Steps need large resources (GPUs) each</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extLst>
                  <a:ext uri="{0D108BD9-81ED-4DB2-BD59-A6C34878D82A}">
                    <a16:rowId xmlns:a16="http://schemas.microsoft.com/office/drawing/2014/main" val="10002"/>
                  </a:ext>
                </a:extLst>
              </a:tr>
              <a:tr h="1600200">
                <a:tc>
                  <a:txBody>
                    <a:bodyPr/>
                    <a:lstStyle/>
                    <a:p>
                      <a:r>
                        <a:rPr sz="2400" b="1">
                          <a:solidFill>
                            <a:srgbClr val="1B2A4A"/>
                          </a:solidFill>
                          <a:latin typeface="Quattrocento Sans"/>
                        </a:rPr>
                        <a:t>Prefect</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a:solidFill>
                            <a:srgbClr val="1E293B"/>
                          </a:solidFill>
                          <a:latin typeface="Quattrocento Sans"/>
                        </a:rPr>
                        <a:t>Native Python, dynamic</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a:solidFill>
                            <a:srgbClr val="1E293B"/>
                          </a:solidFill>
                          <a:latin typeface="Quattrocento Sans"/>
                        </a:rPr>
                        <a:t>None to start — @flow is a Python function</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tc>
                  <a:txBody>
                    <a:bodyPr/>
                    <a:lstStyle/>
                    <a:p>
                      <a:r>
                        <a:rPr sz="2400" b="0">
                          <a:solidFill>
                            <a:srgbClr val="1E293B"/>
                          </a:solidFill>
                          <a:latin typeface="Quattrocento Sans"/>
                        </a:rPr>
                        <a:t>Small-to-medium teams; no extra servers</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FFFFF"/>
                    </a:solidFill>
                  </a:tcPr>
                </a:tc>
                <a:extLst>
                  <a:ext uri="{0D108BD9-81ED-4DB2-BD59-A6C34878D82A}">
                    <a16:rowId xmlns:a16="http://schemas.microsoft.com/office/drawing/2014/main" val="10003"/>
                  </a:ext>
                </a:extLst>
              </a:tr>
              <a:tr h="1600200">
                <a:tc>
                  <a:txBody>
                    <a:bodyPr/>
                    <a:lstStyle/>
                    <a:p>
                      <a:r>
                        <a:rPr sz="2400" b="1">
                          <a:solidFill>
                            <a:srgbClr val="1B2A4A"/>
                          </a:solidFill>
                          <a:latin typeface="Quattrocento Sans"/>
                        </a:rPr>
                        <a:t>ZenML</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400" b="0">
                          <a:solidFill>
                            <a:srgbClr val="1E293B"/>
                          </a:solidFill>
                          <a:latin typeface="Quattrocento Sans"/>
                        </a:rPr>
                        <a:t>Abstraction over other tools</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400" b="0">
                          <a:solidFill>
                            <a:srgbClr val="1E293B"/>
                          </a:solidFill>
                          <a:latin typeface="Quattrocento Sans"/>
                        </a:rPr>
                        <a:t>Local SQLite for the basics</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tc>
                  <a:txBody>
                    <a:bodyPr/>
                    <a:lstStyle/>
                    <a:p>
                      <a:r>
                        <a:rPr sz="2400" b="0">
                          <a:solidFill>
                            <a:srgbClr val="1E293B"/>
                          </a:solidFill>
                          <a:latin typeface="Quattrocento Sans"/>
                        </a:rPr>
                        <a:t>Gradual migration reusing existing MLflow/storage</a:t>
                      </a:r>
                    </a:p>
                  </a:txBody>
                  <a:tcPr marL="201168" marR="201168" marT="73152" marB="73152" anchor="ctr">
                    <a:lnL w="12700">
                      <a:solidFill>
                        <a:srgbClr val="E0DCD3"/>
                      </a:solidFill>
                    </a:lnL>
                    <a:lnR w="12700">
                      <a:solidFill>
                        <a:srgbClr val="E0DCD3"/>
                      </a:solidFill>
                    </a:lnR>
                    <a:lnT w="12700">
                      <a:solidFill>
                        <a:srgbClr val="E0DCD3"/>
                      </a:solidFill>
                    </a:lnT>
                    <a:lnB w="12700">
                      <a:solidFill>
                        <a:srgbClr val="E0DCD3"/>
                      </a:solidFill>
                    </a:lnB>
                    <a:solidFill>
                      <a:srgbClr val="F2EFE8"/>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1014984" y="10927080"/>
            <a:ext cx="22347936" cy="1280160"/>
          </a:xfrm>
          <a:prstGeom prst="roundRect">
            <a:avLst>
              <a:gd name="adj" fmla="val 8571"/>
            </a:avLst>
          </a:prstGeom>
          <a:solidFill>
            <a:srgbClr val="FB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14984" y="10927080"/>
            <a:ext cx="128016" cy="1280160"/>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17904" y="10927080"/>
            <a:ext cx="21524976" cy="1280160"/>
          </a:xfrm>
          <a:prstGeom prst="rect">
            <a:avLst/>
          </a:prstGeom>
          <a:noFill/>
        </p:spPr>
        <p:txBody>
          <a:bodyPr wrap="square" lIns="0" tIns="0" rIns="0" bIns="0" anchor="ctr">
            <a:spAutoFit/>
          </a:bodyPr>
          <a:lstStyle/>
          <a:p>
            <a:pPr algn="l">
              <a:lnSpc>
                <a:spcPct val="120000"/>
              </a:lnSpc>
              <a:spcAft>
                <a:spcPts val="600"/>
              </a:spcAft>
            </a:pPr>
            <a:r>
              <a:rPr sz="2400" b="0" i="1">
                <a:solidFill>
                  <a:srgbClr val="1B2A4A"/>
                </a:solidFill>
                <a:latin typeface="Quattrocento Sans"/>
              </a:rPr>
              <a:t>We use Prefect today because it is a plain pip install. The design ideas carry over to Airflow or Kubeflow unchanged.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A Prefect Flow with a Quality Gate</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CODE</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22</a:t>
            </a:r>
          </a:p>
        </p:txBody>
      </p:sp>
      <p:sp>
        <p:nvSpPr>
          <p:cNvPr id="6" name="Rounded Rectangle 5"/>
          <p:cNvSpPr/>
          <p:nvPr/>
        </p:nvSpPr>
        <p:spPr>
          <a:xfrm>
            <a:off x="1014984" y="2514600"/>
            <a:ext cx="14081760" cy="9966960"/>
          </a:xfrm>
          <a:prstGeom prst="roundRect">
            <a:avLst>
              <a:gd name="adj" fmla="val 1651"/>
            </a:avLst>
          </a:prstGeom>
          <a:solidFill>
            <a:srgbClr val="14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44168" y="2788920"/>
            <a:ext cx="182880" cy="18288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728216" y="2788920"/>
            <a:ext cx="182880" cy="18288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112264" y="2788920"/>
            <a:ext cx="182880" cy="18288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60904" y="2697480"/>
            <a:ext cx="12070080" cy="384048"/>
          </a:xfrm>
          <a:prstGeom prst="rect">
            <a:avLst/>
          </a:prstGeom>
          <a:noFill/>
        </p:spPr>
        <p:txBody>
          <a:bodyPr wrap="square" lIns="0" tIns="0" rIns="0" bIns="0" anchor="t">
            <a:spAutoFit/>
          </a:bodyPr>
          <a:lstStyle/>
          <a:p>
            <a:pPr algn="l">
              <a:lnSpc>
                <a:spcPct val="120000"/>
              </a:lnSpc>
              <a:spcAft>
                <a:spcPts val="600"/>
              </a:spcAft>
            </a:pPr>
            <a:r>
              <a:rPr sz="1800" b="0" i="0">
                <a:solidFill>
                  <a:srgbClr val="8B9BB4"/>
                </a:solidFill>
                <a:latin typeface="Consolas"/>
              </a:rPr>
              <a:t>orchestration/pipeline.py (abridged)</a:t>
            </a:r>
          </a:p>
        </p:txBody>
      </p:sp>
      <p:sp>
        <p:nvSpPr>
          <p:cNvPr id="11" name="TextBox 10"/>
          <p:cNvSpPr txBox="1"/>
          <p:nvPr/>
        </p:nvSpPr>
        <p:spPr>
          <a:xfrm>
            <a:off x="1426464" y="3227832"/>
            <a:ext cx="13350240" cy="8894743"/>
          </a:xfrm>
          <a:prstGeom prst="rect">
            <a:avLst/>
          </a:prstGeom>
          <a:noFill/>
        </p:spPr>
        <p:txBody>
          <a:bodyPr wrap="square" lIns="0" tIns="0" rIns="0" bIns="0" anchor="t">
            <a:spAutoFit/>
          </a:bodyPr>
          <a:lstStyle/>
          <a:p>
            <a:pPr algn="l">
              <a:lnSpc>
                <a:spcPct val="100000"/>
              </a:lnSpc>
              <a:spcAft>
                <a:spcPts val="0"/>
              </a:spcAft>
            </a:pPr>
            <a:r>
              <a:rPr sz="2200" b="0" i="0" dirty="0">
                <a:solidFill>
                  <a:srgbClr val="E6EDF3"/>
                </a:solidFill>
                <a:latin typeface="Consolas"/>
              </a:rPr>
              <a:t>@task(retries=2, </a:t>
            </a:r>
            <a:r>
              <a:rPr sz="2200" b="0" i="0" dirty="0" err="1">
                <a:solidFill>
                  <a:srgbClr val="E6EDF3"/>
                </a:solidFill>
                <a:latin typeface="Consolas"/>
              </a:rPr>
              <a:t>retry_delay_seconds</a:t>
            </a:r>
            <a:r>
              <a:rPr sz="2200" b="0" i="0" dirty="0">
                <a:solidFill>
                  <a:srgbClr val="E6EDF3"/>
                </a:solidFill>
                <a:latin typeface="Consolas"/>
              </a:rPr>
              <a:t>=5, </a:t>
            </a:r>
            <a:r>
              <a:rPr sz="2200" b="0" i="0" dirty="0" err="1">
                <a:solidFill>
                  <a:srgbClr val="E6EDF3"/>
                </a:solidFill>
                <a:latin typeface="Consolas"/>
              </a:rPr>
              <a:t>log_prints</a:t>
            </a:r>
            <a:r>
              <a:rPr sz="2200" b="0" i="0" dirty="0">
                <a:solidFill>
                  <a:srgbClr val="E6EDF3"/>
                </a:solidFill>
                <a:latin typeface="Consolas"/>
              </a:rPr>
              <a:t>=True)</a:t>
            </a:r>
          </a:p>
          <a:p>
            <a:pPr algn="l">
              <a:lnSpc>
                <a:spcPct val="100000"/>
              </a:lnSpc>
              <a:spcAft>
                <a:spcPts val="0"/>
              </a:spcAft>
            </a:pPr>
            <a:r>
              <a:rPr sz="2200" b="0" i="0" dirty="0">
                <a:solidFill>
                  <a:srgbClr val="E6EDF3"/>
                </a:solidFill>
                <a:latin typeface="Consolas"/>
              </a:rPr>
              <a:t>def </a:t>
            </a:r>
            <a:r>
              <a:rPr sz="2200" b="0" i="0" dirty="0" err="1">
                <a:solidFill>
                  <a:srgbClr val="E6EDF3"/>
                </a:solidFill>
                <a:latin typeface="Consolas"/>
              </a:rPr>
              <a:t>check_drift</a:t>
            </a:r>
            <a:r>
              <a:rPr sz="2200" b="0" i="0" dirty="0">
                <a:solidFill>
                  <a:srgbClr val="E6EDF3"/>
                </a:solidFill>
                <a:latin typeface="Consolas"/>
              </a:rPr>
              <a:t>() -&gt; bool:</a:t>
            </a:r>
          </a:p>
          <a:p>
            <a:pPr algn="l">
              <a:lnSpc>
                <a:spcPct val="100000"/>
              </a:lnSpc>
              <a:spcAft>
                <a:spcPts val="0"/>
              </a:spcAft>
            </a:pPr>
            <a:r>
              <a:rPr sz="2200" b="0" i="0" dirty="0">
                <a:solidFill>
                  <a:srgbClr val="E6EDF3"/>
                </a:solidFill>
                <a:latin typeface="Consolas"/>
              </a:rPr>
              <a:t>    return "exceeds threshold" in _run([PY, "monitoring/</a:t>
            </a:r>
            <a:r>
              <a:rPr sz="2200" b="0" i="0" dirty="0" err="1">
                <a:solidFill>
                  <a:srgbClr val="E6EDF3"/>
                </a:solidFill>
                <a:latin typeface="Consolas"/>
              </a:rPr>
              <a:t>monitor.py</a:t>
            </a:r>
            <a:r>
              <a:rPr sz="2200" b="0" i="0" dirty="0">
                <a:solidFill>
                  <a:srgbClr val="E6EDF3"/>
                </a:solidFill>
                <a:latin typeface="Consolas"/>
              </a:rPr>
              <a:t>"])</a:t>
            </a:r>
          </a:p>
          <a:p>
            <a:pPr algn="l">
              <a:lnSpc>
                <a:spcPct val="100000"/>
              </a:lnSpc>
              <a:spcAft>
                <a:spcPts val="0"/>
              </a:spcAft>
            </a:pPr>
            <a:r>
              <a:rPr sz="2200" b="0" i="0" dirty="0">
                <a:solidFill>
                  <a:srgbClr val="E6EDF3"/>
                </a:solidFill>
                <a:latin typeface="Consolas"/>
              </a:rPr>
              <a:t> </a:t>
            </a:r>
          </a:p>
          <a:p>
            <a:pPr algn="l">
              <a:lnSpc>
                <a:spcPct val="100000"/>
              </a:lnSpc>
              <a:spcAft>
                <a:spcPts val="0"/>
              </a:spcAft>
            </a:pPr>
            <a:r>
              <a:rPr sz="2200" b="0" i="0" dirty="0">
                <a:solidFill>
                  <a:srgbClr val="E6EDF3"/>
                </a:solidFill>
                <a:latin typeface="Consolas"/>
              </a:rPr>
              <a:t>@task(retries=3, </a:t>
            </a:r>
            <a:r>
              <a:rPr sz="2200" b="0" i="0" dirty="0" err="1">
                <a:solidFill>
                  <a:srgbClr val="E6EDF3"/>
                </a:solidFill>
                <a:latin typeface="Consolas"/>
              </a:rPr>
              <a:t>retry_delay_seconds</a:t>
            </a:r>
            <a:r>
              <a:rPr sz="2200" b="0" i="0" dirty="0">
                <a:solidFill>
                  <a:srgbClr val="E6EDF3"/>
                </a:solidFill>
                <a:latin typeface="Consolas"/>
              </a:rPr>
              <a:t>=10, </a:t>
            </a:r>
            <a:r>
              <a:rPr sz="2200" b="0" i="0" dirty="0" err="1">
                <a:solidFill>
                  <a:srgbClr val="E6EDF3"/>
                </a:solidFill>
                <a:latin typeface="Consolas"/>
              </a:rPr>
              <a:t>log_prints</a:t>
            </a:r>
            <a:r>
              <a:rPr sz="2200" b="0" i="0" dirty="0">
                <a:solidFill>
                  <a:srgbClr val="E6EDF3"/>
                </a:solidFill>
                <a:latin typeface="Consolas"/>
              </a:rPr>
              <a:t>=True)</a:t>
            </a:r>
          </a:p>
          <a:p>
            <a:pPr algn="l">
              <a:lnSpc>
                <a:spcPct val="100000"/>
              </a:lnSpc>
              <a:spcAft>
                <a:spcPts val="0"/>
              </a:spcAft>
            </a:pPr>
            <a:r>
              <a:rPr sz="2200" b="0" i="0" dirty="0">
                <a:solidFill>
                  <a:srgbClr val="E6EDF3"/>
                </a:solidFill>
                <a:latin typeface="Consolas"/>
              </a:rPr>
              <a:t>def deploy():</a:t>
            </a:r>
          </a:p>
          <a:p>
            <a:pPr algn="l">
              <a:lnSpc>
                <a:spcPct val="100000"/>
              </a:lnSpc>
              <a:spcAft>
                <a:spcPts val="0"/>
              </a:spcAft>
            </a:pPr>
            <a:r>
              <a:rPr sz="2200" b="0" i="0" dirty="0">
                <a:solidFill>
                  <a:srgbClr val="E6EDF3"/>
                </a:solidFill>
                <a:latin typeface="Consolas"/>
              </a:rPr>
              <a:t>    _run(["bash", "docker/</a:t>
            </a:r>
            <a:r>
              <a:rPr sz="2200" b="0" i="0" dirty="0" err="1">
                <a:solidFill>
                  <a:srgbClr val="E6EDF3"/>
                </a:solidFill>
                <a:latin typeface="Consolas"/>
              </a:rPr>
              <a:t>deploy.sh</a:t>
            </a:r>
            <a:r>
              <a:rPr sz="2200" b="0" i="0" dirty="0">
                <a:solidFill>
                  <a:srgbClr val="E6EDF3"/>
                </a:solidFill>
                <a:latin typeface="Consolas"/>
              </a:rPr>
              <a:t>"])</a:t>
            </a:r>
          </a:p>
          <a:p>
            <a:pPr algn="l">
              <a:lnSpc>
                <a:spcPct val="100000"/>
              </a:lnSpc>
              <a:spcAft>
                <a:spcPts val="0"/>
              </a:spcAft>
            </a:pPr>
            <a:r>
              <a:rPr sz="2200" b="0" i="0" dirty="0">
                <a:solidFill>
                  <a:srgbClr val="E6EDF3"/>
                </a:solidFill>
                <a:latin typeface="Consolas"/>
              </a:rPr>
              <a:t> </a:t>
            </a:r>
          </a:p>
          <a:p>
            <a:pPr algn="l">
              <a:lnSpc>
                <a:spcPct val="100000"/>
              </a:lnSpc>
              <a:spcAft>
                <a:spcPts val="0"/>
              </a:spcAft>
            </a:pPr>
            <a:r>
              <a:rPr sz="2200" b="0" i="0" dirty="0">
                <a:solidFill>
                  <a:srgbClr val="E6EDF3"/>
                </a:solidFill>
                <a:latin typeface="Consolas"/>
              </a:rPr>
              <a:t>@flow(name="insurance-approval-retraining", </a:t>
            </a:r>
            <a:r>
              <a:rPr sz="2200" b="0" i="0" dirty="0" err="1">
                <a:solidFill>
                  <a:srgbClr val="E6EDF3"/>
                </a:solidFill>
                <a:latin typeface="Consolas"/>
              </a:rPr>
              <a:t>log_prints</a:t>
            </a:r>
            <a:r>
              <a:rPr sz="2200" b="0" i="0" dirty="0">
                <a:solidFill>
                  <a:srgbClr val="E6EDF3"/>
                </a:solidFill>
                <a:latin typeface="Consolas"/>
              </a:rPr>
              <a:t>=True)</a:t>
            </a:r>
          </a:p>
          <a:p>
            <a:pPr algn="l">
              <a:lnSpc>
                <a:spcPct val="100000"/>
              </a:lnSpc>
              <a:spcAft>
                <a:spcPts val="0"/>
              </a:spcAft>
            </a:pPr>
            <a:r>
              <a:rPr sz="2200" b="0" i="0" dirty="0">
                <a:solidFill>
                  <a:srgbClr val="E6EDF3"/>
                </a:solidFill>
                <a:latin typeface="Consolas"/>
              </a:rPr>
              <a:t>def </a:t>
            </a:r>
            <a:r>
              <a:rPr sz="2200" b="0" i="0" dirty="0" err="1">
                <a:solidFill>
                  <a:srgbClr val="E6EDF3"/>
                </a:solidFill>
                <a:latin typeface="Consolas"/>
              </a:rPr>
              <a:t>mlops_pipeline</a:t>
            </a:r>
            <a:r>
              <a:rPr sz="2200" b="0" i="0" dirty="0">
                <a:solidFill>
                  <a:srgbClr val="E6EDF3"/>
                </a:solidFill>
                <a:latin typeface="Consolas"/>
              </a:rPr>
              <a:t>():</a:t>
            </a:r>
          </a:p>
          <a:p>
            <a:pPr algn="l">
              <a:lnSpc>
                <a:spcPct val="100000"/>
              </a:lnSpc>
              <a:spcAft>
                <a:spcPts val="0"/>
              </a:spcAft>
            </a:pPr>
            <a:r>
              <a:rPr sz="2200" b="0" i="0" dirty="0">
                <a:solidFill>
                  <a:srgbClr val="E6EDF3"/>
                </a:solidFill>
                <a:latin typeface="Consolas"/>
              </a:rPr>
              <a:t>    if not </a:t>
            </a:r>
            <a:r>
              <a:rPr sz="2200" b="0" i="0" dirty="0" err="1">
                <a:solidFill>
                  <a:srgbClr val="E6EDF3"/>
                </a:solidFill>
                <a:latin typeface="Consolas"/>
              </a:rPr>
              <a:t>check_drift</a:t>
            </a:r>
            <a:r>
              <a:rPr sz="2200" b="0" i="0" dirty="0">
                <a:solidFill>
                  <a:srgbClr val="E6EDF3"/>
                </a:solidFill>
                <a:latin typeface="Consolas"/>
              </a:rPr>
              <a:t>():</a:t>
            </a:r>
          </a:p>
          <a:p>
            <a:pPr algn="l">
              <a:lnSpc>
                <a:spcPct val="100000"/>
              </a:lnSpc>
              <a:spcAft>
                <a:spcPts val="0"/>
              </a:spcAft>
            </a:pPr>
            <a:r>
              <a:rPr sz="2200" b="0" i="0" dirty="0">
                <a:solidFill>
                  <a:srgbClr val="E6EDF3"/>
                </a:solidFill>
                <a:latin typeface="Consolas"/>
              </a:rPr>
              <a:t>        return                          # nothing to do</a:t>
            </a:r>
          </a:p>
          <a:p>
            <a:pPr algn="l">
              <a:lnSpc>
                <a:spcPct val="100000"/>
              </a:lnSpc>
              <a:spcAft>
                <a:spcPts val="0"/>
              </a:spcAft>
            </a:pPr>
            <a:r>
              <a:rPr sz="2200" b="0" i="0" dirty="0">
                <a:solidFill>
                  <a:srgbClr val="E6EDF3"/>
                </a:solidFill>
                <a:latin typeface="Consolas"/>
              </a:rPr>
              <a:t>    previous = _</a:t>
            </a:r>
            <a:r>
              <a:rPr sz="2200" b="0" i="0" dirty="0" err="1">
                <a:solidFill>
                  <a:srgbClr val="E6EDF3"/>
                </a:solidFill>
                <a:latin typeface="Consolas"/>
              </a:rPr>
              <a:t>champion_version</a:t>
            </a:r>
            <a:r>
              <a:rPr sz="2200" b="0" i="0" dirty="0">
                <a:solidFill>
                  <a:srgbClr val="E6EDF3"/>
                </a:solidFill>
                <a:latin typeface="Consolas"/>
              </a:rPr>
              <a:t>()</a:t>
            </a:r>
          </a:p>
          <a:p>
            <a:pPr algn="l">
              <a:lnSpc>
                <a:spcPct val="100000"/>
              </a:lnSpc>
              <a:spcAft>
                <a:spcPts val="0"/>
              </a:spcAft>
            </a:pPr>
            <a:r>
              <a:rPr sz="2200" b="0" i="0" dirty="0">
                <a:solidFill>
                  <a:srgbClr val="E6EDF3"/>
                </a:solidFill>
                <a:latin typeface="Consolas"/>
              </a:rPr>
              <a:t>    retrain()</a:t>
            </a:r>
          </a:p>
          <a:p>
            <a:pPr algn="l">
              <a:lnSpc>
                <a:spcPct val="100000"/>
              </a:lnSpc>
              <a:spcAft>
                <a:spcPts val="0"/>
              </a:spcAft>
            </a:pPr>
            <a:r>
              <a:rPr sz="2200" b="0" i="0" dirty="0">
                <a:solidFill>
                  <a:srgbClr val="E6EDF3"/>
                </a:solidFill>
                <a:latin typeface="Consolas"/>
              </a:rPr>
              <a:t>    if not </a:t>
            </a:r>
            <a:r>
              <a:rPr sz="2200" b="0" i="0" dirty="0" err="1">
                <a:solidFill>
                  <a:srgbClr val="E6EDF3"/>
                </a:solidFill>
                <a:latin typeface="Consolas"/>
              </a:rPr>
              <a:t>quality_gate</a:t>
            </a:r>
            <a:r>
              <a:rPr sz="2200" b="0" i="0" dirty="0">
                <a:solidFill>
                  <a:srgbClr val="E6EDF3"/>
                </a:solidFill>
                <a:latin typeface="Consolas"/>
              </a:rPr>
              <a:t>():</a:t>
            </a:r>
          </a:p>
          <a:p>
            <a:pPr algn="l">
              <a:lnSpc>
                <a:spcPct val="100000"/>
              </a:lnSpc>
              <a:spcAft>
                <a:spcPts val="0"/>
              </a:spcAft>
            </a:pPr>
            <a:r>
              <a:rPr sz="2200" b="0" i="0" dirty="0">
                <a:solidFill>
                  <a:srgbClr val="E6EDF3"/>
                </a:solidFill>
                <a:latin typeface="Consolas"/>
              </a:rPr>
              <a:t>        rollback(previous)              # never release a failing candidate</a:t>
            </a:r>
          </a:p>
          <a:p>
            <a:pPr algn="l">
              <a:lnSpc>
                <a:spcPct val="100000"/>
              </a:lnSpc>
              <a:spcAft>
                <a:spcPts val="0"/>
              </a:spcAft>
            </a:pPr>
            <a:r>
              <a:rPr sz="2200" b="0" i="0" dirty="0">
                <a:solidFill>
                  <a:srgbClr val="E6EDF3"/>
                </a:solidFill>
                <a:latin typeface="Consolas"/>
              </a:rPr>
              <a:t>        return</a:t>
            </a:r>
          </a:p>
          <a:p>
            <a:pPr algn="l">
              <a:lnSpc>
                <a:spcPct val="100000"/>
              </a:lnSpc>
              <a:spcAft>
                <a:spcPts val="0"/>
              </a:spcAft>
            </a:pPr>
            <a:r>
              <a:rPr sz="2200" b="0" i="0" dirty="0">
                <a:solidFill>
                  <a:srgbClr val="E6EDF3"/>
                </a:solidFill>
                <a:latin typeface="Consolas"/>
              </a:rPr>
              <a:t>    </a:t>
            </a:r>
            <a:r>
              <a:rPr sz="2200" b="0" i="0" dirty="0" err="1">
                <a:solidFill>
                  <a:srgbClr val="E6EDF3"/>
                </a:solidFill>
                <a:latin typeface="Consolas"/>
              </a:rPr>
              <a:t>export_model</a:t>
            </a:r>
            <a:r>
              <a:rPr sz="2200" b="0" i="0" dirty="0">
                <a:solidFill>
                  <a:srgbClr val="E6EDF3"/>
                </a:solidFill>
                <a:latin typeface="Consolas"/>
              </a:rPr>
              <a:t>()</a:t>
            </a:r>
          </a:p>
          <a:p>
            <a:pPr algn="l">
              <a:lnSpc>
                <a:spcPct val="100000"/>
              </a:lnSpc>
              <a:spcAft>
                <a:spcPts val="0"/>
              </a:spcAft>
            </a:pPr>
            <a:r>
              <a:rPr sz="2200" b="0" i="0" dirty="0">
                <a:solidFill>
                  <a:srgbClr val="E6EDF3"/>
                </a:solidFill>
                <a:latin typeface="Consolas"/>
              </a:rPr>
              <a:t>    if </a:t>
            </a:r>
            <a:r>
              <a:rPr sz="2200" b="0" i="0" dirty="0" err="1">
                <a:solidFill>
                  <a:srgbClr val="E6EDF3"/>
                </a:solidFill>
                <a:latin typeface="Consolas"/>
              </a:rPr>
              <a:t>os.getenv</a:t>
            </a:r>
            <a:r>
              <a:rPr sz="2200" b="0" i="0" dirty="0">
                <a:solidFill>
                  <a:srgbClr val="E6EDF3"/>
                </a:solidFill>
                <a:latin typeface="Consolas"/>
              </a:rPr>
              <a:t>("PROJECT_ID"):</a:t>
            </a:r>
          </a:p>
          <a:p>
            <a:pPr algn="l">
              <a:lnSpc>
                <a:spcPct val="100000"/>
              </a:lnSpc>
              <a:spcAft>
                <a:spcPts val="0"/>
              </a:spcAft>
            </a:pPr>
            <a:r>
              <a:rPr sz="2200" b="0" i="0" dirty="0">
                <a:solidFill>
                  <a:srgbClr val="E6EDF3"/>
                </a:solidFill>
                <a:latin typeface="Consolas"/>
              </a:rPr>
              <a:t>        deploy()</a:t>
            </a:r>
            <a:endParaRPr lang="en-US" sz="2200" b="0" i="0" dirty="0">
              <a:solidFill>
                <a:srgbClr val="E6EDF3"/>
              </a:solidFill>
              <a:latin typeface="Consolas"/>
            </a:endParaRPr>
          </a:p>
          <a:p>
            <a:endParaRPr lang="en-ID" sz="2800" dirty="0">
              <a:solidFill>
                <a:schemeClr val="bg1"/>
              </a:solidFill>
            </a:endParaRPr>
          </a:p>
          <a:p>
            <a:r>
              <a:rPr lang="en-ID" sz="2200" dirty="0">
                <a:solidFill>
                  <a:schemeClr val="bg1"/>
                </a:solidFill>
                <a:latin typeface="Consolas" panose="020B0609020204030204" pitchFamily="49" charset="0"/>
                <a:cs typeface="Consolas" panose="020B0609020204030204" pitchFamily="49" charset="0"/>
              </a:rPr>
              <a:t>if __name__ == "__main__":</a:t>
            </a:r>
          </a:p>
          <a:p>
            <a:r>
              <a:rPr lang="en-ID" sz="2200" dirty="0">
                <a:solidFill>
                  <a:schemeClr val="bg1"/>
                </a:solidFill>
                <a:latin typeface="Consolas" panose="020B0609020204030204" pitchFamily="49" charset="0"/>
                <a:cs typeface="Consolas" panose="020B0609020204030204" pitchFamily="49" charset="0"/>
              </a:rPr>
              <a:t>    </a:t>
            </a:r>
            <a:r>
              <a:rPr lang="en-ID" sz="2200" dirty="0" err="1">
                <a:solidFill>
                  <a:schemeClr val="bg1"/>
                </a:solidFill>
                <a:latin typeface="Consolas" panose="020B0609020204030204" pitchFamily="49" charset="0"/>
                <a:cs typeface="Consolas" panose="020B0609020204030204" pitchFamily="49" charset="0"/>
              </a:rPr>
              <a:t>mlops_pipeline.serve</a:t>
            </a:r>
            <a:r>
              <a:rPr lang="en-ID" sz="2200" dirty="0">
                <a:solidFill>
                  <a:schemeClr val="bg1"/>
                </a:solidFill>
                <a:latin typeface="Consolas" panose="020B0609020204030204" pitchFamily="49" charset="0"/>
                <a:cs typeface="Consolas" panose="020B0609020204030204" pitchFamily="49" charset="0"/>
              </a:rPr>
              <a:t>( </a:t>
            </a:r>
          </a:p>
          <a:p>
            <a:r>
              <a:rPr lang="en-ID" sz="2200" dirty="0">
                <a:solidFill>
                  <a:schemeClr val="bg1"/>
                </a:solidFill>
                <a:latin typeface="Consolas" panose="020B0609020204030204" pitchFamily="49" charset="0"/>
                <a:cs typeface="Consolas" panose="020B0609020204030204" pitchFamily="49" charset="0"/>
              </a:rPr>
              <a:t>	  name="insurance-approval-test",</a:t>
            </a:r>
          </a:p>
          <a:p>
            <a:r>
              <a:rPr lang="en-ID" sz="2200" dirty="0">
                <a:solidFill>
                  <a:schemeClr val="bg1"/>
                </a:solidFill>
                <a:latin typeface="Consolas" panose="020B0609020204030204" pitchFamily="49" charset="0"/>
                <a:cs typeface="Consolas" panose="020B0609020204030204" pitchFamily="49" charset="0"/>
              </a:rPr>
              <a:t>	  interval=60,</a:t>
            </a:r>
          </a:p>
          <a:p>
            <a:r>
              <a:rPr lang="en-ID" sz="2200" dirty="0">
                <a:solidFill>
                  <a:schemeClr val="bg1"/>
                </a:solidFill>
                <a:latin typeface="Consolas" panose="020B0609020204030204" pitchFamily="49" charset="0"/>
                <a:cs typeface="Consolas" panose="020B0609020204030204" pitchFamily="49" charset="0"/>
              </a:rPr>
              <a:t>    )</a:t>
            </a:r>
            <a:endParaRPr sz="2200" b="0" i="0" dirty="0">
              <a:solidFill>
                <a:srgbClr val="E6EDF3"/>
              </a:solidFill>
              <a:latin typeface="Consolas" panose="020B0609020204030204" pitchFamily="49" charset="0"/>
              <a:cs typeface="Consolas" panose="020B0609020204030204" pitchFamily="49" charset="0"/>
            </a:endParaRPr>
          </a:p>
        </p:txBody>
      </p:sp>
      <p:sp>
        <p:nvSpPr>
          <p:cNvPr id="12" name="Rounded Rectangle 11"/>
          <p:cNvSpPr/>
          <p:nvPr/>
        </p:nvSpPr>
        <p:spPr>
          <a:xfrm>
            <a:off x="15544800" y="2514600"/>
            <a:ext cx="7818120" cy="9966960"/>
          </a:xfrm>
          <a:prstGeom prst="roundRect">
            <a:avLst>
              <a:gd name="adj" fmla="val 4093"/>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6047720" y="2926080"/>
            <a:ext cx="6858000" cy="731520"/>
          </a:xfrm>
          <a:prstGeom prst="rect">
            <a:avLst/>
          </a:prstGeom>
          <a:noFill/>
        </p:spPr>
        <p:txBody>
          <a:bodyPr wrap="square" lIns="0" tIns="0" rIns="0" bIns="0" anchor="t">
            <a:spAutoFit/>
          </a:bodyPr>
          <a:lstStyle/>
          <a:p>
            <a:pPr algn="l">
              <a:lnSpc>
                <a:spcPct val="120000"/>
              </a:lnSpc>
              <a:spcAft>
                <a:spcPts val="600"/>
              </a:spcAft>
            </a:pPr>
            <a:r>
              <a:rPr sz="3000" b="1" i="0">
                <a:solidFill>
                  <a:srgbClr val="1B2A4A"/>
                </a:solidFill>
                <a:latin typeface="Liter"/>
              </a:rPr>
              <a:t>What Prefect adds</a:t>
            </a:r>
          </a:p>
        </p:txBody>
      </p:sp>
      <p:sp>
        <p:nvSpPr>
          <p:cNvPr id="14" name="TextBox 13"/>
          <p:cNvSpPr txBox="1"/>
          <p:nvPr/>
        </p:nvSpPr>
        <p:spPr>
          <a:xfrm>
            <a:off x="16047720" y="3977639"/>
            <a:ext cx="6858000" cy="5393400"/>
          </a:xfrm>
          <a:prstGeom prst="rect">
            <a:avLst/>
          </a:prstGeom>
          <a:noFill/>
        </p:spPr>
        <p:txBody>
          <a:bodyPr wrap="square" lIns="0" tIns="0" rIns="0" bIns="0" anchor="t">
            <a:spAutoFit/>
          </a:bodyPr>
          <a:lstStyle/>
          <a:p>
            <a:pPr marL="379729" indent="-379729" algn="l">
              <a:lnSpc>
                <a:spcPct val="125000"/>
              </a:lnSpc>
              <a:spcAft>
                <a:spcPts val="1800"/>
              </a:spcAft>
              <a:buClr>
                <a:srgbClr val="D4A03A"/>
              </a:buClr>
              <a:buFont typeface="Arial"/>
              <a:buChar char="•"/>
            </a:pPr>
            <a:r>
              <a:rPr sz="2600" b="0" i="0" dirty="0">
                <a:solidFill>
                  <a:srgbClr val="1E293B"/>
                </a:solidFill>
                <a:latin typeface="Quattrocento Sans"/>
              </a:rPr>
              <a:t>@task: retries, timing and logs per step</a:t>
            </a:r>
          </a:p>
          <a:p>
            <a:pPr marL="379729" indent="-379729" algn="l">
              <a:lnSpc>
                <a:spcPct val="125000"/>
              </a:lnSpc>
              <a:spcAft>
                <a:spcPts val="1800"/>
              </a:spcAft>
              <a:buClr>
                <a:srgbClr val="D4A03A"/>
              </a:buClr>
              <a:buFont typeface="Arial"/>
              <a:buChar char="•"/>
            </a:pPr>
            <a:r>
              <a:rPr sz="2600" b="0" i="0" dirty="0">
                <a:solidFill>
                  <a:srgbClr val="1E293B"/>
                </a:solidFill>
                <a:latin typeface="Quattrocento Sans"/>
              </a:rPr>
              <a:t>@flow: the order and the if-branches live in code</a:t>
            </a:r>
          </a:p>
          <a:p>
            <a:pPr marL="379729" indent="-379729" algn="l">
              <a:lnSpc>
                <a:spcPct val="125000"/>
              </a:lnSpc>
              <a:spcAft>
                <a:spcPts val="1800"/>
              </a:spcAft>
              <a:buClr>
                <a:srgbClr val="D4A03A"/>
              </a:buClr>
              <a:buFont typeface="Arial"/>
              <a:buChar char="•"/>
            </a:pPr>
            <a:r>
              <a:rPr sz="2600" b="0" i="0" dirty="0">
                <a:solidFill>
                  <a:srgbClr val="1E293B"/>
                </a:solidFill>
                <a:latin typeface="Quattrocento Sans"/>
              </a:rPr>
              <a:t>_run() shows a failing step's stderr instead of hiding it</a:t>
            </a:r>
          </a:p>
          <a:p>
            <a:pPr marL="379729" indent="-379729" algn="l">
              <a:lnSpc>
                <a:spcPct val="125000"/>
              </a:lnSpc>
              <a:spcAft>
                <a:spcPts val="1800"/>
              </a:spcAft>
              <a:buClr>
                <a:srgbClr val="D4A03A"/>
              </a:buClr>
              <a:buFont typeface="Arial"/>
              <a:buChar char="•"/>
            </a:pPr>
            <a:r>
              <a:rPr sz="2600" b="0" i="0" dirty="0">
                <a:solidFill>
                  <a:srgbClr val="1E293B"/>
                </a:solidFill>
                <a:latin typeface="Quattrocento Sans"/>
              </a:rPr>
              <a:t>Deploy runs only when PROJECT_ID is set</a:t>
            </a:r>
            <a:endParaRPr lang="en-US" sz="2600" b="0" i="0" dirty="0">
              <a:solidFill>
                <a:srgbClr val="1E293B"/>
              </a:solidFill>
              <a:latin typeface="Quattrocento Sans"/>
            </a:endParaRPr>
          </a:p>
          <a:p>
            <a:pPr marL="379729" indent="-379729" algn="l">
              <a:lnSpc>
                <a:spcPct val="125000"/>
              </a:lnSpc>
              <a:spcAft>
                <a:spcPts val="1800"/>
              </a:spcAft>
              <a:buClr>
                <a:srgbClr val="D4A03A"/>
              </a:buClr>
              <a:buFont typeface="Arial"/>
              <a:buChar char="•"/>
            </a:pPr>
            <a:r>
              <a:rPr lang="en-ID" sz="2600" dirty="0">
                <a:solidFill>
                  <a:srgbClr val="1E293B"/>
                </a:solidFill>
                <a:latin typeface="Quattrocento Sans"/>
              </a:rPr>
              <a:t>In this </a:t>
            </a:r>
            <a:r>
              <a:rPr lang="en-ID" sz="2600" dirty="0" err="1">
                <a:solidFill>
                  <a:srgbClr val="1E293B"/>
                </a:solidFill>
                <a:latin typeface="Quattrocento Sans"/>
              </a:rPr>
              <a:t>snippset</a:t>
            </a:r>
            <a:r>
              <a:rPr lang="en-ID" sz="2600" dirty="0">
                <a:solidFill>
                  <a:srgbClr val="1E293B"/>
                </a:solidFill>
                <a:latin typeface="Quattrocento Sans"/>
              </a:rPr>
              <a:t> the monitoring will be executed once every 60 seconds. Note that prefect process can be placed as Cron job.</a:t>
            </a:r>
            <a:endParaRPr sz="2600" b="0" i="0" dirty="0">
              <a:solidFill>
                <a:srgbClr val="1E293B"/>
              </a:solidFill>
              <a:latin typeface="Quattrocento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2">
            <a:extLst>
              <a:ext uri="{FF2B5EF4-FFF2-40B4-BE49-F238E27FC236}">
                <a16:creationId xmlns:a16="http://schemas.microsoft.com/office/drawing/2014/main" id="{62763A1A-0935-4A5E-FE9C-F87FDB7642F5}"/>
              </a:ext>
            </a:extLst>
          </p:cNvPr>
          <p:cNvSpPr/>
          <p:nvPr/>
        </p:nvSpPr>
        <p:spPr>
          <a:xfrm>
            <a:off x="1649562" y="4206240"/>
            <a:ext cx="5080000" cy="381000"/>
          </a:xfrm>
          <a:prstGeom prst="rect">
            <a:avLst/>
          </a:prstGeom>
          <a:noFill/>
          <a:ln/>
        </p:spPr>
        <p:txBody>
          <a:bodyPr wrap="none" lIns="0" tIns="0" rIns="0" bIns="0" rtlCol="0" anchor="ctr"/>
          <a:lstStyle/>
          <a:p>
            <a:pPr algn="l">
              <a:lnSpc>
                <a:spcPct val="120000"/>
              </a:lnSpc>
            </a:pPr>
            <a:r>
              <a:rPr lang="en-US" sz="5000" b="1" kern="0" spc="400" dirty="0">
                <a:solidFill>
                  <a:srgbClr val="D4A03A"/>
                </a:solidFill>
                <a:latin typeface="Liter" pitchFamily="34" charset="0"/>
                <a:ea typeface="Liter" pitchFamily="34" charset="-122"/>
                <a:cs typeface="Liter" pitchFamily="34" charset="-120"/>
              </a:rPr>
              <a:t>05</a:t>
            </a:r>
            <a:endParaRPr lang="en-US" sz="5000" dirty="0"/>
          </a:p>
        </p:txBody>
      </p:sp>
      <p:sp>
        <p:nvSpPr>
          <p:cNvPr id="21" name="Text 3">
            <a:extLst>
              <a:ext uri="{FF2B5EF4-FFF2-40B4-BE49-F238E27FC236}">
                <a16:creationId xmlns:a16="http://schemas.microsoft.com/office/drawing/2014/main" id="{EDE4DF64-756A-6BDE-4A9C-3DF7AF92A34D}"/>
              </a:ext>
            </a:extLst>
          </p:cNvPr>
          <p:cNvSpPr/>
          <p:nvPr/>
        </p:nvSpPr>
        <p:spPr>
          <a:xfrm>
            <a:off x="1649562" y="4983480"/>
            <a:ext cx="11155680" cy="2651760"/>
          </a:xfrm>
          <a:prstGeom prst="rect">
            <a:avLst/>
          </a:prstGeom>
          <a:noFill/>
          <a:ln/>
        </p:spPr>
        <p:txBody>
          <a:bodyPr wrap="square" lIns="0" tIns="0" rIns="0" bIns="0" rtlCol="0" anchor="t"/>
          <a:lstStyle/>
          <a:p>
            <a:pPr algn="l">
              <a:lnSpc>
                <a:spcPct val="110000"/>
              </a:lnSpc>
            </a:pPr>
            <a:r>
              <a:rPr lang="en-US" sz="6000" kern="0" spc="200" dirty="0">
                <a:solidFill>
                  <a:srgbClr val="1B2A4A"/>
                </a:solidFill>
                <a:latin typeface="Liter" pitchFamily="34" charset="0"/>
                <a:ea typeface="Liter" pitchFamily="34" charset="-122"/>
                <a:cs typeface="Liter" pitchFamily="34" charset="-120"/>
              </a:rPr>
              <a:t>Incident Handling</a:t>
            </a:r>
            <a:endParaRPr lang="en-US" sz="7200" dirty="0"/>
          </a:p>
        </p:txBody>
      </p:sp>
      <p:sp>
        <p:nvSpPr>
          <p:cNvPr id="23" name="Shape 4">
            <a:extLst>
              <a:ext uri="{FF2B5EF4-FFF2-40B4-BE49-F238E27FC236}">
                <a16:creationId xmlns:a16="http://schemas.microsoft.com/office/drawing/2014/main" id="{1CC7B515-BF06-6CCF-F4A0-76A6E14F43FC}"/>
              </a:ext>
            </a:extLst>
          </p:cNvPr>
          <p:cNvSpPr/>
          <p:nvPr/>
        </p:nvSpPr>
        <p:spPr>
          <a:xfrm>
            <a:off x="1649562" y="8001000"/>
            <a:ext cx="1016000" cy="50800"/>
          </a:xfrm>
          <a:prstGeom prst="rect">
            <a:avLst/>
          </a:prstGeom>
          <a:solidFill>
            <a:srgbClr val="D4A03A"/>
          </a:solidFill>
          <a:ln/>
        </p:spPr>
        <p:txBody>
          <a:bodyPr/>
          <a:lstStyle/>
          <a:p>
            <a:endParaRPr lang="en-ID"/>
          </a:p>
        </p:txBody>
      </p:sp>
      <p:sp>
        <p:nvSpPr>
          <p:cNvPr id="24" name="TextBox 23"/>
          <p:cNvSpPr txBox="1"/>
          <p:nvPr/>
        </p:nvSpPr>
        <p:spPr>
          <a:xfrm>
            <a:off x="1645920" y="8412480"/>
            <a:ext cx="10972800" cy="488916"/>
          </a:xfrm>
          <a:prstGeom prst="rect">
            <a:avLst/>
          </a:prstGeom>
          <a:noFill/>
        </p:spPr>
        <p:txBody>
          <a:bodyPr wrap="square" lIns="0" tIns="0" rIns="0" bIns="0" anchor="t">
            <a:spAutoFit/>
          </a:bodyPr>
          <a:lstStyle/>
          <a:p>
            <a:pPr algn="l">
              <a:lnSpc>
                <a:spcPct val="120000"/>
              </a:lnSpc>
              <a:spcAft>
                <a:spcPts val="600"/>
              </a:spcAft>
            </a:pPr>
            <a:r>
              <a:rPr sz="2800" b="0" i="0" dirty="0">
                <a:solidFill>
                  <a:srgbClr val="6B7B8D"/>
                </a:solidFill>
                <a:latin typeface="Quattrocento Sans"/>
              </a:rPr>
              <a:t>15:</a:t>
            </a:r>
            <a:r>
              <a:rPr lang="en-US" sz="2800" b="0" i="0" dirty="0">
                <a:solidFill>
                  <a:srgbClr val="6B7B8D"/>
                </a:solidFill>
                <a:latin typeface="Quattrocento Sans"/>
              </a:rPr>
              <a:t>4</a:t>
            </a:r>
            <a:r>
              <a:rPr sz="2800" b="0" i="0" dirty="0">
                <a:solidFill>
                  <a:srgbClr val="6B7B8D"/>
                </a:solidFill>
                <a:latin typeface="Quattrocento Sans"/>
              </a:rPr>
              <a:t>0–16:00</a:t>
            </a:r>
          </a:p>
        </p:txBody>
      </p:sp>
      <p:sp>
        <p:nvSpPr>
          <p:cNvPr id="25" name="TextBox 24"/>
          <p:cNvSpPr txBox="1"/>
          <p:nvPr/>
        </p:nvSpPr>
        <p:spPr>
          <a:xfrm>
            <a:off x="13681878" y="5029200"/>
            <a:ext cx="8686800" cy="457200"/>
          </a:xfrm>
          <a:prstGeom prst="rect">
            <a:avLst/>
          </a:prstGeom>
          <a:noFill/>
        </p:spPr>
        <p:txBody>
          <a:bodyPr wrap="square" lIns="0" tIns="0" rIns="0" bIns="0" anchor="t">
            <a:spAutoFit/>
          </a:bodyPr>
          <a:lstStyle/>
          <a:p>
            <a:pPr algn="l">
              <a:lnSpc>
                <a:spcPct val="120000"/>
              </a:lnSpc>
              <a:spcAft>
                <a:spcPts val="600"/>
              </a:spcAft>
            </a:pPr>
            <a:r>
              <a:rPr sz="1600" b="1" i="0" spc="300">
                <a:solidFill>
                  <a:srgbClr val="D4A03A"/>
                </a:solidFill>
                <a:latin typeface="Liter"/>
              </a:rPr>
              <a:t>IN THIS SESSION</a:t>
            </a:r>
          </a:p>
        </p:txBody>
      </p:sp>
      <p:sp>
        <p:nvSpPr>
          <p:cNvPr id="26" name="TextBox 25"/>
          <p:cNvSpPr txBox="1"/>
          <p:nvPr/>
        </p:nvSpPr>
        <p:spPr>
          <a:xfrm>
            <a:off x="13681878" y="580644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01</a:t>
            </a:r>
          </a:p>
        </p:txBody>
      </p:sp>
      <p:sp>
        <p:nvSpPr>
          <p:cNvPr id="27" name="TextBox 26"/>
          <p:cNvSpPr txBox="1"/>
          <p:nvPr/>
        </p:nvSpPr>
        <p:spPr>
          <a:xfrm>
            <a:off x="14687718" y="5806440"/>
            <a:ext cx="8046720" cy="914400"/>
          </a:xfrm>
          <a:prstGeom prst="rect">
            <a:avLst/>
          </a:prstGeom>
          <a:noFill/>
        </p:spPr>
        <p:txBody>
          <a:bodyPr wrap="square" lIns="0" tIns="0" rIns="0" bIns="0" anchor="ctr">
            <a:spAutoFit/>
          </a:bodyPr>
          <a:lstStyle/>
          <a:p>
            <a:pPr algn="l">
              <a:lnSpc>
                <a:spcPct val="120000"/>
              </a:lnSpc>
              <a:spcAft>
                <a:spcPts val="600"/>
              </a:spcAft>
            </a:pPr>
            <a:r>
              <a:rPr sz="2600" b="0" i="0">
                <a:solidFill>
                  <a:srgbClr val="1E293B"/>
                </a:solidFill>
                <a:latin typeface="Quattrocento Sans"/>
              </a:rPr>
              <a:t>Types of ML incidents</a:t>
            </a:r>
          </a:p>
        </p:txBody>
      </p:sp>
      <p:sp>
        <p:nvSpPr>
          <p:cNvPr id="28" name="Rectangle 27"/>
          <p:cNvSpPr/>
          <p:nvPr/>
        </p:nvSpPr>
        <p:spPr>
          <a:xfrm>
            <a:off x="13681878" y="685800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681878" y="699516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02</a:t>
            </a:r>
          </a:p>
        </p:txBody>
      </p:sp>
      <p:sp>
        <p:nvSpPr>
          <p:cNvPr id="30" name="TextBox 29"/>
          <p:cNvSpPr txBox="1"/>
          <p:nvPr/>
        </p:nvSpPr>
        <p:spPr>
          <a:xfrm>
            <a:off x="14687718" y="7225375"/>
            <a:ext cx="8046720" cy="453970"/>
          </a:xfrm>
          <a:prstGeom prst="rect">
            <a:avLst/>
          </a:prstGeom>
          <a:noFill/>
        </p:spPr>
        <p:txBody>
          <a:bodyPr wrap="square" lIns="0" tIns="0" rIns="0" bIns="0" anchor="ctr">
            <a:spAutoFit/>
          </a:bodyPr>
          <a:lstStyle/>
          <a:p>
            <a:pPr algn="l">
              <a:lnSpc>
                <a:spcPct val="120000"/>
              </a:lnSpc>
              <a:spcAft>
                <a:spcPts val="600"/>
              </a:spcAft>
            </a:pPr>
            <a:r>
              <a:rPr lang="en-ID" sz="2600" b="0" i="0" dirty="0" err="1">
                <a:solidFill>
                  <a:srgbClr val="1E293B"/>
                </a:solidFill>
                <a:latin typeface="Quattrocento Sans"/>
              </a:rPr>
              <a:t>Contoh</a:t>
            </a:r>
            <a:r>
              <a:rPr lang="en-ID" sz="2600" b="0" i="0" dirty="0">
                <a:solidFill>
                  <a:srgbClr val="1E293B"/>
                </a:solidFill>
                <a:latin typeface="Quattrocento Sans"/>
              </a:rPr>
              <a:t> </a:t>
            </a:r>
            <a:r>
              <a:rPr lang="en-ID" sz="2600" b="0" i="0" dirty="0" err="1">
                <a:solidFill>
                  <a:srgbClr val="1E293B"/>
                </a:solidFill>
                <a:latin typeface="Quattrocento Sans"/>
              </a:rPr>
              <a:t>Kategori</a:t>
            </a:r>
            <a:r>
              <a:rPr lang="en-ID" sz="2600" b="0" i="0" dirty="0">
                <a:solidFill>
                  <a:srgbClr val="1E293B"/>
                </a:solidFill>
                <a:latin typeface="Quattrocento Sans"/>
              </a:rPr>
              <a:t> </a:t>
            </a:r>
            <a:r>
              <a:rPr lang="en-ID" sz="2600" b="0" i="0" dirty="0" err="1">
                <a:solidFill>
                  <a:srgbClr val="1E293B"/>
                </a:solidFill>
                <a:latin typeface="Quattrocento Sans"/>
              </a:rPr>
              <a:t>Insiden</a:t>
            </a:r>
            <a:r>
              <a:rPr lang="en-ID" sz="2600" b="0" i="0" dirty="0">
                <a:solidFill>
                  <a:srgbClr val="1E293B"/>
                </a:solidFill>
                <a:latin typeface="Quattrocento Sans"/>
              </a:rPr>
              <a:t> </a:t>
            </a:r>
            <a:r>
              <a:rPr lang="en-ID" sz="2600" b="0" i="0" dirty="0" err="1">
                <a:solidFill>
                  <a:srgbClr val="1E293B"/>
                </a:solidFill>
                <a:latin typeface="Quattrocento Sans"/>
              </a:rPr>
              <a:t>MLOps</a:t>
            </a:r>
            <a:endParaRPr lang="en-ID" sz="2600" b="0" i="0" dirty="0">
              <a:solidFill>
                <a:srgbClr val="1E293B"/>
              </a:solidFill>
              <a:latin typeface="Quattrocento Sans"/>
            </a:endParaRPr>
          </a:p>
        </p:txBody>
      </p:sp>
      <p:sp>
        <p:nvSpPr>
          <p:cNvPr id="31" name="Rectangle 30"/>
          <p:cNvSpPr/>
          <p:nvPr/>
        </p:nvSpPr>
        <p:spPr>
          <a:xfrm>
            <a:off x="13681878" y="804672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3681878" y="8183880"/>
            <a:ext cx="822960" cy="914400"/>
          </a:xfrm>
          <a:prstGeom prst="rect">
            <a:avLst/>
          </a:prstGeom>
          <a:noFill/>
        </p:spPr>
        <p:txBody>
          <a:bodyPr wrap="square" lIns="0" tIns="0" rIns="0" bIns="0" anchor="ctr">
            <a:spAutoFit/>
          </a:bodyPr>
          <a:lstStyle/>
          <a:p>
            <a:pPr algn="l">
              <a:lnSpc>
                <a:spcPct val="120000"/>
              </a:lnSpc>
              <a:spcAft>
                <a:spcPts val="600"/>
              </a:spcAft>
            </a:pPr>
            <a:r>
              <a:rPr sz="3000" b="1" i="0">
                <a:solidFill>
                  <a:srgbClr val="D4A03A"/>
                </a:solidFill>
                <a:latin typeface="Liter"/>
              </a:rPr>
              <a:t>03</a:t>
            </a:r>
          </a:p>
        </p:txBody>
      </p:sp>
      <p:sp>
        <p:nvSpPr>
          <p:cNvPr id="33" name="TextBox 32"/>
          <p:cNvSpPr txBox="1"/>
          <p:nvPr/>
        </p:nvSpPr>
        <p:spPr>
          <a:xfrm>
            <a:off x="14687718" y="8414095"/>
            <a:ext cx="8046720" cy="453970"/>
          </a:xfrm>
          <a:prstGeom prst="rect">
            <a:avLst/>
          </a:prstGeom>
          <a:noFill/>
        </p:spPr>
        <p:txBody>
          <a:bodyPr wrap="square" lIns="0" tIns="0" rIns="0" bIns="0" anchor="ctr">
            <a:spAutoFit/>
          </a:bodyPr>
          <a:lstStyle/>
          <a:p>
            <a:pPr algn="l">
              <a:lnSpc>
                <a:spcPct val="120000"/>
              </a:lnSpc>
              <a:spcAft>
                <a:spcPts val="600"/>
              </a:spcAft>
            </a:pPr>
            <a:r>
              <a:rPr lang="en-ID" sz="2600" b="0" i="0" dirty="0">
                <a:solidFill>
                  <a:srgbClr val="1E293B"/>
                </a:solidFill>
                <a:latin typeface="Quattrocento Sans"/>
              </a:rPr>
              <a:t>Level </a:t>
            </a:r>
            <a:r>
              <a:rPr lang="en-ID" sz="2600" b="0" i="0" dirty="0" err="1">
                <a:solidFill>
                  <a:srgbClr val="1E293B"/>
                </a:solidFill>
                <a:latin typeface="Quattrocento Sans"/>
              </a:rPr>
              <a:t>Kritikalitas</a:t>
            </a:r>
            <a:r>
              <a:rPr lang="en-ID" sz="2600" b="0" i="0" dirty="0">
                <a:solidFill>
                  <a:srgbClr val="1E293B"/>
                </a:solidFill>
                <a:latin typeface="Quattrocento Sans"/>
              </a:rPr>
              <a:t> </a:t>
            </a:r>
            <a:r>
              <a:rPr lang="en-ID" sz="2600" b="0" i="0" dirty="0" err="1">
                <a:solidFill>
                  <a:srgbClr val="1E293B"/>
                </a:solidFill>
                <a:latin typeface="Quattrocento Sans"/>
              </a:rPr>
              <a:t>Insiden</a:t>
            </a:r>
            <a:endParaRPr lang="en-ID" sz="2600" b="0" i="0" dirty="0">
              <a:solidFill>
                <a:srgbClr val="1E293B"/>
              </a:solidFill>
              <a:latin typeface="Quattrocento Sans"/>
            </a:endParaRPr>
          </a:p>
        </p:txBody>
      </p:sp>
      <p:sp>
        <p:nvSpPr>
          <p:cNvPr id="34" name="Rectangle 33"/>
          <p:cNvSpPr/>
          <p:nvPr/>
        </p:nvSpPr>
        <p:spPr>
          <a:xfrm>
            <a:off x="13681878" y="9235440"/>
            <a:ext cx="9052560" cy="10972"/>
          </a:xfrm>
          <a:prstGeom prst="rect">
            <a:avLst/>
          </a:prstGeom>
          <a:solidFill>
            <a:srgbClr val="E0DC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66928"/>
            <a:ext cx="15910559" cy="960120"/>
          </a:xfrm>
          <a:prstGeom prst="rect">
            <a:avLst/>
          </a:prstGeom>
          <a:noFill/>
        </p:spPr>
        <p:txBody>
          <a:bodyPr wrap="square" lIns="0" tIns="0" rIns="0" bIns="0" anchor="ctr">
            <a:spAutoFit/>
          </a:bodyPr>
          <a:lstStyle/>
          <a:p>
            <a:pPr algn="l">
              <a:lnSpc>
                <a:spcPct val="120000"/>
              </a:lnSpc>
              <a:spcAft>
                <a:spcPts val="600"/>
              </a:spcAft>
            </a:pPr>
            <a:r>
              <a:rPr sz="4400" b="1" i="0">
                <a:solidFill>
                  <a:srgbClr val="1B2A4A"/>
                </a:solidFill>
                <a:latin typeface="Liter"/>
              </a:rPr>
              <a:t>Types of Incidents in ML Systems</a:t>
            </a:r>
          </a:p>
        </p:txBody>
      </p:sp>
      <p:sp>
        <p:nvSpPr>
          <p:cNvPr id="3" name="Rectangle 2"/>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CONCEPT</a:t>
            </a:r>
          </a:p>
        </p:txBody>
      </p:sp>
      <p:sp>
        <p:nvSpPr>
          <p:cNvPr id="5" name="TextBox 4"/>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54</a:t>
            </a:r>
          </a:p>
        </p:txBody>
      </p:sp>
      <p:sp>
        <p:nvSpPr>
          <p:cNvPr id="6" name="Rounded Rectangle 5"/>
          <p:cNvSpPr/>
          <p:nvPr/>
        </p:nvSpPr>
        <p:spPr>
          <a:xfrm>
            <a:off x="1014984" y="251460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63624"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B4432F"/>
                </a:solidFill>
                <a:latin typeface="Liter"/>
              </a:rPr>
              <a:t>01</a:t>
            </a:r>
          </a:p>
        </p:txBody>
      </p:sp>
      <p:sp>
        <p:nvSpPr>
          <p:cNvPr id="8" name="TextBox 7"/>
          <p:cNvSpPr txBox="1"/>
          <p:nvPr/>
        </p:nvSpPr>
        <p:spPr>
          <a:xfrm>
            <a:off x="2615184" y="292608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Model quality</a:t>
            </a:r>
          </a:p>
        </p:txBody>
      </p:sp>
      <p:sp>
        <p:nvSpPr>
          <p:cNvPr id="9" name="TextBox 8"/>
          <p:cNvSpPr txBox="1"/>
          <p:nvPr/>
        </p:nvSpPr>
        <p:spPr>
          <a:xfrm>
            <a:off x="1563624" y="393192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The model makes wrong predictions at scale: a bad release or sudden concept drift.</a:t>
            </a:r>
          </a:p>
        </p:txBody>
      </p:sp>
      <p:sp>
        <p:nvSpPr>
          <p:cNvPr id="10" name="Rounded Rectangle 9"/>
          <p:cNvSpPr/>
          <p:nvPr/>
        </p:nvSpPr>
        <p:spPr>
          <a:xfrm>
            <a:off x="12394692" y="251460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943332" y="292608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D4A03A"/>
                </a:solidFill>
                <a:latin typeface="Liter"/>
              </a:rPr>
              <a:t>02</a:t>
            </a:r>
          </a:p>
        </p:txBody>
      </p:sp>
      <p:sp>
        <p:nvSpPr>
          <p:cNvPr id="12" name="TextBox 11"/>
          <p:cNvSpPr txBox="1"/>
          <p:nvPr/>
        </p:nvSpPr>
        <p:spPr>
          <a:xfrm>
            <a:off x="13994892" y="292608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Data pipeline</a:t>
            </a:r>
          </a:p>
        </p:txBody>
      </p:sp>
      <p:sp>
        <p:nvSpPr>
          <p:cNvPr id="13" name="TextBox 12"/>
          <p:cNvSpPr txBox="1"/>
          <p:nvPr/>
        </p:nvSpPr>
        <p:spPr>
          <a:xfrm>
            <a:off x="12943332" y="393192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Wrong joins, swapped columns, shuffled labels, late data — the model is trained on broken data.</a:t>
            </a:r>
          </a:p>
        </p:txBody>
      </p:sp>
      <p:sp>
        <p:nvSpPr>
          <p:cNvPr id="14" name="Rounded Rectangle 13"/>
          <p:cNvSpPr/>
          <p:nvPr/>
        </p:nvSpPr>
        <p:spPr>
          <a:xfrm>
            <a:off x="1014984" y="770382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63624" y="811530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1B2A4A"/>
                </a:solidFill>
                <a:latin typeface="Liter"/>
              </a:rPr>
              <a:t>03</a:t>
            </a:r>
          </a:p>
        </p:txBody>
      </p:sp>
      <p:sp>
        <p:nvSpPr>
          <p:cNvPr id="16" name="TextBox 15"/>
          <p:cNvSpPr txBox="1"/>
          <p:nvPr/>
        </p:nvSpPr>
        <p:spPr>
          <a:xfrm>
            <a:off x="2615184" y="811530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Service &amp; infrastructure</a:t>
            </a:r>
          </a:p>
        </p:txBody>
      </p:sp>
      <p:sp>
        <p:nvSpPr>
          <p:cNvPr id="17" name="TextBox 16"/>
          <p:cNvSpPr txBox="1"/>
          <p:nvPr/>
        </p:nvSpPr>
        <p:spPr>
          <a:xfrm>
            <a:off x="1563624" y="912114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Endpoint down, latency spikes, repeated cold starts, exhausted cloud quota.</a:t>
            </a:r>
          </a:p>
        </p:txBody>
      </p:sp>
      <p:sp>
        <p:nvSpPr>
          <p:cNvPr id="18" name="Rounded Rectangle 17"/>
          <p:cNvSpPr/>
          <p:nvPr/>
        </p:nvSpPr>
        <p:spPr>
          <a:xfrm>
            <a:off x="12394692" y="7703820"/>
            <a:ext cx="10968228" cy="4777740"/>
          </a:xfrm>
          <a:prstGeom prst="roundRect">
            <a:avLst>
              <a:gd name="adj" fmla="val 6698"/>
            </a:avLst>
          </a:prstGeom>
          <a:solidFill>
            <a:srgbClr val="FFFFFF"/>
          </a:solidFill>
          <a:ln>
            <a:noFill/>
          </a:ln>
          <a:effectLst>
            <a:outerShdw blurRad="254000" dist="50800" dir="5400000" algn="bl" rotWithShape="0">
              <a:srgbClr val="000000">
                <a:alpha val="6275"/>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943332" y="8115300"/>
            <a:ext cx="914400" cy="731520"/>
          </a:xfrm>
          <a:prstGeom prst="rect">
            <a:avLst/>
          </a:prstGeom>
          <a:noFill/>
        </p:spPr>
        <p:txBody>
          <a:bodyPr wrap="square" lIns="0" tIns="0" rIns="0" bIns="0" anchor="ctr">
            <a:spAutoFit/>
          </a:bodyPr>
          <a:lstStyle/>
          <a:p>
            <a:pPr algn="l">
              <a:lnSpc>
                <a:spcPct val="120000"/>
              </a:lnSpc>
              <a:spcAft>
                <a:spcPts val="600"/>
              </a:spcAft>
            </a:pPr>
            <a:r>
              <a:rPr sz="3600" b="1" i="0">
                <a:solidFill>
                  <a:srgbClr val="4A5B7A"/>
                </a:solidFill>
                <a:latin typeface="Liter"/>
              </a:rPr>
              <a:t>04</a:t>
            </a:r>
          </a:p>
        </p:txBody>
      </p:sp>
      <p:sp>
        <p:nvSpPr>
          <p:cNvPr id="20" name="TextBox 19"/>
          <p:cNvSpPr txBox="1"/>
          <p:nvPr/>
        </p:nvSpPr>
        <p:spPr>
          <a:xfrm>
            <a:off x="13994892" y="8115300"/>
            <a:ext cx="9002268" cy="731520"/>
          </a:xfrm>
          <a:prstGeom prst="rect">
            <a:avLst/>
          </a:prstGeom>
          <a:noFill/>
        </p:spPr>
        <p:txBody>
          <a:bodyPr wrap="square" lIns="0" tIns="0" rIns="0" bIns="0" anchor="ctr">
            <a:spAutoFit/>
          </a:bodyPr>
          <a:lstStyle/>
          <a:p>
            <a:pPr algn="l">
              <a:lnSpc>
                <a:spcPct val="120000"/>
              </a:lnSpc>
              <a:spcAft>
                <a:spcPts val="600"/>
              </a:spcAft>
            </a:pPr>
            <a:r>
              <a:rPr sz="3400" b="1" i="0">
                <a:solidFill>
                  <a:srgbClr val="1B2A4A"/>
                </a:solidFill>
                <a:latin typeface="Liter"/>
              </a:rPr>
              <a:t>Security &amp; privacy</a:t>
            </a:r>
          </a:p>
        </p:txBody>
      </p:sp>
      <p:sp>
        <p:nvSpPr>
          <p:cNvPr id="21" name="TextBox 20"/>
          <p:cNvSpPr txBox="1"/>
          <p:nvPr/>
        </p:nvSpPr>
        <p:spPr>
          <a:xfrm>
            <a:off x="12943332" y="9121140"/>
            <a:ext cx="9870948" cy="3131820"/>
          </a:xfrm>
          <a:prstGeom prst="rect">
            <a:avLst/>
          </a:prstGeom>
          <a:noFill/>
        </p:spPr>
        <p:txBody>
          <a:bodyPr wrap="square" lIns="0" tIns="0" rIns="0" bIns="0" anchor="t">
            <a:spAutoFit/>
          </a:bodyPr>
          <a:lstStyle/>
          <a:p>
            <a:pPr algn="l">
              <a:lnSpc>
                <a:spcPct val="130000"/>
              </a:lnSpc>
              <a:spcAft>
                <a:spcPts val="600"/>
              </a:spcAft>
            </a:pPr>
            <a:r>
              <a:rPr sz="3200" b="0" i="0">
                <a:solidFill>
                  <a:srgbClr val="1E293B"/>
                </a:solidFill>
                <a:latin typeface="Quattrocento Sans"/>
              </a:rPr>
              <a:t>Sensitive data leaking through logs, unauthorised access, attacks on the model (MLSecOps, Day 1).</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D4A82-A500-C482-A651-BB0DDADBC4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D12E944-591B-A3F0-A725-0D0BF2542C00}"/>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i="0" dirty="0">
                <a:solidFill>
                  <a:srgbClr val="1B2A4A"/>
                </a:solidFill>
                <a:latin typeface="Liter"/>
              </a:rPr>
              <a:t>Typical ML related incidents</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1FE17103-A1A6-1518-D3BD-378DCF0F639E}"/>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86FEED4-D227-6142-3333-284F88524A2B}"/>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CONCEPT</a:t>
            </a:r>
          </a:p>
        </p:txBody>
      </p:sp>
      <p:sp>
        <p:nvSpPr>
          <p:cNvPr id="5" name="TextBox 4">
            <a:extLst>
              <a:ext uri="{FF2B5EF4-FFF2-40B4-BE49-F238E27FC236}">
                <a16:creationId xmlns:a16="http://schemas.microsoft.com/office/drawing/2014/main" id="{47C3EB46-3CD0-525C-D637-CD19F3E2FE37}"/>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54</a:t>
            </a:r>
          </a:p>
        </p:txBody>
      </p:sp>
      <p:sp>
        <p:nvSpPr>
          <p:cNvPr id="23" name="TextBox 22">
            <a:extLst>
              <a:ext uri="{FF2B5EF4-FFF2-40B4-BE49-F238E27FC236}">
                <a16:creationId xmlns:a16="http://schemas.microsoft.com/office/drawing/2014/main" id="{14487138-E872-13A6-C1FD-3C3FC952A939}"/>
              </a:ext>
            </a:extLst>
          </p:cNvPr>
          <p:cNvSpPr txBox="1"/>
          <p:nvPr/>
        </p:nvSpPr>
        <p:spPr>
          <a:xfrm>
            <a:off x="1976486" y="3659650"/>
            <a:ext cx="9190278" cy="646331"/>
          </a:xfrm>
          <a:prstGeom prst="rect">
            <a:avLst/>
          </a:prstGeom>
          <a:noFill/>
        </p:spPr>
        <p:txBody>
          <a:bodyPr wrap="square">
            <a:spAutoFit/>
          </a:bodyPr>
          <a:lstStyle/>
          <a:p>
            <a:pPr marL="571500" indent="-571500">
              <a:buFont typeface="Wingdings" pitchFamily="2" charset="2"/>
              <a:buChar char="Ø"/>
            </a:pPr>
            <a:r>
              <a:rPr lang="en-US" sz="3600" b="1" dirty="0">
                <a:solidFill>
                  <a:srgbClr val="21295C"/>
                </a:solidFill>
                <a:latin typeface="Calibri" pitchFamily="34" charset="0"/>
                <a:ea typeface="Calibri" pitchFamily="34" charset="-122"/>
                <a:cs typeface="Calibri" pitchFamily="34" charset="-120"/>
              </a:rPr>
              <a:t>Tidak </a:t>
            </a:r>
            <a:r>
              <a:rPr lang="en-US" sz="3600" b="1" dirty="0" err="1">
                <a:solidFill>
                  <a:srgbClr val="21295C"/>
                </a:solidFill>
                <a:latin typeface="Calibri" pitchFamily="34" charset="0"/>
                <a:ea typeface="Calibri" pitchFamily="34" charset="-122"/>
                <a:cs typeface="Calibri" pitchFamily="34" charset="-120"/>
              </a:rPr>
              <a:t>ada</a:t>
            </a:r>
            <a:r>
              <a:rPr lang="en-US" sz="3600" b="1" dirty="0">
                <a:solidFill>
                  <a:srgbClr val="21295C"/>
                </a:solidFill>
                <a:latin typeface="Calibri" pitchFamily="34" charset="0"/>
                <a:ea typeface="Calibri" pitchFamily="34" charset="-122"/>
                <a:cs typeface="Calibri" pitchFamily="34" charset="-120"/>
              </a:rPr>
              <a:t> crash, </a:t>
            </a:r>
            <a:r>
              <a:rPr lang="en-US" sz="3600" b="1" dirty="0" err="1">
                <a:solidFill>
                  <a:srgbClr val="21295C"/>
                </a:solidFill>
                <a:latin typeface="Calibri" pitchFamily="34" charset="0"/>
                <a:ea typeface="Calibri" pitchFamily="34" charset="-122"/>
                <a:cs typeface="Calibri" pitchFamily="34" charset="-120"/>
              </a:rPr>
              <a:t>tidak</a:t>
            </a:r>
            <a:r>
              <a:rPr lang="en-US" sz="3600" b="1" dirty="0">
                <a:solidFill>
                  <a:srgbClr val="21295C"/>
                </a:solidFill>
                <a:latin typeface="Calibri" pitchFamily="34" charset="0"/>
                <a:ea typeface="Calibri" pitchFamily="34" charset="-122"/>
                <a:cs typeface="Calibri" pitchFamily="34" charset="-120"/>
              </a:rPr>
              <a:t> </a:t>
            </a:r>
            <a:r>
              <a:rPr lang="en-US" sz="3600" b="1" dirty="0" err="1">
                <a:solidFill>
                  <a:srgbClr val="21295C"/>
                </a:solidFill>
                <a:latin typeface="Calibri" pitchFamily="34" charset="0"/>
                <a:ea typeface="Calibri" pitchFamily="34" charset="-122"/>
                <a:cs typeface="Calibri" pitchFamily="34" charset="-120"/>
              </a:rPr>
              <a:t>ada</a:t>
            </a:r>
            <a:r>
              <a:rPr lang="en-US" sz="3600" b="1" dirty="0">
                <a:solidFill>
                  <a:srgbClr val="21295C"/>
                </a:solidFill>
                <a:latin typeface="Calibri" pitchFamily="34" charset="0"/>
                <a:ea typeface="Calibri" pitchFamily="34" charset="-122"/>
                <a:cs typeface="Calibri" pitchFamily="34" charset="-120"/>
              </a:rPr>
              <a:t> error code</a:t>
            </a:r>
            <a:endParaRPr lang="en-US" sz="3600" dirty="0"/>
          </a:p>
        </p:txBody>
      </p:sp>
      <p:sp>
        <p:nvSpPr>
          <p:cNvPr id="24" name="Text 5">
            <a:extLst>
              <a:ext uri="{FF2B5EF4-FFF2-40B4-BE49-F238E27FC236}">
                <a16:creationId xmlns:a16="http://schemas.microsoft.com/office/drawing/2014/main" id="{6AF708CB-63F0-F3AF-73A1-760F880DCC80}"/>
              </a:ext>
            </a:extLst>
          </p:cNvPr>
          <p:cNvSpPr txBox="1"/>
          <p:nvPr/>
        </p:nvSpPr>
        <p:spPr>
          <a:xfrm>
            <a:off x="10801006" y="3628540"/>
            <a:ext cx="11859491" cy="1051560"/>
          </a:xfrm>
          <a:prstGeom prst="rect">
            <a:avLst/>
          </a:prstGeom>
          <a:noFill/>
          <a:ln/>
        </p:spPr>
        <p:txBody>
          <a:bodyPr wrap="square" lIns="0" tIns="0" rIns="0" bIns="0" rtlCol="0" anchor="t"/>
          <a:lstStyle/>
          <a:p>
            <a:pPr marL="0" indent="0">
              <a:buNone/>
            </a:pPr>
            <a:r>
              <a:rPr lang="en-US" sz="3600" dirty="0">
                <a:latin typeface="Calibri" pitchFamily="34" charset="0"/>
                <a:ea typeface="Calibri" pitchFamily="34" charset="-122"/>
                <a:cs typeface="Calibri" pitchFamily="34" charset="-120"/>
              </a:rPr>
              <a:t>Endpoint tetap mengembalikan HTTP 200, </a:t>
            </a:r>
            <a:r>
              <a:rPr lang="en-US" sz="3600" dirty="0" err="1">
                <a:latin typeface="Calibri" pitchFamily="34" charset="0"/>
                <a:ea typeface="Calibri" pitchFamily="34" charset="-122"/>
                <a:cs typeface="Calibri" pitchFamily="34" charset="-120"/>
              </a:rPr>
              <a:t>namun</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jawabannya</a:t>
            </a:r>
            <a:r>
              <a:rPr lang="en-US" sz="3600" dirty="0">
                <a:latin typeface="Calibri" pitchFamily="34" charset="0"/>
                <a:ea typeface="Calibri" pitchFamily="34" charset="-122"/>
                <a:cs typeface="Calibri" pitchFamily="34" charset="-120"/>
              </a:rPr>
              <a:t> yang perlahan </a:t>
            </a:r>
            <a:r>
              <a:rPr lang="en-US" sz="3600" dirty="0" err="1">
                <a:latin typeface="Calibri" pitchFamily="34" charset="0"/>
                <a:ea typeface="Calibri" pitchFamily="34" charset="-122"/>
                <a:cs typeface="Calibri" pitchFamily="34" charset="-120"/>
              </a:rPr>
              <a:t>menjadi</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tidak</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akurat</a:t>
            </a:r>
            <a:r>
              <a:rPr lang="en-US" sz="3600" dirty="0">
                <a:latin typeface="Calibri" pitchFamily="34" charset="0"/>
                <a:ea typeface="Calibri" pitchFamily="34" charset="-122"/>
                <a:cs typeface="Calibri" pitchFamily="34" charset="-120"/>
              </a:rPr>
              <a:t>, server </a:t>
            </a:r>
            <a:r>
              <a:rPr lang="en-US" sz="3600" dirty="0" err="1">
                <a:latin typeface="Calibri" pitchFamily="34" charset="0"/>
                <a:ea typeface="Calibri" pitchFamily="34" charset="-122"/>
                <a:cs typeface="Calibri" pitchFamily="34" charset="-120"/>
              </a:rPr>
              <a:t>tetap</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berjalan</a:t>
            </a:r>
            <a:endParaRPr lang="en-US" sz="3600" dirty="0"/>
          </a:p>
        </p:txBody>
      </p:sp>
      <p:sp>
        <p:nvSpPr>
          <p:cNvPr id="25" name="Text 8">
            <a:extLst>
              <a:ext uri="{FF2B5EF4-FFF2-40B4-BE49-F238E27FC236}">
                <a16:creationId xmlns:a16="http://schemas.microsoft.com/office/drawing/2014/main" id="{E36DF541-1FEC-53A7-A4FE-966EC068BC8A}"/>
              </a:ext>
            </a:extLst>
          </p:cNvPr>
          <p:cNvSpPr txBox="1"/>
          <p:nvPr/>
        </p:nvSpPr>
        <p:spPr>
          <a:xfrm>
            <a:off x="1976486" y="5692629"/>
            <a:ext cx="7575665" cy="778675"/>
          </a:xfrm>
          <a:prstGeom prst="rect">
            <a:avLst/>
          </a:prstGeom>
          <a:noFill/>
          <a:ln/>
        </p:spPr>
        <p:txBody>
          <a:bodyPr wrap="square" lIns="0" tIns="0" rIns="0" bIns="0" rtlCol="0" anchor="t"/>
          <a:lstStyle/>
          <a:p>
            <a:pPr marL="571500" indent="-571500">
              <a:buFont typeface="Wingdings" pitchFamily="2" charset="2"/>
              <a:buChar char="Ø"/>
            </a:pPr>
            <a:r>
              <a:rPr lang="en-US" sz="3600" b="1" dirty="0">
                <a:solidFill>
                  <a:srgbClr val="21295C"/>
                </a:solidFill>
                <a:latin typeface="Calibri" pitchFamily="34" charset="0"/>
                <a:ea typeface="Calibri" pitchFamily="34" charset="-122"/>
                <a:cs typeface="Calibri" pitchFamily="34" charset="-120"/>
              </a:rPr>
              <a:t>Baseline yang </a:t>
            </a:r>
            <a:r>
              <a:rPr lang="en-US" sz="3600" b="1" dirty="0" err="1">
                <a:solidFill>
                  <a:srgbClr val="21295C"/>
                </a:solidFill>
                <a:latin typeface="Calibri" pitchFamily="34" charset="0"/>
                <a:ea typeface="Calibri" pitchFamily="34" charset="-122"/>
                <a:cs typeface="Calibri" pitchFamily="34" charset="-120"/>
              </a:rPr>
              <a:t>bergeser</a:t>
            </a:r>
            <a:r>
              <a:rPr lang="en-US" sz="3600" b="1" dirty="0">
                <a:solidFill>
                  <a:srgbClr val="21295C"/>
                </a:solidFill>
                <a:latin typeface="Calibri" pitchFamily="34" charset="0"/>
                <a:ea typeface="Calibri" pitchFamily="34" charset="-122"/>
                <a:cs typeface="Calibri" pitchFamily="34" charset="-120"/>
              </a:rPr>
              <a:t> </a:t>
            </a:r>
            <a:r>
              <a:rPr lang="en-US" sz="3600" b="1" dirty="0" err="1">
                <a:solidFill>
                  <a:srgbClr val="21295C"/>
                </a:solidFill>
                <a:latin typeface="Calibri" pitchFamily="34" charset="0"/>
                <a:ea typeface="Calibri" pitchFamily="34" charset="-122"/>
                <a:cs typeface="Calibri" pitchFamily="34" charset="-120"/>
              </a:rPr>
              <a:t>tanpa</a:t>
            </a:r>
            <a:r>
              <a:rPr lang="en-US" sz="3600" b="1" dirty="0">
                <a:solidFill>
                  <a:srgbClr val="21295C"/>
                </a:solidFill>
                <a:latin typeface="Calibri" pitchFamily="34" charset="0"/>
                <a:ea typeface="Calibri" pitchFamily="34" charset="-122"/>
                <a:cs typeface="Calibri" pitchFamily="34" charset="-120"/>
              </a:rPr>
              <a:t> </a:t>
            </a:r>
            <a:r>
              <a:rPr lang="en-US" sz="3600" b="1" dirty="0" err="1">
                <a:solidFill>
                  <a:srgbClr val="21295C"/>
                </a:solidFill>
                <a:latin typeface="Calibri" pitchFamily="34" charset="0"/>
                <a:ea typeface="Calibri" pitchFamily="34" charset="-122"/>
                <a:cs typeface="Calibri" pitchFamily="34" charset="-120"/>
              </a:rPr>
              <a:t>terdeteksi</a:t>
            </a:r>
            <a:endParaRPr lang="en-US" sz="3600" dirty="0"/>
          </a:p>
        </p:txBody>
      </p:sp>
      <p:sp>
        <p:nvSpPr>
          <p:cNvPr id="26" name="Text 9">
            <a:extLst>
              <a:ext uri="{FF2B5EF4-FFF2-40B4-BE49-F238E27FC236}">
                <a16:creationId xmlns:a16="http://schemas.microsoft.com/office/drawing/2014/main" id="{927713C2-1C83-FEC2-86EF-0E70F881C2E0}"/>
              </a:ext>
            </a:extLst>
          </p:cNvPr>
          <p:cNvSpPr txBox="1"/>
          <p:nvPr/>
        </p:nvSpPr>
        <p:spPr>
          <a:xfrm>
            <a:off x="10801005" y="5441493"/>
            <a:ext cx="11859491" cy="1845997"/>
          </a:xfrm>
          <a:prstGeom prst="rect">
            <a:avLst/>
          </a:prstGeom>
          <a:noFill/>
          <a:ln/>
        </p:spPr>
        <p:txBody>
          <a:bodyPr wrap="square" lIns="0" tIns="0" rIns="0" bIns="0" rtlCol="0" anchor="t"/>
          <a:lstStyle/>
          <a:p>
            <a:pPr marL="0" indent="0">
              <a:buNone/>
            </a:pPr>
            <a:r>
              <a:rPr lang="en-US" sz="3600" dirty="0" err="1">
                <a:latin typeface="Calibri" pitchFamily="34" charset="0"/>
                <a:ea typeface="Calibri" pitchFamily="34" charset="-122"/>
                <a:cs typeface="Calibri" pitchFamily="34" charset="-120"/>
              </a:rPr>
              <a:t>Perubahan</a:t>
            </a:r>
            <a:r>
              <a:rPr lang="en-US" sz="3600" dirty="0">
                <a:latin typeface="Calibri" pitchFamily="34" charset="0"/>
                <a:ea typeface="Calibri" pitchFamily="34" charset="-122"/>
                <a:cs typeface="Calibri" pitchFamily="34" charset="-120"/>
              </a:rPr>
              <a:t> pada </a:t>
            </a:r>
            <a:r>
              <a:rPr lang="en-US" sz="3600" dirty="0" err="1">
                <a:latin typeface="Calibri" pitchFamily="34" charset="0"/>
                <a:ea typeface="Calibri" pitchFamily="34" charset="-122"/>
                <a:cs typeface="Calibri" pitchFamily="34" charset="-120"/>
              </a:rPr>
              <a:t>lingkungan</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operasi</a:t>
            </a:r>
            <a:r>
              <a:rPr lang="en-US" sz="3600" dirty="0">
                <a:latin typeface="Calibri" pitchFamily="34" charset="0"/>
                <a:ea typeface="Calibri" pitchFamily="34" charset="-122"/>
                <a:cs typeface="Calibri" pitchFamily="34" charset="-120"/>
              </a:rPr>
              <a:t> (musiman, perilaku pengguna, kondisi </a:t>
            </a:r>
            <a:r>
              <a:rPr lang="en-US" sz="3600" dirty="0" err="1">
                <a:latin typeface="Calibri" pitchFamily="34" charset="0"/>
                <a:ea typeface="Calibri" pitchFamily="34" charset="-122"/>
                <a:cs typeface="Calibri" pitchFamily="34" charset="-120"/>
              </a:rPr>
              <a:t>ekonomi</a:t>
            </a:r>
            <a:r>
              <a:rPr lang="en-US" sz="3600" dirty="0">
                <a:latin typeface="Calibri" pitchFamily="34" charset="0"/>
                <a:ea typeface="Calibri" pitchFamily="34" charset="-122"/>
                <a:cs typeface="Calibri" pitchFamily="34" charset="-120"/>
              </a:rPr>
              <a:t>), asumsi training tidak lagi berlaku, </a:t>
            </a:r>
            <a:r>
              <a:rPr lang="en-US" sz="3600" dirty="0" err="1">
                <a:latin typeface="Calibri" pitchFamily="34" charset="0"/>
                <a:ea typeface="Calibri" pitchFamily="34" charset="-122"/>
                <a:cs typeface="Calibri" pitchFamily="34" charset="-120"/>
              </a:rPr>
              <a:t>dimana</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perubahan</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ini</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tidak</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terprediksi</a:t>
            </a:r>
            <a:endParaRPr lang="en-US" sz="3600" dirty="0"/>
          </a:p>
        </p:txBody>
      </p:sp>
      <p:sp>
        <p:nvSpPr>
          <p:cNvPr id="27" name="Text 12">
            <a:extLst>
              <a:ext uri="{FF2B5EF4-FFF2-40B4-BE49-F238E27FC236}">
                <a16:creationId xmlns:a16="http://schemas.microsoft.com/office/drawing/2014/main" id="{BF082D99-D05C-D006-EFF4-1E6CBA59F4B8}"/>
              </a:ext>
            </a:extLst>
          </p:cNvPr>
          <p:cNvSpPr txBox="1"/>
          <p:nvPr/>
        </p:nvSpPr>
        <p:spPr>
          <a:xfrm>
            <a:off x="1976486" y="7807286"/>
            <a:ext cx="7575665" cy="1221576"/>
          </a:xfrm>
          <a:prstGeom prst="rect">
            <a:avLst/>
          </a:prstGeom>
          <a:noFill/>
          <a:ln/>
        </p:spPr>
        <p:txBody>
          <a:bodyPr wrap="square" lIns="0" tIns="0" rIns="0" bIns="0" rtlCol="0" anchor="t"/>
          <a:lstStyle/>
          <a:p>
            <a:pPr marL="571500" indent="-571500">
              <a:buFont typeface="Wingdings" pitchFamily="2" charset="2"/>
              <a:buChar char="Ø"/>
            </a:pPr>
            <a:r>
              <a:rPr lang="en-US" sz="3600" b="1" dirty="0">
                <a:solidFill>
                  <a:srgbClr val="21295C"/>
                </a:solidFill>
                <a:latin typeface="Calibri" pitchFamily="34" charset="0"/>
                <a:ea typeface="Calibri" pitchFamily="34" charset="-122"/>
                <a:cs typeface="Calibri" pitchFamily="34" charset="-120"/>
              </a:rPr>
              <a:t>Monitoring </a:t>
            </a:r>
            <a:r>
              <a:rPr lang="en-US" sz="3600" b="1" dirty="0" err="1">
                <a:solidFill>
                  <a:srgbClr val="21295C"/>
                </a:solidFill>
                <a:latin typeface="Calibri" pitchFamily="34" charset="0"/>
                <a:ea typeface="Calibri" pitchFamily="34" charset="-122"/>
                <a:cs typeface="Calibri" pitchFamily="34" charset="-120"/>
              </a:rPr>
              <a:t>tradisional</a:t>
            </a:r>
            <a:r>
              <a:rPr lang="en-US" sz="3600" b="1" dirty="0">
                <a:solidFill>
                  <a:srgbClr val="21295C"/>
                </a:solidFill>
                <a:latin typeface="Calibri" pitchFamily="34" charset="0"/>
                <a:ea typeface="Calibri" pitchFamily="34" charset="-122"/>
                <a:cs typeface="Calibri" pitchFamily="34" charset="-120"/>
              </a:rPr>
              <a:t> </a:t>
            </a:r>
            <a:r>
              <a:rPr lang="en-US" sz="3600" b="1" dirty="0" err="1">
                <a:solidFill>
                  <a:srgbClr val="21295C"/>
                </a:solidFill>
                <a:latin typeface="Calibri" pitchFamily="34" charset="0"/>
                <a:ea typeface="Calibri" pitchFamily="34" charset="-122"/>
                <a:cs typeface="Calibri" pitchFamily="34" charset="-120"/>
              </a:rPr>
              <a:t>gagal</a:t>
            </a:r>
            <a:r>
              <a:rPr lang="en-US" sz="3600" b="1" dirty="0">
                <a:solidFill>
                  <a:srgbClr val="21295C"/>
                </a:solidFill>
                <a:latin typeface="Calibri" pitchFamily="34" charset="0"/>
                <a:ea typeface="Calibri" pitchFamily="34" charset="-122"/>
                <a:cs typeface="Calibri" pitchFamily="34" charset="-120"/>
              </a:rPr>
              <a:t> menangkapnya</a:t>
            </a:r>
            <a:endParaRPr lang="en-US" sz="3600" dirty="0"/>
          </a:p>
        </p:txBody>
      </p:sp>
      <p:sp>
        <p:nvSpPr>
          <p:cNvPr id="28" name="Text 13">
            <a:extLst>
              <a:ext uri="{FF2B5EF4-FFF2-40B4-BE49-F238E27FC236}">
                <a16:creationId xmlns:a16="http://schemas.microsoft.com/office/drawing/2014/main" id="{094F37E6-B5D8-D544-6D38-0AB719A8BC5F}"/>
              </a:ext>
            </a:extLst>
          </p:cNvPr>
          <p:cNvSpPr txBox="1"/>
          <p:nvPr/>
        </p:nvSpPr>
        <p:spPr>
          <a:xfrm>
            <a:off x="10801003" y="7712148"/>
            <a:ext cx="11615652" cy="1815241"/>
          </a:xfrm>
          <a:prstGeom prst="rect">
            <a:avLst/>
          </a:prstGeom>
          <a:noFill/>
          <a:ln/>
        </p:spPr>
        <p:txBody>
          <a:bodyPr wrap="square" lIns="0" tIns="0" rIns="0" bIns="0" rtlCol="0" anchor="t"/>
          <a:lstStyle/>
          <a:p>
            <a:pPr marL="0" indent="0">
              <a:buNone/>
            </a:pPr>
            <a:r>
              <a:rPr lang="en-US" sz="3600" dirty="0">
                <a:latin typeface="Calibri" pitchFamily="34" charset="0"/>
                <a:ea typeface="Calibri" pitchFamily="34" charset="-122"/>
                <a:cs typeface="Calibri" pitchFamily="34" charset="-120"/>
              </a:rPr>
              <a:t>CPU, latency, error rate semua </a:t>
            </a:r>
            <a:r>
              <a:rPr lang="en-US" sz="3600" dirty="0" err="1">
                <a:latin typeface="Calibri" pitchFamily="34" charset="0"/>
                <a:ea typeface="Calibri" pitchFamily="34" charset="-122"/>
                <a:cs typeface="Calibri" pitchFamily="34" charset="-120"/>
              </a:rPr>
              <a:t>tampak</a:t>
            </a:r>
            <a:r>
              <a:rPr lang="en-US" sz="3600" dirty="0">
                <a:latin typeface="Calibri" pitchFamily="34" charset="0"/>
                <a:ea typeface="Calibri" pitchFamily="34" charset="-122"/>
                <a:cs typeface="Calibri" pitchFamily="34" charset="-120"/>
              </a:rPr>
              <a:t> normal, </a:t>
            </a:r>
            <a:r>
              <a:rPr lang="en-US" sz="3600" dirty="0" err="1">
                <a:latin typeface="Calibri" pitchFamily="34" charset="0"/>
                <a:ea typeface="Calibri" pitchFamily="34" charset="-122"/>
                <a:cs typeface="Calibri" pitchFamily="34" charset="-120"/>
              </a:rPr>
              <a:t>sehingga</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dibutuhkan</a:t>
            </a:r>
            <a:r>
              <a:rPr lang="en-US" sz="3600" dirty="0">
                <a:latin typeface="Calibri" pitchFamily="34" charset="0"/>
                <a:ea typeface="Calibri" pitchFamily="34" charset="-122"/>
                <a:cs typeface="Calibri" pitchFamily="34" charset="-120"/>
              </a:rPr>
              <a:t> instrumentasi </a:t>
            </a:r>
            <a:r>
              <a:rPr lang="en-US" sz="3600" dirty="0" err="1">
                <a:latin typeface="Calibri" pitchFamily="34" charset="0"/>
                <a:ea typeface="Calibri" pitchFamily="34" charset="-122"/>
                <a:cs typeface="Calibri" pitchFamily="34" charset="-120"/>
              </a:rPr>
              <a:t>khusus</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untuk</a:t>
            </a:r>
            <a:r>
              <a:rPr lang="en-US" sz="3600" dirty="0">
                <a:latin typeface="Calibri" pitchFamily="34" charset="0"/>
                <a:ea typeface="Calibri" pitchFamily="34" charset="-122"/>
                <a:cs typeface="Calibri" pitchFamily="34" charset="-120"/>
              </a:rPr>
              <a:t> melihat penurunan yang sesungguhnya</a:t>
            </a:r>
            <a:endParaRPr lang="en-US" sz="3600" dirty="0"/>
          </a:p>
        </p:txBody>
      </p:sp>
      <p:sp>
        <p:nvSpPr>
          <p:cNvPr id="29" name="Text 16">
            <a:extLst>
              <a:ext uri="{FF2B5EF4-FFF2-40B4-BE49-F238E27FC236}">
                <a16:creationId xmlns:a16="http://schemas.microsoft.com/office/drawing/2014/main" id="{CFFBC45D-7989-3D67-DB6F-8ECCBB9548D9}"/>
              </a:ext>
            </a:extLst>
          </p:cNvPr>
          <p:cNvSpPr txBox="1"/>
          <p:nvPr/>
        </p:nvSpPr>
        <p:spPr>
          <a:xfrm>
            <a:off x="1976486" y="10131842"/>
            <a:ext cx="7575665" cy="1089139"/>
          </a:xfrm>
          <a:prstGeom prst="rect">
            <a:avLst/>
          </a:prstGeom>
          <a:noFill/>
          <a:ln/>
        </p:spPr>
        <p:txBody>
          <a:bodyPr wrap="square" lIns="0" tIns="0" rIns="0" bIns="0" rtlCol="0" anchor="t"/>
          <a:lstStyle/>
          <a:p>
            <a:pPr marL="571500" indent="-571500">
              <a:buFont typeface="Wingdings" pitchFamily="2" charset="2"/>
              <a:buChar char="Ø"/>
            </a:pPr>
            <a:r>
              <a:rPr lang="en-US" sz="3600" b="1" dirty="0">
                <a:solidFill>
                  <a:srgbClr val="21295C"/>
                </a:solidFill>
                <a:latin typeface="Calibri" pitchFamily="34" charset="0"/>
                <a:ea typeface="Calibri" pitchFamily="34" charset="-122"/>
                <a:cs typeface="Calibri" pitchFamily="34" charset="-120"/>
              </a:rPr>
              <a:t>Pola silent failure </a:t>
            </a:r>
            <a:r>
              <a:rPr lang="en-US" sz="3600" b="1" dirty="0" err="1">
                <a:solidFill>
                  <a:srgbClr val="21295C"/>
                </a:solidFill>
                <a:latin typeface="Calibri" pitchFamily="34" charset="0"/>
                <a:ea typeface="Calibri" pitchFamily="34" charset="-122"/>
                <a:cs typeface="Calibri" pitchFamily="34" charset="-120"/>
              </a:rPr>
              <a:t>adalah</a:t>
            </a:r>
            <a:r>
              <a:rPr lang="en-US" sz="3600" b="1" dirty="0">
                <a:solidFill>
                  <a:srgbClr val="21295C"/>
                </a:solidFill>
                <a:latin typeface="Calibri" pitchFamily="34" charset="0"/>
                <a:ea typeface="Calibri" pitchFamily="34" charset="-122"/>
                <a:cs typeface="Calibri" pitchFamily="34" charset="-120"/>
              </a:rPr>
              <a:t> </a:t>
            </a:r>
            <a:r>
              <a:rPr lang="en-US" sz="3600" b="1" dirty="0" err="1">
                <a:solidFill>
                  <a:srgbClr val="21295C"/>
                </a:solidFill>
                <a:latin typeface="Calibri" pitchFamily="34" charset="0"/>
                <a:ea typeface="Calibri" pitchFamily="34" charset="-122"/>
                <a:cs typeface="Calibri" pitchFamily="34" charset="-120"/>
              </a:rPr>
              <a:t>hal</a:t>
            </a:r>
            <a:r>
              <a:rPr lang="en-US" sz="3600" b="1" dirty="0">
                <a:solidFill>
                  <a:srgbClr val="21295C"/>
                </a:solidFill>
                <a:latin typeface="Calibri" pitchFamily="34" charset="0"/>
                <a:ea typeface="Calibri" pitchFamily="34" charset="-122"/>
                <a:cs typeface="Calibri" pitchFamily="34" charset="-120"/>
              </a:rPr>
              <a:t> normal</a:t>
            </a:r>
            <a:endParaRPr lang="en-US" sz="3600" dirty="0"/>
          </a:p>
        </p:txBody>
      </p:sp>
      <p:sp>
        <p:nvSpPr>
          <p:cNvPr id="30" name="Text 17">
            <a:extLst>
              <a:ext uri="{FF2B5EF4-FFF2-40B4-BE49-F238E27FC236}">
                <a16:creationId xmlns:a16="http://schemas.microsoft.com/office/drawing/2014/main" id="{B0CF1E2F-7491-51F5-DB9B-1E219CDFFDBD}"/>
              </a:ext>
            </a:extLst>
          </p:cNvPr>
          <p:cNvSpPr txBox="1"/>
          <p:nvPr/>
        </p:nvSpPr>
        <p:spPr>
          <a:xfrm>
            <a:off x="10801004" y="9980516"/>
            <a:ext cx="11615651" cy="1815241"/>
          </a:xfrm>
          <a:prstGeom prst="rect">
            <a:avLst/>
          </a:prstGeom>
          <a:noFill/>
          <a:ln/>
        </p:spPr>
        <p:txBody>
          <a:bodyPr wrap="square" lIns="0" tIns="0" rIns="0" bIns="0" rtlCol="0" anchor="t"/>
          <a:lstStyle/>
          <a:p>
            <a:pPr marL="0" indent="0">
              <a:buNone/>
            </a:pPr>
            <a:r>
              <a:rPr lang="en-US" sz="3600" dirty="0">
                <a:latin typeface="Calibri" pitchFamily="34" charset="0"/>
                <a:ea typeface="Calibri" pitchFamily="34" charset="-122"/>
                <a:cs typeface="Calibri" pitchFamily="34" charset="-120"/>
              </a:rPr>
              <a:t>Prediction drift TIDAK terdeteksi, </a:t>
            </a:r>
            <a:r>
              <a:rPr lang="en-US" sz="3600" dirty="0" err="1">
                <a:latin typeface="Calibri" pitchFamily="34" charset="0"/>
                <a:ea typeface="Calibri" pitchFamily="34" charset="-122"/>
                <a:cs typeface="Calibri" pitchFamily="34" charset="-120"/>
              </a:rPr>
              <a:t>padahal</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nilai</a:t>
            </a:r>
            <a:r>
              <a:rPr lang="en-US" sz="3600" dirty="0">
                <a:latin typeface="Calibri" pitchFamily="34" charset="0"/>
                <a:ea typeface="Calibri" pitchFamily="34" charset="-122"/>
                <a:cs typeface="Calibri" pitchFamily="34" charset="-120"/>
              </a:rPr>
              <a:t> accuracy model  </a:t>
            </a:r>
            <a:r>
              <a:rPr lang="en-US" sz="3600" dirty="0" err="1">
                <a:latin typeface="Calibri" pitchFamily="34" charset="0"/>
                <a:ea typeface="Calibri" pitchFamily="34" charset="-122"/>
                <a:cs typeface="Calibri" pitchFamily="34" charset="-120"/>
              </a:rPr>
              <a:t>telah</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turun</a:t>
            </a:r>
            <a:r>
              <a:rPr lang="en-US" sz="3600" dirty="0">
                <a:latin typeface="Calibri" pitchFamily="34" charset="0"/>
                <a:ea typeface="Calibri" pitchFamily="34" charset="-122"/>
                <a:cs typeface="Calibri" pitchFamily="34" charset="-120"/>
              </a:rPr>
              <a:t> 5%. </a:t>
            </a:r>
            <a:endParaRPr lang="en-US" sz="3600" dirty="0"/>
          </a:p>
        </p:txBody>
      </p:sp>
    </p:spTree>
    <p:extLst>
      <p:ext uri="{BB962C8B-B14F-4D97-AF65-F5344CB8AC3E}">
        <p14:creationId xmlns:p14="http://schemas.microsoft.com/office/powerpoint/2010/main" val="20501940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E0365-CD4D-E373-0738-ADC483F1F1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DDA509-35CD-18A0-EEB1-608271955BFB}"/>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dirty="0" err="1">
                <a:solidFill>
                  <a:srgbClr val="1B2A4A"/>
                </a:solidFill>
                <a:latin typeface="Liter"/>
              </a:rPr>
              <a:t>Contoh</a:t>
            </a:r>
            <a:r>
              <a:rPr lang="en-US" sz="4400" b="1" dirty="0">
                <a:solidFill>
                  <a:srgbClr val="1B2A4A"/>
                </a:solidFill>
                <a:latin typeface="Liter"/>
              </a:rPr>
              <a:t> </a:t>
            </a:r>
            <a:r>
              <a:rPr lang="en-US" sz="4400" b="1" dirty="0" err="1">
                <a:solidFill>
                  <a:srgbClr val="1B2A4A"/>
                </a:solidFill>
                <a:latin typeface="Liter"/>
              </a:rPr>
              <a:t>Kategori</a:t>
            </a:r>
            <a:r>
              <a:rPr lang="en-US" sz="4400" b="1" dirty="0">
                <a:solidFill>
                  <a:srgbClr val="1B2A4A"/>
                </a:solidFill>
                <a:latin typeface="Liter"/>
              </a:rPr>
              <a:t> </a:t>
            </a:r>
            <a:r>
              <a:rPr lang="en-US" sz="4400" b="1" dirty="0" err="1">
                <a:solidFill>
                  <a:srgbClr val="1B2A4A"/>
                </a:solidFill>
                <a:latin typeface="Liter"/>
              </a:rPr>
              <a:t>Insiden</a:t>
            </a:r>
            <a:r>
              <a:rPr lang="en-US" sz="4400" b="1" dirty="0">
                <a:solidFill>
                  <a:srgbClr val="1B2A4A"/>
                </a:solidFill>
                <a:latin typeface="Liter"/>
              </a:rPr>
              <a:t> </a:t>
            </a:r>
            <a:r>
              <a:rPr lang="en-US" sz="4400" b="1" dirty="0" err="1">
                <a:solidFill>
                  <a:srgbClr val="1B2A4A"/>
                </a:solidFill>
                <a:latin typeface="Liter"/>
              </a:rPr>
              <a:t>MLOps</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3AB35A15-26C4-4A92-A3C2-CF8F7B1F59C5}"/>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14438E7-2029-9946-791E-12DE7344BC60}"/>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CONCEPT</a:t>
            </a:r>
          </a:p>
        </p:txBody>
      </p:sp>
      <p:sp>
        <p:nvSpPr>
          <p:cNvPr id="5" name="TextBox 4">
            <a:extLst>
              <a:ext uri="{FF2B5EF4-FFF2-40B4-BE49-F238E27FC236}">
                <a16:creationId xmlns:a16="http://schemas.microsoft.com/office/drawing/2014/main" id="{EEC59FE5-B0EF-DC69-4F84-DC6408D31DA9}"/>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54</a:t>
            </a:r>
          </a:p>
        </p:txBody>
      </p:sp>
      <p:graphicFrame>
        <p:nvGraphicFramePr>
          <p:cNvPr id="42" name="Table 41">
            <a:extLst>
              <a:ext uri="{FF2B5EF4-FFF2-40B4-BE49-F238E27FC236}">
                <a16:creationId xmlns:a16="http://schemas.microsoft.com/office/drawing/2014/main" id="{1FE4031B-C4E0-6C08-0E60-1E1C3412F657}"/>
              </a:ext>
            </a:extLst>
          </p:cNvPr>
          <p:cNvGraphicFramePr>
            <a:graphicFrameLocks noGrp="1"/>
          </p:cNvGraphicFramePr>
          <p:nvPr>
            <p:extLst>
              <p:ext uri="{D42A27DB-BD31-4B8C-83A1-F6EECF244321}">
                <p14:modId xmlns:p14="http://schemas.microsoft.com/office/powerpoint/2010/main" val="3544024305"/>
              </p:ext>
            </p:extLst>
          </p:nvPr>
        </p:nvGraphicFramePr>
        <p:xfrm>
          <a:off x="1014984" y="2880205"/>
          <a:ext cx="21845016" cy="8919331"/>
        </p:xfrm>
        <a:graphic>
          <a:graphicData uri="http://schemas.openxmlformats.org/drawingml/2006/table">
            <a:tbl>
              <a:tblPr firstRow="1" bandRow="1">
                <a:tableStyleId>{073A0DAA-6AF3-43AB-8588-CEC1D06C72B9}</a:tableStyleId>
              </a:tblPr>
              <a:tblGrid>
                <a:gridCol w="5247271">
                  <a:extLst>
                    <a:ext uri="{9D8B030D-6E8A-4147-A177-3AD203B41FA5}">
                      <a16:colId xmlns:a16="http://schemas.microsoft.com/office/drawing/2014/main" val="3799812917"/>
                    </a:ext>
                  </a:extLst>
                </a:gridCol>
                <a:gridCol w="4461163">
                  <a:extLst>
                    <a:ext uri="{9D8B030D-6E8A-4147-A177-3AD203B41FA5}">
                      <a16:colId xmlns:a16="http://schemas.microsoft.com/office/drawing/2014/main" val="3617651879"/>
                    </a:ext>
                  </a:extLst>
                </a:gridCol>
                <a:gridCol w="6675328">
                  <a:extLst>
                    <a:ext uri="{9D8B030D-6E8A-4147-A177-3AD203B41FA5}">
                      <a16:colId xmlns:a16="http://schemas.microsoft.com/office/drawing/2014/main" val="1795104517"/>
                    </a:ext>
                  </a:extLst>
                </a:gridCol>
                <a:gridCol w="5461254">
                  <a:extLst>
                    <a:ext uri="{9D8B030D-6E8A-4147-A177-3AD203B41FA5}">
                      <a16:colId xmlns:a16="http://schemas.microsoft.com/office/drawing/2014/main" val="2900276"/>
                    </a:ext>
                  </a:extLst>
                </a:gridCol>
              </a:tblGrid>
              <a:tr h="1238371">
                <a:tc>
                  <a:txBody>
                    <a:bodyPr/>
                    <a:lstStyle/>
                    <a:p>
                      <a:pPr algn="ctr"/>
                      <a:r>
                        <a:rPr lang="en-US" sz="4400" dirty="0" err="1">
                          <a:solidFill>
                            <a:schemeClr val="bg1"/>
                          </a:solidFill>
                        </a:rPr>
                        <a:t>Kategori</a:t>
                      </a:r>
                      <a:endParaRPr lang="en-US" sz="4400" dirty="0">
                        <a:solidFill>
                          <a:schemeClr val="bg1"/>
                        </a:solidFill>
                      </a:endParaRPr>
                    </a:p>
                  </a:txBody>
                  <a:tcPr anchor="ctr"/>
                </a:tc>
                <a:tc>
                  <a:txBody>
                    <a:bodyPr/>
                    <a:lstStyle/>
                    <a:p>
                      <a:pPr algn="ctr"/>
                      <a:r>
                        <a:rPr lang="en-US" sz="4400" b="1" kern="1200" dirty="0">
                          <a:solidFill>
                            <a:schemeClr val="bg1"/>
                          </a:solidFill>
                          <a:latin typeface="+mn-lt"/>
                          <a:ea typeface="+mn-ea"/>
                          <a:cs typeface="+mn-cs"/>
                        </a:rPr>
                        <a:t>Phase</a:t>
                      </a:r>
                    </a:p>
                  </a:txBody>
                  <a:tcPr anchor="ctr"/>
                </a:tc>
                <a:tc>
                  <a:txBody>
                    <a:bodyPr/>
                    <a:lstStyle/>
                    <a:p>
                      <a:pPr algn="ctr"/>
                      <a:r>
                        <a:rPr lang="en-US" sz="4400" b="1" kern="1200" dirty="0" err="1">
                          <a:solidFill>
                            <a:schemeClr val="bg1"/>
                          </a:solidFill>
                          <a:latin typeface="+mn-lt"/>
                          <a:ea typeface="+mn-ea"/>
                          <a:cs typeface="+mn-cs"/>
                        </a:rPr>
                        <a:t>Contoh</a:t>
                      </a:r>
                      <a:r>
                        <a:rPr lang="en-US" sz="4400" b="1" kern="1200" dirty="0">
                          <a:solidFill>
                            <a:schemeClr val="bg1"/>
                          </a:solidFill>
                          <a:latin typeface="+mn-lt"/>
                          <a:ea typeface="+mn-ea"/>
                          <a:cs typeface="+mn-cs"/>
                        </a:rPr>
                        <a:t> </a:t>
                      </a:r>
                      <a:r>
                        <a:rPr lang="en-US" sz="4400" b="1" kern="1200" dirty="0" err="1">
                          <a:solidFill>
                            <a:schemeClr val="bg1"/>
                          </a:solidFill>
                          <a:latin typeface="+mn-lt"/>
                          <a:ea typeface="+mn-ea"/>
                          <a:cs typeface="+mn-cs"/>
                        </a:rPr>
                        <a:t>Insiden</a:t>
                      </a:r>
                      <a:endParaRPr lang="en-US" sz="4400" b="1" kern="1200" dirty="0">
                        <a:solidFill>
                          <a:schemeClr val="bg1"/>
                        </a:solidFill>
                        <a:latin typeface="+mn-lt"/>
                        <a:ea typeface="+mn-ea"/>
                        <a:cs typeface="+mn-cs"/>
                      </a:endParaRPr>
                    </a:p>
                  </a:txBody>
                  <a:tcPr anchor="ctr"/>
                </a:tc>
                <a:tc>
                  <a:txBody>
                    <a:bodyPr/>
                    <a:lstStyle/>
                    <a:p>
                      <a:pPr algn="ctr"/>
                      <a:r>
                        <a:rPr lang="en-US" sz="4400" b="1" kern="1200" dirty="0" err="1">
                          <a:solidFill>
                            <a:schemeClr val="bg1"/>
                          </a:solidFill>
                          <a:latin typeface="+mn-lt"/>
                          <a:ea typeface="+mn-ea"/>
                          <a:cs typeface="+mn-cs"/>
                        </a:rPr>
                        <a:t>Dampak</a:t>
                      </a:r>
                      <a:endParaRPr lang="en-US" sz="4400" b="1" kern="1200" dirty="0">
                        <a:solidFill>
                          <a:schemeClr val="bg1"/>
                        </a:solidFill>
                        <a:latin typeface="+mn-lt"/>
                        <a:ea typeface="+mn-ea"/>
                        <a:cs typeface="+mn-cs"/>
                      </a:endParaRPr>
                    </a:p>
                  </a:txBody>
                  <a:tcPr anchor="ctr"/>
                </a:tc>
                <a:extLst>
                  <a:ext uri="{0D108BD9-81ED-4DB2-BD59-A6C34878D82A}">
                    <a16:rowId xmlns:a16="http://schemas.microsoft.com/office/drawing/2014/main" val="2329431560"/>
                  </a:ext>
                </a:extLst>
              </a:tr>
              <a:tr h="1238371">
                <a:tc>
                  <a:txBody>
                    <a:bodyPr/>
                    <a:lstStyle/>
                    <a:p>
                      <a:pPr algn="l"/>
                      <a:r>
                        <a:rPr lang="en-US" sz="4000" dirty="0"/>
                        <a:t>Data &amp; Model</a:t>
                      </a:r>
                    </a:p>
                  </a:txBody>
                  <a:tcPr anchor="ctr"/>
                </a:tc>
                <a:tc>
                  <a:txBody>
                    <a:bodyPr/>
                    <a:lstStyle/>
                    <a:p>
                      <a:pPr algn="l"/>
                      <a:r>
                        <a:rPr lang="en-US" sz="4000" dirty="0"/>
                        <a:t>Model Development</a:t>
                      </a:r>
                    </a:p>
                  </a:txBody>
                  <a:tcPr anchor="ctr"/>
                </a:tc>
                <a:tc>
                  <a:txBody>
                    <a:bodyPr/>
                    <a:lstStyle/>
                    <a:p>
                      <a:pPr algn="l"/>
                      <a:r>
                        <a:rPr lang="en-US" sz="4000" dirty="0"/>
                        <a:t>Data drift, prediction drift diam-diam, alias registry </a:t>
                      </a:r>
                      <a:r>
                        <a:rPr lang="en-US" sz="4000" dirty="0" err="1"/>
                        <a:t>menunjuk</a:t>
                      </a:r>
                      <a:r>
                        <a:rPr lang="en-US" sz="4000" dirty="0"/>
                        <a:t> </a:t>
                      </a:r>
                      <a:r>
                        <a:rPr lang="en-US" sz="4000" dirty="0" err="1"/>
                        <a:t>versi</a:t>
                      </a:r>
                      <a:r>
                        <a:rPr lang="en-US" sz="4000" dirty="0"/>
                        <a:t> salah</a:t>
                      </a:r>
                    </a:p>
                  </a:txBody>
                  <a:tcPr anchor="ctr"/>
                </a:tc>
                <a:tc>
                  <a:txBody>
                    <a:bodyPr/>
                    <a:lstStyle/>
                    <a:p>
                      <a:pPr algn="l"/>
                      <a:r>
                        <a:rPr lang="en-US" sz="4000" dirty="0"/>
                        <a:t>Keputusan </a:t>
                      </a:r>
                      <a:r>
                        <a:rPr lang="en-US" sz="4000" dirty="0" err="1"/>
                        <a:t>bisnis</a:t>
                      </a:r>
                      <a:r>
                        <a:rPr lang="en-US" sz="4000" dirty="0"/>
                        <a:t> salah </a:t>
                      </a:r>
                      <a:r>
                        <a:rPr lang="en-US" sz="4000" dirty="0" err="1"/>
                        <a:t>tanpa</a:t>
                      </a:r>
                      <a:r>
                        <a:rPr lang="en-US" sz="4000" dirty="0"/>
                        <a:t> </a:t>
                      </a:r>
                      <a:r>
                        <a:rPr lang="en-US" sz="4000" dirty="0" err="1"/>
                        <a:t>disadari</a:t>
                      </a:r>
                      <a:endParaRPr lang="en-US" sz="4000" dirty="0"/>
                    </a:p>
                  </a:txBody>
                  <a:tcPr anchor="ctr"/>
                </a:tc>
                <a:extLst>
                  <a:ext uri="{0D108BD9-81ED-4DB2-BD59-A6C34878D82A}">
                    <a16:rowId xmlns:a16="http://schemas.microsoft.com/office/drawing/2014/main" val="3199778680"/>
                  </a:ext>
                </a:extLst>
              </a:tr>
              <a:tr h="1238371">
                <a:tc>
                  <a:txBody>
                    <a:bodyPr/>
                    <a:lstStyle/>
                    <a:p>
                      <a:pPr algn="l"/>
                      <a:r>
                        <a:rPr lang="en-US" sz="4000" dirty="0"/>
                        <a:t>Serving Infrastructure</a:t>
                      </a:r>
                    </a:p>
                  </a:txBody>
                  <a:tcPr anchor="ctr"/>
                </a:tc>
                <a:tc>
                  <a:txBody>
                    <a:bodyPr/>
                    <a:lstStyle/>
                    <a:p>
                      <a:pPr algn="l"/>
                      <a:r>
                        <a:rPr lang="en-US" sz="4000" dirty="0"/>
                        <a:t>Model Deployment</a:t>
                      </a:r>
                    </a:p>
                  </a:txBody>
                  <a:tcPr anchor="ctr"/>
                </a:tc>
                <a:tc>
                  <a:txBody>
                    <a:bodyPr/>
                    <a:lstStyle/>
                    <a:p>
                      <a:pPr algn="l"/>
                      <a:r>
                        <a:rPr lang="en-US" sz="4000" dirty="0"/>
                        <a:t>API crash, breaking change dependency, container </a:t>
                      </a:r>
                      <a:r>
                        <a:rPr lang="en-US" sz="4000" dirty="0" err="1"/>
                        <a:t>gagal</a:t>
                      </a:r>
                      <a:r>
                        <a:rPr lang="en-US" sz="4000" dirty="0"/>
                        <a:t> start</a:t>
                      </a:r>
                    </a:p>
                  </a:txBody>
                  <a:tcPr anchor="ctr"/>
                </a:tc>
                <a:tc>
                  <a:txBody>
                    <a:bodyPr/>
                    <a:lstStyle/>
                    <a:p>
                      <a:pPr algn="l"/>
                      <a:r>
                        <a:rPr lang="en-US" sz="4000" dirty="0" err="1"/>
                        <a:t>Layanan</a:t>
                      </a:r>
                      <a:r>
                        <a:rPr lang="en-US" sz="4000" dirty="0"/>
                        <a:t> </a:t>
                      </a:r>
                      <a:r>
                        <a:rPr lang="en-US" sz="4000" dirty="0" err="1"/>
                        <a:t>tidak</a:t>
                      </a:r>
                      <a:r>
                        <a:rPr lang="en-US" sz="4000" dirty="0"/>
                        <a:t> </a:t>
                      </a:r>
                      <a:r>
                        <a:rPr lang="en-US" sz="4000" dirty="0" err="1"/>
                        <a:t>bisa</a:t>
                      </a:r>
                      <a:r>
                        <a:rPr lang="en-US" sz="4000" dirty="0"/>
                        <a:t> </a:t>
                      </a:r>
                      <a:r>
                        <a:rPr lang="en-US" sz="4000" dirty="0" err="1"/>
                        <a:t>diakses</a:t>
                      </a:r>
                      <a:endParaRPr lang="en-US" sz="4000" dirty="0"/>
                    </a:p>
                  </a:txBody>
                  <a:tcPr anchor="ctr"/>
                </a:tc>
                <a:extLst>
                  <a:ext uri="{0D108BD9-81ED-4DB2-BD59-A6C34878D82A}">
                    <a16:rowId xmlns:a16="http://schemas.microsoft.com/office/drawing/2014/main" val="2556403020"/>
                  </a:ext>
                </a:extLst>
              </a:tr>
              <a:tr h="1238371">
                <a:tc>
                  <a:txBody>
                    <a:bodyPr/>
                    <a:lstStyle/>
                    <a:p>
                      <a:pPr algn="l"/>
                      <a:r>
                        <a:rPr lang="en-US" sz="4000" dirty="0"/>
                        <a:t>Pipeline &amp; Orchestration</a:t>
                      </a:r>
                    </a:p>
                  </a:txBody>
                  <a:tcPr anchor="ctr"/>
                </a:tc>
                <a:tc>
                  <a:txBody>
                    <a:bodyPr/>
                    <a:lstStyle/>
                    <a:p>
                      <a:pPr algn="l"/>
                      <a:r>
                        <a:rPr lang="en-US" sz="4000" dirty="0" err="1"/>
                        <a:t>Orkestrasi</a:t>
                      </a:r>
                      <a:endParaRPr lang="en-US" sz="4000" dirty="0"/>
                    </a:p>
                  </a:txBody>
                  <a:tcPr anchor="ctr"/>
                </a:tc>
                <a:tc>
                  <a:txBody>
                    <a:bodyPr/>
                    <a:lstStyle/>
                    <a:p>
                      <a:pPr algn="l"/>
                      <a:r>
                        <a:rPr lang="en-US" sz="4000" dirty="0"/>
                        <a:t>Model </a:t>
                      </a:r>
                      <a:r>
                        <a:rPr lang="en-US" sz="4000" dirty="0" err="1"/>
                        <a:t>buruk</a:t>
                      </a:r>
                      <a:r>
                        <a:rPr lang="en-US" sz="4000" dirty="0"/>
                        <a:t> </a:t>
                      </a:r>
                      <a:r>
                        <a:rPr lang="en-US" sz="4000" dirty="0" err="1"/>
                        <a:t>ter-promosi</a:t>
                      </a:r>
                      <a:r>
                        <a:rPr lang="en-US" sz="4000" dirty="0"/>
                        <a:t> </a:t>
                      </a:r>
                      <a:r>
                        <a:rPr lang="en-US" sz="4000" dirty="0" err="1"/>
                        <a:t>otomatis</a:t>
                      </a:r>
                      <a:r>
                        <a:rPr lang="en-US" sz="4000" dirty="0"/>
                        <a:t>, task </a:t>
                      </a:r>
                      <a:r>
                        <a:rPr lang="en-US" sz="4000" dirty="0" err="1"/>
                        <a:t>gagal</a:t>
                      </a:r>
                      <a:r>
                        <a:rPr lang="en-US" sz="4000" dirty="0"/>
                        <a:t> diam-diam, retry exhaust</a:t>
                      </a:r>
                    </a:p>
                  </a:txBody>
                  <a:tcPr anchor="ctr"/>
                </a:tc>
                <a:tc>
                  <a:txBody>
                    <a:bodyPr/>
                    <a:lstStyle/>
                    <a:p>
                      <a:pPr algn="l"/>
                      <a:r>
                        <a:rPr lang="en-US" sz="4000" dirty="0" err="1"/>
                        <a:t>Otomasi</a:t>
                      </a:r>
                      <a:r>
                        <a:rPr lang="en-US" sz="4000" dirty="0"/>
                        <a:t> </a:t>
                      </a:r>
                      <a:r>
                        <a:rPr lang="en-US" sz="4000" dirty="0" err="1"/>
                        <a:t>mempercepat</a:t>
                      </a:r>
                      <a:r>
                        <a:rPr lang="en-US" sz="4000" dirty="0"/>
                        <a:t> </a:t>
                      </a:r>
                      <a:r>
                        <a:rPr lang="en-US" sz="4000" dirty="0" err="1"/>
                        <a:t>kesalahan</a:t>
                      </a:r>
                      <a:r>
                        <a:rPr lang="en-US" sz="4000" dirty="0"/>
                        <a:t>, </a:t>
                      </a:r>
                      <a:r>
                        <a:rPr lang="en-US" sz="4000" dirty="0" err="1"/>
                        <a:t>bukan</a:t>
                      </a:r>
                      <a:r>
                        <a:rPr lang="en-US" sz="4000" dirty="0"/>
                        <a:t> </a:t>
                      </a:r>
                      <a:r>
                        <a:rPr lang="en-US" sz="4000" dirty="0" err="1"/>
                        <a:t>cuma</a:t>
                      </a:r>
                      <a:r>
                        <a:rPr lang="en-US" sz="4000" dirty="0"/>
                        <a:t> </a:t>
                      </a:r>
                      <a:r>
                        <a:rPr lang="en-US" sz="4000" dirty="0" err="1"/>
                        <a:t>layanan</a:t>
                      </a:r>
                      <a:endParaRPr lang="en-US" sz="4000" dirty="0"/>
                    </a:p>
                  </a:txBody>
                  <a:tcPr anchor="ctr"/>
                </a:tc>
                <a:extLst>
                  <a:ext uri="{0D108BD9-81ED-4DB2-BD59-A6C34878D82A}">
                    <a16:rowId xmlns:a16="http://schemas.microsoft.com/office/drawing/2014/main" val="268914101"/>
                  </a:ext>
                </a:extLst>
              </a:tr>
              <a:tr h="1238371">
                <a:tc>
                  <a:txBody>
                    <a:bodyPr/>
                    <a:lstStyle/>
                    <a:p>
                      <a:pPr algn="l"/>
                      <a:r>
                        <a:rPr lang="en-US" sz="4000" dirty="0"/>
                        <a:t>Monitoring Blind Spot</a:t>
                      </a:r>
                    </a:p>
                  </a:txBody>
                  <a:tcPr anchor="ctr"/>
                </a:tc>
                <a:tc>
                  <a:txBody>
                    <a:bodyPr/>
                    <a:lstStyle/>
                    <a:p>
                      <a:pPr algn="l"/>
                      <a:r>
                        <a:rPr lang="en-US" sz="4000" dirty="0"/>
                        <a:t>Model Monitoring</a:t>
                      </a:r>
                    </a:p>
                  </a:txBody>
                  <a:tcPr anchor="ctr"/>
                </a:tc>
                <a:tc>
                  <a:txBody>
                    <a:bodyPr/>
                    <a:lstStyle/>
                    <a:p>
                      <a:pPr algn="l"/>
                      <a:r>
                        <a:rPr lang="en-US" sz="4000" dirty="0"/>
                        <a:t>Satu </a:t>
                      </a:r>
                      <a:r>
                        <a:rPr lang="en-US" sz="4000" dirty="0" err="1"/>
                        <a:t>sinyal</a:t>
                      </a:r>
                      <a:r>
                        <a:rPr lang="en-US" sz="4000" dirty="0"/>
                        <a:t> </a:t>
                      </a:r>
                      <a:r>
                        <a:rPr lang="en-US" sz="4000" dirty="0" err="1"/>
                        <a:t>saja</a:t>
                      </a:r>
                      <a:r>
                        <a:rPr lang="en-US" sz="4000" dirty="0"/>
                        <a:t> </a:t>
                      </a:r>
                      <a:r>
                        <a:rPr lang="en-US" sz="4000" dirty="0" err="1"/>
                        <a:t>dipasang</a:t>
                      </a:r>
                      <a:r>
                        <a:rPr lang="en-US" sz="4000" dirty="0"/>
                        <a:t>, threshold salah </a:t>
                      </a:r>
                      <a:r>
                        <a:rPr lang="en-US" sz="4000" dirty="0" err="1"/>
                        <a:t>kalibrasi</a:t>
                      </a:r>
                      <a:r>
                        <a:rPr lang="en-US" sz="4000" dirty="0"/>
                        <a:t>, alert fatigue</a:t>
                      </a:r>
                    </a:p>
                  </a:txBody>
                  <a:tcPr anchor="ctr"/>
                </a:tc>
                <a:tc>
                  <a:txBody>
                    <a:bodyPr/>
                    <a:lstStyle/>
                    <a:p>
                      <a:pPr algn="l"/>
                      <a:r>
                        <a:rPr lang="en-US" sz="4000" dirty="0" err="1"/>
                        <a:t>Insiden</a:t>
                      </a:r>
                      <a:r>
                        <a:rPr lang="en-US" sz="4000" dirty="0"/>
                        <a:t> </a:t>
                      </a:r>
                      <a:r>
                        <a:rPr lang="en-US" sz="4000" dirty="0" err="1"/>
                        <a:t>nyata</a:t>
                      </a:r>
                      <a:r>
                        <a:rPr lang="en-US" sz="4000" dirty="0"/>
                        <a:t> </a:t>
                      </a:r>
                      <a:r>
                        <a:rPr lang="en-US" sz="4000" dirty="0" err="1"/>
                        <a:t>luput</a:t>
                      </a:r>
                      <a:r>
                        <a:rPr lang="en-US" sz="4000" dirty="0"/>
                        <a:t> </a:t>
                      </a:r>
                      <a:r>
                        <a:rPr lang="en-US" sz="4000" dirty="0" err="1"/>
                        <a:t>terdeteksi</a:t>
                      </a:r>
                      <a:r>
                        <a:rPr lang="en-US" sz="4000" dirty="0"/>
                        <a:t> </a:t>
                      </a:r>
                      <a:r>
                        <a:rPr lang="en-US" sz="4000" dirty="0" err="1"/>
                        <a:t>sama</a:t>
                      </a:r>
                      <a:r>
                        <a:rPr lang="en-US" sz="4000" dirty="0"/>
                        <a:t> </a:t>
                      </a:r>
                      <a:r>
                        <a:rPr lang="en-US" sz="4000" dirty="0" err="1"/>
                        <a:t>sekali</a:t>
                      </a:r>
                      <a:endParaRPr lang="en-US" sz="4000" dirty="0"/>
                    </a:p>
                  </a:txBody>
                  <a:tcPr anchor="ctr"/>
                </a:tc>
                <a:extLst>
                  <a:ext uri="{0D108BD9-81ED-4DB2-BD59-A6C34878D82A}">
                    <a16:rowId xmlns:a16="http://schemas.microsoft.com/office/drawing/2014/main" val="3442617687"/>
                  </a:ext>
                </a:extLst>
              </a:tr>
            </a:tbl>
          </a:graphicData>
        </a:graphic>
      </p:graphicFrame>
    </p:spTree>
    <p:extLst>
      <p:ext uri="{BB962C8B-B14F-4D97-AF65-F5344CB8AC3E}">
        <p14:creationId xmlns:p14="http://schemas.microsoft.com/office/powerpoint/2010/main" val="2738002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434FE-F371-D38A-A9F8-4B8E2F90F41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95A5A2-5675-DF52-1C92-00FD08C71198}"/>
              </a:ext>
            </a:extLst>
          </p:cNvPr>
          <p:cNvSpPr txBox="1"/>
          <p:nvPr/>
        </p:nvSpPr>
        <p:spPr>
          <a:xfrm>
            <a:off x="1014984" y="657650"/>
            <a:ext cx="15910559" cy="778675"/>
          </a:xfrm>
          <a:prstGeom prst="rect">
            <a:avLst/>
          </a:prstGeom>
          <a:noFill/>
        </p:spPr>
        <p:txBody>
          <a:bodyPr wrap="square" lIns="0" tIns="0" rIns="0" bIns="0" anchor="ctr">
            <a:spAutoFit/>
          </a:bodyPr>
          <a:lstStyle/>
          <a:p>
            <a:pPr algn="l">
              <a:lnSpc>
                <a:spcPct val="120000"/>
              </a:lnSpc>
              <a:spcAft>
                <a:spcPts val="600"/>
              </a:spcAft>
            </a:pPr>
            <a:r>
              <a:rPr lang="en-US" sz="4400" b="1" dirty="0">
                <a:solidFill>
                  <a:srgbClr val="1B2A4A"/>
                </a:solidFill>
                <a:latin typeface="Liter"/>
              </a:rPr>
              <a:t>Level </a:t>
            </a:r>
            <a:r>
              <a:rPr lang="en-US" sz="4400" b="1" dirty="0" err="1">
                <a:solidFill>
                  <a:srgbClr val="1B2A4A"/>
                </a:solidFill>
                <a:latin typeface="Liter"/>
              </a:rPr>
              <a:t>Kritikalitas</a:t>
            </a:r>
            <a:r>
              <a:rPr lang="en-US" sz="4400" b="1" dirty="0">
                <a:solidFill>
                  <a:srgbClr val="1B2A4A"/>
                </a:solidFill>
                <a:latin typeface="Liter"/>
              </a:rPr>
              <a:t> </a:t>
            </a:r>
            <a:r>
              <a:rPr lang="en-US" sz="4400" b="1" dirty="0" err="1">
                <a:solidFill>
                  <a:srgbClr val="1B2A4A"/>
                </a:solidFill>
                <a:latin typeface="Liter"/>
              </a:rPr>
              <a:t>Insiden</a:t>
            </a:r>
            <a:endParaRPr sz="4400" b="1" i="0" dirty="0">
              <a:solidFill>
                <a:srgbClr val="1B2A4A"/>
              </a:solidFill>
              <a:latin typeface="Liter"/>
            </a:endParaRPr>
          </a:p>
        </p:txBody>
      </p:sp>
      <p:sp>
        <p:nvSpPr>
          <p:cNvPr id="3" name="Rectangle 2">
            <a:extLst>
              <a:ext uri="{FF2B5EF4-FFF2-40B4-BE49-F238E27FC236}">
                <a16:creationId xmlns:a16="http://schemas.microsoft.com/office/drawing/2014/main" id="{19C59B16-49F8-B790-A39F-75CB3AABA9CA}"/>
              </a:ext>
            </a:extLst>
          </p:cNvPr>
          <p:cNvSpPr/>
          <p:nvPr/>
        </p:nvSpPr>
        <p:spPr>
          <a:xfrm>
            <a:off x="1014984" y="1655064"/>
            <a:ext cx="758952" cy="54864"/>
          </a:xfrm>
          <a:prstGeom prst="rect">
            <a:avLst/>
          </a:prstGeom>
          <a:solidFill>
            <a:srgbClr val="D4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32200C4-827D-BE68-18C3-E6C9E66B3AA5}"/>
              </a:ext>
            </a:extLst>
          </p:cNvPr>
          <p:cNvSpPr txBox="1"/>
          <p:nvPr/>
        </p:nvSpPr>
        <p:spPr>
          <a:xfrm>
            <a:off x="2011680" y="1499616"/>
            <a:ext cx="10972800" cy="384048"/>
          </a:xfrm>
          <a:prstGeom prst="rect">
            <a:avLst/>
          </a:prstGeom>
          <a:noFill/>
        </p:spPr>
        <p:txBody>
          <a:bodyPr wrap="square" lIns="0" tIns="0" rIns="0" bIns="0" anchor="ctr">
            <a:spAutoFit/>
          </a:bodyPr>
          <a:lstStyle/>
          <a:p>
            <a:pPr algn="l">
              <a:lnSpc>
                <a:spcPct val="120000"/>
              </a:lnSpc>
              <a:spcAft>
                <a:spcPts val="600"/>
              </a:spcAft>
            </a:pPr>
            <a:r>
              <a:rPr sz="1600" b="1" i="0" spc="300">
                <a:solidFill>
                  <a:srgbClr val="D4A03A"/>
                </a:solidFill>
                <a:latin typeface="Liter"/>
              </a:rPr>
              <a:t>CONCEPT</a:t>
            </a:r>
          </a:p>
        </p:txBody>
      </p:sp>
      <p:sp>
        <p:nvSpPr>
          <p:cNvPr id="5" name="TextBox 4">
            <a:extLst>
              <a:ext uri="{FF2B5EF4-FFF2-40B4-BE49-F238E27FC236}">
                <a16:creationId xmlns:a16="http://schemas.microsoft.com/office/drawing/2014/main" id="{ECEB3B08-DC8A-0BF7-CFCB-6C93E7BF6451}"/>
              </a:ext>
            </a:extLst>
          </p:cNvPr>
          <p:cNvSpPr txBox="1"/>
          <p:nvPr/>
        </p:nvSpPr>
        <p:spPr>
          <a:xfrm>
            <a:off x="21396960" y="12847320"/>
            <a:ext cx="2011680" cy="457200"/>
          </a:xfrm>
          <a:prstGeom prst="rect">
            <a:avLst/>
          </a:prstGeom>
          <a:noFill/>
        </p:spPr>
        <p:txBody>
          <a:bodyPr wrap="square" lIns="0" tIns="0" rIns="0" bIns="0" anchor="t">
            <a:spAutoFit/>
          </a:bodyPr>
          <a:lstStyle/>
          <a:p>
            <a:pPr algn="r">
              <a:lnSpc>
                <a:spcPct val="120000"/>
              </a:lnSpc>
              <a:spcAft>
                <a:spcPts val="600"/>
              </a:spcAft>
            </a:pPr>
            <a:r>
              <a:rPr sz="1800" b="0" i="0">
                <a:solidFill>
                  <a:srgbClr val="6B7B8D"/>
                </a:solidFill>
                <a:latin typeface="Quattrocento Sans"/>
              </a:rPr>
              <a:t>54</a:t>
            </a:r>
          </a:p>
        </p:txBody>
      </p:sp>
      <p:graphicFrame>
        <p:nvGraphicFramePr>
          <p:cNvPr id="42" name="Table 41">
            <a:extLst>
              <a:ext uri="{FF2B5EF4-FFF2-40B4-BE49-F238E27FC236}">
                <a16:creationId xmlns:a16="http://schemas.microsoft.com/office/drawing/2014/main" id="{DAB937C9-AF93-4962-BCBD-662DAC3A7DE2}"/>
              </a:ext>
            </a:extLst>
          </p:cNvPr>
          <p:cNvGraphicFramePr>
            <a:graphicFrameLocks noGrp="1"/>
          </p:cNvGraphicFramePr>
          <p:nvPr>
            <p:extLst>
              <p:ext uri="{D42A27DB-BD31-4B8C-83A1-F6EECF244321}">
                <p14:modId xmlns:p14="http://schemas.microsoft.com/office/powerpoint/2010/main" val="1618574955"/>
              </p:ext>
            </p:extLst>
          </p:nvPr>
        </p:nvGraphicFramePr>
        <p:xfrm>
          <a:off x="1014984" y="2686457"/>
          <a:ext cx="21845016" cy="8343086"/>
        </p:xfrm>
        <a:graphic>
          <a:graphicData uri="http://schemas.openxmlformats.org/drawingml/2006/table">
            <a:tbl>
              <a:tblPr firstRow="1" bandRow="1">
                <a:tableStyleId>{073A0DAA-6AF3-43AB-8588-CEC1D06C72B9}</a:tableStyleId>
              </a:tblPr>
              <a:tblGrid>
                <a:gridCol w="2531780">
                  <a:extLst>
                    <a:ext uri="{9D8B030D-6E8A-4147-A177-3AD203B41FA5}">
                      <a16:colId xmlns:a16="http://schemas.microsoft.com/office/drawing/2014/main" val="3799812917"/>
                    </a:ext>
                  </a:extLst>
                </a:gridCol>
                <a:gridCol w="5680363">
                  <a:extLst>
                    <a:ext uri="{9D8B030D-6E8A-4147-A177-3AD203B41FA5}">
                      <a16:colId xmlns:a16="http://schemas.microsoft.com/office/drawing/2014/main" val="3617651879"/>
                    </a:ext>
                  </a:extLst>
                </a:gridCol>
                <a:gridCol w="8171619">
                  <a:extLst>
                    <a:ext uri="{9D8B030D-6E8A-4147-A177-3AD203B41FA5}">
                      <a16:colId xmlns:a16="http://schemas.microsoft.com/office/drawing/2014/main" val="1795104517"/>
                    </a:ext>
                  </a:extLst>
                </a:gridCol>
                <a:gridCol w="5461254">
                  <a:extLst>
                    <a:ext uri="{9D8B030D-6E8A-4147-A177-3AD203B41FA5}">
                      <a16:colId xmlns:a16="http://schemas.microsoft.com/office/drawing/2014/main" val="2900276"/>
                    </a:ext>
                  </a:extLst>
                </a:gridCol>
              </a:tblGrid>
              <a:tr h="1457131">
                <a:tc>
                  <a:txBody>
                    <a:bodyPr/>
                    <a:lstStyle/>
                    <a:p>
                      <a:pPr algn="ctr"/>
                      <a:r>
                        <a:rPr lang="en-US" sz="4400" dirty="0">
                          <a:solidFill>
                            <a:schemeClr val="bg1"/>
                          </a:solidFill>
                        </a:rPr>
                        <a:t>Level</a:t>
                      </a:r>
                    </a:p>
                  </a:txBody>
                  <a:tcPr anchor="ctr"/>
                </a:tc>
                <a:tc>
                  <a:txBody>
                    <a:bodyPr/>
                    <a:lstStyle/>
                    <a:p>
                      <a:pPr algn="ctr"/>
                      <a:r>
                        <a:rPr lang="en-US" sz="4400" b="1" kern="1200" dirty="0" err="1">
                          <a:solidFill>
                            <a:schemeClr val="bg1"/>
                          </a:solidFill>
                          <a:latin typeface="+mn-lt"/>
                          <a:ea typeface="+mn-ea"/>
                          <a:cs typeface="+mn-cs"/>
                        </a:rPr>
                        <a:t>Kriteria</a:t>
                      </a:r>
                      <a:endParaRPr lang="en-US" sz="4400" b="1" kern="1200" dirty="0">
                        <a:solidFill>
                          <a:schemeClr val="bg1"/>
                        </a:solidFill>
                        <a:latin typeface="+mn-lt"/>
                        <a:ea typeface="+mn-ea"/>
                        <a:cs typeface="+mn-cs"/>
                      </a:endParaRPr>
                    </a:p>
                  </a:txBody>
                  <a:tcPr anchor="ctr"/>
                </a:tc>
                <a:tc>
                  <a:txBody>
                    <a:bodyPr/>
                    <a:lstStyle/>
                    <a:p>
                      <a:pPr algn="ctr"/>
                      <a:r>
                        <a:rPr lang="en-US" sz="4400" b="1" kern="1200" dirty="0" err="1">
                          <a:solidFill>
                            <a:schemeClr val="bg1"/>
                          </a:solidFill>
                          <a:latin typeface="+mn-lt"/>
                          <a:ea typeface="+mn-ea"/>
                          <a:cs typeface="+mn-cs"/>
                        </a:rPr>
                        <a:t>Contoh</a:t>
                      </a:r>
                      <a:r>
                        <a:rPr lang="en-US" sz="4400" b="1" kern="1200" dirty="0">
                          <a:solidFill>
                            <a:schemeClr val="bg1"/>
                          </a:solidFill>
                          <a:latin typeface="+mn-lt"/>
                          <a:ea typeface="+mn-ea"/>
                          <a:cs typeface="+mn-cs"/>
                        </a:rPr>
                        <a:t> pada </a:t>
                      </a:r>
                      <a:r>
                        <a:rPr lang="en-US" sz="4400" b="1" kern="1200" dirty="0" err="1">
                          <a:solidFill>
                            <a:schemeClr val="bg1"/>
                          </a:solidFill>
                          <a:latin typeface="+mn-lt"/>
                          <a:ea typeface="+mn-ea"/>
                          <a:cs typeface="+mn-cs"/>
                        </a:rPr>
                        <a:t>materi</a:t>
                      </a:r>
                      <a:r>
                        <a:rPr lang="en-US" sz="4400" b="1" kern="1200" dirty="0">
                          <a:solidFill>
                            <a:schemeClr val="bg1"/>
                          </a:solidFill>
                          <a:latin typeface="+mn-lt"/>
                          <a:ea typeface="+mn-ea"/>
                          <a:cs typeface="+mn-cs"/>
                        </a:rPr>
                        <a:t> Workshop</a:t>
                      </a:r>
                    </a:p>
                  </a:txBody>
                  <a:tcPr anchor="ctr"/>
                </a:tc>
                <a:tc>
                  <a:txBody>
                    <a:bodyPr/>
                    <a:lstStyle/>
                    <a:p>
                      <a:pPr algn="ctr"/>
                      <a:r>
                        <a:rPr lang="en-US" sz="4400" b="1" kern="1200" dirty="0">
                          <a:solidFill>
                            <a:schemeClr val="bg1"/>
                          </a:solidFill>
                          <a:latin typeface="+mn-lt"/>
                          <a:ea typeface="+mn-ea"/>
                          <a:cs typeface="+mn-cs"/>
                        </a:rPr>
                        <a:t>Target Response</a:t>
                      </a:r>
                    </a:p>
                  </a:txBody>
                  <a:tcPr anchor="ctr"/>
                </a:tc>
                <a:extLst>
                  <a:ext uri="{0D108BD9-81ED-4DB2-BD59-A6C34878D82A}">
                    <a16:rowId xmlns:a16="http://schemas.microsoft.com/office/drawing/2014/main" val="2329431560"/>
                  </a:ext>
                </a:extLst>
              </a:tr>
              <a:tr h="2259454">
                <a:tc>
                  <a:txBody>
                    <a:bodyPr/>
                    <a:lstStyle/>
                    <a:p>
                      <a:pPr algn="l"/>
                      <a:r>
                        <a:rPr lang="en-US" sz="4000" dirty="0" err="1"/>
                        <a:t>Kritis</a:t>
                      </a:r>
                      <a:endParaRPr lang="en-US" sz="4000" dirty="0"/>
                    </a:p>
                  </a:txBody>
                  <a:tcPr anchor="ctr"/>
                </a:tc>
                <a:tc>
                  <a:txBody>
                    <a:bodyPr/>
                    <a:lstStyle/>
                    <a:p>
                      <a:pPr marL="0" indent="0">
                        <a:buNone/>
                      </a:pPr>
                      <a:r>
                        <a:rPr lang="en-US" sz="4000" dirty="0" err="1">
                          <a:solidFill>
                            <a:srgbClr val="232A33"/>
                          </a:solidFill>
                          <a:latin typeface="Calibri" pitchFamily="34" charset="0"/>
                          <a:ea typeface="Calibri" pitchFamily="34" charset="-122"/>
                          <a:cs typeface="Calibri" pitchFamily="34" charset="-120"/>
                        </a:rPr>
                        <a:t>Layanan</a:t>
                      </a:r>
                      <a:r>
                        <a:rPr lang="en-US" sz="4000" dirty="0">
                          <a:solidFill>
                            <a:srgbClr val="232A33"/>
                          </a:solidFill>
                          <a:latin typeface="Calibri" pitchFamily="34" charset="0"/>
                          <a:ea typeface="Calibri" pitchFamily="34" charset="-122"/>
                          <a:cs typeface="Calibri" pitchFamily="34" charset="-120"/>
                        </a:rPr>
                        <a:t> down / </a:t>
                      </a:r>
                      <a:r>
                        <a:rPr lang="en-US" sz="4000" dirty="0" err="1">
                          <a:solidFill>
                            <a:srgbClr val="232A33"/>
                          </a:solidFill>
                          <a:latin typeface="Calibri" pitchFamily="34" charset="0"/>
                          <a:ea typeface="Calibri" pitchFamily="34" charset="-122"/>
                          <a:cs typeface="Calibri" pitchFamily="34" charset="-120"/>
                        </a:rPr>
                        <a:t>keputusan</a:t>
                      </a:r>
                      <a:r>
                        <a:rPr lang="en-US" sz="4000" dirty="0">
                          <a:solidFill>
                            <a:srgbClr val="232A33"/>
                          </a:solidFill>
                          <a:latin typeface="Calibri" pitchFamily="34" charset="0"/>
                          <a:ea typeface="Calibri" pitchFamily="34" charset="-122"/>
                          <a:cs typeface="Calibri" pitchFamily="34" charset="-120"/>
                        </a:rPr>
                        <a:t> salah </a:t>
                      </a:r>
                      <a:r>
                        <a:rPr lang="en-US" sz="4000" dirty="0" err="1">
                          <a:solidFill>
                            <a:srgbClr val="232A33"/>
                          </a:solidFill>
                          <a:latin typeface="Calibri" pitchFamily="34" charset="0"/>
                          <a:ea typeface="Calibri" pitchFamily="34" charset="-122"/>
                          <a:cs typeface="Calibri" pitchFamily="34" charset="-120"/>
                        </a:rPr>
                        <a:t>massal</a:t>
                      </a:r>
                      <a:endParaRPr lang="en-US" sz="4000" dirty="0"/>
                    </a:p>
                  </a:txBody>
                  <a:tcPr anchor="ctr"/>
                </a:tc>
                <a:tc>
                  <a:txBody>
                    <a:bodyPr/>
                    <a:lstStyle/>
                    <a:p>
                      <a:pPr algn="l"/>
                      <a:r>
                        <a:rPr lang="en-US" sz="4000" dirty="0"/>
                        <a:t>insurance-</a:t>
                      </a:r>
                      <a:r>
                        <a:rPr lang="en-US" sz="4000" dirty="0" err="1"/>
                        <a:t>api</a:t>
                      </a:r>
                      <a:r>
                        <a:rPr lang="en-US" sz="4000" dirty="0"/>
                        <a:t> </a:t>
                      </a:r>
                      <a:r>
                        <a:rPr lang="en-US" sz="4000" dirty="0" err="1"/>
                        <a:t>tidak</a:t>
                      </a:r>
                      <a:r>
                        <a:rPr lang="en-US" sz="4000" dirty="0"/>
                        <a:t> </a:t>
                      </a:r>
                      <a:r>
                        <a:rPr lang="en-US" sz="4000" dirty="0" err="1"/>
                        <a:t>merespons</a:t>
                      </a:r>
                      <a:r>
                        <a:rPr lang="en-US" sz="4000" dirty="0"/>
                        <a:t>, </a:t>
                      </a:r>
                      <a:r>
                        <a:rPr lang="en-US" sz="4000" dirty="0" err="1"/>
                        <a:t>atau</a:t>
                      </a:r>
                      <a:r>
                        <a:rPr lang="en-US" sz="4000" dirty="0"/>
                        <a:t> </a:t>
                      </a:r>
                      <a:r>
                        <a:rPr lang="en-US" sz="4000" dirty="0" err="1"/>
                        <a:t>meloloskan</a:t>
                      </a:r>
                      <a:r>
                        <a:rPr lang="en-US" sz="4000" dirty="0"/>
                        <a:t>/</a:t>
                      </a:r>
                      <a:r>
                        <a:rPr lang="en-US" sz="4000" dirty="0" err="1"/>
                        <a:t>menolak</a:t>
                      </a:r>
                      <a:r>
                        <a:rPr lang="en-US" sz="4000" dirty="0"/>
                        <a:t> </a:t>
                      </a:r>
                      <a:r>
                        <a:rPr lang="en-US" sz="4000" dirty="0" err="1"/>
                        <a:t>semua</a:t>
                      </a:r>
                      <a:r>
                        <a:rPr lang="en-US" sz="4000" dirty="0"/>
                        <a:t> </a:t>
                      </a:r>
                      <a:r>
                        <a:rPr lang="en-US" sz="4000" dirty="0" err="1"/>
                        <a:t>permohonan</a:t>
                      </a:r>
                      <a:endParaRPr lang="en-US" sz="4000" dirty="0"/>
                    </a:p>
                  </a:txBody>
                  <a:tcPr anchor="ctr"/>
                </a:tc>
                <a:tc>
                  <a:txBody>
                    <a:bodyPr/>
                    <a:lstStyle/>
                    <a:p>
                      <a:pPr marL="0" indent="0">
                        <a:buNone/>
                      </a:pPr>
                      <a:r>
                        <a:rPr lang="en-US" sz="4000" dirty="0" err="1">
                          <a:solidFill>
                            <a:srgbClr val="232A33"/>
                          </a:solidFill>
                          <a:latin typeface="Calibri" pitchFamily="34" charset="0"/>
                          <a:ea typeface="Calibri" pitchFamily="34" charset="-122"/>
                          <a:cs typeface="Calibri" pitchFamily="34" charset="-120"/>
                        </a:rPr>
                        <a:t>Segera</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hentikan</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pekerjaan</a:t>
                      </a:r>
                      <a:r>
                        <a:rPr lang="en-US" sz="4000" dirty="0">
                          <a:solidFill>
                            <a:srgbClr val="232A33"/>
                          </a:solidFill>
                          <a:latin typeface="Calibri" pitchFamily="34" charset="0"/>
                          <a:ea typeface="Calibri" pitchFamily="34" charset="-122"/>
                          <a:cs typeface="Calibri" pitchFamily="34" charset="-120"/>
                        </a:rPr>
                        <a:t> lain</a:t>
                      </a:r>
                      <a:endParaRPr lang="en-US" sz="4000" dirty="0"/>
                    </a:p>
                  </a:txBody>
                  <a:tcPr anchor="ctr"/>
                </a:tc>
                <a:extLst>
                  <a:ext uri="{0D108BD9-81ED-4DB2-BD59-A6C34878D82A}">
                    <a16:rowId xmlns:a16="http://schemas.microsoft.com/office/drawing/2014/main" val="3199778680"/>
                  </a:ext>
                </a:extLst>
              </a:tr>
              <a:tr h="1542167">
                <a:tc>
                  <a:txBody>
                    <a:bodyPr/>
                    <a:lstStyle/>
                    <a:p>
                      <a:pPr algn="l"/>
                      <a:r>
                        <a:rPr lang="en-US" sz="4000" dirty="0"/>
                        <a:t>Tinggi </a:t>
                      </a:r>
                    </a:p>
                  </a:txBody>
                  <a:tcPr anchor="ctr"/>
                </a:tc>
                <a:tc>
                  <a:txBody>
                    <a:bodyPr/>
                    <a:lstStyle/>
                    <a:p>
                      <a:pPr marL="0" indent="0">
                        <a:buNone/>
                      </a:pPr>
                      <a:r>
                        <a:rPr lang="en-US" sz="4000" dirty="0">
                          <a:solidFill>
                            <a:srgbClr val="232A33"/>
                          </a:solidFill>
                          <a:latin typeface="Calibri" pitchFamily="34" charset="0"/>
                          <a:ea typeface="Calibri" pitchFamily="34" charset="-122"/>
                          <a:cs typeface="Calibri" pitchFamily="34" charset="-120"/>
                        </a:rPr>
                        <a:t>Performa </a:t>
                      </a:r>
                      <a:r>
                        <a:rPr lang="en-US" sz="4000" dirty="0" err="1">
                          <a:solidFill>
                            <a:srgbClr val="232A33"/>
                          </a:solidFill>
                          <a:latin typeface="Calibri" pitchFamily="34" charset="0"/>
                          <a:ea typeface="Calibri" pitchFamily="34" charset="-122"/>
                          <a:cs typeface="Calibri" pitchFamily="34" charset="-120"/>
                        </a:rPr>
                        <a:t>turun</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signifikan</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terkonfirmasi</a:t>
                      </a:r>
                      <a:endParaRPr lang="en-US" sz="4000" dirty="0"/>
                    </a:p>
                  </a:txBody>
                  <a:tcPr anchor="ctr"/>
                </a:tc>
                <a:tc>
                  <a:txBody>
                    <a:bodyPr/>
                    <a:lstStyle/>
                    <a:p>
                      <a:pPr algn="l"/>
                      <a:r>
                        <a:rPr lang="en-US" sz="4000" dirty="0"/>
                        <a:t>Accuracy </a:t>
                      </a:r>
                      <a:r>
                        <a:rPr lang="en-US" sz="4000" dirty="0" err="1"/>
                        <a:t>turun</a:t>
                      </a:r>
                      <a:r>
                        <a:rPr lang="en-US" sz="4000" dirty="0"/>
                        <a:t> ≥0.03 </a:t>
                      </a:r>
                      <a:r>
                        <a:rPr lang="en-US" sz="4000" dirty="0" err="1"/>
                        <a:t>terkonfirmasi</a:t>
                      </a:r>
                      <a:r>
                        <a:rPr lang="en-US" sz="4000" dirty="0"/>
                        <a:t> ground truth</a:t>
                      </a:r>
                    </a:p>
                  </a:txBody>
                  <a:tcPr anchor="ctr"/>
                </a:tc>
                <a:tc>
                  <a:txBody>
                    <a:bodyPr/>
                    <a:lstStyle/>
                    <a:p>
                      <a:pPr marL="0" indent="0">
                        <a:buNone/>
                      </a:pPr>
                      <a:r>
                        <a:rPr lang="en-US" sz="4000" dirty="0">
                          <a:solidFill>
                            <a:srgbClr val="232A33"/>
                          </a:solidFill>
                          <a:latin typeface="Calibri" pitchFamily="34" charset="0"/>
                          <a:ea typeface="Calibri" pitchFamily="34" charset="-122"/>
                          <a:cs typeface="Calibri" pitchFamily="34" charset="-120"/>
                        </a:rPr>
                        <a:t>&lt; 1 jam</a:t>
                      </a:r>
                      <a:endParaRPr lang="en-US" sz="4000" dirty="0"/>
                    </a:p>
                  </a:txBody>
                  <a:tcPr anchor="ctr"/>
                </a:tc>
                <a:extLst>
                  <a:ext uri="{0D108BD9-81ED-4DB2-BD59-A6C34878D82A}">
                    <a16:rowId xmlns:a16="http://schemas.microsoft.com/office/drawing/2014/main" val="2556403020"/>
                  </a:ext>
                </a:extLst>
              </a:tr>
              <a:tr h="1542167">
                <a:tc>
                  <a:txBody>
                    <a:bodyPr/>
                    <a:lstStyle/>
                    <a:p>
                      <a:pPr algn="l"/>
                      <a:r>
                        <a:rPr lang="en-US" sz="4000" dirty="0"/>
                        <a:t>Sedang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rgbClr val="232A33"/>
                          </a:solidFill>
                          <a:latin typeface="Calibri" pitchFamily="34" charset="0"/>
                          <a:ea typeface="Calibri" pitchFamily="34" charset="-122"/>
                          <a:cs typeface="Calibri" pitchFamily="34" charset="-120"/>
                        </a:rPr>
                        <a:t>Drift </a:t>
                      </a:r>
                      <a:r>
                        <a:rPr lang="en-US" sz="4000" dirty="0" err="1">
                          <a:solidFill>
                            <a:srgbClr val="232A33"/>
                          </a:solidFill>
                          <a:latin typeface="Calibri" pitchFamily="34" charset="0"/>
                          <a:ea typeface="Calibri" pitchFamily="34" charset="-122"/>
                          <a:cs typeface="Calibri" pitchFamily="34" charset="-120"/>
                        </a:rPr>
                        <a:t>terdeteksi</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masih</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dalam</a:t>
                      </a:r>
                      <a:r>
                        <a:rPr lang="en-US" sz="4000" dirty="0">
                          <a:solidFill>
                            <a:srgbClr val="232A33"/>
                          </a:solidFill>
                          <a:latin typeface="Calibri" pitchFamily="34" charset="0"/>
                          <a:ea typeface="Calibri" pitchFamily="34" charset="-122"/>
                          <a:cs typeface="Calibri" pitchFamily="34" charset="-120"/>
                        </a:rPr>
                        <a:t> batas </a:t>
                      </a:r>
                      <a:r>
                        <a:rPr lang="en-US" sz="4000" dirty="0" err="1">
                          <a:solidFill>
                            <a:srgbClr val="232A33"/>
                          </a:solidFill>
                          <a:latin typeface="Calibri" pitchFamily="34" charset="0"/>
                          <a:ea typeface="Calibri" pitchFamily="34" charset="-122"/>
                          <a:cs typeface="Calibri" pitchFamily="34" charset="-120"/>
                        </a:rPr>
                        <a:t>aman</a:t>
                      </a:r>
                      <a:endParaRPr lang="en-US" sz="4000" dirty="0"/>
                    </a:p>
                  </a:txBody>
                  <a:tcPr anchor="ctr"/>
                </a:tc>
                <a:tc>
                  <a:txBody>
                    <a:bodyPr/>
                    <a:lstStyle/>
                    <a:p>
                      <a:pPr algn="l"/>
                      <a:r>
                        <a:rPr lang="en-US" sz="4000" dirty="0"/>
                        <a:t>Data drift share &lt; 0.30, </a:t>
                      </a:r>
                      <a:r>
                        <a:rPr lang="en-US" sz="4000" dirty="0" err="1"/>
                        <a:t>belum</a:t>
                      </a:r>
                      <a:r>
                        <a:rPr lang="en-US" sz="4000" dirty="0"/>
                        <a:t> </a:t>
                      </a:r>
                      <a:r>
                        <a:rPr lang="en-US" sz="4000" dirty="0" err="1"/>
                        <a:t>memicu</a:t>
                      </a:r>
                      <a:r>
                        <a:rPr lang="en-US" sz="4000" dirty="0"/>
                        <a:t> </a:t>
                      </a:r>
                      <a:r>
                        <a:rPr lang="en-US" sz="4000" dirty="0" err="1"/>
                        <a:t>kebijakan</a:t>
                      </a:r>
                      <a:r>
                        <a:rPr lang="en-US" sz="4000" dirty="0"/>
                        <a:t> retraining</a:t>
                      </a:r>
                    </a:p>
                  </a:txBody>
                  <a:tcPr anchor="ctr"/>
                </a:tc>
                <a:tc>
                  <a:txBody>
                    <a:bodyPr/>
                    <a:lstStyle/>
                    <a:p>
                      <a:pPr marL="0" indent="0">
                        <a:buNone/>
                      </a:pPr>
                      <a:r>
                        <a:rPr lang="en-US" sz="4000" dirty="0" err="1">
                          <a:solidFill>
                            <a:srgbClr val="232A33"/>
                          </a:solidFill>
                          <a:latin typeface="Calibri" pitchFamily="34" charset="0"/>
                          <a:ea typeface="Calibri" pitchFamily="34" charset="-122"/>
                          <a:cs typeface="Calibri" pitchFamily="34" charset="-120"/>
                        </a:rPr>
                        <a:t>Investigasi</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terjadwal</a:t>
                      </a:r>
                      <a:endParaRPr lang="en-US" sz="4000" dirty="0"/>
                    </a:p>
                  </a:txBody>
                  <a:tcPr anchor="ctr"/>
                </a:tc>
                <a:extLst>
                  <a:ext uri="{0D108BD9-81ED-4DB2-BD59-A6C34878D82A}">
                    <a16:rowId xmlns:a16="http://schemas.microsoft.com/office/drawing/2014/main" val="268914101"/>
                  </a:ext>
                </a:extLst>
              </a:tr>
              <a:tr h="1542167">
                <a:tc>
                  <a:txBody>
                    <a:bodyPr/>
                    <a:lstStyle/>
                    <a:p>
                      <a:pPr algn="l"/>
                      <a:r>
                        <a:rPr lang="en-US" sz="4000" dirty="0" err="1"/>
                        <a:t>Rendah</a:t>
                      </a:r>
                      <a:endParaRPr lang="en-US" sz="4000" dirty="0"/>
                    </a:p>
                  </a:txBody>
                  <a:tcPr anchor="ctr"/>
                </a:tc>
                <a:tc>
                  <a:txBody>
                    <a:bodyPr/>
                    <a:lstStyle/>
                    <a:p>
                      <a:pPr marL="0" indent="0">
                        <a:buNone/>
                      </a:pPr>
                      <a:r>
                        <a:rPr lang="en-US" sz="4000" dirty="0" err="1">
                          <a:solidFill>
                            <a:srgbClr val="232A33"/>
                          </a:solidFill>
                          <a:latin typeface="Calibri" pitchFamily="34" charset="0"/>
                          <a:ea typeface="Calibri" pitchFamily="34" charset="-122"/>
                          <a:cs typeface="Calibri" pitchFamily="34" charset="-120"/>
                        </a:rPr>
                        <a:t>Anomali</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kecil</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sifatnya</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informasional</a:t>
                      </a:r>
                      <a:endParaRPr lang="en-US" sz="4000" dirty="0"/>
                    </a:p>
                  </a:txBody>
                  <a:tcPr anchor="ctr"/>
                </a:tc>
                <a:tc>
                  <a:txBody>
                    <a:bodyPr/>
                    <a:lstStyle/>
                    <a:p>
                      <a:pPr marL="0" indent="0">
                        <a:buNone/>
                      </a:pPr>
                      <a:r>
                        <a:rPr lang="en-US" sz="4000" dirty="0">
                          <a:solidFill>
                            <a:srgbClr val="232A33"/>
                          </a:solidFill>
                          <a:latin typeface="Calibri" pitchFamily="34" charset="0"/>
                          <a:ea typeface="Calibri" pitchFamily="34" charset="-122"/>
                          <a:cs typeface="Calibri" pitchFamily="34" charset="-120"/>
                        </a:rPr>
                        <a:t>Satu </a:t>
                      </a:r>
                      <a:r>
                        <a:rPr lang="en-US" sz="4000" dirty="0" err="1">
                          <a:solidFill>
                            <a:srgbClr val="232A33"/>
                          </a:solidFill>
                          <a:latin typeface="Calibri" pitchFamily="34" charset="0"/>
                          <a:ea typeface="Calibri" pitchFamily="34" charset="-122"/>
                          <a:cs typeface="Calibri" pitchFamily="34" charset="-120"/>
                        </a:rPr>
                        <a:t>fitur</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bergeser</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tapi</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tidak</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signifikan</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secara</a:t>
                      </a:r>
                      <a:r>
                        <a:rPr lang="en-US" sz="4000" dirty="0">
                          <a:solidFill>
                            <a:srgbClr val="232A33"/>
                          </a:solidFill>
                          <a:latin typeface="Calibri" pitchFamily="34" charset="0"/>
                          <a:ea typeface="Calibri" pitchFamily="34" charset="-122"/>
                          <a:cs typeface="Calibri" pitchFamily="34" charset="-120"/>
                        </a:rPr>
                        <a:t> </a:t>
                      </a:r>
                      <a:r>
                        <a:rPr lang="en-US" sz="4000" dirty="0" err="1">
                          <a:solidFill>
                            <a:srgbClr val="232A33"/>
                          </a:solidFill>
                          <a:latin typeface="Calibri" pitchFamily="34" charset="0"/>
                          <a:ea typeface="Calibri" pitchFamily="34" charset="-122"/>
                          <a:cs typeface="Calibri" pitchFamily="34" charset="-120"/>
                        </a:rPr>
                        <a:t>statistik</a:t>
                      </a:r>
                      <a:endParaRPr lang="en-US" sz="4000" dirty="0"/>
                    </a:p>
                  </a:txBody>
                  <a:tcPr anchor="ctr"/>
                </a:tc>
                <a:tc>
                  <a:txBody>
                    <a:bodyPr/>
                    <a:lstStyle/>
                    <a:p>
                      <a:pPr marL="0" indent="0">
                        <a:buNone/>
                      </a:pPr>
                      <a:r>
                        <a:rPr lang="en-US" sz="4000" dirty="0">
                          <a:solidFill>
                            <a:srgbClr val="232A33"/>
                          </a:solidFill>
                          <a:latin typeface="Calibri" pitchFamily="34" charset="0"/>
                          <a:ea typeface="Calibri" pitchFamily="34" charset="-122"/>
                          <a:cs typeface="Calibri" pitchFamily="34" charset="-120"/>
                        </a:rPr>
                        <a:t>Catat, review </a:t>
                      </a:r>
                      <a:r>
                        <a:rPr lang="en-US" sz="4000" dirty="0" err="1">
                          <a:solidFill>
                            <a:srgbClr val="232A33"/>
                          </a:solidFill>
                          <a:latin typeface="Calibri" pitchFamily="34" charset="0"/>
                          <a:ea typeface="Calibri" pitchFamily="34" charset="-122"/>
                          <a:cs typeface="Calibri" pitchFamily="34" charset="-120"/>
                        </a:rPr>
                        <a:t>berkala</a:t>
                      </a:r>
                      <a:endParaRPr lang="en-US" sz="4000" dirty="0"/>
                    </a:p>
                  </a:txBody>
                  <a:tcPr anchor="ctr"/>
                </a:tc>
                <a:extLst>
                  <a:ext uri="{0D108BD9-81ED-4DB2-BD59-A6C34878D82A}">
                    <a16:rowId xmlns:a16="http://schemas.microsoft.com/office/drawing/2014/main" val="3442617687"/>
                  </a:ext>
                </a:extLst>
              </a:tr>
            </a:tbl>
          </a:graphicData>
        </a:graphic>
      </p:graphicFrame>
      <p:sp>
        <p:nvSpPr>
          <p:cNvPr id="6" name="Text 17">
            <a:extLst>
              <a:ext uri="{FF2B5EF4-FFF2-40B4-BE49-F238E27FC236}">
                <a16:creationId xmlns:a16="http://schemas.microsoft.com/office/drawing/2014/main" id="{CD868476-5100-A0E7-C904-45034DBFBD24}"/>
              </a:ext>
            </a:extLst>
          </p:cNvPr>
          <p:cNvSpPr txBox="1"/>
          <p:nvPr/>
        </p:nvSpPr>
        <p:spPr>
          <a:xfrm>
            <a:off x="1014984" y="11489279"/>
            <a:ext cx="21845016" cy="1815241"/>
          </a:xfrm>
          <a:prstGeom prst="rect">
            <a:avLst/>
          </a:prstGeom>
          <a:noFill/>
          <a:ln/>
        </p:spPr>
        <p:txBody>
          <a:bodyPr wrap="square" lIns="0" tIns="0" rIns="0" bIns="0" rtlCol="0" anchor="t"/>
          <a:lstStyle/>
          <a:p>
            <a:pPr marL="0" indent="0">
              <a:buNone/>
            </a:pPr>
            <a:r>
              <a:rPr lang="en-US" sz="3600" dirty="0">
                <a:latin typeface="Calibri" pitchFamily="34" charset="0"/>
                <a:ea typeface="Calibri" pitchFamily="34" charset="-122"/>
                <a:cs typeface="Calibri" pitchFamily="34" charset="-120"/>
              </a:rPr>
              <a:t>Tools Model </a:t>
            </a:r>
            <a:r>
              <a:rPr lang="en-US" sz="3600" dirty="0" err="1">
                <a:latin typeface="Calibri" pitchFamily="34" charset="0"/>
                <a:ea typeface="Calibri" pitchFamily="34" charset="-122"/>
                <a:cs typeface="Calibri" pitchFamily="34" charset="-120"/>
              </a:rPr>
              <a:t>Regsitry</a:t>
            </a:r>
            <a:r>
              <a:rPr lang="en-US" sz="3600" dirty="0">
                <a:latin typeface="Calibri" pitchFamily="34" charset="0"/>
                <a:ea typeface="Calibri" pitchFamily="34" charset="-122"/>
                <a:cs typeface="Calibri" pitchFamily="34" charset="-120"/>
              </a:rPr>
              <a:t> dan Monitoring </a:t>
            </a:r>
            <a:r>
              <a:rPr lang="en-US" sz="3600" dirty="0" err="1">
                <a:latin typeface="Calibri" pitchFamily="34" charset="0"/>
                <a:ea typeface="Calibri" pitchFamily="34" charset="-122"/>
                <a:cs typeface="Calibri" pitchFamily="34" charset="-120"/>
              </a:rPr>
              <a:t>membantu</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kita</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dalam</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menghadapi</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insiden</a:t>
            </a:r>
            <a:r>
              <a:rPr lang="en-US" sz="3600" dirty="0">
                <a:latin typeface="Calibri" pitchFamily="34" charset="0"/>
                <a:ea typeface="Calibri" pitchFamily="34" charset="-122"/>
                <a:cs typeface="Calibri" pitchFamily="34" charset="-120"/>
              </a:rPr>
              <a:t>. </a:t>
            </a:r>
            <a:r>
              <a:rPr lang="en-US" sz="3600" b="1" dirty="0" err="1">
                <a:solidFill>
                  <a:srgbClr val="0070C0"/>
                </a:solidFill>
                <a:latin typeface="Calibri" pitchFamily="34" charset="0"/>
                <a:ea typeface="Calibri" pitchFamily="34" charset="-122"/>
                <a:cs typeface="Calibri" pitchFamily="34" charset="-120"/>
              </a:rPr>
              <a:t>Melalui</a:t>
            </a:r>
            <a:r>
              <a:rPr lang="en-US" sz="3600" b="1" dirty="0">
                <a:solidFill>
                  <a:srgbClr val="0070C0"/>
                </a:solidFill>
                <a:latin typeface="Calibri" pitchFamily="34" charset="0"/>
                <a:ea typeface="Calibri" pitchFamily="34" charset="-122"/>
                <a:cs typeface="Calibri" pitchFamily="34" charset="-120"/>
              </a:rPr>
              <a:t> monitoring </a:t>
            </a:r>
            <a:r>
              <a:rPr lang="en-US" sz="3600" b="1" dirty="0" err="1">
                <a:solidFill>
                  <a:srgbClr val="0070C0"/>
                </a:solidFill>
                <a:latin typeface="Calibri" pitchFamily="34" charset="0"/>
                <a:ea typeface="Calibri" pitchFamily="34" charset="-122"/>
                <a:cs typeface="Calibri" pitchFamily="34" charset="-120"/>
              </a:rPr>
              <a:t>berkelanjutan</a:t>
            </a:r>
            <a:r>
              <a:rPr lang="en-US" sz="3600" b="1" dirty="0">
                <a:solidFill>
                  <a:srgbClr val="0070C0"/>
                </a:solidFill>
                <a:latin typeface="Calibri" pitchFamily="34" charset="0"/>
                <a:ea typeface="Calibri" pitchFamily="34" charset="-122"/>
                <a:cs typeface="Calibri" pitchFamily="34" charset="-120"/>
              </a:rPr>
              <a:t> </a:t>
            </a:r>
            <a:r>
              <a:rPr lang="en-US" sz="3600" dirty="0">
                <a:latin typeface="Calibri" pitchFamily="34" charset="0"/>
                <a:ea typeface="Calibri" pitchFamily="34" charset="-122"/>
                <a:cs typeface="Calibri" pitchFamily="34" charset="-120"/>
              </a:rPr>
              <a:t>silent failure </a:t>
            </a:r>
            <a:r>
              <a:rPr lang="en-US" sz="3600" dirty="0" err="1">
                <a:latin typeface="Calibri" pitchFamily="34" charset="0"/>
                <a:ea typeface="Calibri" pitchFamily="34" charset="-122"/>
                <a:cs typeface="Calibri" pitchFamily="34" charset="-120"/>
              </a:rPr>
              <a:t>dapat</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dideteksi</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lebih</a:t>
            </a:r>
            <a:r>
              <a:rPr lang="en-US" sz="3600" dirty="0">
                <a:latin typeface="Calibri" pitchFamily="34" charset="0"/>
                <a:ea typeface="Calibri" pitchFamily="34" charset="-122"/>
                <a:cs typeface="Calibri" pitchFamily="34" charset="-120"/>
              </a:rPr>
              <a:t> </a:t>
            </a:r>
            <a:r>
              <a:rPr lang="en-US" sz="3600" dirty="0" err="1">
                <a:latin typeface="Calibri" pitchFamily="34" charset="0"/>
                <a:ea typeface="Calibri" pitchFamily="34" charset="-122"/>
                <a:cs typeface="Calibri" pitchFamily="34" charset="-120"/>
              </a:rPr>
              <a:t>awal</a:t>
            </a:r>
            <a:r>
              <a:rPr lang="en-US" sz="3600" dirty="0">
                <a:latin typeface="Calibri" pitchFamily="34" charset="0"/>
                <a:ea typeface="Calibri" pitchFamily="34" charset="-122"/>
                <a:cs typeface="Calibri" pitchFamily="34" charset="-120"/>
              </a:rPr>
              <a:t>. </a:t>
            </a:r>
            <a:r>
              <a:rPr lang="en-US" sz="3600" b="1" dirty="0">
                <a:solidFill>
                  <a:srgbClr val="0070C0"/>
                </a:solidFill>
                <a:latin typeface="Calibri" pitchFamily="34" charset="0"/>
                <a:ea typeface="Calibri" pitchFamily="34" charset="-122"/>
                <a:cs typeface="Calibri" pitchFamily="34" charset="-120"/>
              </a:rPr>
              <a:t>Model registry </a:t>
            </a:r>
            <a:r>
              <a:rPr lang="en-US" sz="3600" b="1" dirty="0" err="1">
                <a:solidFill>
                  <a:srgbClr val="0070C0"/>
                </a:solidFill>
                <a:latin typeface="Calibri" pitchFamily="34" charset="0"/>
                <a:ea typeface="Calibri" pitchFamily="34" charset="-122"/>
                <a:cs typeface="Calibri" pitchFamily="34" charset="-120"/>
              </a:rPr>
              <a:t>mendukung</a:t>
            </a:r>
            <a:r>
              <a:rPr lang="en-US" sz="3600" b="1" dirty="0">
                <a:solidFill>
                  <a:srgbClr val="0070C0"/>
                </a:solidFill>
                <a:latin typeface="Calibri" pitchFamily="34" charset="0"/>
                <a:ea typeface="Calibri" pitchFamily="34" charset="-122"/>
                <a:cs typeface="Calibri" pitchFamily="34" charset="-120"/>
              </a:rPr>
              <a:t> proses rollback </a:t>
            </a:r>
            <a:r>
              <a:rPr lang="en-US" sz="3600" dirty="0">
                <a:latin typeface="Calibri" pitchFamily="34" charset="0"/>
                <a:ea typeface="Calibri" pitchFamily="34" charset="-122"/>
                <a:cs typeface="Calibri" pitchFamily="34" charset="-120"/>
              </a:rPr>
              <a:t>yang </a:t>
            </a:r>
            <a:r>
              <a:rPr lang="en-US" sz="3600" dirty="0" err="1">
                <a:latin typeface="Calibri" pitchFamily="34" charset="0"/>
                <a:ea typeface="Calibri" pitchFamily="34" charset="-122"/>
                <a:cs typeface="Calibri" pitchFamily="34" charset="-120"/>
              </a:rPr>
              <a:t>cepat</a:t>
            </a:r>
            <a:r>
              <a:rPr lang="en-US" sz="3600" dirty="0">
                <a:latin typeface="Calibri" pitchFamily="34" charset="0"/>
                <a:ea typeface="Calibri" pitchFamily="34" charset="-122"/>
                <a:cs typeface="Calibri" pitchFamily="34" charset="-120"/>
              </a:rPr>
              <a:t>.</a:t>
            </a:r>
            <a:endParaRPr lang="en-US" sz="3600" dirty="0"/>
          </a:p>
        </p:txBody>
      </p:sp>
    </p:spTree>
    <p:extLst>
      <p:ext uri="{BB962C8B-B14F-4D97-AF65-F5344CB8AC3E}">
        <p14:creationId xmlns:p14="http://schemas.microsoft.com/office/powerpoint/2010/main" val="30912343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grpSp>
        <p:nvGrpSpPr>
          <p:cNvPr id="10" name="Google Shape;272;p27">
            <a:extLst>
              <a:ext uri="{FF2B5EF4-FFF2-40B4-BE49-F238E27FC236}">
                <a16:creationId xmlns:a16="http://schemas.microsoft.com/office/drawing/2014/main" id="{B89AAB6A-F13D-8CC7-0517-87D74E8CC787}"/>
              </a:ext>
            </a:extLst>
          </p:cNvPr>
          <p:cNvGrpSpPr/>
          <p:nvPr/>
        </p:nvGrpSpPr>
        <p:grpSpPr>
          <a:xfrm>
            <a:off x="0" y="-530942"/>
            <a:ext cx="24384000" cy="14106483"/>
            <a:chOff x="0" y="-19050"/>
            <a:chExt cx="2589314" cy="2728383"/>
          </a:xfrm>
        </p:grpSpPr>
        <p:sp>
          <p:nvSpPr>
            <p:cNvPr id="11" name="Google Shape;273;p27">
              <a:extLst>
                <a:ext uri="{FF2B5EF4-FFF2-40B4-BE49-F238E27FC236}">
                  <a16:creationId xmlns:a16="http://schemas.microsoft.com/office/drawing/2014/main" id="{C71A158A-81DF-9970-C443-0402AFAFDC05}"/>
                </a:ext>
              </a:extLst>
            </p:cNvPr>
            <p:cNvSpPr/>
            <p:nvPr/>
          </p:nvSpPr>
          <p:spPr>
            <a:xfrm>
              <a:off x="0" y="0"/>
              <a:ext cx="2589314" cy="2709333"/>
            </a:xfrm>
            <a:custGeom>
              <a:avLst/>
              <a:gdLst/>
              <a:ahLst/>
              <a:cxnLst/>
              <a:rect l="l" t="t" r="r" b="b"/>
              <a:pathLst>
                <a:path w="2589314" h="2709333" extrusionOk="0">
                  <a:moveTo>
                    <a:pt x="0" y="0"/>
                  </a:moveTo>
                  <a:lnTo>
                    <a:pt x="2589314" y="0"/>
                  </a:lnTo>
                  <a:lnTo>
                    <a:pt x="2589314" y="2709333"/>
                  </a:lnTo>
                  <a:lnTo>
                    <a:pt x="0" y="2709333"/>
                  </a:lnTo>
                  <a:close/>
                </a:path>
              </a:pathLst>
            </a:custGeom>
            <a:solidFill>
              <a:srgbClr val="FFC054"/>
            </a:solidFill>
            <a:ln>
              <a:noFill/>
            </a:ln>
          </p:spPr>
          <p:txBody>
            <a:bodyPr/>
            <a:lstStyle/>
            <a:p>
              <a:endParaRPr lang="en-US"/>
            </a:p>
          </p:txBody>
        </p:sp>
        <p:sp>
          <p:nvSpPr>
            <p:cNvPr id="12" name="Google Shape;274;p27">
              <a:extLst>
                <a:ext uri="{FF2B5EF4-FFF2-40B4-BE49-F238E27FC236}">
                  <a16:creationId xmlns:a16="http://schemas.microsoft.com/office/drawing/2014/main" id="{0E2BE8AB-0851-1662-D1F0-5BCAA16D5151}"/>
                </a:ext>
              </a:extLst>
            </p:cNvPr>
            <p:cNvSpPr txBox="1"/>
            <p:nvPr/>
          </p:nvSpPr>
          <p:spPr>
            <a:xfrm>
              <a:off x="0" y="-19050"/>
              <a:ext cx="2589314" cy="2728383"/>
            </a:xfrm>
            <a:prstGeom prst="rect">
              <a:avLst/>
            </a:prstGeom>
            <a:noFill/>
            <a:ln>
              <a:noFill/>
            </a:ln>
          </p:spPr>
          <p:txBody>
            <a:bodyPr spcFirstLastPara="1" wrap="square" lIns="50800" tIns="50800" rIns="50800" bIns="50800" anchor="ctr" anchorCtr="0">
              <a:noAutofit/>
            </a:bodyPr>
            <a:lstStyle/>
            <a:p>
              <a:pPr marL="0" marR="0" lvl="0" indent="0" algn="ctr" rtl="0">
                <a:lnSpc>
                  <a:spcPct val="151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 name="Text 0"/>
          <p:cNvSpPr/>
          <p:nvPr/>
        </p:nvSpPr>
        <p:spPr>
          <a:xfrm>
            <a:off x="3302000" y="5588000"/>
            <a:ext cx="17780000" cy="1778000"/>
          </a:xfrm>
          <a:prstGeom prst="rect">
            <a:avLst/>
          </a:prstGeom>
          <a:noFill/>
          <a:ln/>
        </p:spPr>
        <p:txBody>
          <a:bodyPr wrap="none" lIns="0" tIns="0" rIns="0" bIns="0" rtlCol="0" anchor="ctr"/>
          <a:lstStyle/>
          <a:p>
            <a:pPr algn="ctr">
              <a:lnSpc>
                <a:spcPct val="120000"/>
              </a:lnSpc>
            </a:pPr>
            <a:r>
              <a:rPr lang="en-US" sz="12000" b="1" dirty="0">
                <a:solidFill>
                  <a:srgbClr val="FFFFFF"/>
                </a:solidFill>
                <a:latin typeface="Liter" pitchFamily="34" charset="0"/>
                <a:ea typeface="Liter" pitchFamily="34" charset="-122"/>
                <a:cs typeface="Liter" pitchFamily="34" charset="-120"/>
              </a:rPr>
              <a:t>Thank you!</a:t>
            </a:r>
            <a:endParaRPr lang="en-US" sz="12000" dirty="0"/>
          </a:p>
        </p:txBody>
      </p:sp>
      <p:sp>
        <p:nvSpPr>
          <p:cNvPr id="4" name="Text 1"/>
          <p:cNvSpPr/>
          <p:nvPr/>
        </p:nvSpPr>
        <p:spPr>
          <a:xfrm>
            <a:off x="4572000" y="7620000"/>
            <a:ext cx="15240000" cy="762000"/>
          </a:xfrm>
          <a:prstGeom prst="rect">
            <a:avLst/>
          </a:prstGeom>
          <a:noFill/>
          <a:ln/>
        </p:spPr>
        <p:txBody>
          <a:bodyPr wrap="none" lIns="0" tIns="0" rIns="0" bIns="0" rtlCol="0" anchor="ctr"/>
          <a:lstStyle/>
          <a:p>
            <a:pPr algn="ctr">
              <a:lnSpc>
                <a:spcPct val="120000"/>
              </a:lnSpc>
            </a:pPr>
            <a:r>
              <a:rPr lang="en-US" sz="3600" dirty="0">
                <a:solidFill>
                  <a:srgbClr val="FFFFFF"/>
                </a:solidFill>
                <a:latin typeface="Quattrocento Sans" pitchFamily="34" charset="0"/>
                <a:ea typeface="Quattrocento Sans" pitchFamily="34" charset="-122"/>
                <a:cs typeface="Quattrocento Sans" pitchFamily="34" charset="-120"/>
              </a:rPr>
              <a:t>Any question?</a:t>
            </a:r>
            <a:endParaRPr lang="en-US" sz="3600" dirty="0"/>
          </a:p>
        </p:txBody>
      </p:sp>
      <p:sp>
        <p:nvSpPr>
          <p:cNvPr id="5" name="Shape 2"/>
          <p:cNvSpPr/>
          <p:nvPr/>
        </p:nvSpPr>
        <p:spPr>
          <a:xfrm>
            <a:off x="10922000" y="8890000"/>
            <a:ext cx="2540000" cy="50800"/>
          </a:xfrm>
          <a:prstGeom prst="rect">
            <a:avLst/>
          </a:prstGeom>
          <a:solidFill>
            <a:srgbClr val="FFFFFF">
              <a:alpha val="37647"/>
            </a:srgbClr>
          </a:solidFill>
          <a:ln/>
        </p:spPr>
        <p:txBody>
          <a:bodyPr/>
          <a:lstStyle/>
          <a:p>
            <a:endParaRPr lang="en-ID"/>
          </a:p>
        </p:txBody>
      </p:sp>
      <p:pic>
        <p:nvPicPr>
          <p:cNvPr id="15" name="Image 1" descr="https://kimi-img.moonshot.cn/pub/slides/okc/h44u3mrm4tle6/mnt/agents/output/converted/images/image_2.jpg">
            <a:extLst>
              <a:ext uri="{FF2B5EF4-FFF2-40B4-BE49-F238E27FC236}">
                <a16:creationId xmlns:a16="http://schemas.microsoft.com/office/drawing/2014/main" id="{2DCE4F3C-F494-A2BF-84FC-B5A6741D1B49}"/>
              </a:ext>
            </a:extLst>
          </p:cNvPr>
          <p:cNvPicPr>
            <a:picLocks noChangeAspect="1"/>
          </p:cNvPicPr>
          <p:nvPr/>
        </p:nvPicPr>
        <p:blipFill>
          <a:blip r:embed="rId3"/>
          <a:srcRect/>
          <a:stretch/>
        </p:blipFill>
        <p:spPr>
          <a:xfrm>
            <a:off x="21662571" y="435429"/>
            <a:ext cx="2286000" cy="1143000"/>
          </a:xfrm>
          <a:prstGeom prst="rect">
            <a:avLst/>
          </a:prstGeom>
        </p:spPr>
      </p:pic>
    </p:spTree>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1050</TotalTime>
  <Words>6975</Words>
  <Application>Microsoft Macintosh PowerPoint</Application>
  <PresentationFormat>Custom</PresentationFormat>
  <Paragraphs>981</Paragraphs>
  <Slides>68</Slides>
  <Notes>38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68</vt:i4>
      </vt:variant>
    </vt:vector>
  </HeadingPairs>
  <TitlesOfParts>
    <vt:vector size="77" baseType="lpstr">
      <vt:lpstr>Liter</vt:lpstr>
      <vt:lpstr>Menlo</vt:lpstr>
      <vt:lpstr>Calibri</vt:lpstr>
      <vt:lpstr>Quattrocento Sans</vt:lpstr>
      <vt:lpstr>Wingdings</vt:lpstr>
      <vt:lpstr>Courier New</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Pusilkom UI Training Bootcamp Data Analytics, AI, dan Big Data</dc:title>
  <dc:subject>Pusilkom UI Training Bootcamp Data Analytics, AI, dan Big Data</dc:subject>
  <dc:creator>Kimi</dc:creator>
  <cp:lastModifiedBy>Made Harta</cp:lastModifiedBy>
  <cp:revision>62</cp:revision>
  <dcterms:created xsi:type="dcterms:W3CDTF">2026-06-30T03:03:03Z</dcterms:created>
  <dcterms:modified xsi:type="dcterms:W3CDTF">2026-09-22T09:07:49Z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{"Label":"Pusilkom UI Training Bootcamp Data Analytics, AI, dan Big Data","ContentProducer":"001191110108MACG2KBH8F10000","ProduceID":"19f1654a-1dd2-8d63-8000-00002e0d93c0","ReservedCode1":"","ContentPropagator":"001191110108MACG2KBH8F20000","PropagateID":"19f164f6-d1a2-8017-8000-094b092ed10c","ReservedCode2":""}</vt:lpwstr>
  </property>
</Properties>
</file>