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72"/>
  </p:notesMasterIdLst>
  <p:sldIdLst>
    <p:sldId id="256" r:id="rId2"/>
    <p:sldId id="321" r:id="rId3"/>
    <p:sldId id="322" r:id="rId4"/>
    <p:sldId id="394" r:id="rId5"/>
    <p:sldId id="395" r:id="rId6"/>
    <p:sldId id="396" r:id="rId7"/>
    <p:sldId id="397" r:id="rId8"/>
    <p:sldId id="323" r:id="rId9"/>
    <p:sldId id="325" r:id="rId10"/>
    <p:sldId id="326" r:id="rId11"/>
    <p:sldId id="328" r:id="rId12"/>
    <p:sldId id="327" r:id="rId13"/>
    <p:sldId id="329" r:id="rId14"/>
    <p:sldId id="332" r:id="rId15"/>
    <p:sldId id="333" r:id="rId16"/>
    <p:sldId id="330" r:id="rId17"/>
    <p:sldId id="387" r:id="rId18"/>
    <p:sldId id="388" r:id="rId19"/>
    <p:sldId id="389" r:id="rId20"/>
    <p:sldId id="390" r:id="rId21"/>
    <p:sldId id="391" r:id="rId22"/>
    <p:sldId id="398" r:id="rId23"/>
    <p:sldId id="331" r:id="rId24"/>
    <p:sldId id="393" r:id="rId25"/>
    <p:sldId id="392" r:id="rId26"/>
    <p:sldId id="335" r:id="rId27"/>
    <p:sldId id="336" r:id="rId28"/>
    <p:sldId id="346" r:id="rId29"/>
    <p:sldId id="347" r:id="rId30"/>
    <p:sldId id="348" r:id="rId31"/>
    <p:sldId id="349" r:id="rId32"/>
    <p:sldId id="350" r:id="rId33"/>
    <p:sldId id="351" r:id="rId34"/>
    <p:sldId id="352" r:id="rId35"/>
    <p:sldId id="353" r:id="rId36"/>
    <p:sldId id="354" r:id="rId37"/>
    <p:sldId id="357" r:id="rId38"/>
    <p:sldId id="360" r:id="rId39"/>
    <p:sldId id="361" r:id="rId40"/>
    <p:sldId id="362" r:id="rId41"/>
    <p:sldId id="363" r:id="rId42"/>
    <p:sldId id="365" r:id="rId43"/>
    <p:sldId id="366" r:id="rId44"/>
    <p:sldId id="367" r:id="rId45"/>
    <p:sldId id="368" r:id="rId46"/>
    <p:sldId id="369" r:id="rId47"/>
    <p:sldId id="370" r:id="rId48"/>
    <p:sldId id="399" r:id="rId49"/>
    <p:sldId id="337" r:id="rId50"/>
    <p:sldId id="338" r:id="rId51"/>
    <p:sldId id="339" r:id="rId52"/>
    <p:sldId id="340" r:id="rId53"/>
    <p:sldId id="341" r:id="rId54"/>
    <p:sldId id="342" r:id="rId55"/>
    <p:sldId id="343" r:id="rId56"/>
    <p:sldId id="372" r:id="rId57"/>
    <p:sldId id="373" r:id="rId58"/>
    <p:sldId id="374" r:id="rId59"/>
    <p:sldId id="375" r:id="rId60"/>
    <p:sldId id="376" r:id="rId61"/>
    <p:sldId id="377" r:id="rId62"/>
    <p:sldId id="378" r:id="rId63"/>
    <p:sldId id="379" r:id="rId64"/>
    <p:sldId id="380" r:id="rId65"/>
    <p:sldId id="381" r:id="rId66"/>
    <p:sldId id="382" r:id="rId67"/>
    <p:sldId id="383" r:id="rId68"/>
    <p:sldId id="384" r:id="rId69"/>
    <p:sldId id="386" r:id="rId70"/>
    <p:sldId id="284" r:id="rId71"/>
  </p:sldIdLst>
  <p:sldSz cx="24384000" cy="13716000"/>
  <p:notesSz cx="13716000" cy="24384000"/>
  <p:embeddedFontLst>
    <p:embeddedFont>
      <p:font typeface="Consolas" panose="020B0609020204030204" pitchFamily="49" charset="0"/>
      <p:regular r:id="rId73"/>
      <p:bold r:id="rId74"/>
      <p:italic r:id="rId75"/>
      <p:boldItalic r:id="rId76"/>
    </p:embeddedFont>
    <p:embeddedFont>
      <p:font typeface="Liter" panose="02000503030000020004" pitchFamily="2" charset="0"/>
      <p:regular r:id="rId77"/>
    </p:embeddedFont>
    <p:embeddedFont>
      <p:font typeface="Quattrocento Sans" panose="020B0502050000020003" pitchFamily="34" charset="0"/>
      <p:regular r:id="rId78"/>
      <p:bold r:id="rId79"/>
      <p:italic r:id="rId80"/>
      <p:boldItalic r:id="rId8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FF0EE"/>
    <a:srgbClr val="FFC05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708"/>
    <p:restoredTop sz="94610"/>
  </p:normalViewPr>
  <p:slideViewPr>
    <p:cSldViewPr snapToGrid="0" snapToObjects="1">
      <p:cViewPr varScale="1">
        <p:scale>
          <a:sx n="49" d="100"/>
          <a:sy n="49" d="100"/>
        </p:scale>
        <p:origin x="208" y="6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font" Target="fonts/font2.fntdata"/><Relationship Id="rId79" Type="http://schemas.openxmlformats.org/officeDocument/2006/relationships/font" Target="fonts/font7.fntdata"/><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font" Target="fonts/font5.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80" Type="http://schemas.openxmlformats.org/officeDocument/2006/relationships/font" Target="fonts/font8.fntdata"/><Relationship Id="rId85"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font" Target="fonts/font3.fntdata"/><Relationship Id="rId83"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font" Target="fonts/font1.fntdata"/><Relationship Id="rId78" Type="http://schemas.openxmlformats.org/officeDocument/2006/relationships/font" Target="fonts/font6.fntdata"/><Relationship Id="rId81"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99600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All four sessions use ONE pipeline. Each session adds one link to the chain; they are not separate exercises.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Bridge from Day 1 (maturity, privacy, MLSecOps) and Day 2 (data, versioning, containers). DVC was covered on Day 2, so today the data is already in the repo.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C64FA-D3CA-6ADD-0491-708E344FB4AA}"/>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AE4A054B-8E01-1D91-D110-1DF1640B54C0}"/>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130173956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3118B-A40D-DE9E-637F-08BFAA22640D}"/>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66916298-8940-908B-66D2-811BCF7689C4}"/>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8373309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727D7-9BAB-4783-6699-0605DA39FFFA}"/>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39E54C40-DFD1-C630-9048-1033A26E8DC8}"/>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75823166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9BE993-5091-8CCB-63F8-69BBB3359D55}"/>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A12F14FB-D6A6-6C51-CE11-22D7EC396C12}"/>
              </a:ext>
            </a:extLst>
          </p:cNvPr>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extLst>
      <p:ext uri="{BB962C8B-B14F-4D97-AF65-F5344CB8AC3E}">
        <p14:creationId xmlns:p14="http://schemas.microsoft.com/office/powerpoint/2010/main" val="37410034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environment is assumed ready. Run make preflight on every machine before the day (and PROJECT_ID=&lt;id&gt; make preflight-cloud with a participant account). If a participant cannot run make test, hand them to an assistant (Tara/Naufal) so the session keeps moving. Windows without WSL/Git Bash has no make: run the python commands shown in the README directly.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Key point: software has one source of change (code); ML has two (code and data). That is why ML needs CT: retraining when the data changes, not only when the code changes.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 real gotcha found while testing on MLflow 3.16. Do not switch to file:// even if an older tutorial uses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~10 minutes. The figures below are real output from the repo. Re-running creates versions 2, 3, … — that is expected.</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In MLflow 3.16, switch the toggle to 'Model training' (top left). Add metric columns with the Columns button. The MLflow Assistant panel on the right can be closed.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Use model_info.model_uri (MLflow 3). The older runs:/&lt;id&gt;/model pattern still works but prints a warning.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EC17EA-EF20-D474-7D58-4150C3DE6959}"/>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7F3B79ED-2164-6BA8-9C1F-C42EF55D7DF6}"/>
              </a:ext>
            </a:extLst>
          </p:cNvPr>
          <p:cNvSpPr>
            <a:spLocks noGrp="1"/>
          </p:cNvSpPr>
          <p:nvPr>
            <p:ph type="body" idx="1"/>
          </p:nvPr>
        </p:nvSpPr>
        <p:spPr>
          <a:xfrm>
            <a:off x="685800" y="4400550"/>
            <a:ext cx="5486400" cy="3600450"/>
          </a:xfrm>
        </p:spPr>
        <p:txBody>
          <a:bodyPr/>
          <a:lstStyle/>
          <a:p>
            <a:r>
              <a:rPr lang="en-US"/>
              <a:t>Use model_info.model_uri (MLflow 3). The older runs:/&lt;id&gt;/model pattern still works but prints a warning.</a:t>
            </a:r>
          </a:p>
        </p:txBody>
      </p:sp>
    </p:spTree>
    <p:extLst>
      <p:ext uri="{BB962C8B-B14F-4D97-AF65-F5344CB8AC3E}">
        <p14:creationId xmlns:p14="http://schemas.microsoft.com/office/powerpoint/2010/main" val="34576396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DAA624-D1BA-082C-9ACB-C2C90780E39C}"/>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A149E381-7AC2-132C-1B0E-6E4EA286F0DA}"/>
              </a:ext>
            </a:extLst>
          </p:cNvPr>
          <p:cNvSpPr>
            <a:spLocks noGrp="1"/>
          </p:cNvSpPr>
          <p:nvPr>
            <p:ph type="body" idx="1"/>
          </p:nvPr>
        </p:nvSpPr>
        <p:spPr>
          <a:xfrm>
            <a:off x="685800" y="4400550"/>
            <a:ext cx="5486400" cy="3600450"/>
          </a:xfrm>
        </p:spPr>
        <p:txBody>
          <a:bodyPr/>
          <a:lstStyle/>
          <a:p>
            <a:r>
              <a:rPr lang="en-US"/>
              <a:t>Use model_info.model_uri (MLflow 3). The older runs:/&lt;id&gt;/model pattern still works but prints a warning.</a:t>
            </a:r>
          </a:p>
        </p:txBody>
      </p:sp>
    </p:spTree>
    <p:extLst>
      <p:ext uri="{BB962C8B-B14F-4D97-AF65-F5344CB8AC3E}">
        <p14:creationId xmlns:p14="http://schemas.microsoft.com/office/powerpoint/2010/main" val="38401257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quality gate bridges CI and CD. In the Incident Handling session we will see what happens when it is skipped.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After pushing the repo, open the Actions tab on GitHub to watch this pipeline run. The workflow could not be executed in the authoring sandbox; test it in the class repo before the day.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Pydantic v2: use examples=[...] and model_dump(). The old style (example=, .dict()) still runs but emits warnings.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model_version is no longer hard-coded: it comes from the version actually loaded. This matters in the incident drill in Session 4.</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~10 minutes. make serve uses --reload and writes prediction logs to logs/predictions.jsonl (used in Session 3). Debugging demo: press F5 in VS Code, set a breakpoint on 'proba = model.predict_proba(df)[0][1]' in api/app.py, send the curl request and inspect df. If participants share one network, give each a unique port (e.g. --port 8000 + last digits of their ID) to avoid clashes.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Demo: open /predict → Try it out (the body is pre-filled from the examples) → Execute. Swagger shows the curl command, request URL and response; model_version shows which version is serving. Network note: Swagger UI loads its CSS/JS from the jsdelivr CDN. If the office network blocks it, /docs will be blank, so keep curl as a fallback.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Container basics were covered on Day 2. The point here: the image must not depend on the developer's mlflow.db.</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~10 minutes. Extra demo: docker exec -it api /bin/bash, then ls models/ to show model.pkl inside the image. The image uses api/requirements.txt, which does NOT include mlflow. The image runtime was tested; docker build itself could not be run in the authoring sandbox, so test it on the classroom machines.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Monitoring tells you WHEN to replace a model; the release strategy decides HOW to replace it safely.</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On Cloud Run, JSON lines on stdout are picked up by Cloud Logging automatically. For sensitive DJP data, never log identifiers (NPWP, names); mask or hash them first.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~15 minutes. For logs/predictions.jsonl to contain data, send some requests from production.csv while make serve is running (or run make drill-check).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table is sorted by Data Drift so the drifted columns appear first.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This closes the MLOps loop: monitoring (Session 3) triggers retraining (Session 1), which is released again (Session 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CT triggers connect to monitoring in Session 3.</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Every arrow between these steps lives in someone's head. If monitor.py reports drift in 3/8 columns, nothing happens automatically -- exactly Level 0 of the maturity model from Day 1.</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For basic orchestration all four are interchangeable. The difference is the infrastructure needed to run them. If DJP already operates Airflow for data pipelines, reusing it is usually the right call.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No ML logic is rewritten: every task calls a script that already exists. Note the gate: the original course code released a retrained model without one. Design note: here training moves @champion and the flow restores it if the gate fails; in production, register the candidate as @challenger and promote it only after the gate.</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~10 minutes. pip install -r orchestration/requirements.txt, then make pipeline. Lab: set THRESHOLD = 0.50 in monitoring/monitor.py and run again; retrain() must NOT be called. Run history: prefect server start, then http://127.0.0.1:4200.</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For the demo the gate's minimum accuracy was raised to 0.99, so the retrained model (0.938) fails. The flow rolls @champion back to v1 and tags v2 incident=rolled-back -- the same audit trail as the Session 4 drill.</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Core principle: restore service first (mitigate), find the root cause later.</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Adapt the definitions and response times to DJP's SLAs and organisational structure.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Time: ~25 minutes. Terminal A runs the API; terminal B runs the drill. Every alias change requires restarting the API in terminal A.</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evaluate_endpoint.py sends 100 labelled rows from test.csv to /predict and computes live accuracy. The same pattern can be scheduled as a synthetic check.</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The incident=rolled-back tag on v2 becomes input for the postmortem.</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Focus on systems and processes, not on blaming individuals.</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Split participants into 3–4 groups. Each group answers the four questions and presents for 2 minutes.</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a:xfrm>
            <a:off x="685800" y="4400550"/>
            <a:ext cx="5486400" cy="3600450"/>
          </a:xfrm>
        </p:spPr>
        <p:txBody>
          <a:bodyPr/>
          <a:lstStyle/>
          <a:p>
            <a:r>
              <a:rPr lang="en-US"/>
              <a:t>Very relevant for DJP as a public authority: decisions supported by models must be explainable and auditable.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4BAC649F-251B-CB82-C32F-9F92C27F5F8D}"/>
              </a:ext>
            </a:extLst>
          </p:cNvPr>
          <p:cNvGrpSpPr/>
          <p:nvPr userDrawn="1"/>
        </p:nvGrpSpPr>
        <p:grpSpPr>
          <a:xfrm>
            <a:off x="-1" y="13553886"/>
            <a:ext cx="24384001" cy="207221"/>
            <a:chOff x="-1" y="13553886"/>
            <a:chExt cx="24384001" cy="207221"/>
          </a:xfrm>
        </p:grpSpPr>
        <p:grpSp>
          <p:nvGrpSpPr>
            <p:cNvPr id="3" name="Google Shape;84;p13">
              <a:extLst>
                <a:ext uri="{FF2B5EF4-FFF2-40B4-BE49-F238E27FC236}">
                  <a16:creationId xmlns:a16="http://schemas.microsoft.com/office/drawing/2014/main" id="{26B07CEB-60BC-47D2-AFD5-21EDC93BC872}"/>
                </a:ext>
              </a:extLst>
            </p:cNvPr>
            <p:cNvGrpSpPr/>
            <p:nvPr/>
          </p:nvGrpSpPr>
          <p:grpSpPr>
            <a:xfrm>
              <a:off x="-1" y="13553886"/>
              <a:ext cx="24384001" cy="207221"/>
              <a:chOff x="0" y="-19050"/>
              <a:chExt cx="2709333" cy="336844"/>
            </a:xfrm>
          </p:grpSpPr>
          <p:sp>
            <p:nvSpPr>
              <p:cNvPr id="5" name="Google Shape;85;p13">
                <a:extLst>
                  <a:ext uri="{FF2B5EF4-FFF2-40B4-BE49-F238E27FC236}">
                    <a16:creationId xmlns:a16="http://schemas.microsoft.com/office/drawing/2014/main" id="{0A4A7D0C-984B-F94D-1447-14BD90225C03}"/>
                  </a:ext>
                </a:extLst>
              </p:cNvPr>
              <p:cNvSpPr/>
              <p:nvPr/>
            </p:nvSpPr>
            <p:spPr>
              <a:xfrm>
                <a:off x="0" y="0"/>
                <a:ext cx="2709333" cy="317794"/>
              </a:xfrm>
              <a:custGeom>
                <a:avLst/>
                <a:gdLst/>
                <a:ahLst/>
                <a:cxnLst/>
                <a:rect l="l" t="t" r="r" b="b"/>
                <a:pathLst>
                  <a:path w="2709333" h="317794" extrusionOk="0">
                    <a:moveTo>
                      <a:pt x="0" y="0"/>
                    </a:moveTo>
                    <a:lnTo>
                      <a:pt x="2709333" y="0"/>
                    </a:lnTo>
                    <a:lnTo>
                      <a:pt x="2709333" y="317794"/>
                    </a:lnTo>
                    <a:lnTo>
                      <a:pt x="0" y="317794"/>
                    </a:lnTo>
                    <a:close/>
                  </a:path>
                </a:pathLst>
              </a:custGeom>
              <a:solidFill>
                <a:srgbClr val="FFC054"/>
              </a:solidFill>
              <a:ln>
                <a:noFill/>
              </a:ln>
            </p:spPr>
            <p:txBody>
              <a:bodyPr/>
              <a:lstStyle/>
              <a:p>
                <a:endParaRPr lang="en-US"/>
              </a:p>
            </p:txBody>
          </p:sp>
          <p:sp>
            <p:nvSpPr>
              <p:cNvPr id="6" name="Google Shape;86;p13">
                <a:extLst>
                  <a:ext uri="{FF2B5EF4-FFF2-40B4-BE49-F238E27FC236}">
                    <a16:creationId xmlns:a16="http://schemas.microsoft.com/office/drawing/2014/main" id="{5592270F-4A62-E0B7-9656-5186013083E2}"/>
                  </a:ext>
                </a:extLst>
              </p:cNvPr>
              <p:cNvSpPr txBox="1"/>
              <p:nvPr/>
            </p:nvSpPr>
            <p:spPr>
              <a:xfrm>
                <a:off x="0" y="-19050"/>
                <a:ext cx="2709333" cy="336844"/>
              </a:xfrm>
              <a:prstGeom prst="rect">
                <a:avLst/>
              </a:prstGeom>
              <a:noFill/>
              <a:ln>
                <a:noFill/>
              </a:ln>
            </p:spPr>
            <p:txBody>
              <a:bodyPr spcFirstLastPara="1" wrap="square" lIns="50800" tIns="50800" rIns="50800" bIns="50800" anchor="ctr" anchorCtr="0">
                <a:noAutofit/>
              </a:bodyPr>
              <a:lstStyle/>
              <a:p>
                <a:pPr marL="0" marR="0" lvl="0" indent="0" algn="ctr" rtl="0">
                  <a:lnSpc>
                    <a:spcPct val="151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pic>
          <p:nvPicPr>
            <p:cNvPr id="4" name="Google Shape;92;p13">
              <a:extLst>
                <a:ext uri="{FF2B5EF4-FFF2-40B4-BE49-F238E27FC236}">
                  <a16:creationId xmlns:a16="http://schemas.microsoft.com/office/drawing/2014/main" id="{B1E45AF4-C425-DE2A-E3B3-E6D24A28A05E}"/>
                </a:ext>
              </a:extLst>
            </p:cNvPr>
            <p:cNvPicPr preferRelativeResize="0"/>
            <p:nvPr/>
          </p:nvPicPr>
          <p:blipFill rotWithShape="1">
            <a:blip r:embed="rId2">
              <a:alphaModFix/>
            </a:blip>
            <a:srcRect l="1793" t="50150" b="37018"/>
            <a:stretch>
              <a:fillRect/>
            </a:stretch>
          </p:blipFill>
          <p:spPr>
            <a:xfrm>
              <a:off x="11163300" y="13565605"/>
              <a:ext cx="13220700" cy="195502"/>
            </a:xfrm>
            <a:prstGeom prst="rect">
              <a:avLst/>
            </a:prstGeom>
            <a:noFill/>
            <a:ln>
              <a:noFill/>
            </a:ln>
          </p:spPr>
        </p:pic>
      </p:gr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svg"/><Relationship Id="rId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824E6350-3D3D-1E37-72AD-314716CD60A1}"/>
              </a:ext>
            </a:extLst>
          </p:cNvPr>
          <p:cNvGrpSpPr/>
          <p:nvPr userDrawn="1"/>
        </p:nvGrpSpPr>
        <p:grpSpPr>
          <a:xfrm>
            <a:off x="14917928" y="-140886"/>
            <a:ext cx="9076518" cy="1589462"/>
            <a:chOff x="12012098" y="-45108"/>
            <a:chExt cx="11833059" cy="2072182"/>
          </a:xfrm>
        </p:grpSpPr>
        <p:pic>
          <p:nvPicPr>
            <p:cNvPr id="3" name="Google Shape;91;p13">
              <a:extLst>
                <a:ext uri="{FF2B5EF4-FFF2-40B4-BE49-F238E27FC236}">
                  <a16:creationId xmlns:a16="http://schemas.microsoft.com/office/drawing/2014/main" id="{A1DA2E9A-E328-2C20-18DD-0DBED61D6E22}"/>
                </a:ext>
              </a:extLst>
            </p:cNvPr>
            <p:cNvPicPr preferRelativeResize="0"/>
            <p:nvPr userDrawn="1"/>
          </p:nvPicPr>
          <p:blipFill>
            <a:blip r:embed="rId3">
              <a:alphaModFix/>
            </a:blip>
            <a:stretch>
              <a:fillRect/>
            </a:stretch>
          </p:blipFill>
          <p:spPr>
            <a:xfrm>
              <a:off x="21813431" y="437612"/>
              <a:ext cx="2031726" cy="1015864"/>
            </a:xfrm>
            <a:prstGeom prst="rect">
              <a:avLst/>
            </a:prstGeom>
            <a:noFill/>
            <a:ln>
              <a:noFill/>
            </a:ln>
          </p:spPr>
        </p:pic>
        <p:pic>
          <p:nvPicPr>
            <p:cNvPr id="5" name="Graphic 4">
              <a:extLst>
                <a:ext uri="{FF2B5EF4-FFF2-40B4-BE49-F238E27FC236}">
                  <a16:creationId xmlns:a16="http://schemas.microsoft.com/office/drawing/2014/main" id="{95C5D423-B692-4648-BFC4-DCACDE1D097D}"/>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2012098" y="-45108"/>
              <a:ext cx="5529981" cy="2072182"/>
            </a:xfrm>
            <a:prstGeom prst="rect">
              <a:avLst/>
            </a:prstGeom>
          </p:spPr>
        </p:pic>
        <p:pic>
          <p:nvPicPr>
            <p:cNvPr id="7" name="Picture 6">
              <a:extLst>
                <a:ext uri="{FF2B5EF4-FFF2-40B4-BE49-F238E27FC236}">
                  <a16:creationId xmlns:a16="http://schemas.microsoft.com/office/drawing/2014/main" id="{FA079418-9FDA-D17C-1D50-4DEB6C92558C}"/>
                </a:ext>
              </a:extLst>
            </p:cNvPr>
            <p:cNvPicPr>
              <a:picLocks noChangeAspect="1"/>
            </p:cNvPicPr>
            <p:nvPr userDrawn="1"/>
          </p:nvPicPr>
          <p:blipFill>
            <a:blip r:embed="rId6"/>
            <a:stretch>
              <a:fillRect/>
            </a:stretch>
          </p:blipFill>
          <p:spPr>
            <a:xfrm>
              <a:off x="17272000" y="475287"/>
              <a:ext cx="4086225" cy="1114425"/>
            </a:xfrm>
            <a:prstGeom prst="rect">
              <a:avLst/>
            </a:prstGeom>
          </p:spPr>
        </p:pic>
      </p:gr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image" Target="../media/image6.png"/><Relationship Id="rId7"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5.png"/><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mlflow.org/docs/latest/ml/tracking/autolog/" TargetMode="External"/><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mlflow.org/docs/latest/ml/tracking/tracking-api/"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F34F4B97-0EEF-A69C-628D-34AC64BE3786}"/>
              </a:ext>
            </a:extLst>
          </p:cNvPr>
          <p:cNvPicPr>
            <a:picLocks noChangeAspect="1"/>
          </p:cNvPicPr>
          <p:nvPr/>
        </p:nvPicPr>
        <p:blipFill>
          <a:blip r:embed="rId3"/>
          <a:stretch>
            <a:fillRect/>
          </a:stretch>
        </p:blipFill>
        <p:spPr>
          <a:xfrm>
            <a:off x="-374909" y="-45109"/>
            <a:ext cx="13610713" cy="13610713"/>
          </a:xfrm>
          <a:prstGeom prst="rect">
            <a:avLst/>
          </a:prstGeom>
        </p:spPr>
      </p:pic>
      <p:sp>
        <p:nvSpPr>
          <p:cNvPr id="3" name="Shape 0"/>
          <p:cNvSpPr/>
          <p:nvPr/>
        </p:nvSpPr>
        <p:spPr>
          <a:xfrm>
            <a:off x="9475983" y="0"/>
            <a:ext cx="2540000" cy="13716000"/>
          </a:xfrm>
          <a:prstGeom prst="rect">
            <a:avLst/>
          </a:prstGeom>
          <a:gradFill flip="none" rotWithShape="1">
            <a:gsLst>
              <a:gs pos="0">
                <a:srgbClr val="F7F5F0">
                  <a:alpha val="0"/>
                </a:srgbClr>
              </a:gs>
              <a:gs pos="100000">
                <a:srgbClr val="F7F5F0"/>
              </a:gs>
            </a:gsLst>
            <a:lin ang="0" scaled="1"/>
          </a:gradFill>
          <a:ln/>
        </p:spPr>
        <p:txBody>
          <a:bodyPr/>
          <a:lstStyle/>
          <a:p>
            <a:endParaRPr lang="en-ID"/>
          </a:p>
        </p:txBody>
      </p:sp>
      <p:sp>
        <p:nvSpPr>
          <p:cNvPr id="4" name="Shape 1"/>
          <p:cNvSpPr/>
          <p:nvPr/>
        </p:nvSpPr>
        <p:spPr>
          <a:xfrm>
            <a:off x="11885356" y="0"/>
            <a:ext cx="14224000" cy="13716000"/>
          </a:xfrm>
          <a:prstGeom prst="rect">
            <a:avLst/>
          </a:prstGeom>
          <a:gradFill flip="none" rotWithShape="1">
            <a:gsLst>
              <a:gs pos="0">
                <a:srgbClr val="EFF0EE"/>
              </a:gs>
              <a:gs pos="50000">
                <a:schemeClr val="bg1"/>
              </a:gs>
              <a:gs pos="100000">
                <a:schemeClr val="bg1"/>
              </a:gs>
            </a:gsLst>
            <a:lin ang="0" scaled="1"/>
            <a:tileRect/>
          </a:gradFill>
          <a:ln/>
        </p:spPr>
        <p:txBody>
          <a:bodyPr/>
          <a:lstStyle/>
          <a:p>
            <a:endParaRPr lang="en-ID"/>
          </a:p>
        </p:txBody>
      </p:sp>
      <p:sp>
        <p:nvSpPr>
          <p:cNvPr id="6" name="Text 2"/>
          <p:cNvSpPr/>
          <p:nvPr/>
        </p:nvSpPr>
        <p:spPr>
          <a:xfrm>
            <a:off x="12415157" y="3100049"/>
            <a:ext cx="11430000" cy="508000"/>
          </a:xfrm>
          <a:prstGeom prst="rect">
            <a:avLst/>
          </a:prstGeom>
          <a:noFill/>
          <a:ln/>
        </p:spPr>
        <p:txBody>
          <a:bodyPr wrap="none" lIns="0" tIns="0" rIns="0" bIns="0" rtlCol="0" anchor="ctr"/>
          <a:lstStyle/>
          <a:p>
            <a:pPr algn="l">
              <a:lnSpc>
                <a:spcPct val="120000"/>
              </a:lnSpc>
            </a:pPr>
            <a:r>
              <a:rPr lang="en-US" sz="2000" b="1" kern="0" spc="400" dirty="0">
                <a:solidFill>
                  <a:srgbClr val="D4A03A"/>
                </a:solidFill>
                <a:latin typeface="Liter" pitchFamily="34" charset="0"/>
                <a:ea typeface="Liter" pitchFamily="34" charset="-122"/>
                <a:cs typeface="Liter" pitchFamily="34" charset="-120"/>
              </a:rPr>
              <a:t>PUSILKOM UI TRAINING</a:t>
            </a:r>
            <a:endParaRPr lang="en-US" sz="2000" dirty="0"/>
          </a:p>
        </p:txBody>
      </p:sp>
      <p:sp>
        <p:nvSpPr>
          <p:cNvPr id="7" name="Text 3"/>
          <p:cNvSpPr/>
          <p:nvPr/>
        </p:nvSpPr>
        <p:spPr>
          <a:xfrm>
            <a:off x="12415157" y="3696292"/>
            <a:ext cx="11430000" cy="1348886"/>
          </a:xfrm>
          <a:prstGeom prst="rect">
            <a:avLst/>
          </a:prstGeom>
          <a:noFill/>
          <a:ln/>
        </p:spPr>
        <p:txBody>
          <a:bodyPr wrap="square" lIns="0" tIns="0" rIns="0" bIns="0" rtlCol="0" anchor="t"/>
          <a:lstStyle/>
          <a:p>
            <a:pPr>
              <a:lnSpc>
                <a:spcPct val="115000"/>
              </a:lnSpc>
            </a:pPr>
            <a:r>
              <a:rPr lang="en-US" sz="3400" b="1" dirty="0">
                <a:solidFill>
                  <a:srgbClr val="1B2A4A"/>
                </a:solidFill>
                <a:latin typeface="Liter" pitchFamily="34" charset="0"/>
                <a:ea typeface="Liter" pitchFamily="34" charset="-122"/>
                <a:cs typeface="Liter" pitchFamily="34" charset="-120"/>
              </a:rPr>
              <a:t>Directorate General of Taxes (DJP)</a:t>
            </a:r>
            <a:br>
              <a:rPr lang="en-US" sz="3600" b="1" dirty="0">
                <a:solidFill>
                  <a:srgbClr val="1B2A4A"/>
                </a:solidFill>
                <a:latin typeface="Liter" pitchFamily="34" charset="0"/>
                <a:ea typeface="Liter" pitchFamily="34" charset="-122"/>
                <a:cs typeface="Liter" pitchFamily="34" charset="-120"/>
              </a:rPr>
            </a:br>
            <a:r>
              <a:rPr lang="en-US" sz="3400" b="1" dirty="0" err="1">
                <a:solidFill>
                  <a:srgbClr val="1B2A4A"/>
                </a:solidFill>
                <a:latin typeface="Liter" pitchFamily="34" charset="0"/>
                <a:ea typeface="Liter" pitchFamily="34" charset="-122"/>
                <a:cs typeface="Liter" pitchFamily="34" charset="-120"/>
              </a:rPr>
              <a:t>MLOps Planning and Design</a:t>
            </a:r>
            <a:endParaRPr lang="en-US" sz="3600" dirty="0"/>
          </a:p>
        </p:txBody>
      </p:sp>
      <p:sp>
        <p:nvSpPr>
          <p:cNvPr id="8" name="Shape 4"/>
          <p:cNvSpPr/>
          <p:nvPr/>
        </p:nvSpPr>
        <p:spPr>
          <a:xfrm>
            <a:off x="12415157" y="10363213"/>
            <a:ext cx="1524000" cy="50800"/>
          </a:xfrm>
          <a:prstGeom prst="rect">
            <a:avLst/>
          </a:prstGeom>
          <a:solidFill>
            <a:srgbClr val="D4A03A"/>
          </a:solidFill>
          <a:ln/>
        </p:spPr>
        <p:txBody>
          <a:bodyPr/>
          <a:lstStyle/>
          <a:p>
            <a:endParaRPr lang="en-ID"/>
          </a:p>
        </p:txBody>
      </p:sp>
      <p:sp>
        <p:nvSpPr>
          <p:cNvPr id="9" name="Text 5"/>
          <p:cNvSpPr/>
          <p:nvPr/>
        </p:nvSpPr>
        <p:spPr>
          <a:xfrm>
            <a:off x="12415157" y="10744213"/>
            <a:ext cx="11430000" cy="457200"/>
          </a:xfrm>
          <a:prstGeom prst="rect">
            <a:avLst/>
          </a:prstGeom>
          <a:noFill/>
          <a:ln/>
        </p:spPr>
        <p:txBody>
          <a:bodyPr wrap="none" lIns="0" tIns="0" rIns="0" bIns="0" rtlCol="0" anchor="ctr"/>
          <a:lstStyle/>
          <a:p>
            <a:pPr algn="l">
              <a:lnSpc>
                <a:spcPct val="120000"/>
              </a:lnSpc>
            </a:pPr>
            <a:r>
              <a:rPr lang="en-US" sz="1800" dirty="0">
                <a:solidFill>
                  <a:srgbClr val="6B7B8D"/>
                </a:solidFill>
                <a:latin typeface="Quattrocento Sans" pitchFamily="34" charset="0"/>
                <a:ea typeface="Quattrocento Sans" pitchFamily="34" charset="-122"/>
                <a:cs typeface="Quattrocento Sans" pitchFamily="34" charset="-120"/>
              </a:rPr>
              <a:t>Copyright 2026 | Pusilkom UI · supported by GIZ</a:t>
            </a:r>
            <a:endParaRPr lang="en-US" sz="1800" dirty="0"/>
          </a:p>
        </p:txBody>
      </p:sp>
      <p:pic>
        <p:nvPicPr>
          <p:cNvPr id="11" name="Google Shape;91;p13">
            <a:extLst>
              <a:ext uri="{FF2B5EF4-FFF2-40B4-BE49-F238E27FC236}">
                <a16:creationId xmlns:a16="http://schemas.microsoft.com/office/drawing/2014/main" id="{D8487DDC-E021-F2A2-0F68-77A2BEAC07AC}"/>
              </a:ext>
            </a:extLst>
          </p:cNvPr>
          <p:cNvPicPr preferRelativeResize="0"/>
          <p:nvPr/>
        </p:nvPicPr>
        <p:blipFill>
          <a:blip r:embed="rId4">
            <a:alphaModFix/>
          </a:blip>
          <a:stretch>
            <a:fillRect/>
          </a:stretch>
        </p:blipFill>
        <p:spPr>
          <a:xfrm>
            <a:off x="21813431" y="437612"/>
            <a:ext cx="2031726" cy="1015864"/>
          </a:xfrm>
          <a:prstGeom prst="rect">
            <a:avLst/>
          </a:prstGeom>
          <a:noFill/>
          <a:ln>
            <a:noFill/>
          </a:ln>
        </p:spPr>
      </p:pic>
      <p:grpSp>
        <p:nvGrpSpPr>
          <p:cNvPr id="19" name="Group 18">
            <a:extLst>
              <a:ext uri="{FF2B5EF4-FFF2-40B4-BE49-F238E27FC236}">
                <a16:creationId xmlns:a16="http://schemas.microsoft.com/office/drawing/2014/main" id="{1FB41283-4F5E-4832-F97D-B4575DE3AED6}"/>
              </a:ext>
            </a:extLst>
          </p:cNvPr>
          <p:cNvGrpSpPr/>
          <p:nvPr/>
        </p:nvGrpSpPr>
        <p:grpSpPr>
          <a:xfrm>
            <a:off x="-1" y="13553886"/>
            <a:ext cx="24384001" cy="207221"/>
            <a:chOff x="-1" y="13553886"/>
            <a:chExt cx="24384001" cy="207221"/>
          </a:xfrm>
        </p:grpSpPr>
        <p:grpSp>
          <p:nvGrpSpPr>
            <p:cNvPr id="14" name="Google Shape;84;p13">
              <a:extLst>
                <a:ext uri="{FF2B5EF4-FFF2-40B4-BE49-F238E27FC236}">
                  <a16:creationId xmlns:a16="http://schemas.microsoft.com/office/drawing/2014/main" id="{66E143CB-EAA5-FA02-7EFE-355E3998D2CB}"/>
                </a:ext>
              </a:extLst>
            </p:cNvPr>
            <p:cNvGrpSpPr/>
            <p:nvPr/>
          </p:nvGrpSpPr>
          <p:grpSpPr>
            <a:xfrm>
              <a:off x="-1" y="13553886"/>
              <a:ext cx="24384001" cy="207221"/>
              <a:chOff x="0" y="-19050"/>
              <a:chExt cx="2709333" cy="336844"/>
            </a:xfrm>
          </p:grpSpPr>
          <p:sp>
            <p:nvSpPr>
              <p:cNvPr id="15" name="Google Shape;85;p13">
                <a:extLst>
                  <a:ext uri="{FF2B5EF4-FFF2-40B4-BE49-F238E27FC236}">
                    <a16:creationId xmlns:a16="http://schemas.microsoft.com/office/drawing/2014/main" id="{78A036D7-D328-9BF3-71F3-A3DB79CED78C}"/>
                  </a:ext>
                </a:extLst>
              </p:cNvPr>
              <p:cNvSpPr/>
              <p:nvPr/>
            </p:nvSpPr>
            <p:spPr>
              <a:xfrm>
                <a:off x="0" y="0"/>
                <a:ext cx="2709333" cy="317794"/>
              </a:xfrm>
              <a:custGeom>
                <a:avLst/>
                <a:gdLst/>
                <a:ahLst/>
                <a:cxnLst/>
                <a:rect l="l" t="t" r="r" b="b"/>
                <a:pathLst>
                  <a:path w="2709333" h="317794" extrusionOk="0">
                    <a:moveTo>
                      <a:pt x="0" y="0"/>
                    </a:moveTo>
                    <a:lnTo>
                      <a:pt x="2709333" y="0"/>
                    </a:lnTo>
                    <a:lnTo>
                      <a:pt x="2709333" y="317794"/>
                    </a:lnTo>
                    <a:lnTo>
                      <a:pt x="0" y="317794"/>
                    </a:lnTo>
                    <a:close/>
                  </a:path>
                </a:pathLst>
              </a:custGeom>
              <a:solidFill>
                <a:srgbClr val="FFC054"/>
              </a:solidFill>
              <a:ln>
                <a:noFill/>
              </a:ln>
            </p:spPr>
            <p:txBody>
              <a:bodyPr/>
              <a:lstStyle/>
              <a:p>
                <a:endParaRPr lang="en-US"/>
              </a:p>
            </p:txBody>
          </p:sp>
          <p:sp>
            <p:nvSpPr>
              <p:cNvPr id="16" name="Google Shape;86;p13">
                <a:extLst>
                  <a:ext uri="{FF2B5EF4-FFF2-40B4-BE49-F238E27FC236}">
                    <a16:creationId xmlns:a16="http://schemas.microsoft.com/office/drawing/2014/main" id="{0906CBBF-B79D-1E07-79D3-18AA79E0788F}"/>
                  </a:ext>
                </a:extLst>
              </p:cNvPr>
              <p:cNvSpPr txBox="1"/>
              <p:nvPr/>
            </p:nvSpPr>
            <p:spPr>
              <a:xfrm>
                <a:off x="0" y="-19050"/>
                <a:ext cx="2709333" cy="336844"/>
              </a:xfrm>
              <a:prstGeom prst="rect">
                <a:avLst/>
              </a:prstGeom>
              <a:noFill/>
              <a:ln>
                <a:noFill/>
              </a:ln>
            </p:spPr>
            <p:txBody>
              <a:bodyPr spcFirstLastPara="1" wrap="square" lIns="50800" tIns="50800" rIns="50800" bIns="50800" anchor="ctr" anchorCtr="0">
                <a:noAutofit/>
              </a:bodyPr>
              <a:lstStyle/>
              <a:p>
                <a:pPr marL="0" marR="0" lvl="0" indent="0" algn="ctr" rtl="0">
                  <a:lnSpc>
                    <a:spcPct val="151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pic>
          <p:nvPicPr>
            <p:cNvPr id="17" name="Google Shape;92;p13">
              <a:extLst>
                <a:ext uri="{FF2B5EF4-FFF2-40B4-BE49-F238E27FC236}">
                  <a16:creationId xmlns:a16="http://schemas.microsoft.com/office/drawing/2014/main" id="{3F596870-3E0C-A86D-3075-3028D8BD87CE}"/>
                </a:ext>
              </a:extLst>
            </p:cNvPr>
            <p:cNvPicPr preferRelativeResize="0"/>
            <p:nvPr/>
          </p:nvPicPr>
          <p:blipFill rotWithShape="1">
            <a:blip r:embed="rId5">
              <a:alphaModFix/>
            </a:blip>
            <a:srcRect l="1793" t="50150" b="37018"/>
            <a:stretch>
              <a:fillRect/>
            </a:stretch>
          </p:blipFill>
          <p:spPr>
            <a:xfrm>
              <a:off x="11163300" y="13565605"/>
              <a:ext cx="13220700" cy="195502"/>
            </a:xfrm>
            <a:prstGeom prst="rect">
              <a:avLst/>
            </a:prstGeom>
            <a:noFill/>
            <a:ln>
              <a:noFill/>
            </a:ln>
          </p:spPr>
        </p:pic>
      </p:grpSp>
      <p:sp>
        <p:nvSpPr>
          <p:cNvPr id="10" name="Text 3">
            <a:extLst>
              <a:ext uri="{FF2B5EF4-FFF2-40B4-BE49-F238E27FC236}">
                <a16:creationId xmlns:a16="http://schemas.microsoft.com/office/drawing/2014/main" id="{84670CC4-DEBE-95F5-204C-18973E95773A}"/>
              </a:ext>
            </a:extLst>
          </p:cNvPr>
          <p:cNvSpPr/>
          <p:nvPr/>
        </p:nvSpPr>
        <p:spPr>
          <a:xfrm>
            <a:off x="12415157" y="5486400"/>
            <a:ext cx="11430000" cy="2468880"/>
          </a:xfrm>
          <a:prstGeom prst="rect">
            <a:avLst/>
          </a:prstGeom>
          <a:noFill/>
          <a:ln/>
        </p:spPr>
        <p:txBody>
          <a:bodyPr wrap="square" lIns="0" tIns="0" rIns="0" bIns="0" rtlCol="0" anchor="t"/>
          <a:lstStyle/>
          <a:p>
            <a:pPr>
              <a:lnSpc>
                <a:spcPct val="115000"/>
              </a:lnSpc>
            </a:pPr>
            <a:r>
              <a:rPr lang="en-US" sz="6200" b="1" dirty="0">
                <a:solidFill>
                  <a:srgbClr val="1B2A4A"/>
                </a:solidFill>
                <a:latin typeface="Liter" pitchFamily="34" charset="0"/>
                <a:ea typeface="Liter" pitchFamily="34" charset="-122"/>
                <a:cs typeface="Liter" pitchFamily="34" charset="-120"/>
              </a:rPr>
              <a:t>Day 3: From Pipeline to Production</a:t>
            </a:r>
            <a:endParaRPr lang="en-US" sz="7500" dirty="0"/>
          </a:p>
        </p:txBody>
      </p:sp>
      <p:pic>
        <p:nvPicPr>
          <p:cNvPr id="5" name="Graphic 4">
            <a:extLst>
              <a:ext uri="{FF2B5EF4-FFF2-40B4-BE49-F238E27FC236}">
                <a16:creationId xmlns:a16="http://schemas.microsoft.com/office/drawing/2014/main" id="{B66AC60A-DD20-62BA-5EFE-DB693434A4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012098" y="-45108"/>
            <a:ext cx="5529981" cy="2072182"/>
          </a:xfrm>
          <a:prstGeom prst="rect">
            <a:avLst/>
          </a:prstGeom>
        </p:spPr>
      </p:pic>
      <p:pic>
        <p:nvPicPr>
          <p:cNvPr id="13" name="Picture 12">
            <a:extLst>
              <a:ext uri="{FF2B5EF4-FFF2-40B4-BE49-F238E27FC236}">
                <a16:creationId xmlns:a16="http://schemas.microsoft.com/office/drawing/2014/main" id="{572E20A7-3485-1EF4-4916-52561EB870E7}"/>
              </a:ext>
            </a:extLst>
          </p:cNvPr>
          <p:cNvPicPr>
            <a:picLocks noChangeAspect="1"/>
          </p:cNvPicPr>
          <p:nvPr/>
        </p:nvPicPr>
        <p:blipFill>
          <a:blip r:embed="rId8"/>
          <a:stretch>
            <a:fillRect/>
          </a:stretch>
        </p:blipFill>
        <p:spPr>
          <a:xfrm>
            <a:off x="17272000" y="475287"/>
            <a:ext cx="4086225" cy="1114425"/>
          </a:xfrm>
          <a:prstGeom prst="rect">
            <a:avLst/>
          </a:prstGeom>
        </p:spPr>
      </p:pic>
      <p:sp>
        <p:nvSpPr>
          <p:cNvPr id="21" name="TextBox 20"/>
          <p:cNvSpPr txBox="1"/>
          <p:nvPr/>
        </p:nvSpPr>
        <p:spPr>
          <a:xfrm>
            <a:off x="12417552" y="8183879"/>
            <a:ext cx="11247120" cy="1097280"/>
          </a:xfrm>
          <a:prstGeom prst="rect">
            <a:avLst/>
          </a:prstGeom>
          <a:noFill/>
        </p:spPr>
        <p:txBody>
          <a:bodyPr wrap="square" lIns="0" tIns="0" rIns="0" bIns="0" anchor="t">
            <a:spAutoFit/>
          </a:bodyPr>
          <a:lstStyle/>
          <a:p>
            <a:pPr algn="l">
              <a:lnSpc>
                <a:spcPct val="125000"/>
              </a:lnSpc>
              <a:spcAft>
                <a:spcPts val="600"/>
              </a:spcAft>
            </a:pPr>
            <a:r>
              <a:rPr sz="2400" b="0" i="0">
                <a:solidFill>
                  <a:srgbClr val="6B7B8D"/>
                </a:solidFill>
                <a:latin typeface="Quattrocento Sans"/>
              </a:rPr>
              <a:t>CI/CD/CT Design · Deployment Strategies · Monitoring &amp; Observability · Incident Handling</a:t>
            </a:r>
          </a:p>
        </p:txBody>
      </p:sp>
      <p:sp>
        <p:nvSpPr>
          <p:cNvPr id="22" name="TextBox 21"/>
          <p:cNvSpPr txBox="1"/>
          <p:nvPr/>
        </p:nvSpPr>
        <p:spPr>
          <a:xfrm>
            <a:off x="12417552" y="9418320"/>
            <a:ext cx="11247120" cy="430887"/>
          </a:xfrm>
          <a:prstGeom prst="rect">
            <a:avLst/>
          </a:prstGeom>
          <a:noFill/>
        </p:spPr>
        <p:txBody>
          <a:bodyPr wrap="square" lIns="0" tIns="0" rIns="0" bIns="0" anchor="t">
            <a:spAutoFit/>
          </a:bodyPr>
          <a:lstStyle/>
          <a:p>
            <a:pPr algn="l">
              <a:lnSpc>
                <a:spcPct val="100000"/>
              </a:lnSpc>
              <a:spcAft>
                <a:spcPts val="600"/>
              </a:spcAft>
            </a:pPr>
            <a:r>
              <a:rPr sz="2800" b="1" i="0" dirty="0">
                <a:solidFill>
                  <a:srgbClr val="1B2A4A"/>
                </a:solidFill>
                <a:latin typeface="Quattrocento Sans"/>
              </a:rPr>
              <a:t>Made </a:t>
            </a:r>
            <a:r>
              <a:rPr sz="2800" b="1" i="0" dirty="0" err="1">
                <a:solidFill>
                  <a:srgbClr val="1B2A4A"/>
                </a:solidFill>
                <a:latin typeface="Quattrocento Sans"/>
              </a:rPr>
              <a:t>Harta</a:t>
            </a:r>
            <a:r>
              <a:rPr sz="2800" b="1" i="0" dirty="0">
                <a:solidFill>
                  <a:srgbClr val="1B2A4A"/>
                </a:solidFill>
                <a:latin typeface="Quattrocento Sans"/>
              </a:rPr>
              <a:t> </a:t>
            </a:r>
            <a:r>
              <a:rPr sz="2800" b="1" i="0" dirty="0" err="1">
                <a:solidFill>
                  <a:srgbClr val="1B2A4A"/>
                </a:solidFill>
                <a:latin typeface="Quattrocento Sans"/>
              </a:rPr>
              <a:t>Dwijaksara</a:t>
            </a:r>
            <a:r>
              <a:rPr lang="en-US" sz="2800" b="1" i="0" dirty="0">
                <a:solidFill>
                  <a:srgbClr val="1B2A4A"/>
                </a:solidFill>
                <a:latin typeface="Quattrocento Sans"/>
              </a:rPr>
              <a:t>, Ph.D.</a:t>
            </a:r>
            <a:endParaRPr sz="2800" b="1" i="0" dirty="0">
              <a:solidFill>
                <a:srgbClr val="1B2A4A"/>
              </a:solidFill>
              <a:latin typeface="Quattrocento Sans"/>
            </a:endParaRPr>
          </a:p>
        </p:txBody>
      </p:sp>
    </p:spTree>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2"/>
          <p:cNvSpPr/>
          <p:nvPr/>
        </p:nvSpPr>
        <p:spPr>
          <a:xfrm>
            <a:off x="1649562" y="2597030"/>
            <a:ext cx="5080000" cy="381000"/>
          </a:xfrm>
          <a:prstGeom prst="rect">
            <a:avLst/>
          </a:prstGeom>
          <a:noFill/>
          <a:ln/>
        </p:spPr>
        <p:txBody>
          <a:bodyPr wrap="none" lIns="0" tIns="0" rIns="0" bIns="0" rtlCol="0" anchor="ctr"/>
          <a:lstStyle/>
          <a:p>
            <a:pPr algn="l">
              <a:lnSpc>
                <a:spcPct val="120000"/>
              </a:lnSpc>
            </a:pPr>
            <a:r>
              <a:rPr lang="en-US" sz="1600" b="1" kern="0" spc="400" dirty="0">
                <a:solidFill>
                  <a:srgbClr val="D4A03A"/>
                </a:solidFill>
                <a:latin typeface="Liter" pitchFamily="34" charset="0"/>
                <a:ea typeface="Liter" pitchFamily="34" charset="-122"/>
                <a:cs typeface="Liter" pitchFamily="34" charset="-120"/>
              </a:rPr>
              <a:t>OVERVIEW</a:t>
            </a:r>
            <a:endParaRPr lang="en-US" sz="1600" dirty="0"/>
          </a:p>
        </p:txBody>
      </p:sp>
      <p:sp>
        <p:nvSpPr>
          <p:cNvPr id="6" name="Text 3"/>
          <p:cNvSpPr/>
          <p:nvPr/>
        </p:nvSpPr>
        <p:spPr>
          <a:xfrm>
            <a:off x="1649562" y="3105030"/>
            <a:ext cx="12801600" cy="1016000"/>
          </a:xfrm>
          <a:prstGeom prst="rect">
            <a:avLst/>
          </a:prstGeom>
          <a:noFill/>
          <a:ln/>
        </p:spPr>
        <p:txBody>
          <a:bodyPr wrap="none" lIns="0" tIns="0" rIns="0" bIns="0" rtlCol="0" anchor="ctr"/>
          <a:lstStyle/>
          <a:p>
            <a:pPr algn="l">
              <a:lnSpc>
                <a:spcPct val="110000"/>
              </a:lnSpc>
            </a:pPr>
            <a:r>
              <a:rPr lang="en-US" sz="7200" kern="0" spc="200" dirty="0">
                <a:solidFill>
                  <a:srgbClr val="1B2A4A"/>
                </a:solidFill>
                <a:latin typeface="Liter" pitchFamily="34" charset="0"/>
                <a:ea typeface="Liter" pitchFamily="34" charset="-122"/>
                <a:cs typeface="Liter" pitchFamily="34" charset="-120"/>
              </a:rPr>
              <a:t>Day 3 Agenda</a:t>
            </a:r>
            <a:endParaRPr lang="en-US" sz="7200" dirty="0"/>
          </a:p>
        </p:txBody>
      </p:sp>
      <p:sp>
        <p:nvSpPr>
          <p:cNvPr id="7" name="Shape 4"/>
          <p:cNvSpPr/>
          <p:nvPr/>
        </p:nvSpPr>
        <p:spPr>
          <a:xfrm>
            <a:off x="1649562" y="4375030"/>
            <a:ext cx="1016000" cy="50800"/>
          </a:xfrm>
          <a:prstGeom prst="rect">
            <a:avLst/>
          </a:prstGeom>
          <a:solidFill>
            <a:srgbClr val="D4A03A"/>
          </a:solidFill>
          <a:ln/>
        </p:spPr>
        <p:txBody>
          <a:bodyPr/>
          <a:lstStyle/>
          <a:p>
            <a:endParaRPr lang="en-ID"/>
          </a:p>
        </p:txBody>
      </p:sp>
      <p:sp>
        <p:nvSpPr>
          <p:cNvPr id="8" name="TextBox 7"/>
          <p:cNvSpPr txBox="1"/>
          <p:nvPr/>
        </p:nvSpPr>
        <p:spPr>
          <a:xfrm>
            <a:off x="1645920" y="525780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01</a:t>
            </a:r>
          </a:p>
        </p:txBody>
      </p:sp>
      <p:sp>
        <p:nvSpPr>
          <p:cNvPr id="9" name="TextBox 8"/>
          <p:cNvSpPr txBox="1"/>
          <p:nvPr/>
        </p:nvSpPr>
        <p:spPr>
          <a:xfrm>
            <a:off x="3108960" y="5303520"/>
            <a:ext cx="12344400" cy="530915"/>
          </a:xfrm>
          <a:prstGeom prst="rect">
            <a:avLst/>
          </a:prstGeom>
          <a:noFill/>
        </p:spPr>
        <p:txBody>
          <a:bodyPr wrap="square" lIns="0" tIns="0" rIns="0" bIns="0" anchor="t">
            <a:spAutoFit/>
          </a:bodyPr>
          <a:lstStyle/>
          <a:p>
            <a:pPr algn="l">
              <a:lnSpc>
                <a:spcPct val="120000"/>
              </a:lnSpc>
              <a:spcAft>
                <a:spcPts val="600"/>
              </a:spcAft>
            </a:pPr>
            <a:r>
              <a:rPr sz="3000" b="1" i="0" dirty="0">
                <a:solidFill>
                  <a:srgbClr val="1B2A4A"/>
                </a:solidFill>
                <a:latin typeface="Liter"/>
              </a:rPr>
              <a:t>CI/CD</a:t>
            </a:r>
            <a:r>
              <a:rPr lang="en-US" sz="3000" b="1" i="0" dirty="0">
                <a:solidFill>
                  <a:srgbClr val="1B2A4A"/>
                </a:solidFill>
                <a:latin typeface="Liter"/>
              </a:rPr>
              <a:t>/CT</a:t>
            </a:r>
            <a:r>
              <a:rPr sz="3000" b="1" i="0" dirty="0">
                <a:solidFill>
                  <a:srgbClr val="1B2A4A"/>
                </a:solidFill>
                <a:latin typeface="Liter"/>
              </a:rPr>
              <a:t> Design for Machine Learning</a:t>
            </a:r>
          </a:p>
        </p:txBody>
      </p:sp>
      <p:sp>
        <p:nvSpPr>
          <p:cNvPr id="10" name="TextBox 9"/>
          <p:cNvSpPr txBox="1"/>
          <p:nvPr/>
        </p:nvSpPr>
        <p:spPr>
          <a:xfrm>
            <a:off x="3108960" y="5989320"/>
            <a:ext cx="12344400" cy="384144"/>
          </a:xfrm>
          <a:prstGeom prst="rect">
            <a:avLst/>
          </a:prstGeom>
          <a:noFill/>
        </p:spPr>
        <p:txBody>
          <a:bodyPr wrap="square" lIns="0" tIns="0" rIns="0" bIns="0" anchor="t">
            <a:spAutoFit/>
          </a:bodyPr>
          <a:lstStyle/>
          <a:p>
            <a:pPr algn="l">
              <a:lnSpc>
                <a:spcPct val="120000"/>
              </a:lnSpc>
              <a:spcAft>
                <a:spcPts val="600"/>
              </a:spcAft>
            </a:pPr>
            <a:r>
              <a:rPr sz="2200" b="0" i="0" dirty="0" err="1">
                <a:solidFill>
                  <a:srgbClr val="6B7B8D"/>
                </a:solidFill>
                <a:latin typeface="Quattrocento Sans"/>
              </a:rPr>
              <a:t>MLflow</a:t>
            </a:r>
            <a:r>
              <a:rPr sz="2200" b="0" i="0" dirty="0">
                <a:solidFill>
                  <a:srgbClr val="6B7B8D"/>
                </a:solidFill>
                <a:latin typeface="Quattrocento Sans"/>
              </a:rPr>
              <a:t> tracking &amp; registry, quality gate, orchestration with Prefect</a:t>
            </a:r>
          </a:p>
        </p:txBody>
      </p:sp>
      <p:sp>
        <p:nvSpPr>
          <p:cNvPr id="11" name="TextBox 10"/>
          <p:cNvSpPr txBox="1"/>
          <p:nvPr/>
        </p:nvSpPr>
        <p:spPr>
          <a:xfrm>
            <a:off x="16093440" y="525780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08:30–10:30</a:t>
            </a:r>
          </a:p>
        </p:txBody>
      </p:sp>
      <p:sp>
        <p:nvSpPr>
          <p:cNvPr id="12" name="Rectangle 11"/>
          <p:cNvSpPr/>
          <p:nvPr/>
        </p:nvSpPr>
        <p:spPr>
          <a:xfrm>
            <a:off x="1645920" y="6766560"/>
            <a:ext cx="2103120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645920" y="704088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02</a:t>
            </a:r>
          </a:p>
        </p:txBody>
      </p:sp>
      <p:sp>
        <p:nvSpPr>
          <p:cNvPr id="14" name="TextBox 13"/>
          <p:cNvSpPr txBox="1"/>
          <p:nvPr/>
        </p:nvSpPr>
        <p:spPr>
          <a:xfrm>
            <a:off x="3108960" y="7086600"/>
            <a:ext cx="12344400" cy="64008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Machine Learning Deployment Strategies</a:t>
            </a:r>
          </a:p>
        </p:txBody>
      </p:sp>
      <p:sp>
        <p:nvSpPr>
          <p:cNvPr id="15" name="TextBox 14"/>
          <p:cNvSpPr txBox="1"/>
          <p:nvPr/>
        </p:nvSpPr>
        <p:spPr>
          <a:xfrm>
            <a:off x="3108960" y="7772400"/>
            <a:ext cx="12344400" cy="548640"/>
          </a:xfrm>
          <a:prstGeom prst="rect">
            <a:avLst/>
          </a:prstGeom>
          <a:noFill/>
        </p:spPr>
        <p:txBody>
          <a:bodyPr wrap="square" lIns="0" tIns="0" rIns="0" bIns="0" anchor="t">
            <a:spAutoFit/>
          </a:bodyPr>
          <a:lstStyle/>
          <a:p>
            <a:pPr algn="l">
              <a:lnSpc>
                <a:spcPct val="120000"/>
              </a:lnSpc>
              <a:spcAft>
                <a:spcPts val="600"/>
              </a:spcAft>
            </a:pPr>
            <a:r>
              <a:rPr sz="2200" b="0" i="0">
                <a:solidFill>
                  <a:srgbClr val="6B7B8D"/>
                </a:solidFill>
                <a:latin typeface="Quattrocento Sans"/>
              </a:rPr>
              <a:t>Serving with FastAPI, containerisation, Cloud Run, canary &amp; champion/challenger</a:t>
            </a:r>
          </a:p>
        </p:txBody>
      </p:sp>
      <p:sp>
        <p:nvSpPr>
          <p:cNvPr id="16" name="TextBox 15"/>
          <p:cNvSpPr txBox="1"/>
          <p:nvPr/>
        </p:nvSpPr>
        <p:spPr>
          <a:xfrm>
            <a:off x="16093440" y="704088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10:45–12:00</a:t>
            </a:r>
          </a:p>
        </p:txBody>
      </p:sp>
      <p:sp>
        <p:nvSpPr>
          <p:cNvPr id="17" name="Rectangle 16"/>
          <p:cNvSpPr/>
          <p:nvPr/>
        </p:nvSpPr>
        <p:spPr>
          <a:xfrm>
            <a:off x="1645920" y="8549640"/>
            <a:ext cx="2103120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45920" y="882396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03</a:t>
            </a:r>
          </a:p>
        </p:txBody>
      </p:sp>
      <p:sp>
        <p:nvSpPr>
          <p:cNvPr id="19" name="TextBox 18"/>
          <p:cNvSpPr txBox="1"/>
          <p:nvPr/>
        </p:nvSpPr>
        <p:spPr>
          <a:xfrm>
            <a:off x="3108960" y="8869680"/>
            <a:ext cx="12344400" cy="64008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Monitoring and Observability</a:t>
            </a:r>
          </a:p>
        </p:txBody>
      </p:sp>
      <p:sp>
        <p:nvSpPr>
          <p:cNvPr id="20" name="TextBox 19"/>
          <p:cNvSpPr txBox="1"/>
          <p:nvPr/>
        </p:nvSpPr>
        <p:spPr>
          <a:xfrm>
            <a:off x="3108960" y="9555480"/>
            <a:ext cx="12344400" cy="548640"/>
          </a:xfrm>
          <a:prstGeom prst="rect">
            <a:avLst/>
          </a:prstGeom>
          <a:noFill/>
        </p:spPr>
        <p:txBody>
          <a:bodyPr wrap="square" lIns="0" tIns="0" rIns="0" bIns="0" anchor="t">
            <a:spAutoFit/>
          </a:bodyPr>
          <a:lstStyle/>
          <a:p>
            <a:pPr algn="l">
              <a:lnSpc>
                <a:spcPct val="120000"/>
              </a:lnSpc>
              <a:spcAft>
                <a:spcPts val="600"/>
              </a:spcAft>
            </a:pPr>
            <a:r>
              <a:rPr sz="2200" b="0" i="0">
                <a:solidFill>
                  <a:srgbClr val="6B7B8D"/>
                </a:solidFill>
                <a:latin typeface="Quattrocento Sans"/>
              </a:rPr>
              <a:t>Structured logging, data drift detection with Evidently AI, retraining policy</a:t>
            </a:r>
          </a:p>
        </p:txBody>
      </p:sp>
      <p:sp>
        <p:nvSpPr>
          <p:cNvPr id="21" name="TextBox 20"/>
          <p:cNvSpPr txBox="1"/>
          <p:nvPr/>
        </p:nvSpPr>
        <p:spPr>
          <a:xfrm>
            <a:off x="16093440" y="882396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13:15–14:45</a:t>
            </a:r>
          </a:p>
        </p:txBody>
      </p:sp>
      <p:sp>
        <p:nvSpPr>
          <p:cNvPr id="22" name="Rectangle 21"/>
          <p:cNvSpPr/>
          <p:nvPr/>
        </p:nvSpPr>
        <p:spPr>
          <a:xfrm>
            <a:off x="1645920" y="10332720"/>
            <a:ext cx="2103120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0607040"/>
            <a:ext cx="1280160" cy="1097280"/>
          </a:xfrm>
          <a:prstGeom prst="rect">
            <a:avLst/>
          </a:prstGeom>
          <a:noFill/>
        </p:spPr>
        <p:txBody>
          <a:bodyPr wrap="square" lIns="0" tIns="0" rIns="0" bIns="0" anchor="ctr">
            <a:spAutoFit/>
          </a:bodyPr>
          <a:lstStyle/>
          <a:p>
            <a:pPr algn="l">
              <a:lnSpc>
                <a:spcPct val="120000"/>
              </a:lnSpc>
              <a:spcAft>
                <a:spcPts val="600"/>
              </a:spcAft>
            </a:pPr>
            <a:r>
              <a:rPr sz="4800" b="0" i="0">
                <a:solidFill>
                  <a:srgbClr val="D4A03A"/>
                </a:solidFill>
                <a:latin typeface="Liter"/>
              </a:rPr>
              <a:t>04</a:t>
            </a:r>
          </a:p>
        </p:txBody>
      </p:sp>
      <p:sp>
        <p:nvSpPr>
          <p:cNvPr id="24" name="TextBox 23"/>
          <p:cNvSpPr txBox="1"/>
          <p:nvPr/>
        </p:nvSpPr>
        <p:spPr>
          <a:xfrm>
            <a:off x="3108960" y="10652760"/>
            <a:ext cx="12344400" cy="64008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Incident Handling</a:t>
            </a:r>
          </a:p>
        </p:txBody>
      </p:sp>
      <p:sp>
        <p:nvSpPr>
          <p:cNvPr id="25" name="TextBox 24"/>
          <p:cNvSpPr txBox="1"/>
          <p:nvPr/>
        </p:nvSpPr>
        <p:spPr>
          <a:xfrm>
            <a:off x="3108960" y="11338560"/>
            <a:ext cx="12344400" cy="548640"/>
          </a:xfrm>
          <a:prstGeom prst="rect">
            <a:avLst/>
          </a:prstGeom>
          <a:noFill/>
        </p:spPr>
        <p:txBody>
          <a:bodyPr wrap="square" lIns="0" tIns="0" rIns="0" bIns="0" anchor="t">
            <a:spAutoFit/>
          </a:bodyPr>
          <a:lstStyle/>
          <a:p>
            <a:pPr algn="l">
              <a:lnSpc>
                <a:spcPct val="120000"/>
              </a:lnSpc>
              <a:spcAft>
                <a:spcPts val="600"/>
              </a:spcAft>
            </a:pPr>
            <a:r>
              <a:rPr sz="2200" b="0" i="0">
                <a:solidFill>
                  <a:srgbClr val="6B7B8D"/>
                </a:solidFill>
                <a:latin typeface="Quattrocento Sans"/>
              </a:rPr>
              <a:t>Bad-release drill: detection, rollback, runbook, and postmortem</a:t>
            </a:r>
          </a:p>
        </p:txBody>
      </p:sp>
      <p:sp>
        <p:nvSpPr>
          <p:cNvPr id="26" name="TextBox 25"/>
          <p:cNvSpPr txBox="1"/>
          <p:nvPr/>
        </p:nvSpPr>
        <p:spPr>
          <a:xfrm>
            <a:off x="16093440" y="10607040"/>
            <a:ext cx="6583680" cy="1097280"/>
          </a:xfrm>
          <a:prstGeom prst="rect">
            <a:avLst/>
          </a:prstGeom>
          <a:noFill/>
        </p:spPr>
        <p:txBody>
          <a:bodyPr wrap="square" lIns="0" tIns="0" rIns="0" bIns="0" anchor="ctr">
            <a:spAutoFit/>
          </a:bodyPr>
          <a:lstStyle/>
          <a:p>
            <a:pPr algn="r">
              <a:lnSpc>
                <a:spcPct val="120000"/>
              </a:lnSpc>
              <a:spcAft>
                <a:spcPts val="600"/>
              </a:spcAft>
            </a:pPr>
            <a:r>
              <a:rPr sz="3200" b="0" i="0">
                <a:solidFill>
                  <a:srgbClr val="1B2A4A"/>
                </a:solidFill>
                <a:latin typeface="Liter"/>
              </a:rPr>
              <a:t>15:00–16:00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Where Day 3 Fits in the Programme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CONTEXT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a:t>
            </a:r>
          </a:p>
        </p:txBody>
      </p:sp>
      <p:sp>
        <p:nvSpPr>
          <p:cNvPr id="6" name="Rounded Rectangle 5"/>
          <p:cNvSpPr/>
          <p:nvPr/>
        </p:nvSpPr>
        <p:spPr>
          <a:xfrm>
            <a:off x="1014984" y="2514600"/>
            <a:ext cx="7174992" cy="822960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Day 1</a:t>
            </a:r>
          </a:p>
        </p:txBody>
      </p:sp>
      <p:sp>
        <p:nvSpPr>
          <p:cNvPr id="9" name="TextBox 8"/>
          <p:cNvSpPr txBox="1"/>
          <p:nvPr/>
        </p:nvSpPr>
        <p:spPr>
          <a:xfrm>
            <a:off x="1563624"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Foundations &amp; governance</a:t>
            </a:r>
          </a:p>
        </p:txBody>
      </p:sp>
      <p:sp>
        <p:nvSpPr>
          <p:cNvPr id="10" name="TextBox 9"/>
          <p:cNvSpPr txBox="1"/>
          <p:nvPr/>
        </p:nvSpPr>
        <p:spPr>
          <a:xfrm>
            <a:off x="1563624" y="5212079"/>
            <a:ext cx="6077712" cy="5166360"/>
          </a:xfrm>
          <a:prstGeom prst="rect">
            <a:avLst/>
          </a:prstGeom>
          <a:noFill/>
        </p:spPr>
        <p:txBody>
          <a:bodyPr wrap="square" lIns="0" tIns="0" rIns="0" bIns="0" anchor="t">
            <a:spAutoFit/>
          </a:bodyPr>
          <a:lstStyle/>
          <a:p>
            <a:pPr marL="452754" indent="-452754" algn="l">
              <a:lnSpc>
                <a:spcPct val="120000"/>
              </a:lnSpc>
              <a:spcAft>
                <a:spcPts val="1200"/>
              </a:spcAft>
              <a:buClr>
                <a:srgbClr val="4A5B7A"/>
              </a:buClr>
              <a:buFont typeface="Arial"/>
              <a:buChar char="•"/>
            </a:pPr>
            <a:r>
              <a:rPr sz="3100" b="0" i="0">
                <a:solidFill>
                  <a:srgbClr val="1E293B"/>
                </a:solidFill>
                <a:latin typeface="Quattrocento Sans"/>
              </a:rPr>
              <a:t>DevOps vs MLOps</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Data privacy</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MLOps maturity assessment</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MLSecOps</a:t>
            </a:r>
          </a:p>
        </p:txBody>
      </p:sp>
      <p:sp>
        <p:nvSpPr>
          <p:cNvPr id="11" name="Rounded Rectangle 10"/>
          <p:cNvSpPr/>
          <p:nvPr/>
        </p:nvSpPr>
        <p:spPr>
          <a:xfrm>
            <a:off x="8601456" y="2514600"/>
            <a:ext cx="7174992" cy="822960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150096"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50096"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Day 2</a:t>
            </a:r>
          </a:p>
        </p:txBody>
      </p:sp>
      <p:sp>
        <p:nvSpPr>
          <p:cNvPr id="14" name="TextBox 13"/>
          <p:cNvSpPr txBox="1"/>
          <p:nvPr/>
        </p:nvSpPr>
        <p:spPr>
          <a:xfrm>
            <a:off x="9150096"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Data &amp; reproducibility</a:t>
            </a:r>
          </a:p>
        </p:txBody>
      </p:sp>
      <p:sp>
        <p:nvSpPr>
          <p:cNvPr id="15" name="TextBox 14"/>
          <p:cNvSpPr txBox="1"/>
          <p:nvPr/>
        </p:nvSpPr>
        <p:spPr>
          <a:xfrm>
            <a:off x="9150096" y="5212079"/>
            <a:ext cx="6077712" cy="5166360"/>
          </a:xfrm>
          <a:prstGeom prst="rect">
            <a:avLst/>
          </a:prstGeom>
          <a:noFill/>
        </p:spPr>
        <p:txBody>
          <a:bodyPr wrap="square" lIns="0" tIns="0" rIns="0" bIns="0" anchor="t">
            <a:spAutoFit/>
          </a:bodyPr>
          <a:lstStyle/>
          <a:p>
            <a:pPr marL="452754" indent="-452754" algn="l">
              <a:lnSpc>
                <a:spcPct val="120000"/>
              </a:lnSpc>
              <a:spcAft>
                <a:spcPts val="1200"/>
              </a:spcAft>
              <a:buClr>
                <a:srgbClr val="1B2A4A"/>
              </a:buClr>
              <a:buFont typeface="Arial"/>
              <a:buChar char="•"/>
            </a:pPr>
            <a:r>
              <a:rPr sz="3100" b="0" i="0">
                <a:solidFill>
                  <a:srgbClr val="1E293B"/>
                </a:solidFill>
                <a:latin typeface="Quattrocento Sans"/>
              </a:rPr>
              <a:t>Data management &amp; feature stores</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Data pipelines</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Reproducibility &amp; versioning (DVC)</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Repositories, containers, registries</a:t>
            </a:r>
          </a:p>
        </p:txBody>
      </p:sp>
      <p:sp>
        <p:nvSpPr>
          <p:cNvPr id="16" name="Rounded Rectangle 15"/>
          <p:cNvSpPr/>
          <p:nvPr/>
        </p:nvSpPr>
        <p:spPr>
          <a:xfrm>
            <a:off x="16187928" y="2514600"/>
            <a:ext cx="7174992" cy="822960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6736568"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736568"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Day 3 — today</a:t>
            </a:r>
          </a:p>
        </p:txBody>
      </p:sp>
      <p:sp>
        <p:nvSpPr>
          <p:cNvPr id="19" name="TextBox 18"/>
          <p:cNvSpPr txBox="1"/>
          <p:nvPr/>
        </p:nvSpPr>
        <p:spPr>
          <a:xfrm>
            <a:off x="16736568"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Operating models in production</a:t>
            </a:r>
          </a:p>
        </p:txBody>
      </p:sp>
      <p:sp>
        <p:nvSpPr>
          <p:cNvPr id="20" name="TextBox 19"/>
          <p:cNvSpPr txBox="1"/>
          <p:nvPr/>
        </p:nvSpPr>
        <p:spPr>
          <a:xfrm>
            <a:off x="16736568" y="5212079"/>
            <a:ext cx="6077712" cy="5166360"/>
          </a:xfrm>
          <a:prstGeom prst="rect">
            <a:avLst/>
          </a:prstGeom>
          <a:noFill/>
        </p:spPr>
        <p:txBody>
          <a:bodyPr wrap="square" lIns="0" tIns="0" rIns="0" bIns="0" anchor="t">
            <a:spAutoFit/>
          </a:bodyPr>
          <a:lstStyle/>
          <a:p>
            <a:pPr marL="452754" indent="-452754" algn="l">
              <a:lnSpc>
                <a:spcPct val="120000"/>
              </a:lnSpc>
              <a:spcAft>
                <a:spcPts val="1200"/>
              </a:spcAft>
              <a:buClr>
                <a:srgbClr val="D4A03A"/>
              </a:buClr>
              <a:buFont typeface="Arial"/>
              <a:buChar char="•"/>
            </a:pPr>
            <a:r>
              <a:rPr sz="3100" b="0" i="0">
                <a:solidFill>
                  <a:srgbClr val="1E293B"/>
                </a:solidFill>
                <a:latin typeface="Quattrocento Sans"/>
              </a:rPr>
              <a:t>CI/CD/CT</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Deployment strategies</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Monitoring &amp; observability</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Incident handling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70D43-A628-F72A-67A2-829F227B249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7ADA0EB-332D-DF31-95DF-B5D9D002E6E1}"/>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Our Today’s Journey for </a:t>
            </a:r>
            <a:r>
              <a:rPr lang="en-US" sz="4400" b="1" i="0" dirty="0" err="1">
                <a:solidFill>
                  <a:srgbClr val="1B2A4A"/>
                </a:solidFill>
                <a:latin typeface="Liter"/>
              </a:rPr>
              <a:t>MLOps</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BE8E22E7-490D-3509-B758-6442022EE591}"/>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6B9E75A5-BE11-4DB6-C24D-A799E54B4308}"/>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809D7DE5-147E-8C3C-F508-E0A93A5FA32E}"/>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pic>
        <p:nvPicPr>
          <p:cNvPr id="20" name="Picture 19" descr="A diagram of a model tracking process&#10;&#10;AI-generated content may be incorrect.">
            <a:extLst>
              <a:ext uri="{FF2B5EF4-FFF2-40B4-BE49-F238E27FC236}">
                <a16:creationId xmlns:a16="http://schemas.microsoft.com/office/drawing/2014/main" id="{B28C4A56-0D7A-2274-5CDE-E4ECAAECB40F}"/>
              </a:ext>
            </a:extLst>
          </p:cNvPr>
          <p:cNvPicPr>
            <a:picLocks noChangeAspect="1"/>
          </p:cNvPicPr>
          <p:nvPr/>
        </p:nvPicPr>
        <p:blipFill>
          <a:blip r:embed="rId3"/>
          <a:stretch>
            <a:fillRect/>
          </a:stretch>
        </p:blipFill>
        <p:spPr>
          <a:xfrm>
            <a:off x="2362018" y="2284184"/>
            <a:ext cx="19205341" cy="11020335"/>
          </a:xfrm>
          <a:prstGeom prst="rect">
            <a:avLst/>
          </a:prstGeom>
        </p:spPr>
      </p:pic>
    </p:spTree>
    <p:extLst>
      <p:ext uri="{BB962C8B-B14F-4D97-AF65-F5344CB8AC3E}">
        <p14:creationId xmlns:p14="http://schemas.microsoft.com/office/powerpoint/2010/main" val="3870819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01040-BE60-F521-B8B9-B79ABE73020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AE33A6A-EC32-8A43-596B-635117C68FEE}"/>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MLOps</a:t>
            </a:r>
            <a:r>
              <a:rPr lang="en-US" sz="4400" b="1" i="0" dirty="0">
                <a:solidFill>
                  <a:srgbClr val="1B2A4A"/>
                </a:solidFill>
                <a:latin typeface="Liter"/>
              </a:rPr>
              <a:t> Tools </a:t>
            </a:r>
            <a:r>
              <a:rPr lang="en-US" sz="4400" b="1" dirty="0">
                <a:solidFill>
                  <a:srgbClr val="1B2A4A"/>
                </a:solidFill>
                <a:latin typeface="Liter"/>
                <a:sym typeface="Wingdings" pitchFamily="2" charset="2"/>
              </a:rPr>
              <a:t>for CI/CD/CT</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635DDB06-13B6-CE1E-41F7-FE2238ED007F}"/>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76E21D74-0195-BDAA-5CF0-14C9EFFBB550}"/>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2A581F27-36F7-0177-C7EF-50D2A0D732E4}"/>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graphicFrame>
        <p:nvGraphicFramePr>
          <p:cNvPr id="6" name="Table 5">
            <a:extLst>
              <a:ext uri="{FF2B5EF4-FFF2-40B4-BE49-F238E27FC236}">
                <a16:creationId xmlns:a16="http://schemas.microsoft.com/office/drawing/2014/main" id="{2D04EE49-6DA2-1C07-AFE5-A3FC9846DCF4}"/>
              </a:ext>
            </a:extLst>
          </p:cNvPr>
          <p:cNvGraphicFramePr>
            <a:graphicFrameLocks noGrp="1"/>
          </p:cNvGraphicFramePr>
          <p:nvPr>
            <p:extLst>
              <p:ext uri="{D42A27DB-BD31-4B8C-83A1-F6EECF244321}">
                <p14:modId xmlns:p14="http://schemas.microsoft.com/office/powerpoint/2010/main" val="3502921936"/>
              </p:ext>
            </p:extLst>
          </p:nvPr>
        </p:nvGraphicFramePr>
        <p:xfrm>
          <a:off x="1394460" y="2617782"/>
          <a:ext cx="21570044" cy="9443154"/>
        </p:xfrm>
        <a:graphic>
          <a:graphicData uri="http://schemas.openxmlformats.org/drawingml/2006/table">
            <a:tbl>
              <a:tblPr firstRow="1" bandRow="1">
                <a:tableStyleId>{073A0DAA-6AF3-43AB-8588-CEC1D06C72B9}</a:tableStyleId>
              </a:tblPr>
              <a:tblGrid>
                <a:gridCol w="1650975">
                  <a:extLst>
                    <a:ext uri="{9D8B030D-6E8A-4147-A177-3AD203B41FA5}">
                      <a16:colId xmlns:a16="http://schemas.microsoft.com/office/drawing/2014/main" val="1542589736"/>
                    </a:ext>
                  </a:extLst>
                </a:gridCol>
                <a:gridCol w="5303919">
                  <a:extLst>
                    <a:ext uri="{9D8B030D-6E8A-4147-A177-3AD203B41FA5}">
                      <a16:colId xmlns:a16="http://schemas.microsoft.com/office/drawing/2014/main" val="711831836"/>
                    </a:ext>
                  </a:extLst>
                </a:gridCol>
                <a:gridCol w="14615150">
                  <a:extLst>
                    <a:ext uri="{9D8B030D-6E8A-4147-A177-3AD203B41FA5}">
                      <a16:colId xmlns:a16="http://schemas.microsoft.com/office/drawing/2014/main" val="2200954522"/>
                    </a:ext>
                  </a:extLst>
                </a:gridCol>
              </a:tblGrid>
              <a:tr h="1349022">
                <a:tc>
                  <a:txBody>
                    <a:bodyPr/>
                    <a:lstStyle/>
                    <a:p>
                      <a:pPr algn="ctr"/>
                      <a:r>
                        <a:rPr lang="en-US" sz="3600" dirty="0"/>
                        <a:t>No</a:t>
                      </a:r>
                    </a:p>
                  </a:txBody>
                  <a:tcPr anchor="ctr"/>
                </a:tc>
                <a:tc>
                  <a:txBody>
                    <a:bodyPr/>
                    <a:lstStyle/>
                    <a:p>
                      <a:pPr algn="ctr"/>
                      <a:r>
                        <a:rPr lang="en-US" sz="3600" dirty="0"/>
                        <a:t>Phase</a:t>
                      </a:r>
                    </a:p>
                  </a:txBody>
                  <a:tcPr anchor="ctr"/>
                </a:tc>
                <a:tc>
                  <a:txBody>
                    <a:bodyPr/>
                    <a:lstStyle/>
                    <a:p>
                      <a:pPr algn="ctr"/>
                      <a:r>
                        <a:rPr lang="en-US" sz="3600" dirty="0"/>
                        <a:t>Tools</a:t>
                      </a:r>
                    </a:p>
                  </a:txBody>
                  <a:tcPr anchor="ctr"/>
                </a:tc>
                <a:extLst>
                  <a:ext uri="{0D108BD9-81ED-4DB2-BD59-A6C34878D82A}">
                    <a16:rowId xmlns:a16="http://schemas.microsoft.com/office/drawing/2014/main" val="3157965100"/>
                  </a:ext>
                </a:extLst>
              </a:tr>
              <a:tr h="1349022">
                <a:tc>
                  <a:txBody>
                    <a:bodyPr/>
                    <a:lstStyle/>
                    <a:p>
                      <a:pPr algn="ctr"/>
                      <a:r>
                        <a:rPr lang="en-US" sz="4000" dirty="0"/>
                        <a:t>1</a:t>
                      </a:r>
                    </a:p>
                  </a:txBody>
                  <a:tcPr anchor="ctr"/>
                </a:tc>
                <a:tc>
                  <a:txBody>
                    <a:bodyPr/>
                    <a:lstStyle/>
                    <a:p>
                      <a:r>
                        <a:rPr lang="en-US" sz="4000" dirty="0"/>
                        <a:t>Model Development</a:t>
                      </a:r>
                    </a:p>
                  </a:txBody>
                  <a:tcPr anchor="ctr"/>
                </a:tc>
                <a:tc>
                  <a:txBody>
                    <a:bodyPr/>
                    <a:lstStyle/>
                    <a:p>
                      <a:r>
                        <a:rPr lang="en-US" sz="4000" b="1" dirty="0">
                          <a:solidFill>
                            <a:srgbClr val="0070C0"/>
                          </a:solidFill>
                        </a:rPr>
                        <a:t>Scikit-learn</a:t>
                      </a:r>
                      <a:r>
                        <a:rPr lang="en-US" sz="4000" dirty="0"/>
                        <a:t>, </a:t>
                      </a:r>
                      <a:r>
                        <a:rPr lang="en-US" sz="4000" dirty="0" err="1"/>
                        <a:t>XGBoost</a:t>
                      </a:r>
                      <a:r>
                        <a:rPr lang="en-US" sz="4000" dirty="0"/>
                        <a:t>, TensorFlow, </a:t>
                      </a:r>
                      <a:r>
                        <a:rPr lang="en-US" sz="4000" dirty="0" err="1"/>
                        <a:t>PyTorch</a:t>
                      </a:r>
                      <a:r>
                        <a:rPr lang="en-US" sz="4000" dirty="0"/>
                        <a:t>, </a:t>
                      </a:r>
                      <a:r>
                        <a:rPr lang="en-US" sz="4000" dirty="0" err="1"/>
                        <a:t>Keras</a:t>
                      </a:r>
                      <a:r>
                        <a:rPr lang="en-US" sz="4000" dirty="0"/>
                        <a:t>, Spark </a:t>
                      </a:r>
                      <a:r>
                        <a:rPr lang="en-US" sz="4000" dirty="0" err="1"/>
                        <a:t>Mlib</a:t>
                      </a:r>
                      <a:r>
                        <a:rPr lang="en-US" sz="4000" dirty="0"/>
                        <a:t>, etc.</a:t>
                      </a:r>
                    </a:p>
                  </a:txBody>
                  <a:tcPr anchor="ctr"/>
                </a:tc>
                <a:extLst>
                  <a:ext uri="{0D108BD9-81ED-4DB2-BD59-A6C34878D82A}">
                    <a16:rowId xmlns:a16="http://schemas.microsoft.com/office/drawing/2014/main" val="3772131317"/>
                  </a:ext>
                </a:extLst>
              </a:tr>
              <a:tr h="1349022">
                <a:tc>
                  <a:txBody>
                    <a:bodyPr/>
                    <a:lstStyle/>
                    <a:p>
                      <a:pPr algn="ctr"/>
                      <a:r>
                        <a:rPr lang="en-US" sz="4000" dirty="0"/>
                        <a:t>2</a:t>
                      </a:r>
                    </a:p>
                  </a:txBody>
                  <a:tcPr anchor="ctr"/>
                </a:tc>
                <a:tc>
                  <a:txBody>
                    <a:bodyPr/>
                    <a:lstStyle/>
                    <a:p>
                      <a:r>
                        <a:rPr lang="en-US" sz="4000" dirty="0"/>
                        <a:t>Model Tracking and Registry</a:t>
                      </a:r>
                    </a:p>
                  </a:txBody>
                  <a:tcPr anchor="ctr"/>
                </a:tc>
                <a:tc>
                  <a:txBody>
                    <a:bodyPr/>
                    <a:lstStyle/>
                    <a:p>
                      <a:r>
                        <a:rPr lang="en-US" sz="4000" b="1" dirty="0" err="1">
                          <a:solidFill>
                            <a:srgbClr val="0070C0"/>
                          </a:solidFill>
                        </a:rPr>
                        <a:t>MLFlow</a:t>
                      </a:r>
                      <a:r>
                        <a:rPr lang="en-US" sz="4000" dirty="0"/>
                        <a:t>, Databricks, Clear ML, Comet, Kubeflow, </a:t>
                      </a:r>
                      <a:r>
                        <a:rPr lang="en-US" sz="4000" dirty="0" err="1"/>
                        <a:t>Valohai</a:t>
                      </a:r>
                      <a:r>
                        <a:rPr lang="en-US" sz="4000" dirty="0"/>
                        <a:t>, etc.</a:t>
                      </a:r>
                    </a:p>
                  </a:txBody>
                  <a:tcPr anchor="ctr"/>
                </a:tc>
                <a:extLst>
                  <a:ext uri="{0D108BD9-81ED-4DB2-BD59-A6C34878D82A}">
                    <a16:rowId xmlns:a16="http://schemas.microsoft.com/office/drawing/2014/main" val="3381712422"/>
                  </a:ext>
                </a:extLst>
              </a:tr>
              <a:tr h="1349022">
                <a:tc>
                  <a:txBody>
                    <a:bodyPr/>
                    <a:lstStyle/>
                    <a:p>
                      <a:pPr algn="ctr"/>
                      <a:r>
                        <a:rPr lang="en-US" sz="4000" dirty="0"/>
                        <a:t>3</a:t>
                      </a:r>
                    </a:p>
                  </a:txBody>
                  <a:tcPr anchor="ctr"/>
                </a:tc>
                <a:tc>
                  <a:txBody>
                    <a:bodyPr/>
                    <a:lstStyle/>
                    <a:p>
                      <a:r>
                        <a:rPr lang="en-US" sz="4000" dirty="0"/>
                        <a:t>Model Deployment Env.</a:t>
                      </a:r>
                    </a:p>
                  </a:txBody>
                  <a:tcPr anchor="ctr"/>
                </a:tc>
                <a:tc>
                  <a:txBody>
                    <a:bodyPr/>
                    <a:lstStyle/>
                    <a:p>
                      <a:r>
                        <a:rPr lang="en-US" sz="4000" b="1" dirty="0">
                          <a:solidFill>
                            <a:srgbClr val="0070C0"/>
                          </a:solidFill>
                        </a:rPr>
                        <a:t>Local Docker</a:t>
                      </a:r>
                      <a:r>
                        <a:rPr lang="en-US" sz="4000" dirty="0"/>
                        <a:t>, Google Cloud Run, AWS, etc.</a:t>
                      </a:r>
                    </a:p>
                  </a:txBody>
                  <a:tcPr anchor="ctr"/>
                </a:tc>
                <a:extLst>
                  <a:ext uri="{0D108BD9-81ED-4DB2-BD59-A6C34878D82A}">
                    <a16:rowId xmlns:a16="http://schemas.microsoft.com/office/drawing/2014/main" val="3943657396"/>
                  </a:ext>
                </a:extLst>
              </a:tr>
              <a:tr h="1349022">
                <a:tc>
                  <a:txBody>
                    <a:bodyPr/>
                    <a:lstStyle/>
                    <a:p>
                      <a:pPr algn="ctr"/>
                      <a:r>
                        <a:rPr lang="en-US" sz="4000" dirty="0"/>
                        <a:t>4</a:t>
                      </a:r>
                    </a:p>
                  </a:txBody>
                  <a:tcPr anchor="ctr"/>
                </a:tc>
                <a:tc>
                  <a:txBody>
                    <a:bodyPr/>
                    <a:lstStyle/>
                    <a:p>
                      <a:r>
                        <a:rPr lang="en-US" sz="4000" dirty="0"/>
                        <a:t>Model Deployment</a:t>
                      </a:r>
                    </a:p>
                  </a:txBody>
                  <a:tcPr anchor="ctr"/>
                </a:tc>
                <a:tc>
                  <a:txBody>
                    <a:bodyPr/>
                    <a:lstStyle/>
                    <a:p>
                      <a:r>
                        <a:rPr lang="en-US" sz="4000" b="1" dirty="0">
                          <a:solidFill>
                            <a:srgbClr val="0070C0"/>
                          </a:solidFill>
                        </a:rPr>
                        <a:t>FAST API</a:t>
                      </a:r>
                      <a:r>
                        <a:rPr lang="en-US" sz="4000" dirty="0"/>
                        <a:t>, Flask, </a:t>
                      </a:r>
                      <a:r>
                        <a:rPr lang="en-US" sz="4000" dirty="0" err="1"/>
                        <a:t>BentoML</a:t>
                      </a:r>
                      <a:r>
                        <a:rPr lang="en-US" sz="4000" dirty="0"/>
                        <a:t>, SageMaker, </a:t>
                      </a:r>
                      <a:r>
                        <a:rPr lang="en-US" sz="4000" dirty="0" err="1"/>
                        <a:t>Kserve</a:t>
                      </a:r>
                      <a:r>
                        <a:rPr lang="en-US" sz="4000" dirty="0"/>
                        <a:t>, etc.</a:t>
                      </a:r>
                    </a:p>
                  </a:txBody>
                  <a:tcPr anchor="ctr"/>
                </a:tc>
                <a:extLst>
                  <a:ext uri="{0D108BD9-81ED-4DB2-BD59-A6C34878D82A}">
                    <a16:rowId xmlns:a16="http://schemas.microsoft.com/office/drawing/2014/main" val="3395322344"/>
                  </a:ext>
                </a:extLst>
              </a:tr>
              <a:tr h="1349022">
                <a:tc>
                  <a:txBody>
                    <a:bodyPr/>
                    <a:lstStyle/>
                    <a:p>
                      <a:pPr algn="ctr"/>
                      <a:r>
                        <a:rPr lang="en-US" sz="4000" dirty="0"/>
                        <a:t>5</a:t>
                      </a:r>
                    </a:p>
                  </a:txBody>
                  <a:tcPr anchor="ctr"/>
                </a:tc>
                <a:tc>
                  <a:txBody>
                    <a:bodyPr/>
                    <a:lstStyle/>
                    <a:p>
                      <a:r>
                        <a:rPr lang="en-US" sz="4000" dirty="0"/>
                        <a:t>Model Monitoring</a:t>
                      </a:r>
                    </a:p>
                  </a:txBody>
                  <a:tcPr anchor="ctr"/>
                </a:tc>
                <a:tc>
                  <a:txBody>
                    <a:bodyPr/>
                    <a:lstStyle/>
                    <a:p>
                      <a:r>
                        <a:rPr lang="en-US" sz="4000" b="1" dirty="0">
                          <a:solidFill>
                            <a:srgbClr val="0070C0"/>
                          </a:solidFill>
                        </a:rPr>
                        <a:t>Evidently AI</a:t>
                      </a:r>
                      <a:r>
                        <a:rPr lang="en-US" sz="4000" dirty="0"/>
                        <a:t>, </a:t>
                      </a:r>
                      <a:r>
                        <a:rPr lang="en-US" sz="4000" dirty="0" err="1"/>
                        <a:t>NannyML</a:t>
                      </a:r>
                      <a:r>
                        <a:rPr lang="en-US" sz="4000" dirty="0"/>
                        <a:t>, </a:t>
                      </a:r>
                      <a:r>
                        <a:rPr lang="en-US" sz="4000" dirty="0" err="1"/>
                        <a:t>Arize</a:t>
                      </a:r>
                      <a:r>
                        <a:rPr lang="en-US" sz="4000" dirty="0"/>
                        <a:t> AI, Fiddler AI, </a:t>
                      </a:r>
                      <a:r>
                        <a:rPr lang="en-US" sz="4000" dirty="0" err="1"/>
                        <a:t>WhyLabs</a:t>
                      </a:r>
                      <a:r>
                        <a:rPr lang="en-US" sz="4000" dirty="0"/>
                        <a:t>, etc.</a:t>
                      </a:r>
                    </a:p>
                  </a:txBody>
                  <a:tcPr anchor="ctr"/>
                </a:tc>
                <a:extLst>
                  <a:ext uri="{0D108BD9-81ED-4DB2-BD59-A6C34878D82A}">
                    <a16:rowId xmlns:a16="http://schemas.microsoft.com/office/drawing/2014/main" val="1457093716"/>
                  </a:ext>
                </a:extLst>
              </a:tr>
              <a:tr h="1349022">
                <a:tc>
                  <a:txBody>
                    <a:bodyPr/>
                    <a:lstStyle/>
                    <a:p>
                      <a:pPr algn="ctr"/>
                      <a:r>
                        <a:rPr lang="en-US" sz="4000" dirty="0"/>
                        <a:t>6</a:t>
                      </a:r>
                    </a:p>
                  </a:txBody>
                  <a:tcPr anchor="ctr"/>
                </a:tc>
                <a:tc>
                  <a:txBody>
                    <a:bodyPr/>
                    <a:lstStyle/>
                    <a:p>
                      <a:r>
                        <a:rPr lang="en-US" sz="4000" dirty="0"/>
                        <a:t>Orchestration</a:t>
                      </a:r>
                    </a:p>
                  </a:txBody>
                  <a:tcPr anchor="ctr"/>
                </a:tc>
                <a:tc>
                  <a:txBody>
                    <a:bodyPr/>
                    <a:lstStyle/>
                    <a:p>
                      <a:r>
                        <a:rPr lang="en-US" sz="4000" b="1" dirty="0">
                          <a:solidFill>
                            <a:srgbClr val="0070C0"/>
                          </a:solidFill>
                        </a:rPr>
                        <a:t>Prefect</a:t>
                      </a:r>
                      <a:r>
                        <a:rPr lang="en-US" sz="4000" dirty="0"/>
                        <a:t>, </a:t>
                      </a:r>
                      <a:r>
                        <a:rPr lang="en-US" sz="4000" dirty="0" err="1"/>
                        <a:t>ZenML</a:t>
                      </a:r>
                      <a:r>
                        <a:rPr lang="en-US" sz="4000" dirty="0"/>
                        <a:t>, Airflow, Kubeflow, etc.</a:t>
                      </a:r>
                    </a:p>
                  </a:txBody>
                  <a:tcPr anchor="ctr"/>
                </a:tc>
                <a:extLst>
                  <a:ext uri="{0D108BD9-81ED-4DB2-BD59-A6C34878D82A}">
                    <a16:rowId xmlns:a16="http://schemas.microsoft.com/office/drawing/2014/main" val="1742143874"/>
                  </a:ext>
                </a:extLst>
              </a:tr>
            </a:tbl>
          </a:graphicData>
        </a:graphic>
      </p:graphicFrame>
    </p:spTree>
    <p:extLst>
      <p:ext uri="{BB962C8B-B14F-4D97-AF65-F5344CB8AC3E}">
        <p14:creationId xmlns:p14="http://schemas.microsoft.com/office/powerpoint/2010/main" val="30404570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81993D-06C5-CA4D-4280-0C8E53A0593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5845DE-9CF5-57F2-85AB-F03A3B8417A9}"/>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MLOps</a:t>
            </a:r>
            <a:r>
              <a:rPr lang="en-US" sz="4400" b="1" i="0" dirty="0">
                <a:solidFill>
                  <a:srgbClr val="1B2A4A"/>
                </a:solidFill>
                <a:latin typeface="Liter"/>
              </a:rPr>
              <a:t> Dataset</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11EF3D6F-7D58-2541-5BDA-96A122D0B468}"/>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800419B-FF61-1BC3-420C-30DAF9B5373C}"/>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A9409C87-E359-9001-6D93-E377804DC447}"/>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sp>
        <p:nvSpPr>
          <p:cNvPr id="7" name="TextBox 6">
            <a:extLst>
              <a:ext uri="{FF2B5EF4-FFF2-40B4-BE49-F238E27FC236}">
                <a16:creationId xmlns:a16="http://schemas.microsoft.com/office/drawing/2014/main" id="{D4CFEB09-BEE5-9F7C-A587-B9F2BEF24E74}"/>
              </a:ext>
            </a:extLst>
          </p:cNvPr>
          <p:cNvSpPr txBox="1"/>
          <p:nvPr/>
        </p:nvSpPr>
        <p:spPr>
          <a:xfrm>
            <a:off x="1014984" y="2560320"/>
            <a:ext cx="10058400" cy="566309"/>
          </a:xfrm>
          <a:prstGeom prst="rect">
            <a:avLst/>
          </a:prstGeom>
          <a:noFill/>
        </p:spPr>
        <p:txBody>
          <a:bodyPr wrap="square" lIns="0" tIns="0" rIns="0" bIns="0" anchor="t">
            <a:spAutoFit/>
          </a:bodyPr>
          <a:lstStyle/>
          <a:p>
            <a:pPr algn="l">
              <a:lnSpc>
                <a:spcPct val="120000"/>
              </a:lnSpc>
              <a:spcAft>
                <a:spcPts val="600"/>
              </a:spcAft>
            </a:pPr>
            <a:r>
              <a:rPr sz="3200" b="1" i="0" dirty="0">
                <a:solidFill>
                  <a:srgbClr val="1B2A4A"/>
                </a:solidFill>
                <a:latin typeface="Liter"/>
              </a:rPr>
              <a:t>Binary classification: approved (0/1)</a:t>
            </a:r>
          </a:p>
        </p:txBody>
      </p:sp>
      <p:graphicFrame>
        <p:nvGraphicFramePr>
          <p:cNvPr id="8" name="Table 7">
            <a:extLst>
              <a:ext uri="{FF2B5EF4-FFF2-40B4-BE49-F238E27FC236}">
                <a16:creationId xmlns:a16="http://schemas.microsoft.com/office/drawing/2014/main" id="{5AF94719-764D-23BF-8586-A25287423E9D}"/>
              </a:ext>
            </a:extLst>
          </p:cNvPr>
          <p:cNvGraphicFramePr>
            <a:graphicFrameLocks noGrp="1"/>
          </p:cNvGraphicFramePr>
          <p:nvPr>
            <p:extLst>
              <p:ext uri="{D42A27DB-BD31-4B8C-83A1-F6EECF244321}">
                <p14:modId xmlns:p14="http://schemas.microsoft.com/office/powerpoint/2010/main" val="1310956200"/>
              </p:ext>
            </p:extLst>
          </p:nvPr>
        </p:nvGraphicFramePr>
        <p:xfrm>
          <a:off x="1014983" y="3566159"/>
          <a:ext cx="16097360" cy="5708468"/>
        </p:xfrm>
        <a:graphic>
          <a:graphicData uri="http://schemas.openxmlformats.org/drawingml/2006/table">
            <a:tbl>
              <a:tblPr/>
              <a:tblGrid>
                <a:gridCol w="5467028">
                  <a:extLst>
                    <a:ext uri="{9D8B030D-6E8A-4147-A177-3AD203B41FA5}">
                      <a16:colId xmlns:a16="http://schemas.microsoft.com/office/drawing/2014/main" val="20000"/>
                    </a:ext>
                  </a:extLst>
                </a:gridCol>
                <a:gridCol w="2126066">
                  <a:extLst>
                    <a:ext uri="{9D8B030D-6E8A-4147-A177-3AD203B41FA5}">
                      <a16:colId xmlns:a16="http://schemas.microsoft.com/office/drawing/2014/main" val="20001"/>
                    </a:ext>
                  </a:extLst>
                </a:gridCol>
                <a:gridCol w="8504266">
                  <a:extLst>
                    <a:ext uri="{9D8B030D-6E8A-4147-A177-3AD203B41FA5}">
                      <a16:colId xmlns:a16="http://schemas.microsoft.com/office/drawing/2014/main" val="20002"/>
                    </a:ext>
                  </a:extLst>
                </a:gridCol>
              </a:tblGrid>
              <a:tr h="1427117">
                <a:tc>
                  <a:txBody>
                    <a:bodyPr/>
                    <a:lstStyle/>
                    <a:p>
                      <a:pPr algn="ctr"/>
                      <a:r>
                        <a:rPr sz="3600" b="1">
                          <a:solidFill>
                            <a:srgbClr val="FFFFFF"/>
                          </a:solidFill>
                          <a:latin typeface="+mn-lt"/>
                        </a:rPr>
                        <a:t>File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pPr algn="ctr"/>
                      <a:r>
                        <a:rPr sz="3600" b="1">
                          <a:solidFill>
                            <a:srgbClr val="FFFFFF"/>
                          </a:solidFill>
                          <a:latin typeface="+mn-lt"/>
                        </a:rPr>
                        <a:t>Rows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pPr algn="ctr"/>
                      <a:r>
                        <a:rPr sz="3600" b="1" dirty="0">
                          <a:solidFill>
                            <a:srgbClr val="FFFFFF"/>
                          </a:solidFill>
                          <a:latin typeface="+mn-lt"/>
                        </a:rPr>
                        <a:t>Role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427117">
                <a:tc>
                  <a:txBody>
                    <a:bodyPr/>
                    <a:lstStyle/>
                    <a:p>
                      <a:r>
                        <a:rPr sz="3600" b="1">
                          <a:solidFill>
                            <a:srgbClr val="1B2A4A"/>
                          </a:solidFill>
                          <a:latin typeface="Calibri" panose="020F0502020204030204" pitchFamily="34" charset="0"/>
                          <a:cs typeface="Calibri" panose="020F0502020204030204" pitchFamily="34" charset="0"/>
                        </a:rPr>
                        <a:t>data/train.csv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a:solidFill>
                            <a:srgbClr val="1E293B"/>
                          </a:solidFill>
                          <a:latin typeface="Calibri" panose="020F0502020204030204" pitchFamily="34" charset="0"/>
                          <a:cs typeface="Calibri" panose="020F0502020204030204" pitchFamily="34" charset="0"/>
                        </a:rPr>
                        <a:t>1,500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a:solidFill>
                            <a:srgbClr val="1E293B"/>
                          </a:solidFill>
                          <a:latin typeface="Calibri" panose="020F0502020204030204" pitchFamily="34" charset="0"/>
                          <a:cs typeface="Calibri" panose="020F0502020204030204" pitchFamily="34" charset="0"/>
                        </a:rPr>
                        <a:t>Training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427117">
                <a:tc>
                  <a:txBody>
                    <a:bodyPr/>
                    <a:lstStyle/>
                    <a:p>
                      <a:r>
                        <a:rPr sz="3600" b="1">
                          <a:solidFill>
                            <a:srgbClr val="1B2A4A"/>
                          </a:solidFill>
                          <a:latin typeface="Calibri" panose="020F0502020204030204" pitchFamily="34" charset="0"/>
                          <a:cs typeface="Calibri" panose="020F0502020204030204" pitchFamily="34" charset="0"/>
                        </a:rPr>
                        <a:t>data/test.csv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3600" b="0">
                          <a:solidFill>
                            <a:srgbClr val="1E293B"/>
                          </a:solidFill>
                          <a:latin typeface="Calibri" panose="020F0502020204030204" pitchFamily="34" charset="0"/>
                          <a:cs typeface="Calibri" panose="020F0502020204030204" pitchFamily="34" charset="0"/>
                        </a:rPr>
                        <a:t>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3600" b="0">
                          <a:solidFill>
                            <a:srgbClr val="1E293B"/>
                          </a:solidFill>
                          <a:latin typeface="Calibri" panose="020F0502020204030204" pitchFamily="34" charset="0"/>
                          <a:cs typeface="Calibri" panose="020F0502020204030204" pitchFamily="34" charset="0"/>
                        </a:rPr>
                        <a:t>Evaluation &amp; monitoring reference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427117">
                <a:tc>
                  <a:txBody>
                    <a:bodyPr/>
                    <a:lstStyle/>
                    <a:p>
                      <a:r>
                        <a:rPr sz="3600" b="1">
                          <a:solidFill>
                            <a:srgbClr val="1B2A4A"/>
                          </a:solidFill>
                          <a:latin typeface="Calibri" panose="020F0502020204030204" pitchFamily="34" charset="0"/>
                          <a:cs typeface="Calibri" panose="020F0502020204030204" pitchFamily="34" charset="0"/>
                        </a:rPr>
                        <a:t>data/production.csv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a:solidFill>
                            <a:srgbClr val="1E293B"/>
                          </a:solidFill>
                          <a:latin typeface="Calibri" panose="020F0502020204030204" pitchFamily="34" charset="0"/>
                          <a:cs typeface="Calibri" panose="020F0502020204030204" pitchFamily="34" charset="0"/>
                        </a:rPr>
                        <a:t>500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3600" b="0" dirty="0">
                          <a:solidFill>
                            <a:srgbClr val="1E293B"/>
                          </a:solidFill>
                          <a:latin typeface="Calibri" panose="020F0502020204030204" pitchFamily="34" charset="0"/>
                          <a:cs typeface="Calibri" panose="020F0502020204030204" pitchFamily="34" charset="0"/>
                        </a:rPr>
                        <a:t>'Production' data with deliberate drift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bl>
          </a:graphicData>
        </a:graphic>
      </p:graphicFrame>
      <p:sp>
        <p:nvSpPr>
          <p:cNvPr id="9" name="Rounded Rectangle 8">
            <a:extLst>
              <a:ext uri="{FF2B5EF4-FFF2-40B4-BE49-F238E27FC236}">
                <a16:creationId xmlns:a16="http://schemas.microsoft.com/office/drawing/2014/main" id="{1D01B307-801D-5211-B8C1-ECF3A7861E83}"/>
              </a:ext>
            </a:extLst>
          </p:cNvPr>
          <p:cNvSpPr/>
          <p:nvPr/>
        </p:nvSpPr>
        <p:spPr>
          <a:xfrm>
            <a:off x="1014983" y="9667101"/>
            <a:ext cx="16097360" cy="1737360"/>
          </a:xfrm>
          <a:prstGeom prst="roundRect">
            <a:avLst>
              <a:gd name="adj" fmla="val 6315"/>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a:extLst>
              <a:ext uri="{FF2B5EF4-FFF2-40B4-BE49-F238E27FC236}">
                <a16:creationId xmlns:a16="http://schemas.microsoft.com/office/drawing/2014/main" id="{F8595CF2-D15C-D732-A7A9-1C57E732AF8D}"/>
              </a:ext>
            </a:extLst>
          </p:cNvPr>
          <p:cNvSpPr/>
          <p:nvPr/>
        </p:nvSpPr>
        <p:spPr>
          <a:xfrm>
            <a:off x="1014983" y="9667101"/>
            <a:ext cx="128016" cy="17373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a:extLst>
              <a:ext uri="{FF2B5EF4-FFF2-40B4-BE49-F238E27FC236}">
                <a16:creationId xmlns:a16="http://schemas.microsoft.com/office/drawing/2014/main" id="{76F72DAC-1485-6956-5566-65D4A499C0D8}"/>
              </a:ext>
            </a:extLst>
          </p:cNvPr>
          <p:cNvSpPr txBox="1"/>
          <p:nvPr/>
        </p:nvSpPr>
        <p:spPr>
          <a:xfrm>
            <a:off x="1517903" y="9960944"/>
            <a:ext cx="15407639" cy="1149674"/>
          </a:xfrm>
          <a:prstGeom prst="rect">
            <a:avLst/>
          </a:prstGeom>
          <a:noFill/>
        </p:spPr>
        <p:txBody>
          <a:bodyPr wrap="square" lIns="0" tIns="0" rIns="0" bIns="0" anchor="ctr">
            <a:spAutoFit/>
          </a:bodyPr>
          <a:lstStyle/>
          <a:p>
            <a:pPr algn="l">
              <a:lnSpc>
                <a:spcPct val="120000"/>
              </a:lnSpc>
              <a:spcAft>
                <a:spcPts val="600"/>
              </a:spcAft>
            </a:pPr>
            <a:r>
              <a:rPr sz="3200" b="0" i="1" dirty="0">
                <a:solidFill>
                  <a:srgbClr val="1B2A4A"/>
                </a:solidFill>
                <a:latin typeface="Quattrocento Sans"/>
              </a:rPr>
              <a:t>8 numeric features: age, income, </a:t>
            </a:r>
            <a:r>
              <a:rPr sz="3200" b="0" i="1" dirty="0" err="1">
                <a:solidFill>
                  <a:srgbClr val="1B2A4A"/>
                </a:solidFill>
                <a:latin typeface="Quattrocento Sans"/>
              </a:rPr>
              <a:t>bmi</a:t>
            </a:r>
            <a:r>
              <a:rPr sz="3200" b="0" i="1" dirty="0">
                <a:solidFill>
                  <a:srgbClr val="1B2A4A"/>
                </a:solidFill>
                <a:latin typeface="Quattrocento Sans"/>
              </a:rPr>
              <a:t>, </a:t>
            </a:r>
            <a:r>
              <a:rPr sz="3200" b="0" i="1" dirty="0" err="1">
                <a:solidFill>
                  <a:srgbClr val="1B2A4A"/>
                </a:solidFill>
                <a:latin typeface="Quattrocento Sans"/>
              </a:rPr>
              <a:t>tenure_months</a:t>
            </a:r>
            <a:r>
              <a:rPr sz="3200" b="0" i="1" dirty="0">
                <a:solidFill>
                  <a:srgbClr val="1B2A4A"/>
                </a:solidFill>
                <a:latin typeface="Quattrocento Sans"/>
              </a:rPr>
              <a:t>, </a:t>
            </a:r>
            <a:r>
              <a:rPr sz="3200" b="0" i="1" dirty="0" err="1">
                <a:solidFill>
                  <a:srgbClr val="1B2A4A"/>
                </a:solidFill>
                <a:latin typeface="Quattrocento Sans"/>
              </a:rPr>
              <a:t>num_claims</a:t>
            </a:r>
            <a:r>
              <a:rPr sz="3200" b="0" i="1" dirty="0">
                <a:solidFill>
                  <a:srgbClr val="1B2A4A"/>
                </a:solidFill>
                <a:latin typeface="Quattrocento Sans"/>
              </a:rPr>
              <a:t>, </a:t>
            </a:r>
            <a:r>
              <a:rPr sz="3200" b="0" i="1" dirty="0" err="1">
                <a:solidFill>
                  <a:srgbClr val="1B2A4A"/>
                </a:solidFill>
                <a:latin typeface="Quattrocento Sans"/>
              </a:rPr>
              <a:t>credit_score</a:t>
            </a:r>
            <a:r>
              <a:rPr sz="3200" b="0" i="1" dirty="0">
                <a:solidFill>
                  <a:srgbClr val="1B2A4A"/>
                </a:solidFill>
                <a:latin typeface="Quattrocento Sans"/>
              </a:rPr>
              <a:t>, </a:t>
            </a:r>
            <a:r>
              <a:rPr sz="3200" b="0" i="1" dirty="0" err="1">
                <a:solidFill>
                  <a:srgbClr val="1B2A4A"/>
                </a:solidFill>
                <a:latin typeface="Quattrocento Sans"/>
              </a:rPr>
              <a:t>policy_value</a:t>
            </a:r>
            <a:r>
              <a:rPr sz="3200" b="0" i="1" dirty="0">
                <a:solidFill>
                  <a:srgbClr val="1B2A4A"/>
                </a:solidFill>
                <a:latin typeface="Quattrocento Sans"/>
              </a:rPr>
              <a:t>, </a:t>
            </a:r>
            <a:r>
              <a:rPr sz="3200" b="0" i="1" dirty="0" err="1">
                <a:solidFill>
                  <a:srgbClr val="1B2A4A"/>
                </a:solidFill>
                <a:latin typeface="Quattrocento Sans"/>
              </a:rPr>
              <a:t>risk_score</a:t>
            </a:r>
            <a:r>
              <a:rPr sz="3200" b="0" i="1" dirty="0">
                <a:solidFill>
                  <a:srgbClr val="1B2A4A"/>
                </a:solidFill>
                <a:latin typeface="Quattrocento Sans"/>
              </a:rPr>
              <a:t>.</a:t>
            </a:r>
          </a:p>
        </p:txBody>
      </p:sp>
    </p:spTree>
    <p:extLst>
      <p:ext uri="{BB962C8B-B14F-4D97-AF65-F5344CB8AC3E}">
        <p14:creationId xmlns:p14="http://schemas.microsoft.com/office/powerpoint/2010/main" val="15449019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D46A73-1103-C4AD-A8A0-2A63E33FD23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D99EB4E-7F6B-DDEF-EB60-C2A8F400CCC1}"/>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Source Code Structures</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8E9CE3EC-A6E2-6A51-81AD-33813B762F32}"/>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A97E862F-F7D4-CD2C-3175-033C353266AE}"/>
              </a:ext>
            </a:extLst>
          </p:cNvPr>
          <p:cNvSpPr txBox="1"/>
          <p:nvPr/>
        </p:nvSpPr>
        <p:spPr>
          <a:xfrm>
            <a:off x="2011680" y="1550063"/>
            <a:ext cx="10972800" cy="283154"/>
          </a:xfrm>
          <a:prstGeom prst="rect">
            <a:avLst/>
          </a:prstGeom>
          <a:noFill/>
        </p:spPr>
        <p:txBody>
          <a:bodyPr wrap="square" lIns="0" tIns="0" rIns="0" bIns="0" anchor="ctr">
            <a:spAutoFit/>
          </a:bodyPr>
          <a:lstStyle/>
          <a:p>
            <a:pPr algn="l">
              <a:lnSpc>
                <a:spcPct val="120000"/>
              </a:lnSpc>
              <a:spcAft>
                <a:spcPts val="600"/>
              </a:spcAft>
            </a:pPr>
            <a:r>
              <a:rPr lang="en-US" sz="1600" b="1" spc="300" dirty="0">
                <a:solidFill>
                  <a:srgbClr val="D4A03A"/>
                </a:solidFill>
                <a:latin typeface="Liter"/>
              </a:rPr>
              <a:t>Topics</a:t>
            </a:r>
            <a:endParaRPr sz="1600" b="1" i="0" spc="300" dirty="0">
              <a:solidFill>
                <a:srgbClr val="D4A03A"/>
              </a:solidFill>
              <a:latin typeface="Liter"/>
            </a:endParaRPr>
          </a:p>
        </p:txBody>
      </p:sp>
      <p:sp>
        <p:nvSpPr>
          <p:cNvPr id="5" name="TextBox 4">
            <a:extLst>
              <a:ext uri="{FF2B5EF4-FFF2-40B4-BE49-F238E27FC236}">
                <a16:creationId xmlns:a16="http://schemas.microsoft.com/office/drawing/2014/main" id="{C6E308BD-F817-1936-267D-DBFDB6142B8E}"/>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pic>
        <p:nvPicPr>
          <p:cNvPr id="9" name="Picture 8" descr="A screenshot of a computer program&#10;&#10;AI-generated content may be incorrect.">
            <a:extLst>
              <a:ext uri="{FF2B5EF4-FFF2-40B4-BE49-F238E27FC236}">
                <a16:creationId xmlns:a16="http://schemas.microsoft.com/office/drawing/2014/main" id="{C74CBFB5-24BF-8BDA-5B13-E2A6C5907824}"/>
              </a:ext>
            </a:extLst>
          </p:cNvPr>
          <p:cNvPicPr>
            <a:picLocks noChangeAspect="1"/>
          </p:cNvPicPr>
          <p:nvPr/>
        </p:nvPicPr>
        <p:blipFill>
          <a:blip r:embed="rId3"/>
          <a:stretch>
            <a:fillRect/>
          </a:stretch>
        </p:blipFill>
        <p:spPr>
          <a:xfrm>
            <a:off x="778329" y="2051956"/>
            <a:ext cx="19573602" cy="11430015"/>
          </a:xfrm>
          <a:prstGeom prst="rect">
            <a:avLst/>
          </a:prstGeom>
        </p:spPr>
      </p:pic>
    </p:spTree>
    <p:extLst>
      <p:ext uri="{BB962C8B-B14F-4D97-AF65-F5344CB8AC3E}">
        <p14:creationId xmlns:p14="http://schemas.microsoft.com/office/powerpoint/2010/main" val="40656361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Prepared Repo &amp; Environment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ENVIRONMENT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a:t>
            </a:r>
          </a:p>
        </p:txBody>
      </p:sp>
      <p:sp>
        <p:nvSpPr>
          <p:cNvPr id="6" name="Rounded Rectangle 5"/>
          <p:cNvSpPr/>
          <p:nvPr/>
        </p:nvSpPr>
        <p:spPr>
          <a:xfrm>
            <a:off x="1014984" y="2514600"/>
            <a:ext cx="10607040" cy="8412480"/>
          </a:xfrm>
          <a:prstGeom prst="roundRect">
            <a:avLst>
              <a:gd name="adj" fmla="val 380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692640" cy="731520"/>
          </a:xfrm>
          <a:prstGeom prst="rect">
            <a:avLst/>
          </a:prstGeom>
          <a:noFill/>
        </p:spPr>
        <p:txBody>
          <a:bodyPr wrap="square" lIns="0" tIns="0" rIns="0" bIns="0" anchor="t">
            <a:spAutoFit/>
          </a:bodyPr>
          <a:lstStyle/>
          <a:p>
            <a:pPr algn="l">
              <a:lnSpc>
                <a:spcPct val="120000"/>
              </a:lnSpc>
              <a:spcAft>
                <a:spcPts val="600"/>
              </a:spcAft>
            </a:pPr>
            <a:r>
              <a:rPr sz="3200" b="1" i="0">
                <a:solidFill>
                  <a:srgbClr val="1B2A4A"/>
                </a:solidFill>
                <a:latin typeface="Liter"/>
              </a:rPr>
              <a:t>Already on every laptop / VM</a:t>
            </a:r>
          </a:p>
        </p:txBody>
      </p:sp>
      <p:sp>
        <p:nvSpPr>
          <p:cNvPr id="8" name="TextBox 7"/>
          <p:cNvSpPr txBox="1"/>
          <p:nvPr/>
        </p:nvSpPr>
        <p:spPr>
          <a:xfrm>
            <a:off x="1563624" y="3977639"/>
            <a:ext cx="9692640" cy="4967835"/>
          </a:xfrm>
          <a:prstGeom prst="rect">
            <a:avLst/>
          </a:prstGeom>
          <a:noFill/>
        </p:spPr>
        <p:txBody>
          <a:bodyPr wrap="square" lIns="0" tIns="0" rIns="0" bIns="0" anchor="t">
            <a:spAutoFit/>
          </a:bodyPr>
          <a:lstStyle/>
          <a:p>
            <a:pPr marL="408939" indent="-408939" algn="l">
              <a:lnSpc>
                <a:spcPct val="125000"/>
              </a:lnSpc>
              <a:spcAft>
                <a:spcPts val="1600"/>
              </a:spcAft>
              <a:buClr>
                <a:srgbClr val="D4A03A"/>
              </a:buClr>
              <a:buFont typeface="Arial"/>
              <a:buChar char="•"/>
            </a:pPr>
            <a:r>
              <a:rPr lang="en-US" sz="2800" b="0" i="0" dirty="0" err="1">
                <a:solidFill>
                  <a:srgbClr val="1E293B"/>
                </a:solidFill>
                <a:latin typeface="Quattrocento Sans"/>
              </a:rPr>
              <a:t>VSCode</a:t>
            </a:r>
            <a:r>
              <a:rPr lang="en-US" sz="2800" b="0" i="0" dirty="0">
                <a:solidFill>
                  <a:srgbClr val="1E293B"/>
                </a:solidFill>
                <a:latin typeface="Quattrocento Sans"/>
              </a:rPr>
              <a:t> installed or any other editor</a:t>
            </a:r>
          </a:p>
          <a:p>
            <a:pPr marL="408939" indent="-408939" algn="l">
              <a:lnSpc>
                <a:spcPct val="125000"/>
              </a:lnSpc>
              <a:spcAft>
                <a:spcPts val="1600"/>
              </a:spcAft>
              <a:buClr>
                <a:srgbClr val="D4A03A"/>
              </a:buClr>
              <a:buFont typeface="Arial"/>
              <a:buChar char="•"/>
            </a:pPr>
            <a:r>
              <a:rPr sz="2800" b="0" i="0" dirty="0" err="1">
                <a:solidFill>
                  <a:srgbClr val="1E293B"/>
                </a:solidFill>
                <a:latin typeface="Quattrocento Sans"/>
              </a:rPr>
              <a:t>mlops</a:t>
            </a:r>
            <a:r>
              <a:rPr sz="2800" b="0" i="0" dirty="0">
                <a:solidFill>
                  <a:srgbClr val="1E293B"/>
                </a:solidFill>
                <a:latin typeface="Quattrocento Sans"/>
              </a:rPr>
              <a:t>-workshop repo cloned from GitHub</a:t>
            </a:r>
          </a:p>
          <a:p>
            <a:pPr marL="408939" indent="-408939" algn="l">
              <a:lnSpc>
                <a:spcPct val="125000"/>
              </a:lnSpc>
              <a:spcAft>
                <a:spcPts val="1600"/>
              </a:spcAft>
              <a:buClr>
                <a:srgbClr val="D4A03A"/>
              </a:buClr>
              <a:buFont typeface="Arial"/>
              <a:buChar char="•"/>
            </a:pPr>
            <a:r>
              <a:rPr sz="2800" b="0" i="0" dirty="0">
                <a:solidFill>
                  <a:srgbClr val="1E293B"/>
                </a:solidFill>
                <a:latin typeface="Quattrocento Sans"/>
              </a:rPr>
              <a:t>Python </a:t>
            </a:r>
            <a:r>
              <a:rPr lang="en-US" sz="2800" b="0" i="0" dirty="0">
                <a:solidFill>
                  <a:srgbClr val="1E293B"/>
                </a:solidFill>
                <a:latin typeface="Quattrocento Sans"/>
              </a:rPr>
              <a:t>&gt;</a:t>
            </a:r>
            <a:r>
              <a:rPr sz="2800" b="0" i="0" dirty="0">
                <a:solidFill>
                  <a:srgbClr val="1E293B"/>
                </a:solidFill>
                <a:latin typeface="Quattrocento Sans"/>
              </a:rPr>
              <a:t>3.1</a:t>
            </a:r>
            <a:r>
              <a:rPr lang="en-US" sz="2800" b="0" i="0" dirty="0">
                <a:solidFill>
                  <a:srgbClr val="1E293B"/>
                </a:solidFill>
                <a:latin typeface="Quattrocento Sans"/>
              </a:rPr>
              <a:t>0</a:t>
            </a:r>
            <a:r>
              <a:rPr sz="2800" b="0" i="0" dirty="0">
                <a:solidFill>
                  <a:srgbClr val="1E293B"/>
                </a:solidFill>
                <a:latin typeface="Quattrocento Sans"/>
              </a:rPr>
              <a:t> with an active virtual environment</a:t>
            </a:r>
          </a:p>
          <a:p>
            <a:pPr marL="408939" indent="-408939" algn="l">
              <a:lnSpc>
                <a:spcPct val="125000"/>
              </a:lnSpc>
              <a:spcAft>
                <a:spcPts val="1600"/>
              </a:spcAft>
              <a:buClr>
                <a:srgbClr val="D4A03A"/>
              </a:buClr>
              <a:buFont typeface="Arial"/>
              <a:buChar char="•"/>
            </a:pPr>
            <a:r>
              <a:rPr sz="2800" b="0" i="0" dirty="0">
                <a:solidFill>
                  <a:srgbClr val="1E293B"/>
                </a:solidFill>
                <a:latin typeface="Quattrocento Sans"/>
              </a:rPr>
              <a:t>Dependencies from </a:t>
            </a:r>
            <a:r>
              <a:rPr sz="2800" b="0" i="0" dirty="0" err="1">
                <a:solidFill>
                  <a:srgbClr val="1E293B"/>
                </a:solidFill>
                <a:latin typeface="Quattrocento Sans"/>
              </a:rPr>
              <a:t>requirements.txt</a:t>
            </a:r>
            <a:r>
              <a:rPr sz="2800" b="0" i="0" dirty="0">
                <a:solidFill>
                  <a:srgbClr val="1E293B"/>
                </a:solidFill>
                <a:latin typeface="Quattrocento Sans"/>
              </a:rPr>
              <a:t> (pinned)</a:t>
            </a:r>
            <a:endParaRPr lang="en-ID" sz="2800" b="0" i="0" dirty="0">
              <a:solidFill>
                <a:srgbClr val="1E293B"/>
              </a:solidFill>
              <a:latin typeface="Quattrocento Sans"/>
            </a:endParaRPr>
          </a:p>
          <a:p>
            <a:pPr marL="408939" indent="-408939" algn="l">
              <a:lnSpc>
                <a:spcPct val="125000"/>
              </a:lnSpc>
              <a:spcAft>
                <a:spcPts val="1600"/>
              </a:spcAft>
              <a:buClr>
                <a:srgbClr val="D4A03A"/>
              </a:buClr>
              <a:buFont typeface="Arial"/>
              <a:buChar char="•"/>
            </a:pPr>
            <a:r>
              <a:rPr lang="en-ID" sz="2800" b="0" i="0" dirty="0">
                <a:solidFill>
                  <a:srgbClr val="1E293B"/>
                </a:solidFill>
                <a:latin typeface="Quattrocento Sans"/>
              </a:rPr>
              <a:t>Prefect installed from orchestration/</a:t>
            </a:r>
            <a:r>
              <a:rPr lang="en-ID" sz="2800" b="0" i="0" dirty="0" err="1">
                <a:solidFill>
                  <a:srgbClr val="1E293B"/>
                </a:solidFill>
                <a:latin typeface="Quattrocento Sans"/>
              </a:rPr>
              <a:t>requirements.txt</a:t>
            </a:r>
            <a:endParaRPr lang="en-ID" sz="2800" b="0" i="0" dirty="0">
              <a:solidFill>
                <a:srgbClr val="1E293B"/>
              </a:solidFill>
              <a:latin typeface="Quattrocento Sans"/>
            </a:endParaRPr>
          </a:p>
          <a:p>
            <a:pPr marL="408939" indent="-408939" algn="l">
              <a:lnSpc>
                <a:spcPct val="125000"/>
              </a:lnSpc>
              <a:spcAft>
                <a:spcPts val="1600"/>
              </a:spcAft>
              <a:buClr>
                <a:srgbClr val="D4A03A"/>
              </a:buClr>
              <a:buFont typeface="Arial"/>
              <a:buChar char="•"/>
            </a:pPr>
            <a:r>
              <a:rPr lang="en-US" sz="2800" dirty="0">
                <a:solidFill>
                  <a:srgbClr val="1E293B"/>
                </a:solidFill>
                <a:latin typeface="Quattrocento Sans"/>
              </a:rPr>
              <a:t>T</a:t>
            </a:r>
            <a:r>
              <a:rPr sz="2800" b="0" i="0" dirty="0">
                <a:solidFill>
                  <a:srgbClr val="1E293B"/>
                </a:solidFill>
                <a:latin typeface="Quattrocento Sans"/>
              </a:rPr>
              <a:t>rain / test / production data already in data/</a:t>
            </a:r>
          </a:p>
          <a:p>
            <a:pPr marL="408939" indent="-408939" algn="l">
              <a:lnSpc>
                <a:spcPct val="125000"/>
              </a:lnSpc>
              <a:spcAft>
                <a:spcPts val="1600"/>
              </a:spcAft>
              <a:buClr>
                <a:srgbClr val="D4A03A"/>
              </a:buClr>
              <a:buFont typeface="Arial"/>
              <a:buChar char="•"/>
            </a:pPr>
            <a:r>
              <a:rPr sz="2800" b="0" i="0" dirty="0">
                <a:solidFill>
                  <a:srgbClr val="1E293B"/>
                </a:solidFill>
                <a:latin typeface="Quattrocento Sans"/>
              </a:rPr>
              <a:t>Docker available (deployment session)</a:t>
            </a:r>
          </a:p>
        </p:txBody>
      </p:sp>
      <p:sp>
        <p:nvSpPr>
          <p:cNvPr id="9" name="Rounded Rectangle 8"/>
          <p:cNvSpPr/>
          <p:nvPr/>
        </p:nvSpPr>
        <p:spPr>
          <a:xfrm>
            <a:off x="12070080" y="2514600"/>
            <a:ext cx="11292840" cy="8412480"/>
          </a:xfrm>
          <a:prstGeom prst="roundRect">
            <a:avLst>
              <a:gd name="adj" fmla="val 195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2399263"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2783311"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3167359"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3716000" y="2697480"/>
            <a:ext cx="9281159"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a:t>
            </a:r>
          </a:p>
        </p:txBody>
      </p:sp>
      <p:sp>
        <p:nvSpPr>
          <p:cNvPr id="14" name="TextBox 13"/>
          <p:cNvSpPr txBox="1"/>
          <p:nvPr/>
        </p:nvSpPr>
        <p:spPr>
          <a:xfrm>
            <a:off x="12481559" y="3227832"/>
            <a:ext cx="10561319" cy="7543800"/>
          </a:xfrm>
          <a:prstGeom prst="rect">
            <a:avLst/>
          </a:prstGeom>
          <a:noFill/>
        </p:spPr>
        <p:txBody>
          <a:bodyPr wrap="square" lIns="0" tIns="0" rIns="0" bIns="0" anchor="t">
            <a:spAutoFit/>
          </a:bodyPr>
          <a:lstStyle/>
          <a:p>
            <a:pPr algn="l">
              <a:lnSpc>
                <a:spcPct val="100000"/>
              </a:lnSpc>
              <a:spcAft>
                <a:spcPts val="0"/>
              </a:spcAft>
            </a:pPr>
            <a:r>
              <a:rPr sz="2600" b="0" i="0">
                <a:solidFill>
                  <a:srgbClr val="8B9BB4"/>
                </a:solidFill>
                <a:latin typeface="Consolas"/>
              </a:rPr>
              <a:t># quick check (1 minute)</a:t>
            </a:r>
          </a:p>
          <a:p>
            <a:pPr algn="l">
              <a:lnSpc>
                <a:spcPct val="100000"/>
              </a:lnSpc>
              <a:spcAft>
                <a:spcPts val="0"/>
              </a:spcAft>
            </a:pPr>
            <a:r>
              <a:rPr sz="2600" b="0" i="0">
                <a:solidFill>
                  <a:srgbClr val="F5C66B"/>
                </a:solidFill>
                <a:latin typeface="Consolas"/>
              </a:rPr>
              <a:t>$ source venv/bin/activate</a:t>
            </a:r>
          </a:p>
          <a:p>
            <a:pPr algn="l">
              <a:lnSpc>
                <a:spcPct val="100000"/>
              </a:lnSpc>
              <a:spcAft>
                <a:spcPts val="0"/>
              </a:spcAft>
            </a:pPr>
            <a:r>
              <a:rPr sz="2600" b="0" i="0">
                <a:solidFill>
                  <a:srgbClr val="F5C66B"/>
                </a:solidFill>
                <a:latin typeface="Consolas"/>
              </a:rPr>
              <a:t>$ python --version</a:t>
            </a:r>
          </a:p>
          <a:p>
            <a:pPr algn="l">
              <a:lnSpc>
                <a:spcPct val="100000"/>
              </a:lnSpc>
              <a:spcAft>
                <a:spcPts val="0"/>
              </a:spcAft>
            </a:pPr>
            <a:r>
              <a:rPr sz="2600" b="0" i="0">
                <a:solidFill>
                  <a:srgbClr val="E6EDF3"/>
                </a:solidFill>
                <a:latin typeface="Consolas"/>
              </a:rPr>
              <a:t>Python 3.11.x</a:t>
            </a:r>
          </a:p>
          <a:p>
            <a:pPr algn="l">
              <a:lnSpc>
                <a:spcPct val="100000"/>
              </a:lnSpc>
              <a:spcAft>
                <a:spcPts val="0"/>
              </a:spcAft>
            </a:pPr>
            <a:r>
              <a:rPr sz="2600" b="0" i="0">
                <a:solidFill>
                  <a:srgbClr val="F5C66B"/>
                </a:solidFill>
                <a:latin typeface="Consolas"/>
              </a:rPr>
              <a:t>$ python -c "import numpy as n; print(n.__version__)"</a:t>
            </a:r>
          </a:p>
          <a:p>
            <a:pPr algn="l">
              <a:lnSpc>
                <a:spcPct val="100000"/>
              </a:lnSpc>
              <a:spcAft>
                <a:spcPts val="0"/>
              </a:spcAft>
            </a:pPr>
            <a:r>
              <a:rPr sz="2600" b="0" i="0">
                <a:solidFill>
                  <a:srgbClr val="E6EDF3"/>
                </a:solidFill>
                <a:latin typeface="Consolas"/>
              </a:rPr>
              <a:t>1.26.4    # must be &lt; 2</a:t>
            </a:r>
          </a:p>
          <a:p>
            <a:pPr algn="l">
              <a:lnSpc>
                <a:spcPct val="100000"/>
              </a:lnSpc>
              <a:spcAft>
                <a:spcPts val="0"/>
              </a:spcAft>
            </a:pPr>
            <a:r>
              <a:rPr sz="2600" b="0" i="0">
                <a:solidFill>
                  <a:srgbClr val="F5C66B"/>
                </a:solidFill>
                <a:latin typeface="Consolas"/>
              </a:rPr>
              <a:t>$ make test</a:t>
            </a:r>
          </a:p>
          <a:p>
            <a:pPr algn="l">
              <a:lnSpc>
                <a:spcPct val="100000"/>
              </a:lnSpc>
              <a:spcAft>
                <a:spcPts val="0"/>
              </a:spcAft>
            </a:pPr>
            <a:r>
              <a:rPr sz="2600" b="0" i="0">
                <a:solidFill>
                  <a:srgbClr val="E6EDF3"/>
                </a:solidFill>
                <a:latin typeface="Consolas"/>
              </a:rPr>
              <a:t>2 passed</a:t>
            </a:r>
          </a:p>
          <a:p>
            <a:pPr algn="l">
              <a:lnSpc>
                <a:spcPct val="100000"/>
              </a:lnSpc>
              <a:spcAft>
                <a:spcPts val="0"/>
              </a:spcAft>
            </a:pPr>
            <a:r>
              <a:rPr sz="2600" b="0" i="0">
                <a:solidFill>
                  <a:srgbClr val="F5C66B"/>
                </a:solidFill>
                <a:latin typeface="Consolas"/>
              </a:rPr>
              <a:t>$ make preflight   # PASS/WARN/FAIL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01</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CI/CD/CT Design for Machine Learning</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08:30–10:30</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CI, CD and CT for ML</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MLflow tracking &amp; Model Registry</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Aliases instead of stages</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Quality gate &amp; GitHub Actions</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When to retrain</a:t>
            </a:r>
          </a:p>
        </p:txBody>
      </p:sp>
      <p:sp>
        <p:nvSpPr>
          <p:cNvPr id="40" name="Rectangle 39"/>
          <p:cNvSpPr/>
          <p:nvPr/>
        </p:nvSpPr>
        <p:spPr>
          <a:xfrm>
            <a:off x="13898880" y="987552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13898880" y="100126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06</a:t>
            </a:r>
          </a:p>
        </p:txBody>
      </p:sp>
      <p:sp>
        <p:nvSpPr>
          <p:cNvPr id="42" name="TextBox 41"/>
          <p:cNvSpPr txBox="1"/>
          <p:nvPr/>
        </p:nvSpPr>
        <p:spPr>
          <a:xfrm>
            <a:off x="14904720" y="100126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Orchestrating the loop with Prefect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CI, CD and CT in Machine Learning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7</a:t>
            </a:r>
          </a:p>
        </p:txBody>
      </p:sp>
      <p:sp>
        <p:nvSpPr>
          <p:cNvPr id="6" name="Rounded Rectangle 5"/>
          <p:cNvSpPr/>
          <p:nvPr/>
        </p:nvSpPr>
        <p:spPr>
          <a:xfrm>
            <a:off x="1014984" y="2514600"/>
            <a:ext cx="7174992" cy="81381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CI</a:t>
            </a:r>
          </a:p>
        </p:txBody>
      </p:sp>
      <p:sp>
        <p:nvSpPr>
          <p:cNvPr id="9" name="TextBox 8"/>
          <p:cNvSpPr txBox="1"/>
          <p:nvPr/>
        </p:nvSpPr>
        <p:spPr>
          <a:xfrm>
            <a:off x="1563624"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Continuous Integration</a:t>
            </a:r>
          </a:p>
        </p:txBody>
      </p:sp>
      <p:sp>
        <p:nvSpPr>
          <p:cNvPr id="10" name="TextBox 9"/>
          <p:cNvSpPr txBox="1"/>
          <p:nvPr/>
        </p:nvSpPr>
        <p:spPr>
          <a:xfrm>
            <a:off x="1563624" y="5212079"/>
            <a:ext cx="6077712" cy="5074920"/>
          </a:xfrm>
          <a:prstGeom prst="rect">
            <a:avLst/>
          </a:prstGeom>
          <a:noFill/>
        </p:spPr>
        <p:txBody>
          <a:bodyPr wrap="square" lIns="0" tIns="0" rIns="0" bIns="0" anchor="t">
            <a:spAutoFit/>
          </a:bodyPr>
          <a:lstStyle/>
          <a:p>
            <a:pPr marL="452754" indent="-452754" algn="l">
              <a:lnSpc>
                <a:spcPct val="120000"/>
              </a:lnSpc>
              <a:spcAft>
                <a:spcPts val="1200"/>
              </a:spcAft>
              <a:buClr>
                <a:srgbClr val="1B2A4A"/>
              </a:buClr>
              <a:buFont typeface="Arial"/>
              <a:buChar char="•"/>
            </a:pPr>
            <a:r>
              <a:rPr sz="3100" b="0" i="0">
                <a:solidFill>
                  <a:srgbClr val="1E293B"/>
                </a:solidFill>
                <a:latin typeface="Quattrocento Sans"/>
              </a:rPr>
              <a:t>Every code change is tested automatically</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In ML: also test the data and model quality</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Example: pytest + quality gate</a:t>
            </a:r>
          </a:p>
        </p:txBody>
      </p:sp>
      <p:sp>
        <p:nvSpPr>
          <p:cNvPr id="11" name="Rounded Rectangle 10"/>
          <p:cNvSpPr/>
          <p:nvPr/>
        </p:nvSpPr>
        <p:spPr>
          <a:xfrm>
            <a:off x="8601456" y="2514600"/>
            <a:ext cx="7174992" cy="81381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150096"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50096"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CD</a:t>
            </a:r>
          </a:p>
        </p:txBody>
      </p:sp>
      <p:sp>
        <p:nvSpPr>
          <p:cNvPr id="14" name="TextBox 13"/>
          <p:cNvSpPr txBox="1"/>
          <p:nvPr/>
        </p:nvSpPr>
        <p:spPr>
          <a:xfrm>
            <a:off x="9150096"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Continuous Delivery / Deployment</a:t>
            </a:r>
          </a:p>
        </p:txBody>
      </p:sp>
      <p:sp>
        <p:nvSpPr>
          <p:cNvPr id="15" name="TextBox 14"/>
          <p:cNvSpPr txBox="1"/>
          <p:nvPr/>
        </p:nvSpPr>
        <p:spPr>
          <a:xfrm>
            <a:off x="9150096" y="5212079"/>
            <a:ext cx="6077712" cy="5074920"/>
          </a:xfrm>
          <a:prstGeom prst="rect">
            <a:avLst/>
          </a:prstGeom>
          <a:noFill/>
        </p:spPr>
        <p:txBody>
          <a:bodyPr wrap="square" lIns="0" tIns="0" rIns="0" bIns="0" anchor="t">
            <a:spAutoFit/>
          </a:bodyPr>
          <a:lstStyle/>
          <a:p>
            <a:pPr marL="452754" indent="-452754" algn="l">
              <a:lnSpc>
                <a:spcPct val="120000"/>
              </a:lnSpc>
              <a:spcAft>
                <a:spcPts val="1200"/>
              </a:spcAft>
              <a:buClr>
                <a:srgbClr val="D4A03A"/>
              </a:buClr>
              <a:buFont typeface="Arial"/>
              <a:buChar char="•"/>
            </a:pPr>
            <a:r>
              <a:rPr sz="3100" b="0" i="0">
                <a:solidFill>
                  <a:srgbClr val="1E293B"/>
                </a:solidFill>
                <a:latin typeface="Quattrocento Sans"/>
              </a:rPr>
              <a:t>Artefacts that pass tests are released automatically</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In ML: the artefact is an image + a specific model version</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Example: build image → Cloud Run</a:t>
            </a:r>
          </a:p>
        </p:txBody>
      </p:sp>
      <p:sp>
        <p:nvSpPr>
          <p:cNvPr id="16" name="Rounded Rectangle 15"/>
          <p:cNvSpPr/>
          <p:nvPr/>
        </p:nvSpPr>
        <p:spPr>
          <a:xfrm>
            <a:off x="16187928" y="2514600"/>
            <a:ext cx="7174992" cy="81381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6736568" y="3017520"/>
            <a:ext cx="822960" cy="73152"/>
          </a:xfrm>
          <a:prstGeom prst="rect">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736568"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CT</a:t>
            </a:r>
          </a:p>
        </p:txBody>
      </p:sp>
      <p:sp>
        <p:nvSpPr>
          <p:cNvPr id="19" name="TextBox 18"/>
          <p:cNvSpPr txBox="1"/>
          <p:nvPr/>
        </p:nvSpPr>
        <p:spPr>
          <a:xfrm>
            <a:off x="16736568"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dirty="0">
                <a:solidFill>
                  <a:srgbClr val="6B7B8D"/>
                </a:solidFill>
                <a:latin typeface="Quattrocento Sans"/>
              </a:rPr>
              <a:t>Continuous Training</a:t>
            </a:r>
          </a:p>
        </p:txBody>
      </p:sp>
      <p:sp>
        <p:nvSpPr>
          <p:cNvPr id="20" name="TextBox 19"/>
          <p:cNvSpPr txBox="1"/>
          <p:nvPr/>
        </p:nvSpPr>
        <p:spPr>
          <a:xfrm>
            <a:off x="16736568" y="5212079"/>
            <a:ext cx="6077712" cy="5074920"/>
          </a:xfrm>
          <a:prstGeom prst="rect">
            <a:avLst/>
          </a:prstGeom>
          <a:noFill/>
        </p:spPr>
        <p:txBody>
          <a:bodyPr wrap="square" lIns="0" tIns="0" rIns="0" bIns="0" anchor="t">
            <a:spAutoFit/>
          </a:bodyPr>
          <a:lstStyle/>
          <a:p>
            <a:pPr marL="452754" indent="-452754" algn="l">
              <a:lnSpc>
                <a:spcPct val="120000"/>
              </a:lnSpc>
              <a:spcAft>
                <a:spcPts val="1200"/>
              </a:spcAft>
              <a:buClr>
                <a:srgbClr val="4A5B7A"/>
              </a:buClr>
              <a:buFont typeface="Arial"/>
              <a:buChar char="•"/>
            </a:pPr>
            <a:r>
              <a:rPr sz="3100" b="0" i="0">
                <a:solidFill>
                  <a:srgbClr val="1E293B"/>
                </a:solidFill>
                <a:latin typeface="Quattrocento Sans"/>
              </a:rPr>
              <a:t>The model is retrained when the data changes</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Triggered by a schedule, new data, or drift</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Example: monitor → retrain → registry</a:t>
            </a:r>
          </a:p>
        </p:txBody>
      </p:sp>
      <p:sp>
        <p:nvSpPr>
          <p:cNvPr id="24" name="TextBox 23">
            <a:extLst>
              <a:ext uri="{FF2B5EF4-FFF2-40B4-BE49-F238E27FC236}">
                <a16:creationId xmlns:a16="http://schemas.microsoft.com/office/drawing/2014/main" id="{85FF9243-FBBA-7915-5E1A-080F2D832513}"/>
              </a:ext>
            </a:extLst>
          </p:cNvPr>
          <p:cNvSpPr txBox="1"/>
          <p:nvPr/>
        </p:nvSpPr>
        <p:spPr>
          <a:xfrm>
            <a:off x="16736568" y="9535778"/>
            <a:ext cx="6077712" cy="934102"/>
          </a:xfrm>
          <a:prstGeom prst="rect">
            <a:avLst/>
          </a:prstGeom>
          <a:noFill/>
        </p:spPr>
        <p:txBody>
          <a:bodyPr wrap="square" lIns="0" tIns="0" rIns="0" bIns="0" anchor="t">
            <a:spAutoFit/>
          </a:bodyPr>
          <a:lstStyle/>
          <a:p>
            <a:pPr algn="l">
              <a:lnSpc>
                <a:spcPct val="120000"/>
              </a:lnSpc>
              <a:spcAft>
                <a:spcPts val="600"/>
              </a:spcAft>
            </a:pPr>
            <a:r>
              <a:rPr lang="en-US" sz="2600" b="1" i="1" dirty="0">
                <a:solidFill>
                  <a:srgbClr val="C00000"/>
                </a:solidFill>
                <a:latin typeface="Quattrocento Sans"/>
              </a:rPr>
              <a:t>We will defer this section to the end of workshop after all topics are complete</a:t>
            </a:r>
            <a:endParaRPr sz="2600" b="1" i="1" dirty="0">
              <a:solidFill>
                <a:srgbClr val="C00000"/>
              </a:solidFill>
              <a:latin typeface="Quattrocento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Three MLflow Components We Use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COMPONENTS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9</a:t>
            </a:r>
          </a:p>
        </p:txBody>
      </p:sp>
      <p:sp>
        <p:nvSpPr>
          <p:cNvPr id="6" name="Rounded Rectangle 5"/>
          <p:cNvSpPr/>
          <p:nvPr/>
        </p:nvSpPr>
        <p:spPr>
          <a:xfrm>
            <a:off x="1014984"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Tracking</a:t>
            </a:r>
          </a:p>
        </p:txBody>
      </p:sp>
      <p:sp>
        <p:nvSpPr>
          <p:cNvPr id="9" name="TextBox 8"/>
          <p:cNvSpPr txBox="1"/>
          <p:nvPr/>
        </p:nvSpPr>
        <p:spPr>
          <a:xfrm>
            <a:off x="1563624" y="3931920"/>
            <a:ext cx="6077712" cy="5852159"/>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Records the parameters, metrics and artefacts of every run: log_param, log_metric, log_model.</a:t>
            </a:r>
          </a:p>
        </p:txBody>
      </p:sp>
      <p:sp>
        <p:nvSpPr>
          <p:cNvPr id="10" name="Rounded Rectangle 9"/>
          <p:cNvSpPr/>
          <p:nvPr/>
        </p:nvSpPr>
        <p:spPr>
          <a:xfrm>
            <a:off x="8601456"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Model Registry</a:t>
            </a:r>
          </a:p>
        </p:txBody>
      </p:sp>
      <p:sp>
        <p:nvSpPr>
          <p:cNvPr id="13" name="TextBox 12"/>
          <p:cNvSpPr txBox="1"/>
          <p:nvPr/>
        </p:nvSpPr>
        <p:spPr>
          <a:xfrm>
            <a:off x="9150096" y="3931920"/>
            <a:ext cx="6077712" cy="5852159"/>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catalogue of models with version numbers and aliases (@champion). The basis for release and rollback.</a:t>
            </a:r>
          </a:p>
        </p:txBody>
      </p:sp>
      <p:sp>
        <p:nvSpPr>
          <p:cNvPr id="14" name="Rounded Rectangle 13"/>
          <p:cNvSpPr/>
          <p:nvPr/>
        </p:nvSpPr>
        <p:spPr>
          <a:xfrm>
            <a:off x="16187928"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MLflow UI</a:t>
            </a:r>
          </a:p>
        </p:txBody>
      </p:sp>
      <p:sp>
        <p:nvSpPr>
          <p:cNvPr id="17" name="TextBox 16"/>
          <p:cNvSpPr txBox="1"/>
          <p:nvPr/>
        </p:nvSpPr>
        <p:spPr>
          <a:xfrm>
            <a:off x="16736568" y="3931920"/>
            <a:ext cx="6077712" cy="5852159"/>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dashboard to compare runs: sort, filter and plot metrics across experiments.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Why Experiment Tracking Matters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PROBLEM</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8</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Lost version details</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"Which model gave us 93% accuracy?" Without tracking, the honest answer is often "I don't remember".</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Hard to compare</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Notebook prints vanish when the kernel restarts. There is no systematic way to compare dozens of runs.</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Collaboration clashes</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Two people train similar models without knowing, duplicating work or overwriting each other's results.</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No audit trail</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production model cannot be traced back to the code, data and parameters that produced it.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Tracking Backend: SQLite, Not a File Store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 VERSION FINDING</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10</a:t>
            </a:r>
          </a:p>
        </p:txBody>
      </p:sp>
      <p:sp>
        <p:nvSpPr>
          <p:cNvPr id="6" name="Rounded Rectangle 5"/>
          <p:cNvSpPr/>
          <p:nvPr/>
        </p:nvSpPr>
        <p:spPr>
          <a:xfrm>
            <a:off x="1014984" y="2514600"/>
            <a:ext cx="10945368" cy="4937760"/>
          </a:xfrm>
          <a:prstGeom prst="roundRect">
            <a:avLst>
              <a:gd name="adj" fmla="val 5555"/>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12417552" y="2514600"/>
            <a:ext cx="10945368" cy="4937760"/>
          </a:xfrm>
          <a:prstGeom prst="roundRect">
            <a:avLst>
              <a:gd name="adj" fmla="val 5555"/>
            </a:avLst>
          </a:prstGeom>
          <a:solidFill>
            <a:srgbClr val="EAF4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2926080"/>
            <a:ext cx="10058400" cy="548640"/>
          </a:xfrm>
          <a:prstGeom prst="rect">
            <a:avLst/>
          </a:prstGeom>
          <a:noFill/>
        </p:spPr>
        <p:txBody>
          <a:bodyPr wrap="square" lIns="0" tIns="0" rIns="0" bIns="0" anchor="t">
            <a:spAutoFit/>
          </a:bodyPr>
          <a:lstStyle/>
          <a:p>
            <a:pPr algn="l">
              <a:lnSpc>
                <a:spcPct val="120000"/>
              </a:lnSpc>
              <a:spcAft>
                <a:spcPts val="600"/>
              </a:spcAft>
            </a:pPr>
            <a:r>
              <a:rPr sz="1800" b="1" i="0" spc="300">
                <a:solidFill>
                  <a:srgbClr val="B4432F"/>
                </a:solidFill>
                <a:latin typeface="Liter"/>
              </a:rPr>
              <a:t>ROOT CAUSE</a:t>
            </a:r>
          </a:p>
        </p:txBody>
      </p:sp>
      <p:sp>
        <p:nvSpPr>
          <p:cNvPr id="9" name="TextBox 8"/>
          <p:cNvSpPr txBox="1"/>
          <p:nvPr/>
        </p:nvSpPr>
        <p:spPr>
          <a:xfrm>
            <a:off x="12966192" y="2926080"/>
            <a:ext cx="10058400" cy="548640"/>
          </a:xfrm>
          <a:prstGeom prst="rect">
            <a:avLst/>
          </a:prstGeom>
          <a:noFill/>
        </p:spPr>
        <p:txBody>
          <a:bodyPr wrap="square" lIns="0" tIns="0" rIns="0" bIns="0" anchor="t">
            <a:spAutoFit/>
          </a:bodyPr>
          <a:lstStyle/>
          <a:p>
            <a:pPr algn="l">
              <a:lnSpc>
                <a:spcPct val="120000"/>
              </a:lnSpc>
              <a:spcAft>
                <a:spcPts val="600"/>
              </a:spcAft>
            </a:pPr>
            <a:r>
              <a:rPr sz="1800" b="1" i="0" spc="300">
                <a:solidFill>
                  <a:srgbClr val="2F7D5B"/>
                </a:solidFill>
                <a:latin typeface="Liter"/>
              </a:rPr>
              <a:t>FIX</a:t>
            </a:r>
          </a:p>
        </p:txBody>
      </p:sp>
      <p:sp>
        <p:nvSpPr>
          <p:cNvPr id="10" name="TextBox 9"/>
          <p:cNvSpPr txBox="1"/>
          <p:nvPr/>
        </p:nvSpPr>
        <p:spPr>
          <a:xfrm>
            <a:off x="1563624" y="3657600"/>
            <a:ext cx="9875520" cy="356616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The folder-based backend (file:///.../mlruns) is in maintenance mode in recent MLflow releases and may be rejected when set_experiment() is called.</a:t>
            </a:r>
          </a:p>
        </p:txBody>
      </p:sp>
      <p:sp>
        <p:nvSpPr>
          <p:cNvPr id="11" name="TextBox 10"/>
          <p:cNvSpPr txBox="1"/>
          <p:nvPr/>
        </p:nvSpPr>
        <p:spPr>
          <a:xfrm>
            <a:off x="12966192" y="3657600"/>
            <a:ext cx="9875520" cy="356616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Use a SQLite backend. It stays local (a single mlflow.db file), needs no separate database server, and is fully supported.</a:t>
            </a:r>
          </a:p>
        </p:txBody>
      </p:sp>
      <p:sp>
        <p:nvSpPr>
          <p:cNvPr id="12" name="Rounded Rectangle 11"/>
          <p:cNvSpPr/>
          <p:nvPr/>
        </p:nvSpPr>
        <p:spPr>
          <a:xfrm>
            <a:off x="1014984" y="7863840"/>
            <a:ext cx="22347936" cy="4663440"/>
          </a:xfrm>
          <a:prstGeom prst="roundRect">
            <a:avLst>
              <a:gd name="adj" fmla="val 3529"/>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813816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813816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813816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26464" y="8577072"/>
            <a:ext cx="21616416" cy="3794759"/>
          </a:xfrm>
          <a:prstGeom prst="rect">
            <a:avLst/>
          </a:prstGeom>
          <a:noFill/>
        </p:spPr>
        <p:txBody>
          <a:bodyPr wrap="square" lIns="0" tIns="0" rIns="0" bIns="0" anchor="t">
            <a:spAutoFit/>
          </a:bodyPr>
          <a:lstStyle/>
          <a:p>
            <a:pPr algn="l">
              <a:lnSpc>
                <a:spcPct val="100000"/>
              </a:lnSpc>
              <a:spcAft>
                <a:spcPts val="0"/>
              </a:spcAft>
            </a:pPr>
            <a:r>
              <a:rPr sz="2800" b="0" i="0">
                <a:solidFill>
                  <a:srgbClr val="E6EDF3"/>
                </a:solidFill>
                <a:latin typeface="Consolas"/>
              </a:rPr>
              <a:t>mlflow.set_tracking_uri("sqlite:///mlflow.db")   # CORRECT</a:t>
            </a:r>
          </a:p>
          <a:p>
            <a:pPr algn="l">
              <a:lnSpc>
                <a:spcPct val="100000"/>
              </a:lnSpc>
              <a:spcAft>
                <a:spcPts val="0"/>
              </a:spcAft>
            </a:pPr>
            <a:r>
              <a:rPr sz="2800" b="0" i="0">
                <a:solidFill>
                  <a:srgbClr val="8B9BB4"/>
                </a:solidFill>
                <a:latin typeface="Consolas"/>
              </a:rPr>
              <a:t># mlflow.set_tracking_uri("file:///.../mlruns")   # avoid</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Three Experiments at Once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1</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13</a:t>
            </a:r>
          </a:p>
        </p:txBody>
      </p:sp>
      <p:sp>
        <p:nvSpPr>
          <p:cNvPr id="6" name="Rounded Rectangle 5"/>
          <p:cNvSpPr/>
          <p:nvPr/>
        </p:nvSpPr>
        <p:spPr>
          <a:xfrm>
            <a:off x="1014984" y="2514600"/>
            <a:ext cx="22347936" cy="7223760"/>
          </a:xfrm>
          <a:prstGeom prst="roundRect">
            <a:avLst>
              <a:gd name="adj" fmla="val 227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6355080"/>
          </a:xfrm>
          <a:prstGeom prst="rect">
            <a:avLst/>
          </a:prstGeom>
          <a:noFill/>
        </p:spPr>
        <p:txBody>
          <a:bodyPr wrap="square" lIns="0" tIns="0" rIns="0" bIns="0" anchor="t">
            <a:spAutoFit/>
          </a:bodyPr>
          <a:lstStyle/>
          <a:p>
            <a:pPr algn="l">
              <a:lnSpc>
                <a:spcPct val="100000"/>
              </a:lnSpc>
              <a:spcAft>
                <a:spcPts val="0"/>
              </a:spcAft>
            </a:pPr>
            <a:r>
              <a:rPr sz="3000" b="0" i="0">
                <a:solidFill>
                  <a:srgbClr val="F5C66B"/>
                </a:solidFill>
                <a:latin typeface="Consolas"/>
              </a:rPr>
              <a:t>$ make mlflow</a:t>
            </a:r>
          </a:p>
          <a:p>
            <a:pPr algn="l">
              <a:lnSpc>
                <a:spcPct val="100000"/>
              </a:lnSpc>
              <a:spcAft>
                <a:spcPts val="0"/>
              </a:spcAft>
            </a:pPr>
            <a:r>
              <a:rPr sz="3000" b="0" i="0">
                <a:solidFill>
                  <a:srgbClr val="E6EDF3"/>
                </a:solidFill>
                <a:latin typeface="Consolas"/>
              </a:rPr>
              <a:t>DecisionTree: acc=0.8740 auc=0.9075 f1=0.8706</a:t>
            </a:r>
          </a:p>
          <a:p>
            <a:pPr algn="l">
              <a:lnSpc>
                <a:spcPct val="100000"/>
              </a:lnSpc>
              <a:spcAft>
                <a:spcPts val="0"/>
              </a:spcAft>
            </a:pPr>
            <a:r>
              <a:rPr sz="3000" b="0" i="0">
                <a:solidFill>
                  <a:srgbClr val="E6EDF3"/>
                </a:solidFill>
                <a:latin typeface="Consolas"/>
              </a:rPr>
              <a:t>RandomForest: acc=0.9380 auc=0.9817 f1=0.9350</a:t>
            </a:r>
          </a:p>
          <a:p>
            <a:pPr algn="l">
              <a:lnSpc>
                <a:spcPct val="100000"/>
              </a:lnSpc>
              <a:spcAft>
                <a:spcPts val="0"/>
              </a:spcAft>
            </a:pPr>
            <a:r>
              <a:rPr sz="3000" b="0" i="0">
                <a:solidFill>
                  <a:srgbClr val="E6EDF3"/>
                </a:solidFill>
                <a:latin typeface="Consolas"/>
              </a:rPr>
              <a:t>GradientBoosting: acc=0.9380 auc=0.9804 f1=0.9347</a:t>
            </a:r>
          </a:p>
          <a:p>
            <a:pPr algn="l">
              <a:lnSpc>
                <a:spcPct val="100000"/>
              </a:lnSpc>
              <a:spcAft>
                <a:spcPts val="0"/>
              </a:spcAft>
            </a:pPr>
            <a:r>
              <a:rPr sz="3000" b="0" i="0">
                <a:solidFill>
                  <a:srgbClr val="E6EDF3"/>
                </a:solidFill>
                <a:latin typeface="Consolas"/>
              </a:rPr>
              <a:t> </a:t>
            </a:r>
          </a:p>
          <a:p>
            <a:pPr algn="l">
              <a:lnSpc>
                <a:spcPct val="100000"/>
              </a:lnSpc>
              <a:spcAft>
                <a:spcPts val="0"/>
              </a:spcAft>
            </a:pPr>
            <a:r>
              <a:rPr sz="3000" b="0" i="0">
                <a:solidFill>
                  <a:srgbClr val="E6EDF3"/>
                </a:solidFill>
                <a:latin typeface="Consolas"/>
              </a:rPr>
              <a:t>BEST: RandomForest (accuracy=0.9380)</a:t>
            </a:r>
          </a:p>
          <a:p>
            <a:pPr algn="l">
              <a:lnSpc>
                <a:spcPct val="100000"/>
              </a:lnSpc>
              <a:spcAft>
                <a:spcPts val="0"/>
              </a:spcAft>
            </a:pPr>
            <a:r>
              <a:rPr sz="3000" b="0" i="0">
                <a:solidFill>
                  <a:srgbClr val="E6EDF3"/>
                </a:solidFill>
                <a:latin typeface="Consolas"/>
              </a:rPr>
              <a:t>Registered version: 1</a:t>
            </a:r>
          </a:p>
          <a:p>
            <a:pPr algn="l">
              <a:lnSpc>
                <a:spcPct val="100000"/>
              </a:lnSpc>
              <a:spcAft>
                <a:spcPts val="0"/>
              </a:spcAft>
            </a:pPr>
            <a:r>
              <a:rPr sz="3000" b="0" i="0">
                <a:solidFill>
                  <a:srgbClr val="E6EDF3"/>
                </a:solidFill>
                <a:latin typeface="Consolas"/>
              </a:rPr>
              <a:t>Alias 'champion' -&gt; version 1</a:t>
            </a:r>
          </a:p>
        </p:txBody>
      </p:sp>
      <p:sp>
        <p:nvSpPr>
          <p:cNvPr id="12" name="Rounded Rectangle 11"/>
          <p:cNvSpPr/>
          <p:nvPr/>
        </p:nvSpPr>
        <p:spPr>
          <a:xfrm>
            <a:off x="1014984" y="10058400"/>
            <a:ext cx="22347936" cy="2468880"/>
          </a:xfrm>
          <a:prstGeom prst="roundRect">
            <a:avLst>
              <a:gd name="adj" fmla="val 666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103327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103327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103327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26464" y="10771632"/>
            <a:ext cx="21616416" cy="1600200"/>
          </a:xfrm>
          <a:prstGeom prst="rect">
            <a:avLst/>
          </a:prstGeom>
          <a:noFill/>
        </p:spPr>
        <p:txBody>
          <a:bodyPr wrap="square" lIns="0" tIns="0" rIns="0" bIns="0" anchor="t">
            <a:spAutoFit/>
          </a:bodyPr>
          <a:lstStyle/>
          <a:p>
            <a:pPr algn="l">
              <a:lnSpc>
                <a:spcPct val="100000"/>
              </a:lnSpc>
              <a:spcAft>
                <a:spcPts val="0"/>
              </a:spcAft>
            </a:pPr>
            <a:r>
              <a:rPr sz="2800" b="0" i="0" dirty="0">
                <a:solidFill>
                  <a:srgbClr val="F5C66B"/>
                </a:solidFill>
                <a:latin typeface="Consolas"/>
              </a:rPr>
              <a:t>$ make </a:t>
            </a:r>
            <a:r>
              <a:rPr sz="2800" b="0" i="0" dirty="0" err="1">
                <a:solidFill>
                  <a:srgbClr val="F5C66B"/>
                </a:solidFill>
                <a:latin typeface="Consolas"/>
              </a:rPr>
              <a:t>ui</a:t>
            </a:r>
            <a:r>
              <a:rPr sz="2800" b="0" i="0" dirty="0">
                <a:solidFill>
                  <a:srgbClr val="F5C66B"/>
                </a:solidFill>
                <a:latin typeface="Consolas"/>
              </a:rPr>
              <a:t>     # </a:t>
            </a:r>
            <a:r>
              <a:rPr sz="2800" b="0" i="0" dirty="0" err="1">
                <a:solidFill>
                  <a:srgbClr val="F5C66B"/>
                </a:solidFill>
                <a:latin typeface="Consolas"/>
              </a:rPr>
              <a:t>mlflow</a:t>
            </a:r>
            <a:r>
              <a:rPr sz="2800" b="0" i="0" dirty="0">
                <a:solidFill>
                  <a:srgbClr val="F5C66B"/>
                </a:solidFill>
                <a:latin typeface="Consolas"/>
              </a:rPr>
              <a:t> </a:t>
            </a:r>
            <a:r>
              <a:rPr sz="2800" b="0" i="0" dirty="0" err="1">
                <a:solidFill>
                  <a:srgbClr val="F5C66B"/>
                </a:solidFill>
                <a:latin typeface="Consolas"/>
              </a:rPr>
              <a:t>ui</a:t>
            </a:r>
            <a:r>
              <a:rPr sz="2800" b="0" i="0" dirty="0">
                <a:solidFill>
                  <a:srgbClr val="F5C66B"/>
                </a:solidFill>
                <a:latin typeface="Consolas"/>
              </a:rPr>
              <a:t> --backend-store-</a:t>
            </a:r>
            <a:r>
              <a:rPr sz="2800" b="0" i="0" dirty="0" err="1">
                <a:solidFill>
                  <a:srgbClr val="F5C66B"/>
                </a:solidFill>
                <a:latin typeface="Consolas"/>
              </a:rPr>
              <a:t>uri</a:t>
            </a:r>
            <a:r>
              <a:rPr sz="2800" b="0" i="0" dirty="0">
                <a:solidFill>
                  <a:srgbClr val="F5C66B"/>
                </a:solidFill>
                <a:latin typeface="Consolas"/>
              </a:rPr>
              <a:t> </a:t>
            </a:r>
            <a:r>
              <a:rPr sz="2800" b="0" i="0" dirty="0" err="1">
                <a:solidFill>
                  <a:srgbClr val="F5C66B"/>
                </a:solidFill>
                <a:latin typeface="Consolas"/>
              </a:rPr>
              <a:t>sqlite</a:t>
            </a:r>
            <a:r>
              <a:rPr sz="2800" b="0" i="0" dirty="0">
                <a:solidFill>
                  <a:srgbClr val="F5C66B"/>
                </a:solidFill>
                <a:latin typeface="Consolas"/>
              </a:rPr>
              <a:t>:///</a:t>
            </a:r>
            <a:r>
              <a:rPr sz="2800" b="0" i="0" dirty="0" err="1">
                <a:solidFill>
                  <a:srgbClr val="F5C66B"/>
                </a:solidFill>
                <a:latin typeface="Consolas"/>
              </a:rPr>
              <a:t>mlflow.db</a:t>
            </a:r>
            <a:r>
              <a:rPr sz="2800" b="0" i="0" dirty="0">
                <a:solidFill>
                  <a:srgbClr val="F5C66B"/>
                </a:solidFill>
                <a:latin typeface="Consolas"/>
              </a:rPr>
              <a:t> --port 5001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MLflow UI — Comparing Runs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14</a:t>
            </a:r>
          </a:p>
        </p:txBody>
      </p:sp>
      <p:pic>
        <p:nvPicPr>
          <p:cNvPr id="6" name="Picture 5" descr="crop_runs.png"/>
          <p:cNvPicPr>
            <a:picLocks noChangeAspect="1"/>
          </p:cNvPicPr>
          <p:nvPr/>
        </p:nvPicPr>
        <p:blipFill>
          <a:blip r:embed="rId3"/>
          <a:stretch>
            <a:fillRect/>
          </a:stretch>
        </p:blipFill>
        <p:spPr>
          <a:xfrm>
            <a:off x="1014984" y="2743509"/>
            <a:ext cx="22347936" cy="5302900"/>
          </a:xfrm>
          <a:prstGeom prst="rect">
            <a:avLst/>
          </a:prstGeom>
          <a:ln w="19050">
            <a:solidFill>
              <a:srgbClr val="E0DCD3"/>
            </a:solidFill>
          </a:ln>
        </p:spPr>
      </p:pic>
      <p:sp>
        <p:nvSpPr>
          <p:cNvPr id="7" name="Rounded Rectangle 6"/>
          <p:cNvSpPr/>
          <p:nvPr/>
        </p:nvSpPr>
        <p:spPr>
          <a:xfrm>
            <a:off x="1014984" y="8732520"/>
            <a:ext cx="7174992" cy="3794760"/>
          </a:xfrm>
          <a:prstGeom prst="roundRect">
            <a:avLst>
              <a:gd name="adj" fmla="val 843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9144000"/>
            <a:ext cx="6260592"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Model training toggle</a:t>
            </a:r>
          </a:p>
        </p:txBody>
      </p:sp>
      <p:sp>
        <p:nvSpPr>
          <p:cNvPr id="9" name="TextBox 8"/>
          <p:cNvSpPr txBox="1"/>
          <p:nvPr/>
        </p:nvSpPr>
        <p:spPr>
          <a:xfrm>
            <a:off x="1563624" y="10149840"/>
            <a:ext cx="6077712" cy="214884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The UI opens in GenAI mode by default. Switch to Model training for classic runs.</a:t>
            </a:r>
          </a:p>
        </p:txBody>
      </p:sp>
      <p:sp>
        <p:nvSpPr>
          <p:cNvPr id="10" name="Rounded Rectangle 9"/>
          <p:cNvSpPr/>
          <p:nvPr/>
        </p:nvSpPr>
        <p:spPr>
          <a:xfrm>
            <a:off x="8601456" y="8732520"/>
            <a:ext cx="7174992" cy="3794760"/>
          </a:xfrm>
          <a:prstGeom prst="roundRect">
            <a:avLst>
              <a:gd name="adj" fmla="val 843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9144000"/>
            <a:ext cx="6260592"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Columns → metrics</a:t>
            </a:r>
          </a:p>
        </p:txBody>
      </p:sp>
      <p:sp>
        <p:nvSpPr>
          <p:cNvPr id="12" name="TextBox 11"/>
          <p:cNvSpPr txBox="1"/>
          <p:nvPr/>
        </p:nvSpPr>
        <p:spPr>
          <a:xfrm>
            <a:off x="9150096" y="10149840"/>
            <a:ext cx="6077712" cy="214884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Add accuracy, f1_score and roc_auc, then click a header to sort.</a:t>
            </a:r>
          </a:p>
        </p:txBody>
      </p:sp>
      <p:sp>
        <p:nvSpPr>
          <p:cNvPr id="13" name="Rounded Rectangle 12"/>
          <p:cNvSpPr/>
          <p:nvPr/>
        </p:nvSpPr>
        <p:spPr>
          <a:xfrm>
            <a:off x="16187928" y="8732520"/>
            <a:ext cx="7174992" cy="3794760"/>
          </a:xfrm>
          <a:prstGeom prst="roundRect">
            <a:avLst>
              <a:gd name="adj" fmla="val 843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736568" y="9144000"/>
            <a:ext cx="6260591" cy="731520"/>
          </a:xfrm>
          <a:prstGeom prst="rect">
            <a:avLst/>
          </a:prstGeom>
          <a:noFill/>
        </p:spPr>
        <p:txBody>
          <a:bodyPr wrap="square" lIns="0" tIns="0" rIns="0" bIns="0" anchor="ctr">
            <a:spAutoFit/>
          </a:bodyPr>
          <a:lstStyle/>
          <a:p>
            <a:pPr algn="l">
              <a:lnSpc>
                <a:spcPct val="120000"/>
              </a:lnSpc>
              <a:spcAft>
                <a:spcPts val="600"/>
              </a:spcAft>
            </a:pPr>
            <a:r>
              <a:rPr sz="2600" b="1" i="0">
                <a:solidFill>
                  <a:srgbClr val="1B2A4A"/>
                </a:solidFill>
                <a:latin typeface="Liter"/>
              </a:rPr>
              <a:t>Models column</a:t>
            </a:r>
          </a:p>
        </p:txBody>
      </p:sp>
      <p:sp>
        <p:nvSpPr>
          <p:cNvPr id="15" name="TextBox 14"/>
          <p:cNvSpPr txBox="1"/>
          <p:nvPr/>
        </p:nvSpPr>
        <p:spPr>
          <a:xfrm>
            <a:off x="16736568" y="10149840"/>
            <a:ext cx="6077712" cy="2148840"/>
          </a:xfrm>
          <a:prstGeom prst="rect">
            <a:avLst/>
          </a:prstGeom>
          <a:noFill/>
        </p:spPr>
        <p:txBody>
          <a:bodyPr wrap="square" lIns="0" tIns="0" rIns="0" bIns="0" anchor="t">
            <a:spAutoFit/>
          </a:bodyPr>
          <a:lstStyle/>
          <a:p>
            <a:pPr algn="l">
              <a:lnSpc>
                <a:spcPct val="130000"/>
              </a:lnSpc>
              <a:spcAft>
                <a:spcPts val="600"/>
              </a:spcAft>
            </a:pPr>
            <a:r>
              <a:rPr sz="2400" b="0" i="0">
                <a:solidFill>
                  <a:srgbClr val="1E293B"/>
                </a:solidFill>
                <a:latin typeface="Quattrocento Sans"/>
              </a:rPr>
              <a:t>The RandomForest run links to insurance-approval-model in the registry.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Instrumenting Training with MLflow</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6" name="Rounded Rectangle 5"/>
          <p:cNvSpPr/>
          <p:nvPr/>
        </p:nvSpPr>
        <p:spPr>
          <a:xfrm>
            <a:off x="1014984" y="2514600"/>
            <a:ext cx="22347936" cy="10012680"/>
          </a:xfrm>
          <a:prstGeom prst="roundRect">
            <a:avLst>
              <a:gd name="adj" fmla="val 164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mlflow/train_with_mlflow.py</a:t>
            </a:r>
          </a:p>
        </p:txBody>
      </p:sp>
      <p:sp>
        <p:nvSpPr>
          <p:cNvPr id="11" name="TextBox 10"/>
          <p:cNvSpPr txBox="1"/>
          <p:nvPr/>
        </p:nvSpPr>
        <p:spPr>
          <a:xfrm>
            <a:off x="1426464" y="3227832"/>
            <a:ext cx="21616416" cy="7909858"/>
          </a:xfrm>
          <a:prstGeom prst="rect">
            <a:avLst/>
          </a:prstGeom>
          <a:noFill/>
        </p:spPr>
        <p:txBody>
          <a:bodyPr wrap="square" lIns="0" tIns="0" rIns="0" bIns="0" anchor="t">
            <a:spAutoFit/>
          </a:bodyPr>
          <a:lstStyle/>
          <a:p>
            <a:pPr algn="l">
              <a:lnSpc>
                <a:spcPct val="100000"/>
              </a:lnSpc>
              <a:spcAft>
                <a:spcPts val="0"/>
              </a:spcAft>
            </a:pPr>
            <a:r>
              <a:rPr sz="2700" b="0" i="0" dirty="0" err="1">
                <a:solidFill>
                  <a:srgbClr val="E6EDF3"/>
                </a:solidFill>
                <a:latin typeface="Consolas"/>
              </a:rPr>
              <a:t>mlflow.set_tracking_uri</a:t>
            </a:r>
            <a:r>
              <a:rPr sz="2700" b="0" i="0" dirty="0">
                <a:solidFill>
                  <a:srgbClr val="E6EDF3"/>
                </a:solidFill>
                <a:latin typeface="Consolas"/>
              </a:rPr>
              <a:t>("</a:t>
            </a:r>
            <a:r>
              <a:rPr sz="2700" b="0" i="0" dirty="0" err="1">
                <a:solidFill>
                  <a:srgbClr val="E6EDF3"/>
                </a:solidFill>
                <a:latin typeface="Consolas"/>
              </a:rPr>
              <a:t>sqlite</a:t>
            </a:r>
            <a:r>
              <a:rPr sz="2700" b="0" i="0" dirty="0">
                <a:solidFill>
                  <a:srgbClr val="E6EDF3"/>
                </a:solidFill>
                <a:latin typeface="Consolas"/>
              </a:rPr>
              <a:t>:///</a:t>
            </a:r>
            <a:r>
              <a:rPr sz="2700" b="0" i="0" dirty="0" err="1">
                <a:solidFill>
                  <a:srgbClr val="E6EDF3"/>
                </a:solidFill>
                <a:latin typeface="Consolas"/>
              </a:rPr>
              <a:t>mlflow.db</a:t>
            </a:r>
            <a:r>
              <a:rPr sz="2700" b="0" i="0" dirty="0">
                <a:solidFill>
                  <a:srgbClr val="E6EDF3"/>
                </a:solidFill>
                <a:latin typeface="Consolas"/>
              </a:rPr>
              <a:t>")</a:t>
            </a:r>
          </a:p>
          <a:p>
            <a:pPr algn="l">
              <a:lnSpc>
                <a:spcPct val="100000"/>
              </a:lnSpc>
              <a:spcAft>
                <a:spcPts val="0"/>
              </a:spcAft>
            </a:pPr>
            <a:r>
              <a:rPr sz="2700" b="0" i="0" dirty="0" err="1">
                <a:solidFill>
                  <a:srgbClr val="E6EDF3"/>
                </a:solidFill>
                <a:latin typeface="Consolas"/>
              </a:rPr>
              <a:t>mlflow.set_experiment</a:t>
            </a:r>
            <a:r>
              <a:rPr sz="2700" b="0" i="0" dirty="0">
                <a:solidFill>
                  <a:srgbClr val="E6EDF3"/>
                </a:solidFill>
                <a:latin typeface="Consolas"/>
              </a:rPr>
              <a:t>("Insurance Approval Model")</a:t>
            </a:r>
          </a:p>
          <a:p>
            <a:pPr algn="l">
              <a:lnSpc>
                <a:spcPct val="100000"/>
              </a:lnSpc>
              <a:spcAft>
                <a:spcPts val="0"/>
              </a:spcAft>
            </a:pPr>
            <a:r>
              <a:rPr sz="2700" b="0" i="0" dirty="0">
                <a:solidFill>
                  <a:srgbClr val="E6EDF3"/>
                </a:solidFill>
                <a:latin typeface="Consolas"/>
              </a:rPr>
              <a:t> </a:t>
            </a:r>
          </a:p>
          <a:p>
            <a:pPr algn="l">
              <a:lnSpc>
                <a:spcPct val="100000"/>
              </a:lnSpc>
              <a:spcAft>
                <a:spcPts val="0"/>
              </a:spcAft>
            </a:pPr>
            <a:r>
              <a:rPr sz="2700" b="0" i="0" dirty="0">
                <a:solidFill>
                  <a:srgbClr val="E6EDF3"/>
                </a:solidFill>
                <a:latin typeface="Consolas"/>
              </a:rPr>
              <a:t>for name, (</a:t>
            </a:r>
            <a:r>
              <a:rPr sz="2700" b="0" i="0" dirty="0" err="1">
                <a:solidFill>
                  <a:srgbClr val="E6EDF3"/>
                </a:solidFill>
                <a:latin typeface="Consolas"/>
              </a:rPr>
              <a:t>ModelClass</a:t>
            </a:r>
            <a:r>
              <a:rPr sz="2700" b="0" i="0" dirty="0">
                <a:solidFill>
                  <a:srgbClr val="E6EDF3"/>
                </a:solidFill>
                <a:latin typeface="Consolas"/>
              </a:rPr>
              <a:t>, params) in </a:t>
            </a:r>
            <a:r>
              <a:rPr sz="2700" b="0" i="0" dirty="0" err="1">
                <a:solidFill>
                  <a:srgbClr val="E6EDF3"/>
                </a:solidFill>
                <a:latin typeface="Consolas"/>
              </a:rPr>
              <a:t>MODELS.items</a:t>
            </a:r>
            <a:r>
              <a:rPr sz="2700" b="0" i="0" dirty="0">
                <a:solidFill>
                  <a:srgbClr val="E6EDF3"/>
                </a:solidFill>
                <a:latin typeface="Consolas"/>
              </a:rPr>
              <a:t>():   # </a:t>
            </a:r>
            <a:r>
              <a:rPr sz="2700" b="0" i="0" dirty="0" err="1">
                <a:solidFill>
                  <a:srgbClr val="E6EDF3"/>
                </a:solidFill>
                <a:latin typeface="Consolas"/>
              </a:rPr>
              <a:t>DecisionTree</a:t>
            </a:r>
            <a:r>
              <a:rPr sz="2700" b="0" i="0" dirty="0">
                <a:solidFill>
                  <a:srgbClr val="E6EDF3"/>
                </a:solidFill>
                <a:latin typeface="Consolas"/>
              </a:rPr>
              <a:t>, </a:t>
            </a:r>
            <a:r>
              <a:rPr sz="2700" b="0" i="0" dirty="0" err="1">
                <a:solidFill>
                  <a:srgbClr val="E6EDF3"/>
                </a:solidFill>
                <a:latin typeface="Consolas"/>
              </a:rPr>
              <a:t>RandomForest</a:t>
            </a:r>
            <a:r>
              <a:rPr sz="2700" b="0" i="0" dirty="0">
                <a:solidFill>
                  <a:srgbClr val="E6EDF3"/>
                </a:solidFill>
                <a:latin typeface="Consolas"/>
              </a:rPr>
              <a:t>, </a:t>
            </a:r>
            <a:r>
              <a:rPr sz="2700" b="0" i="0" dirty="0" err="1">
                <a:solidFill>
                  <a:srgbClr val="E6EDF3"/>
                </a:solidFill>
                <a:latin typeface="Consolas"/>
              </a:rPr>
              <a:t>GradientBoosting</a:t>
            </a:r>
            <a:endParaRPr sz="2700" b="0" i="0" dirty="0">
              <a:solidFill>
                <a:srgbClr val="E6EDF3"/>
              </a:solidFill>
              <a:latin typeface="Consolas"/>
            </a:endParaRPr>
          </a:p>
          <a:p>
            <a:pPr algn="l">
              <a:lnSpc>
                <a:spcPct val="100000"/>
              </a:lnSpc>
              <a:spcAft>
                <a:spcPts val="0"/>
              </a:spcAft>
            </a:pPr>
            <a:r>
              <a:rPr sz="2700" b="0" i="0" dirty="0">
                <a:solidFill>
                  <a:srgbClr val="E6EDF3"/>
                </a:solidFill>
                <a:latin typeface="Consolas"/>
              </a:rPr>
              <a:t>    </a:t>
            </a:r>
            <a:r>
              <a:rPr sz="2700" b="0" i="0" dirty="0">
                <a:solidFill>
                  <a:srgbClr val="00B0F0"/>
                </a:solidFill>
                <a:latin typeface="Consolas"/>
              </a:rPr>
              <a:t>with </a:t>
            </a:r>
            <a:r>
              <a:rPr sz="2700" b="0" i="0" dirty="0" err="1">
                <a:solidFill>
                  <a:srgbClr val="00B0F0"/>
                </a:solidFill>
                <a:latin typeface="Consolas"/>
              </a:rPr>
              <a:t>mlflow.start_run</a:t>
            </a:r>
            <a:r>
              <a:rPr sz="2700" b="0" i="0" dirty="0">
                <a:solidFill>
                  <a:srgbClr val="00B0F0"/>
                </a:solidFill>
                <a:latin typeface="Consolas"/>
              </a:rPr>
              <a:t>(</a:t>
            </a:r>
            <a:r>
              <a:rPr sz="2700" b="0" i="0" dirty="0" err="1">
                <a:solidFill>
                  <a:srgbClr val="00B0F0"/>
                </a:solidFill>
                <a:latin typeface="Consolas"/>
              </a:rPr>
              <a:t>run_name</a:t>
            </a:r>
            <a:r>
              <a:rPr sz="2700" b="0" i="0" dirty="0">
                <a:solidFill>
                  <a:srgbClr val="00B0F0"/>
                </a:solidFill>
                <a:latin typeface="Consolas"/>
              </a:rPr>
              <a:t>=name) as run:</a:t>
            </a:r>
          </a:p>
          <a:p>
            <a:pPr algn="l">
              <a:lnSpc>
                <a:spcPct val="100000"/>
              </a:lnSpc>
              <a:spcAft>
                <a:spcPts val="0"/>
              </a:spcAft>
            </a:pPr>
            <a:r>
              <a:rPr sz="2700" b="0" i="0" dirty="0">
                <a:solidFill>
                  <a:srgbClr val="E6EDF3"/>
                </a:solidFill>
                <a:latin typeface="Consolas"/>
              </a:rPr>
              <a:t>        model = </a:t>
            </a:r>
            <a:r>
              <a:rPr sz="2700" b="0" i="0" dirty="0" err="1">
                <a:solidFill>
                  <a:srgbClr val="E6EDF3"/>
                </a:solidFill>
                <a:latin typeface="Consolas"/>
              </a:rPr>
              <a:t>ModelClass</a:t>
            </a:r>
            <a:r>
              <a:rPr sz="2700" b="0" i="0" dirty="0">
                <a:solidFill>
                  <a:srgbClr val="E6EDF3"/>
                </a:solidFill>
                <a:latin typeface="Consolas"/>
              </a:rPr>
              <a:t>(**params, </a:t>
            </a:r>
            <a:r>
              <a:rPr sz="2700" b="0" i="0" dirty="0" err="1">
                <a:solidFill>
                  <a:srgbClr val="E6EDF3"/>
                </a:solidFill>
                <a:latin typeface="Consolas"/>
              </a:rPr>
              <a:t>random_state</a:t>
            </a:r>
            <a:r>
              <a:rPr sz="2700" b="0" i="0" dirty="0">
                <a:solidFill>
                  <a:srgbClr val="E6EDF3"/>
                </a:solidFill>
                <a:latin typeface="Consolas"/>
              </a:rPr>
              <a:t>=42)</a:t>
            </a:r>
          </a:p>
          <a:p>
            <a:pPr algn="l">
              <a:lnSpc>
                <a:spcPct val="100000"/>
              </a:lnSpc>
              <a:spcAft>
                <a:spcPts val="0"/>
              </a:spcAft>
            </a:pPr>
            <a:r>
              <a:rPr sz="2700" b="0" i="0" dirty="0">
                <a:solidFill>
                  <a:srgbClr val="E6EDF3"/>
                </a:solidFill>
                <a:latin typeface="Consolas"/>
              </a:rPr>
              <a:t>        </a:t>
            </a:r>
            <a:r>
              <a:rPr sz="2700" b="0" i="0" dirty="0" err="1">
                <a:solidFill>
                  <a:srgbClr val="E6EDF3"/>
                </a:solidFill>
                <a:latin typeface="Consolas"/>
              </a:rPr>
              <a:t>model.fit</a:t>
            </a:r>
            <a:r>
              <a:rPr sz="2700" b="0" i="0" dirty="0">
                <a:solidFill>
                  <a:srgbClr val="E6EDF3"/>
                </a:solidFill>
                <a:latin typeface="Consolas"/>
              </a:rPr>
              <a:t>(</a:t>
            </a:r>
            <a:r>
              <a:rPr sz="2700" b="0" i="0" dirty="0" err="1">
                <a:solidFill>
                  <a:srgbClr val="E6EDF3"/>
                </a:solidFill>
                <a:latin typeface="Consolas"/>
              </a:rPr>
              <a:t>X_train</a:t>
            </a:r>
            <a:r>
              <a:rPr sz="2700" b="0" i="0" dirty="0">
                <a:solidFill>
                  <a:srgbClr val="E6EDF3"/>
                </a:solidFill>
                <a:latin typeface="Consolas"/>
              </a:rPr>
              <a:t>, </a:t>
            </a:r>
            <a:r>
              <a:rPr sz="2700" b="0" i="0" dirty="0" err="1">
                <a:solidFill>
                  <a:srgbClr val="E6EDF3"/>
                </a:solidFill>
                <a:latin typeface="Consolas"/>
              </a:rPr>
              <a:t>y_train</a:t>
            </a:r>
            <a:r>
              <a:rPr sz="2700" b="0" i="0" dirty="0">
                <a:solidFill>
                  <a:srgbClr val="E6EDF3"/>
                </a:solidFill>
                <a:latin typeface="Consolas"/>
              </a:rPr>
              <a:t>)</a:t>
            </a:r>
            <a:endParaRPr lang="en-US" sz="2700" b="0" i="0" dirty="0">
              <a:solidFill>
                <a:srgbClr val="E6EDF3"/>
              </a:solidFill>
              <a:latin typeface="Consolas"/>
            </a:endParaRPr>
          </a:p>
          <a:p>
            <a:pPr algn="l">
              <a:lnSpc>
                <a:spcPct val="100000"/>
              </a:lnSpc>
              <a:spcAft>
                <a:spcPts val="0"/>
              </a:spcAft>
            </a:pPr>
            <a:endParaRPr lang="en-ID" sz="2700" dirty="0">
              <a:solidFill>
                <a:srgbClr val="E6EDF3"/>
              </a:solidFill>
              <a:latin typeface="Consolas"/>
            </a:endParaRPr>
          </a:p>
          <a:p>
            <a:r>
              <a:rPr lang="en-ID" sz="2700" dirty="0">
                <a:solidFill>
                  <a:srgbClr val="E6EDF3"/>
                </a:solidFill>
                <a:latin typeface="Consolas"/>
              </a:rPr>
              <a:t>	   preds = </a:t>
            </a:r>
            <a:r>
              <a:rPr lang="en-ID" sz="2700" dirty="0" err="1">
                <a:solidFill>
                  <a:srgbClr val="E6EDF3"/>
                </a:solidFill>
                <a:latin typeface="Consolas"/>
              </a:rPr>
              <a:t>model.predict</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a:t>
            </a:r>
          </a:p>
          <a:p>
            <a:r>
              <a:rPr lang="en-ID" sz="2700" dirty="0">
                <a:solidFill>
                  <a:srgbClr val="E6EDF3"/>
                </a:solidFill>
                <a:latin typeface="Consolas"/>
              </a:rPr>
              <a:t>	   </a:t>
            </a:r>
            <a:r>
              <a:rPr lang="en-ID" sz="2700" dirty="0" err="1">
                <a:solidFill>
                  <a:srgbClr val="E6EDF3"/>
                </a:solidFill>
                <a:latin typeface="Consolas"/>
              </a:rPr>
              <a:t>proba</a:t>
            </a:r>
            <a:r>
              <a:rPr lang="en-ID" sz="2700" dirty="0">
                <a:solidFill>
                  <a:srgbClr val="E6EDF3"/>
                </a:solidFill>
                <a:latin typeface="Consolas"/>
              </a:rPr>
              <a:t> = </a:t>
            </a:r>
            <a:r>
              <a:rPr lang="en-ID" sz="2700" dirty="0" err="1">
                <a:solidFill>
                  <a:srgbClr val="E6EDF3"/>
                </a:solidFill>
                <a:latin typeface="Consolas"/>
              </a:rPr>
              <a:t>model.predict_proba</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 1]</a:t>
            </a:r>
            <a:r>
              <a:rPr lang="en-ID" sz="2800" dirty="0"/>
              <a:t>]]</a:t>
            </a:r>
          </a:p>
          <a:p>
            <a:pPr algn="l">
              <a:lnSpc>
                <a:spcPct val="100000"/>
              </a:lnSpc>
              <a:spcAft>
                <a:spcPts val="0"/>
              </a:spcAft>
            </a:pPr>
            <a:endParaRPr sz="2700" b="0" i="0" dirty="0">
              <a:solidFill>
                <a:srgbClr val="E6EDF3"/>
              </a:solidFill>
              <a:latin typeface="Consolas"/>
            </a:endParaRPr>
          </a:p>
          <a:p>
            <a:pPr algn="l">
              <a:lnSpc>
                <a:spcPct val="100000"/>
              </a:lnSpc>
              <a:spcAft>
                <a:spcPts val="0"/>
              </a:spcAft>
            </a:pPr>
            <a:r>
              <a:rPr sz="2700" b="0" i="0" dirty="0">
                <a:solidFill>
                  <a:srgbClr val="00B0F0"/>
                </a:solidFill>
                <a:latin typeface="Consolas"/>
              </a:rPr>
              <a:t>        for k, v in </a:t>
            </a:r>
            <a:r>
              <a:rPr sz="2700" b="0" i="0" dirty="0" err="1">
                <a:solidFill>
                  <a:srgbClr val="00B0F0"/>
                </a:solidFill>
                <a:latin typeface="Consolas"/>
              </a:rPr>
              <a:t>params.items</a:t>
            </a:r>
            <a:r>
              <a:rPr sz="2700" b="0" i="0" dirty="0">
                <a:solidFill>
                  <a:srgbClr val="00B0F0"/>
                </a:solidFill>
                <a:latin typeface="Consolas"/>
              </a:rPr>
              <a:t>():</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mlflow.log_param</a:t>
            </a:r>
            <a:r>
              <a:rPr sz="2700" b="0" i="0" dirty="0">
                <a:solidFill>
                  <a:srgbClr val="00B0F0"/>
                </a:solidFill>
                <a:latin typeface="Consolas"/>
              </a:rPr>
              <a:t>(k, v)</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mlflow.log_metric</a:t>
            </a:r>
            <a:r>
              <a:rPr sz="2700" b="0" i="0" dirty="0">
                <a:solidFill>
                  <a:srgbClr val="00B0F0"/>
                </a:solidFill>
                <a:latin typeface="Consolas"/>
              </a:rPr>
              <a:t>("accuracy", </a:t>
            </a:r>
            <a:r>
              <a:rPr sz="2700" b="0" i="0" dirty="0" err="1">
                <a:solidFill>
                  <a:srgbClr val="00B0F0"/>
                </a:solidFill>
                <a:latin typeface="Consolas"/>
              </a:rPr>
              <a:t>accuracy_score</a:t>
            </a:r>
            <a:r>
              <a:rPr sz="2700" b="0" i="0" dirty="0">
                <a:solidFill>
                  <a:srgbClr val="00B0F0"/>
                </a:solidFill>
                <a:latin typeface="Consolas"/>
              </a:rPr>
              <a:t>(</a:t>
            </a:r>
            <a:r>
              <a:rPr sz="2700" b="0" i="0" dirty="0" err="1">
                <a:solidFill>
                  <a:srgbClr val="00B0F0"/>
                </a:solidFill>
                <a:latin typeface="Consolas"/>
              </a:rPr>
              <a:t>y_test</a:t>
            </a:r>
            <a:r>
              <a:rPr sz="2700" b="0" i="0" dirty="0">
                <a:solidFill>
                  <a:srgbClr val="00B0F0"/>
                </a:solidFill>
                <a:latin typeface="Consolas"/>
              </a:rPr>
              <a:t>, preds))</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mlflow.log_metric</a:t>
            </a:r>
            <a:r>
              <a:rPr sz="2700" b="0" i="0" dirty="0">
                <a:solidFill>
                  <a:srgbClr val="00B0F0"/>
                </a:solidFill>
                <a:latin typeface="Consolas"/>
              </a:rPr>
              <a:t>("</a:t>
            </a:r>
            <a:r>
              <a:rPr sz="2700" b="0" i="0" dirty="0" err="1">
                <a:solidFill>
                  <a:srgbClr val="00B0F0"/>
                </a:solidFill>
                <a:latin typeface="Consolas"/>
              </a:rPr>
              <a:t>roc_auc</a:t>
            </a:r>
            <a:r>
              <a:rPr sz="2700" b="0" i="0" dirty="0">
                <a:solidFill>
                  <a:srgbClr val="00B0F0"/>
                </a:solidFill>
                <a:latin typeface="Consolas"/>
              </a:rPr>
              <a:t>", </a:t>
            </a:r>
            <a:r>
              <a:rPr sz="2700" b="0" i="0" dirty="0" err="1">
                <a:solidFill>
                  <a:srgbClr val="00B0F0"/>
                </a:solidFill>
                <a:latin typeface="Consolas"/>
              </a:rPr>
              <a:t>roc_auc_score</a:t>
            </a:r>
            <a:r>
              <a:rPr sz="2700" b="0" i="0" dirty="0">
                <a:solidFill>
                  <a:srgbClr val="00B0F0"/>
                </a:solidFill>
                <a:latin typeface="Consolas"/>
              </a:rPr>
              <a:t>(</a:t>
            </a:r>
            <a:r>
              <a:rPr sz="2700" b="0" i="0" dirty="0" err="1">
                <a:solidFill>
                  <a:srgbClr val="00B0F0"/>
                </a:solidFill>
                <a:latin typeface="Consolas"/>
              </a:rPr>
              <a:t>y_test</a:t>
            </a:r>
            <a:r>
              <a:rPr sz="2700" b="0" i="0" dirty="0">
                <a:solidFill>
                  <a:srgbClr val="00B0F0"/>
                </a:solidFill>
                <a:latin typeface="Consolas"/>
              </a:rPr>
              <a:t>, </a:t>
            </a:r>
            <a:r>
              <a:rPr sz="2700" b="0" i="0" dirty="0" err="1">
                <a:solidFill>
                  <a:srgbClr val="00B0F0"/>
                </a:solidFill>
                <a:latin typeface="Consolas"/>
              </a:rPr>
              <a:t>proba</a:t>
            </a:r>
            <a:r>
              <a:rPr sz="2700" b="0" i="0" dirty="0">
                <a:solidFill>
                  <a:srgbClr val="00B0F0"/>
                </a:solidFill>
                <a:latin typeface="Consolas"/>
              </a:rPr>
              <a:t>))</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mlflow.log_metric</a:t>
            </a:r>
            <a:r>
              <a:rPr sz="2700" b="0" i="0" dirty="0">
                <a:solidFill>
                  <a:srgbClr val="00B0F0"/>
                </a:solidFill>
                <a:latin typeface="Consolas"/>
              </a:rPr>
              <a:t>("f1_score", f1_score(</a:t>
            </a:r>
            <a:r>
              <a:rPr sz="2700" b="0" i="0" dirty="0" err="1">
                <a:solidFill>
                  <a:srgbClr val="00B0F0"/>
                </a:solidFill>
                <a:latin typeface="Consolas"/>
              </a:rPr>
              <a:t>y_test</a:t>
            </a:r>
            <a:r>
              <a:rPr sz="2700" b="0" i="0" dirty="0">
                <a:solidFill>
                  <a:srgbClr val="00B0F0"/>
                </a:solidFill>
                <a:latin typeface="Consolas"/>
              </a:rPr>
              <a:t>, preds))</a:t>
            </a:r>
          </a:p>
          <a:p>
            <a:pPr algn="l">
              <a:lnSpc>
                <a:spcPct val="100000"/>
              </a:lnSpc>
              <a:spcAft>
                <a:spcPts val="0"/>
              </a:spcAft>
            </a:pPr>
            <a:r>
              <a:rPr sz="2700" b="0" i="0" dirty="0">
                <a:solidFill>
                  <a:srgbClr val="00B0F0"/>
                </a:solidFill>
                <a:latin typeface="Consolas"/>
              </a:rPr>
              <a:t>        </a:t>
            </a:r>
            <a:r>
              <a:rPr sz="2700" b="0" i="0" dirty="0" err="1">
                <a:solidFill>
                  <a:srgbClr val="00B0F0"/>
                </a:solidFill>
                <a:latin typeface="Consolas"/>
              </a:rPr>
              <a:t>model_info</a:t>
            </a:r>
            <a:r>
              <a:rPr sz="2700" b="0" i="0" dirty="0">
                <a:solidFill>
                  <a:srgbClr val="00B0F0"/>
                </a:solidFill>
                <a:latin typeface="Consolas"/>
              </a:rPr>
              <a:t> = </a:t>
            </a:r>
            <a:r>
              <a:rPr sz="2700" b="0" i="0" dirty="0" err="1">
                <a:solidFill>
                  <a:srgbClr val="00B0F0"/>
                </a:solidFill>
                <a:latin typeface="Consolas"/>
              </a:rPr>
              <a:t>mlflow.sklearn.log_model</a:t>
            </a:r>
            <a:r>
              <a:rPr sz="2700" b="0" i="0" dirty="0">
                <a:solidFill>
                  <a:srgbClr val="00B0F0"/>
                </a:solidFill>
                <a:latin typeface="Consolas"/>
              </a:rPr>
              <a:t>(model, name="model")</a:t>
            </a:r>
            <a:endParaRPr lang="en-US" sz="2700" b="0" i="0" dirty="0">
              <a:solidFill>
                <a:srgbClr val="00B0F0"/>
              </a:solidFill>
              <a:latin typeface="Consolas"/>
            </a:endParaRPr>
          </a:p>
          <a:p>
            <a:pPr algn="l">
              <a:lnSpc>
                <a:spcPct val="100000"/>
              </a:lnSpc>
              <a:spcAft>
                <a:spcPts val="0"/>
              </a:spcAft>
            </a:pPr>
            <a:endParaRPr lang="en-ID" sz="2700" dirty="0">
              <a:solidFill>
                <a:srgbClr val="00B0F0"/>
              </a:solidFill>
              <a:latin typeface="Consolas"/>
            </a:endParaRPr>
          </a:p>
          <a:p>
            <a:pPr algn="l">
              <a:lnSpc>
                <a:spcPct val="100000"/>
              </a:lnSpc>
              <a:spcAft>
                <a:spcPts val="0"/>
              </a:spcAft>
            </a:pPr>
            <a:r>
              <a:rPr lang="en-ID" sz="2700" b="0" i="0" dirty="0">
                <a:solidFill>
                  <a:srgbClr val="00B0F0"/>
                </a:solidFill>
                <a:latin typeface="Consolas"/>
              </a:rPr>
              <a:t>	   </a:t>
            </a:r>
            <a:r>
              <a:rPr lang="en-ID" sz="2700" b="0" i="0" dirty="0">
                <a:solidFill>
                  <a:srgbClr val="EFF0EE"/>
                </a:solidFill>
                <a:latin typeface="Consolas"/>
              </a:rPr>
              <a:t>…</a:t>
            </a:r>
            <a:endParaRPr sz="2700" b="0" i="0" dirty="0">
              <a:solidFill>
                <a:srgbClr val="EFF0EE"/>
              </a:solidFill>
              <a:latin typeface="Consolas"/>
            </a:endParaRPr>
          </a:p>
        </p:txBody>
      </p:sp>
      <p:sp>
        <p:nvSpPr>
          <p:cNvPr id="12" name="TextBox 11">
            <a:extLst>
              <a:ext uri="{FF2B5EF4-FFF2-40B4-BE49-F238E27FC236}">
                <a16:creationId xmlns:a16="http://schemas.microsoft.com/office/drawing/2014/main" id="{53558C24-894A-55F1-1C16-E263395F129F}"/>
              </a:ext>
            </a:extLst>
          </p:cNvPr>
          <p:cNvSpPr txBox="1"/>
          <p:nvPr/>
        </p:nvSpPr>
        <p:spPr>
          <a:xfrm>
            <a:off x="1022319" y="1923955"/>
            <a:ext cx="14692601" cy="601703"/>
          </a:xfrm>
          <a:prstGeom prst="rect">
            <a:avLst/>
          </a:prstGeom>
          <a:noFill/>
        </p:spPr>
        <p:txBody>
          <a:bodyPr wrap="square" lIns="0" tIns="0" rIns="0" bIns="0" anchor="ctr">
            <a:spAutoFit/>
          </a:bodyPr>
          <a:lstStyle/>
          <a:p>
            <a:pPr>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a:t>
            </a:r>
            <a:r>
              <a:rPr lang="en-US" sz="3400" b="1" dirty="0">
                <a:solidFill>
                  <a:srgbClr val="1B2A4A"/>
                </a:solidFill>
                <a:latin typeface="Liter"/>
              </a:rPr>
              <a:t>manual logging (</a:t>
            </a:r>
            <a:r>
              <a:rPr lang="en-US" sz="3400" b="1" dirty="0" err="1">
                <a:solidFill>
                  <a:srgbClr val="1B2A4A"/>
                </a:solidFill>
                <a:latin typeface="Liter"/>
              </a:rPr>
              <a:t>train_with_mlflow.py</a:t>
            </a:r>
            <a:r>
              <a:rPr lang="en-US" sz="3400" b="1" dirty="0">
                <a:solidFill>
                  <a:srgbClr val="1B2A4A"/>
                </a:solidFill>
                <a:latin typeface="Liter"/>
              </a:rPr>
              <a:t>)</a:t>
            </a:r>
            <a:endParaRPr sz="3400" b="1" i="0" dirty="0">
              <a:solidFill>
                <a:srgbClr val="1B2A4A"/>
              </a:solidFill>
              <a:latin typeface="Lite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4E5E-EC3D-D61C-72FB-6905914A71D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955385-ADED-8078-8A0B-1517CB1AA908}"/>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dirty="0">
                <a:solidFill>
                  <a:srgbClr val="1B2A4A"/>
                </a:solidFill>
                <a:latin typeface="Liter"/>
              </a:rPr>
              <a:t>Instrumenting Training with </a:t>
            </a:r>
            <a:r>
              <a:rPr sz="4400" b="1" i="0" dirty="0" err="1">
                <a:solidFill>
                  <a:srgbClr val="1B2A4A"/>
                </a:solidFill>
                <a:latin typeface="Liter"/>
              </a:rPr>
              <a:t>MLflow</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01D24951-AAA6-E9A3-B9FD-DD01780E3FB7}"/>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41F6D1F-DC2F-70C4-536C-64AB403322F0}"/>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39E811D3-975D-3526-E569-2BF1970D9544}"/>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pic>
        <p:nvPicPr>
          <p:cNvPr id="13" name="Picture 12" descr="A screenshot of a computer&#10;&#10;AI-generated content may be incorrect.">
            <a:extLst>
              <a:ext uri="{FF2B5EF4-FFF2-40B4-BE49-F238E27FC236}">
                <a16:creationId xmlns:a16="http://schemas.microsoft.com/office/drawing/2014/main" id="{AC8997EE-60E8-08BC-78A7-33A677B67EF8}"/>
              </a:ext>
            </a:extLst>
          </p:cNvPr>
          <p:cNvPicPr>
            <a:picLocks noChangeAspect="1"/>
          </p:cNvPicPr>
          <p:nvPr/>
        </p:nvPicPr>
        <p:blipFill>
          <a:blip r:embed="rId2"/>
          <a:stretch>
            <a:fillRect/>
          </a:stretch>
        </p:blipFill>
        <p:spPr>
          <a:xfrm>
            <a:off x="1022320" y="2699394"/>
            <a:ext cx="21380480" cy="10533435"/>
          </a:xfrm>
          <a:prstGeom prst="rect">
            <a:avLst/>
          </a:prstGeom>
        </p:spPr>
      </p:pic>
      <p:sp>
        <p:nvSpPr>
          <p:cNvPr id="14" name="TextBox 13">
            <a:extLst>
              <a:ext uri="{FF2B5EF4-FFF2-40B4-BE49-F238E27FC236}">
                <a16:creationId xmlns:a16="http://schemas.microsoft.com/office/drawing/2014/main" id="{B8856C54-CF2F-082F-42A8-A4805BD0342A}"/>
              </a:ext>
            </a:extLst>
          </p:cNvPr>
          <p:cNvSpPr txBox="1"/>
          <p:nvPr/>
        </p:nvSpPr>
        <p:spPr>
          <a:xfrm>
            <a:off x="1022320" y="1923955"/>
            <a:ext cx="8738368" cy="601703"/>
          </a:xfrm>
          <a:prstGeom prst="rect">
            <a:avLst/>
          </a:prstGeom>
          <a:noFill/>
        </p:spPr>
        <p:txBody>
          <a:bodyPr wrap="square" lIns="0" tIns="0" rIns="0" bIns="0" anchor="ctr">
            <a:spAutoFit/>
          </a:bodyPr>
          <a:lstStyle/>
          <a:p>
            <a:pPr algn="l">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manual logging</a:t>
            </a:r>
            <a:endParaRPr sz="3400" b="1" i="0" dirty="0">
              <a:solidFill>
                <a:srgbClr val="1B2A4A"/>
              </a:solidFill>
              <a:latin typeface="Liter"/>
            </a:endParaRPr>
          </a:p>
        </p:txBody>
      </p:sp>
    </p:spTree>
    <p:extLst>
      <p:ext uri="{BB962C8B-B14F-4D97-AF65-F5344CB8AC3E}">
        <p14:creationId xmlns:p14="http://schemas.microsoft.com/office/powerpoint/2010/main" val="18655038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529C19-85CE-A72B-511A-C485B60B417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333741A-1FB9-41D8-E215-256DBDE9FDAE}"/>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Instrumenting Training with MLflow</a:t>
            </a:r>
          </a:p>
        </p:txBody>
      </p:sp>
      <p:sp>
        <p:nvSpPr>
          <p:cNvPr id="3" name="Rectangle 2">
            <a:extLst>
              <a:ext uri="{FF2B5EF4-FFF2-40B4-BE49-F238E27FC236}">
                <a16:creationId xmlns:a16="http://schemas.microsoft.com/office/drawing/2014/main" id="{8A527964-A687-A2F8-BD93-314397FB8E30}"/>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89FB9A48-D6B2-03C6-8C19-1E50A2D0B238}"/>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92338D9A-639A-A23B-0399-53DB5A6D6E05}"/>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6" name="Rounded Rectangle 5">
            <a:extLst>
              <a:ext uri="{FF2B5EF4-FFF2-40B4-BE49-F238E27FC236}">
                <a16:creationId xmlns:a16="http://schemas.microsoft.com/office/drawing/2014/main" id="{E24D8AA9-23F7-94E1-E212-E2FCD8E1475B}"/>
              </a:ext>
            </a:extLst>
          </p:cNvPr>
          <p:cNvSpPr/>
          <p:nvPr/>
        </p:nvSpPr>
        <p:spPr>
          <a:xfrm>
            <a:off x="1014984" y="2514600"/>
            <a:ext cx="22347936" cy="10012680"/>
          </a:xfrm>
          <a:prstGeom prst="roundRect">
            <a:avLst>
              <a:gd name="adj" fmla="val 164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a:extLst>
              <a:ext uri="{FF2B5EF4-FFF2-40B4-BE49-F238E27FC236}">
                <a16:creationId xmlns:a16="http://schemas.microsoft.com/office/drawing/2014/main" id="{233DFF75-B2CE-97B0-A3FB-355417628F8F}"/>
              </a:ext>
            </a:extLst>
          </p:cNvPr>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a:extLst>
              <a:ext uri="{FF2B5EF4-FFF2-40B4-BE49-F238E27FC236}">
                <a16:creationId xmlns:a16="http://schemas.microsoft.com/office/drawing/2014/main" id="{C8DA2061-8765-F96C-C3FA-0F1A84F27DA1}"/>
              </a:ext>
            </a:extLst>
          </p:cNvPr>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a:extLst>
              <a:ext uri="{FF2B5EF4-FFF2-40B4-BE49-F238E27FC236}">
                <a16:creationId xmlns:a16="http://schemas.microsoft.com/office/drawing/2014/main" id="{2DC07760-3B6A-692D-B3CA-5BB76EA1EB7D}"/>
              </a:ext>
            </a:extLst>
          </p:cNvPr>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85627C95-B92F-F14F-9B3D-B434DB0D6A77}"/>
              </a:ext>
            </a:extLst>
          </p:cNvPr>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mlflow/train_with_mlflow.py</a:t>
            </a:r>
          </a:p>
        </p:txBody>
      </p:sp>
      <p:sp>
        <p:nvSpPr>
          <p:cNvPr id="11" name="TextBox 10">
            <a:extLst>
              <a:ext uri="{FF2B5EF4-FFF2-40B4-BE49-F238E27FC236}">
                <a16:creationId xmlns:a16="http://schemas.microsoft.com/office/drawing/2014/main" id="{663013A7-C042-7F65-6121-C44490B6B6F5}"/>
              </a:ext>
            </a:extLst>
          </p:cNvPr>
          <p:cNvSpPr txBox="1"/>
          <p:nvPr/>
        </p:nvSpPr>
        <p:spPr>
          <a:xfrm>
            <a:off x="1426464" y="3227832"/>
            <a:ext cx="21616416" cy="9140964"/>
          </a:xfrm>
          <a:prstGeom prst="rect">
            <a:avLst/>
          </a:prstGeom>
          <a:noFill/>
        </p:spPr>
        <p:txBody>
          <a:bodyPr wrap="square" lIns="0" tIns="0" rIns="0" bIns="0" anchor="t">
            <a:spAutoFit/>
          </a:bodyPr>
          <a:lstStyle/>
          <a:p>
            <a:pPr algn="l">
              <a:lnSpc>
                <a:spcPct val="100000"/>
              </a:lnSpc>
              <a:spcAft>
                <a:spcPts val="0"/>
              </a:spcAft>
            </a:pPr>
            <a:r>
              <a:rPr sz="2700" b="0" i="0" dirty="0" err="1">
                <a:solidFill>
                  <a:srgbClr val="E6EDF3"/>
                </a:solidFill>
                <a:latin typeface="Consolas"/>
              </a:rPr>
              <a:t>mlflow.set_tracking_uri</a:t>
            </a:r>
            <a:r>
              <a:rPr sz="2700" b="0" i="0" dirty="0">
                <a:solidFill>
                  <a:srgbClr val="E6EDF3"/>
                </a:solidFill>
                <a:latin typeface="Consolas"/>
              </a:rPr>
              <a:t>("</a:t>
            </a:r>
            <a:r>
              <a:rPr sz="2700" b="0" i="0" dirty="0" err="1">
                <a:solidFill>
                  <a:srgbClr val="E6EDF3"/>
                </a:solidFill>
                <a:latin typeface="Consolas"/>
              </a:rPr>
              <a:t>sqlite</a:t>
            </a:r>
            <a:r>
              <a:rPr sz="2700" b="0" i="0" dirty="0">
                <a:solidFill>
                  <a:srgbClr val="E6EDF3"/>
                </a:solidFill>
                <a:latin typeface="Consolas"/>
              </a:rPr>
              <a:t>:///</a:t>
            </a:r>
            <a:r>
              <a:rPr sz="2700" b="0" i="0" dirty="0" err="1">
                <a:solidFill>
                  <a:srgbClr val="E6EDF3"/>
                </a:solidFill>
                <a:latin typeface="Consolas"/>
              </a:rPr>
              <a:t>mlflow.db</a:t>
            </a:r>
            <a:r>
              <a:rPr sz="2700" b="0" i="0" dirty="0">
                <a:solidFill>
                  <a:srgbClr val="E6EDF3"/>
                </a:solidFill>
                <a:latin typeface="Consolas"/>
              </a:rPr>
              <a:t>")</a:t>
            </a:r>
          </a:p>
          <a:p>
            <a:pPr algn="l">
              <a:lnSpc>
                <a:spcPct val="100000"/>
              </a:lnSpc>
              <a:spcAft>
                <a:spcPts val="0"/>
              </a:spcAft>
            </a:pPr>
            <a:r>
              <a:rPr sz="2700" b="0" i="0" dirty="0" err="1">
                <a:solidFill>
                  <a:srgbClr val="E6EDF3"/>
                </a:solidFill>
                <a:latin typeface="Consolas"/>
              </a:rPr>
              <a:t>mlflow.set_experiment</a:t>
            </a:r>
            <a:r>
              <a:rPr sz="2700" b="0" i="0" dirty="0">
                <a:solidFill>
                  <a:srgbClr val="E6EDF3"/>
                </a:solidFill>
                <a:latin typeface="Consolas"/>
              </a:rPr>
              <a:t>("Insurance Approval Model")</a:t>
            </a:r>
            <a:endParaRPr lang="en-US" sz="2700" b="0" i="0" dirty="0">
              <a:solidFill>
                <a:srgbClr val="E6EDF3"/>
              </a:solidFill>
              <a:latin typeface="Consolas"/>
            </a:endParaRPr>
          </a:p>
          <a:p>
            <a:pPr algn="l">
              <a:lnSpc>
                <a:spcPct val="100000"/>
              </a:lnSpc>
              <a:spcAft>
                <a:spcPts val="0"/>
              </a:spcAft>
            </a:pPr>
            <a:endParaRPr lang="en-US" sz="2700" b="0" i="0" dirty="0">
              <a:solidFill>
                <a:srgbClr val="E6EDF3"/>
              </a:solidFill>
              <a:latin typeface="Consolas"/>
            </a:endParaRPr>
          </a:p>
          <a:p>
            <a:r>
              <a:rPr lang="en-ID" sz="2700" dirty="0" err="1">
                <a:solidFill>
                  <a:srgbClr val="00B0F0"/>
                </a:solidFill>
                <a:latin typeface="Consolas"/>
              </a:rPr>
              <a:t>mlflow.sklearn.autolog</a:t>
            </a:r>
            <a:r>
              <a:rPr lang="en-ID" sz="2700" dirty="0">
                <a:solidFill>
                  <a:srgbClr val="00B0F0"/>
                </a:solidFill>
                <a:latin typeface="Consolas"/>
              </a:rPr>
              <a:t>(</a:t>
            </a:r>
          </a:p>
          <a:p>
            <a:r>
              <a:rPr lang="en-ID" sz="2700" dirty="0">
                <a:solidFill>
                  <a:srgbClr val="00B0F0"/>
                </a:solidFill>
                <a:latin typeface="Consolas"/>
              </a:rPr>
              <a:t>	</a:t>
            </a:r>
            <a:r>
              <a:rPr lang="en-ID" sz="2700" dirty="0" err="1">
                <a:solidFill>
                  <a:srgbClr val="00B0F0"/>
                </a:solidFill>
                <a:latin typeface="Consolas"/>
              </a:rPr>
              <a:t>log_input_examples</a:t>
            </a:r>
            <a:r>
              <a:rPr lang="en-ID" sz="2700" dirty="0">
                <a:solidFill>
                  <a:srgbClr val="00B0F0"/>
                </a:solidFill>
                <a:latin typeface="Consolas"/>
              </a:rPr>
              <a:t>=True,</a:t>
            </a:r>
          </a:p>
          <a:p>
            <a:r>
              <a:rPr lang="en-ID" sz="2700" dirty="0">
                <a:solidFill>
                  <a:srgbClr val="00B0F0"/>
                </a:solidFill>
                <a:latin typeface="Consolas"/>
              </a:rPr>
              <a:t>	</a:t>
            </a:r>
            <a:r>
              <a:rPr lang="en-ID" sz="2700" dirty="0" err="1">
                <a:solidFill>
                  <a:srgbClr val="00B0F0"/>
                </a:solidFill>
                <a:latin typeface="Consolas"/>
              </a:rPr>
              <a:t>log_model_signatures</a:t>
            </a:r>
            <a:r>
              <a:rPr lang="en-ID" sz="2700" dirty="0">
                <a:solidFill>
                  <a:srgbClr val="00B0F0"/>
                </a:solidFill>
                <a:latin typeface="Consolas"/>
              </a:rPr>
              <a:t>=True,</a:t>
            </a:r>
          </a:p>
          <a:p>
            <a:r>
              <a:rPr lang="en-ID" sz="2700" dirty="0">
                <a:solidFill>
                  <a:srgbClr val="00B0F0"/>
                </a:solidFill>
                <a:latin typeface="Consolas"/>
              </a:rPr>
              <a:t>	</a:t>
            </a:r>
            <a:r>
              <a:rPr lang="en-ID" sz="2700" dirty="0" err="1">
                <a:solidFill>
                  <a:srgbClr val="00B0F0"/>
                </a:solidFill>
                <a:latin typeface="Consolas"/>
              </a:rPr>
              <a:t>log_models</a:t>
            </a:r>
            <a:r>
              <a:rPr lang="en-ID" sz="2700" dirty="0">
                <a:solidFill>
                  <a:srgbClr val="00B0F0"/>
                </a:solidFill>
                <a:latin typeface="Consolas"/>
              </a:rPr>
              <a:t>=True</a:t>
            </a:r>
          </a:p>
          <a:p>
            <a:r>
              <a:rPr lang="en-ID" sz="2700" dirty="0">
                <a:solidFill>
                  <a:srgbClr val="00B0F0"/>
                </a:solidFill>
                <a:latin typeface="Consolas"/>
              </a:rPr>
              <a:t>)</a:t>
            </a:r>
          </a:p>
          <a:p>
            <a:pPr algn="l">
              <a:lnSpc>
                <a:spcPct val="100000"/>
              </a:lnSpc>
              <a:spcAft>
                <a:spcPts val="0"/>
              </a:spcAft>
            </a:pPr>
            <a:endParaRPr sz="2700" b="0" i="0" dirty="0">
              <a:solidFill>
                <a:srgbClr val="EFF0EE"/>
              </a:solidFill>
              <a:latin typeface="Consolas"/>
            </a:endParaRPr>
          </a:p>
          <a:p>
            <a:pPr algn="l">
              <a:lnSpc>
                <a:spcPct val="100000"/>
              </a:lnSpc>
              <a:spcAft>
                <a:spcPts val="0"/>
              </a:spcAft>
            </a:pPr>
            <a:r>
              <a:rPr sz="2700" b="0" i="0" dirty="0">
                <a:solidFill>
                  <a:srgbClr val="EFF0EE"/>
                </a:solidFill>
                <a:latin typeface="Consolas"/>
              </a:rPr>
              <a:t> </a:t>
            </a:r>
          </a:p>
          <a:p>
            <a:pPr algn="l">
              <a:lnSpc>
                <a:spcPct val="100000"/>
              </a:lnSpc>
              <a:spcAft>
                <a:spcPts val="0"/>
              </a:spcAft>
            </a:pPr>
            <a:r>
              <a:rPr sz="2700" b="0" i="0" dirty="0">
                <a:solidFill>
                  <a:srgbClr val="E6EDF3"/>
                </a:solidFill>
                <a:latin typeface="Consolas"/>
              </a:rPr>
              <a:t>for name, (</a:t>
            </a:r>
            <a:r>
              <a:rPr sz="2700" b="0" i="0" dirty="0" err="1">
                <a:solidFill>
                  <a:srgbClr val="E6EDF3"/>
                </a:solidFill>
                <a:latin typeface="Consolas"/>
              </a:rPr>
              <a:t>ModelClass</a:t>
            </a:r>
            <a:r>
              <a:rPr sz="2700" b="0" i="0" dirty="0">
                <a:solidFill>
                  <a:srgbClr val="E6EDF3"/>
                </a:solidFill>
                <a:latin typeface="Consolas"/>
              </a:rPr>
              <a:t>, params) in </a:t>
            </a:r>
            <a:r>
              <a:rPr sz="2700" b="0" i="0" dirty="0" err="1">
                <a:solidFill>
                  <a:srgbClr val="E6EDF3"/>
                </a:solidFill>
                <a:latin typeface="Consolas"/>
              </a:rPr>
              <a:t>MODELS.items</a:t>
            </a:r>
            <a:r>
              <a:rPr sz="2700" b="0" i="0" dirty="0">
                <a:solidFill>
                  <a:srgbClr val="E6EDF3"/>
                </a:solidFill>
                <a:latin typeface="Consolas"/>
              </a:rPr>
              <a:t>():   # </a:t>
            </a:r>
            <a:r>
              <a:rPr sz="2700" b="0" i="0" dirty="0" err="1">
                <a:solidFill>
                  <a:srgbClr val="E6EDF3"/>
                </a:solidFill>
                <a:latin typeface="Consolas"/>
              </a:rPr>
              <a:t>DecisionTree</a:t>
            </a:r>
            <a:r>
              <a:rPr sz="2700" b="0" i="0" dirty="0">
                <a:solidFill>
                  <a:srgbClr val="E6EDF3"/>
                </a:solidFill>
                <a:latin typeface="Consolas"/>
              </a:rPr>
              <a:t>, </a:t>
            </a:r>
            <a:r>
              <a:rPr sz="2700" b="0" i="0" dirty="0" err="1">
                <a:solidFill>
                  <a:srgbClr val="E6EDF3"/>
                </a:solidFill>
                <a:latin typeface="Consolas"/>
              </a:rPr>
              <a:t>RandomForest</a:t>
            </a:r>
            <a:r>
              <a:rPr sz="2700" b="0" i="0" dirty="0">
                <a:solidFill>
                  <a:srgbClr val="E6EDF3"/>
                </a:solidFill>
                <a:latin typeface="Consolas"/>
              </a:rPr>
              <a:t>, </a:t>
            </a:r>
            <a:r>
              <a:rPr sz="2700" b="0" i="0" dirty="0" err="1">
                <a:solidFill>
                  <a:srgbClr val="E6EDF3"/>
                </a:solidFill>
                <a:latin typeface="Consolas"/>
              </a:rPr>
              <a:t>GradientBoosting</a:t>
            </a:r>
            <a:endParaRPr sz="2700" b="0" i="0" dirty="0">
              <a:solidFill>
                <a:srgbClr val="E6EDF3"/>
              </a:solidFill>
              <a:latin typeface="Consolas"/>
            </a:endParaRPr>
          </a:p>
          <a:p>
            <a:pPr algn="l">
              <a:lnSpc>
                <a:spcPct val="100000"/>
              </a:lnSpc>
              <a:spcAft>
                <a:spcPts val="0"/>
              </a:spcAft>
            </a:pPr>
            <a:r>
              <a:rPr sz="2700" b="0" i="0" dirty="0">
                <a:solidFill>
                  <a:srgbClr val="E6EDF3"/>
                </a:solidFill>
                <a:latin typeface="Consolas"/>
              </a:rPr>
              <a:t>    with </a:t>
            </a:r>
            <a:r>
              <a:rPr sz="2700" b="0" i="0" dirty="0" err="1">
                <a:solidFill>
                  <a:srgbClr val="E6EDF3"/>
                </a:solidFill>
                <a:latin typeface="Consolas"/>
              </a:rPr>
              <a:t>mlflow.start_run</a:t>
            </a:r>
            <a:r>
              <a:rPr sz="2700" b="0" i="0" dirty="0">
                <a:solidFill>
                  <a:srgbClr val="E6EDF3"/>
                </a:solidFill>
                <a:latin typeface="Consolas"/>
              </a:rPr>
              <a:t>(</a:t>
            </a:r>
            <a:r>
              <a:rPr sz="2700" b="0" i="0" dirty="0" err="1">
                <a:solidFill>
                  <a:srgbClr val="E6EDF3"/>
                </a:solidFill>
                <a:latin typeface="Consolas"/>
              </a:rPr>
              <a:t>run_name</a:t>
            </a:r>
            <a:r>
              <a:rPr sz="2700" b="0" i="0" dirty="0">
                <a:solidFill>
                  <a:srgbClr val="E6EDF3"/>
                </a:solidFill>
                <a:latin typeface="Consolas"/>
              </a:rPr>
              <a:t>=name) as run:</a:t>
            </a:r>
          </a:p>
          <a:p>
            <a:pPr algn="l">
              <a:lnSpc>
                <a:spcPct val="100000"/>
              </a:lnSpc>
              <a:spcAft>
                <a:spcPts val="0"/>
              </a:spcAft>
            </a:pPr>
            <a:r>
              <a:rPr sz="2700" b="0" i="0" dirty="0">
                <a:solidFill>
                  <a:srgbClr val="E6EDF3"/>
                </a:solidFill>
                <a:latin typeface="Consolas"/>
              </a:rPr>
              <a:t>        model = </a:t>
            </a:r>
            <a:r>
              <a:rPr sz="2700" b="0" i="0" dirty="0" err="1">
                <a:solidFill>
                  <a:srgbClr val="E6EDF3"/>
                </a:solidFill>
                <a:latin typeface="Consolas"/>
              </a:rPr>
              <a:t>ModelClass</a:t>
            </a:r>
            <a:r>
              <a:rPr sz="2700" b="0" i="0" dirty="0">
                <a:solidFill>
                  <a:srgbClr val="E6EDF3"/>
                </a:solidFill>
                <a:latin typeface="Consolas"/>
              </a:rPr>
              <a:t>(**params, </a:t>
            </a:r>
            <a:r>
              <a:rPr sz="2700" b="0" i="0" dirty="0" err="1">
                <a:solidFill>
                  <a:srgbClr val="E6EDF3"/>
                </a:solidFill>
                <a:latin typeface="Consolas"/>
              </a:rPr>
              <a:t>random_state</a:t>
            </a:r>
            <a:r>
              <a:rPr sz="2700" b="0" i="0" dirty="0">
                <a:solidFill>
                  <a:srgbClr val="E6EDF3"/>
                </a:solidFill>
                <a:latin typeface="Consolas"/>
              </a:rPr>
              <a:t>=42)</a:t>
            </a:r>
          </a:p>
          <a:p>
            <a:pPr algn="l">
              <a:lnSpc>
                <a:spcPct val="100000"/>
              </a:lnSpc>
              <a:spcAft>
                <a:spcPts val="0"/>
              </a:spcAft>
            </a:pPr>
            <a:r>
              <a:rPr sz="2700" b="0" i="0" dirty="0">
                <a:solidFill>
                  <a:srgbClr val="E6EDF3"/>
                </a:solidFill>
                <a:latin typeface="Consolas"/>
              </a:rPr>
              <a:t>        </a:t>
            </a:r>
            <a:r>
              <a:rPr sz="2700" b="0" i="0" dirty="0" err="1">
                <a:solidFill>
                  <a:srgbClr val="E6EDF3"/>
                </a:solidFill>
                <a:latin typeface="Consolas"/>
              </a:rPr>
              <a:t>model.fit</a:t>
            </a:r>
            <a:r>
              <a:rPr sz="2700" b="0" i="0" dirty="0">
                <a:solidFill>
                  <a:srgbClr val="E6EDF3"/>
                </a:solidFill>
                <a:latin typeface="Consolas"/>
              </a:rPr>
              <a:t>(</a:t>
            </a:r>
            <a:r>
              <a:rPr sz="2700" b="0" i="0" dirty="0" err="1">
                <a:solidFill>
                  <a:srgbClr val="E6EDF3"/>
                </a:solidFill>
                <a:latin typeface="Consolas"/>
              </a:rPr>
              <a:t>X_train</a:t>
            </a:r>
            <a:r>
              <a:rPr sz="2700" b="0" i="0" dirty="0">
                <a:solidFill>
                  <a:srgbClr val="E6EDF3"/>
                </a:solidFill>
                <a:latin typeface="Consolas"/>
              </a:rPr>
              <a:t>, </a:t>
            </a:r>
            <a:r>
              <a:rPr sz="2700" b="0" i="0" dirty="0" err="1">
                <a:solidFill>
                  <a:srgbClr val="E6EDF3"/>
                </a:solidFill>
                <a:latin typeface="Consolas"/>
              </a:rPr>
              <a:t>y_train</a:t>
            </a:r>
            <a:r>
              <a:rPr sz="2700" b="0" i="0" dirty="0">
                <a:solidFill>
                  <a:srgbClr val="E6EDF3"/>
                </a:solidFill>
                <a:latin typeface="Consolas"/>
              </a:rPr>
              <a:t>)</a:t>
            </a:r>
          </a:p>
          <a:p>
            <a:pPr algn="l">
              <a:lnSpc>
                <a:spcPct val="100000"/>
              </a:lnSpc>
              <a:spcAft>
                <a:spcPts val="0"/>
              </a:spcAft>
            </a:pPr>
            <a:r>
              <a:rPr sz="2700" b="0" i="0" dirty="0">
                <a:solidFill>
                  <a:srgbClr val="E6EDF3"/>
                </a:solidFill>
                <a:latin typeface="Consolas"/>
              </a:rPr>
              <a:t> </a:t>
            </a:r>
            <a:endParaRPr lang="en-US" sz="2700" b="0" i="0" dirty="0">
              <a:solidFill>
                <a:srgbClr val="E6EDF3"/>
              </a:solidFill>
              <a:latin typeface="Consolas"/>
            </a:endParaRPr>
          </a:p>
          <a:p>
            <a:r>
              <a:rPr lang="en-ID" sz="2700" dirty="0">
                <a:solidFill>
                  <a:srgbClr val="E6EDF3"/>
                </a:solidFill>
                <a:latin typeface="Consolas"/>
              </a:rPr>
              <a:t>	   preds = </a:t>
            </a:r>
            <a:r>
              <a:rPr lang="en-ID" sz="2700" dirty="0" err="1">
                <a:solidFill>
                  <a:srgbClr val="E6EDF3"/>
                </a:solidFill>
                <a:latin typeface="Consolas"/>
              </a:rPr>
              <a:t>model.predict</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a:t>
            </a:r>
          </a:p>
          <a:p>
            <a:r>
              <a:rPr lang="en-ID" sz="2700" dirty="0">
                <a:solidFill>
                  <a:srgbClr val="E6EDF3"/>
                </a:solidFill>
                <a:latin typeface="Consolas"/>
              </a:rPr>
              <a:t>	   </a:t>
            </a:r>
            <a:r>
              <a:rPr lang="en-ID" sz="2700" dirty="0" err="1">
                <a:solidFill>
                  <a:srgbClr val="E6EDF3"/>
                </a:solidFill>
                <a:latin typeface="Consolas"/>
              </a:rPr>
              <a:t>proba</a:t>
            </a:r>
            <a:r>
              <a:rPr lang="en-ID" sz="2700" dirty="0">
                <a:solidFill>
                  <a:srgbClr val="E6EDF3"/>
                </a:solidFill>
                <a:latin typeface="Consolas"/>
              </a:rPr>
              <a:t> = </a:t>
            </a:r>
            <a:r>
              <a:rPr lang="en-ID" sz="2700" dirty="0" err="1">
                <a:solidFill>
                  <a:srgbClr val="E6EDF3"/>
                </a:solidFill>
                <a:latin typeface="Consolas"/>
              </a:rPr>
              <a:t>model.predict_proba</a:t>
            </a:r>
            <a:r>
              <a:rPr lang="en-ID" sz="2700" dirty="0">
                <a:solidFill>
                  <a:srgbClr val="E6EDF3"/>
                </a:solidFill>
                <a:latin typeface="Consolas"/>
              </a:rPr>
              <a:t>(</a:t>
            </a:r>
            <a:r>
              <a:rPr lang="en-ID" sz="2700" dirty="0" err="1">
                <a:solidFill>
                  <a:srgbClr val="E6EDF3"/>
                </a:solidFill>
                <a:latin typeface="Consolas"/>
              </a:rPr>
              <a:t>X_test</a:t>
            </a:r>
            <a:r>
              <a:rPr lang="en-ID" sz="2700" dirty="0">
                <a:solidFill>
                  <a:srgbClr val="E6EDF3"/>
                </a:solidFill>
                <a:latin typeface="Consolas"/>
              </a:rPr>
              <a:t>)[:, 1]</a:t>
            </a:r>
            <a:r>
              <a:rPr lang="en-ID" dirty="0"/>
              <a:t>]]</a:t>
            </a:r>
          </a:p>
          <a:p>
            <a:pPr algn="l">
              <a:lnSpc>
                <a:spcPct val="100000"/>
              </a:lnSpc>
              <a:spcAft>
                <a:spcPts val="0"/>
              </a:spcAft>
            </a:pPr>
            <a:r>
              <a:rPr lang="en-US" sz="2700" b="0" i="0" dirty="0">
                <a:solidFill>
                  <a:srgbClr val="00B0F0"/>
                </a:solidFill>
                <a:latin typeface="Consolas"/>
              </a:rPr>
              <a:t>	   </a:t>
            </a:r>
            <a:r>
              <a:rPr sz="2700" b="0" i="0" dirty="0" err="1">
                <a:solidFill>
                  <a:srgbClr val="FF0000"/>
                </a:solidFill>
                <a:latin typeface="Consolas"/>
              </a:rPr>
              <a:t>mlflow.log_metric</a:t>
            </a:r>
            <a:r>
              <a:rPr sz="2700" b="0" i="0" dirty="0">
                <a:solidFill>
                  <a:srgbClr val="FF0000"/>
                </a:solidFill>
                <a:latin typeface="Consolas"/>
              </a:rPr>
              <a:t>("accuracy", </a:t>
            </a:r>
            <a:r>
              <a:rPr sz="2700" b="0" i="0" dirty="0" err="1">
                <a:solidFill>
                  <a:srgbClr val="FF0000"/>
                </a:solidFill>
                <a:latin typeface="Consolas"/>
              </a:rPr>
              <a:t>accuracy_score</a:t>
            </a:r>
            <a:r>
              <a:rPr sz="2700" b="0" i="0" dirty="0">
                <a:solidFill>
                  <a:srgbClr val="FF0000"/>
                </a:solidFill>
                <a:latin typeface="Consolas"/>
              </a:rPr>
              <a:t>(</a:t>
            </a:r>
            <a:r>
              <a:rPr sz="2700" b="0" i="0" dirty="0" err="1">
                <a:solidFill>
                  <a:srgbClr val="FF0000"/>
                </a:solidFill>
                <a:latin typeface="Consolas"/>
              </a:rPr>
              <a:t>y_test</a:t>
            </a:r>
            <a:r>
              <a:rPr sz="2700" b="0" i="0" dirty="0">
                <a:solidFill>
                  <a:srgbClr val="FF0000"/>
                </a:solidFill>
                <a:latin typeface="Consolas"/>
              </a:rPr>
              <a:t>, preds))</a:t>
            </a:r>
          </a:p>
          <a:p>
            <a:pPr algn="l">
              <a:lnSpc>
                <a:spcPct val="100000"/>
              </a:lnSpc>
              <a:spcAft>
                <a:spcPts val="0"/>
              </a:spcAft>
            </a:pPr>
            <a:r>
              <a:rPr sz="2700" b="0" i="0" dirty="0">
                <a:solidFill>
                  <a:srgbClr val="FF0000"/>
                </a:solidFill>
                <a:latin typeface="Consolas"/>
              </a:rPr>
              <a:t>        </a:t>
            </a:r>
            <a:r>
              <a:rPr sz="2700" b="0" i="0" dirty="0" err="1">
                <a:solidFill>
                  <a:srgbClr val="FF0000"/>
                </a:solidFill>
                <a:latin typeface="Consolas"/>
              </a:rPr>
              <a:t>mlflow.log_metric</a:t>
            </a:r>
            <a:r>
              <a:rPr sz="2700" b="0" i="0" dirty="0">
                <a:solidFill>
                  <a:srgbClr val="FF0000"/>
                </a:solidFill>
                <a:latin typeface="Consolas"/>
              </a:rPr>
              <a:t>("</a:t>
            </a:r>
            <a:r>
              <a:rPr sz="2700" b="0" i="0" dirty="0" err="1">
                <a:solidFill>
                  <a:srgbClr val="FF0000"/>
                </a:solidFill>
                <a:latin typeface="Consolas"/>
              </a:rPr>
              <a:t>roc_auc</a:t>
            </a:r>
            <a:r>
              <a:rPr sz="2700" b="0" i="0" dirty="0">
                <a:solidFill>
                  <a:srgbClr val="FF0000"/>
                </a:solidFill>
                <a:latin typeface="Consolas"/>
              </a:rPr>
              <a:t>", </a:t>
            </a:r>
            <a:r>
              <a:rPr sz="2700" b="0" i="0" dirty="0" err="1">
                <a:solidFill>
                  <a:srgbClr val="FF0000"/>
                </a:solidFill>
                <a:latin typeface="Consolas"/>
              </a:rPr>
              <a:t>roc_auc_score</a:t>
            </a:r>
            <a:r>
              <a:rPr sz="2700" b="0" i="0" dirty="0">
                <a:solidFill>
                  <a:srgbClr val="FF0000"/>
                </a:solidFill>
                <a:latin typeface="Consolas"/>
              </a:rPr>
              <a:t>(</a:t>
            </a:r>
            <a:r>
              <a:rPr sz="2700" b="0" i="0" dirty="0" err="1">
                <a:solidFill>
                  <a:srgbClr val="FF0000"/>
                </a:solidFill>
                <a:latin typeface="Consolas"/>
              </a:rPr>
              <a:t>y_test</a:t>
            </a:r>
            <a:r>
              <a:rPr sz="2700" b="0" i="0" dirty="0">
                <a:solidFill>
                  <a:srgbClr val="FF0000"/>
                </a:solidFill>
                <a:latin typeface="Consolas"/>
              </a:rPr>
              <a:t>, </a:t>
            </a:r>
            <a:r>
              <a:rPr sz="2700" b="0" i="0" dirty="0" err="1">
                <a:solidFill>
                  <a:srgbClr val="FF0000"/>
                </a:solidFill>
                <a:latin typeface="Consolas"/>
              </a:rPr>
              <a:t>proba</a:t>
            </a:r>
            <a:r>
              <a:rPr sz="2700" b="0" i="0" dirty="0">
                <a:solidFill>
                  <a:srgbClr val="FF0000"/>
                </a:solidFill>
                <a:latin typeface="Consolas"/>
              </a:rPr>
              <a:t>))</a:t>
            </a:r>
          </a:p>
          <a:p>
            <a:pPr algn="l">
              <a:lnSpc>
                <a:spcPct val="100000"/>
              </a:lnSpc>
              <a:spcAft>
                <a:spcPts val="0"/>
              </a:spcAft>
            </a:pPr>
            <a:r>
              <a:rPr sz="2700" b="0" i="0" dirty="0">
                <a:solidFill>
                  <a:srgbClr val="FF0000"/>
                </a:solidFill>
                <a:latin typeface="Consolas"/>
              </a:rPr>
              <a:t>        </a:t>
            </a:r>
            <a:r>
              <a:rPr sz="2700" b="0" i="0" dirty="0" err="1">
                <a:solidFill>
                  <a:srgbClr val="FF0000"/>
                </a:solidFill>
                <a:latin typeface="Consolas"/>
              </a:rPr>
              <a:t>mlflow.log_metric</a:t>
            </a:r>
            <a:r>
              <a:rPr sz="2700" b="0" i="0" dirty="0">
                <a:solidFill>
                  <a:srgbClr val="FF0000"/>
                </a:solidFill>
                <a:latin typeface="Consolas"/>
              </a:rPr>
              <a:t>("f1_score", f1_score(</a:t>
            </a:r>
            <a:r>
              <a:rPr sz="2700" b="0" i="0" dirty="0" err="1">
                <a:solidFill>
                  <a:srgbClr val="FF0000"/>
                </a:solidFill>
                <a:latin typeface="Consolas"/>
              </a:rPr>
              <a:t>y_test</a:t>
            </a:r>
            <a:r>
              <a:rPr sz="2700" b="0" i="0" dirty="0">
                <a:solidFill>
                  <a:srgbClr val="FF0000"/>
                </a:solidFill>
                <a:latin typeface="Consolas"/>
              </a:rPr>
              <a:t>, preds))</a:t>
            </a:r>
          </a:p>
          <a:p>
            <a:pPr algn="l">
              <a:lnSpc>
                <a:spcPct val="100000"/>
              </a:lnSpc>
              <a:spcAft>
                <a:spcPts val="0"/>
              </a:spcAft>
            </a:pPr>
            <a:r>
              <a:rPr sz="2700" b="0" i="0" dirty="0">
                <a:solidFill>
                  <a:srgbClr val="E6EDF3"/>
                </a:solidFill>
                <a:latin typeface="Consolas"/>
              </a:rPr>
              <a:t>       </a:t>
            </a:r>
            <a:endParaRPr lang="en-US" sz="2700" b="0" i="0" dirty="0">
              <a:solidFill>
                <a:srgbClr val="E6EDF3"/>
              </a:solidFill>
              <a:latin typeface="Consolas"/>
            </a:endParaRPr>
          </a:p>
          <a:p>
            <a:pPr algn="l">
              <a:lnSpc>
                <a:spcPct val="100000"/>
              </a:lnSpc>
              <a:spcAft>
                <a:spcPts val="0"/>
              </a:spcAft>
            </a:pPr>
            <a:r>
              <a:rPr lang="en-ID" sz="2700" dirty="0">
                <a:solidFill>
                  <a:srgbClr val="E6EDF3"/>
                </a:solidFill>
                <a:latin typeface="Consolas"/>
              </a:rPr>
              <a:t>	   ….</a:t>
            </a:r>
            <a:endParaRPr sz="2700" dirty="0">
              <a:solidFill>
                <a:srgbClr val="E6EDF3"/>
              </a:solidFill>
              <a:latin typeface="Consolas"/>
            </a:endParaRPr>
          </a:p>
        </p:txBody>
      </p:sp>
      <p:sp>
        <p:nvSpPr>
          <p:cNvPr id="12" name="TextBox 11">
            <a:extLst>
              <a:ext uri="{FF2B5EF4-FFF2-40B4-BE49-F238E27FC236}">
                <a16:creationId xmlns:a16="http://schemas.microsoft.com/office/drawing/2014/main" id="{87C0C646-1EE9-75ED-3089-B140A7777344}"/>
              </a:ext>
            </a:extLst>
          </p:cNvPr>
          <p:cNvSpPr txBox="1"/>
          <p:nvPr/>
        </p:nvSpPr>
        <p:spPr>
          <a:xfrm>
            <a:off x="1022319" y="1923955"/>
            <a:ext cx="14969047" cy="601703"/>
          </a:xfrm>
          <a:prstGeom prst="rect">
            <a:avLst/>
          </a:prstGeom>
          <a:noFill/>
        </p:spPr>
        <p:txBody>
          <a:bodyPr wrap="square" lIns="0" tIns="0" rIns="0" bIns="0" anchor="ctr">
            <a:spAutoFit/>
          </a:bodyPr>
          <a:lstStyle/>
          <a:p>
            <a:pPr>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a:t>
            </a:r>
            <a:r>
              <a:rPr lang="en-US" sz="3400" b="1" dirty="0">
                <a:solidFill>
                  <a:srgbClr val="1B2A4A"/>
                </a:solidFill>
                <a:latin typeface="Liter"/>
              </a:rPr>
              <a:t>auto-logging (</a:t>
            </a:r>
            <a:r>
              <a:rPr lang="en-US" sz="3400" b="1" dirty="0" err="1">
                <a:solidFill>
                  <a:srgbClr val="1B2A4A"/>
                </a:solidFill>
                <a:latin typeface="Liter"/>
              </a:rPr>
              <a:t>train_with_mlflow_autologing.py</a:t>
            </a:r>
            <a:r>
              <a:rPr lang="en-US" sz="3400" b="1" dirty="0">
                <a:solidFill>
                  <a:srgbClr val="1B2A4A"/>
                </a:solidFill>
                <a:latin typeface="Liter"/>
              </a:rPr>
              <a:t>)</a:t>
            </a:r>
            <a:endParaRPr sz="3400" b="1" i="0" dirty="0">
              <a:solidFill>
                <a:srgbClr val="1B2A4A"/>
              </a:solidFill>
              <a:latin typeface="Liter"/>
            </a:endParaRPr>
          </a:p>
        </p:txBody>
      </p:sp>
      <p:sp>
        <p:nvSpPr>
          <p:cNvPr id="13" name="TextBox 12">
            <a:extLst>
              <a:ext uri="{FF2B5EF4-FFF2-40B4-BE49-F238E27FC236}">
                <a16:creationId xmlns:a16="http://schemas.microsoft.com/office/drawing/2014/main" id="{9109AC7B-01AA-30F3-4084-BBAE27FF59B4}"/>
              </a:ext>
            </a:extLst>
          </p:cNvPr>
          <p:cNvSpPr txBox="1"/>
          <p:nvPr/>
        </p:nvSpPr>
        <p:spPr>
          <a:xfrm>
            <a:off x="975360" y="12698791"/>
            <a:ext cx="22834328" cy="523220"/>
          </a:xfrm>
          <a:prstGeom prst="rect">
            <a:avLst/>
          </a:prstGeom>
          <a:noFill/>
        </p:spPr>
        <p:txBody>
          <a:bodyPr wrap="none" rtlCol="0">
            <a:spAutoFit/>
          </a:bodyPr>
          <a:lstStyle/>
          <a:p>
            <a:r>
              <a:rPr lang="en-US" sz="2800" i="1" dirty="0" err="1"/>
              <a:t>MLFlow</a:t>
            </a:r>
            <a:r>
              <a:rPr lang="en-US" sz="2800" i="1" dirty="0"/>
              <a:t> is designed to observe ML model training, thus information from prediction is not included in auto-logging information and must be manually logged</a:t>
            </a:r>
          </a:p>
        </p:txBody>
      </p:sp>
    </p:spTree>
    <p:extLst>
      <p:ext uri="{BB962C8B-B14F-4D97-AF65-F5344CB8AC3E}">
        <p14:creationId xmlns:p14="http://schemas.microsoft.com/office/powerpoint/2010/main" val="32285539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EE52E7-6816-D9F1-3FA5-BF14EF3DB7F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947B23-821A-2DEB-7AD0-FFDEE2A3D993}"/>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Instrumenting Training with MLflow</a:t>
            </a:r>
          </a:p>
        </p:txBody>
      </p:sp>
      <p:sp>
        <p:nvSpPr>
          <p:cNvPr id="3" name="Rectangle 2">
            <a:extLst>
              <a:ext uri="{FF2B5EF4-FFF2-40B4-BE49-F238E27FC236}">
                <a16:creationId xmlns:a16="http://schemas.microsoft.com/office/drawing/2014/main" id="{9C244157-F2F1-02E9-DB88-F3B2F17F8BF4}"/>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E39C638B-0622-7DBF-A7E7-FC0BEDC2198B}"/>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AD39C104-765C-76C9-EBE8-44F2A1496688}"/>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12" name="TextBox 11">
            <a:extLst>
              <a:ext uri="{FF2B5EF4-FFF2-40B4-BE49-F238E27FC236}">
                <a16:creationId xmlns:a16="http://schemas.microsoft.com/office/drawing/2014/main" id="{E1D50697-2E36-A8C3-71A4-85E06F6F85FE}"/>
              </a:ext>
            </a:extLst>
          </p:cNvPr>
          <p:cNvSpPr txBox="1"/>
          <p:nvPr/>
        </p:nvSpPr>
        <p:spPr>
          <a:xfrm>
            <a:off x="1022319" y="1923955"/>
            <a:ext cx="14969047" cy="601703"/>
          </a:xfrm>
          <a:prstGeom prst="rect">
            <a:avLst/>
          </a:prstGeom>
          <a:noFill/>
        </p:spPr>
        <p:txBody>
          <a:bodyPr wrap="square" lIns="0" tIns="0" rIns="0" bIns="0" anchor="ctr">
            <a:spAutoFit/>
          </a:bodyPr>
          <a:lstStyle/>
          <a:p>
            <a:pPr>
              <a:lnSpc>
                <a:spcPct val="120000"/>
              </a:lnSpc>
              <a:spcAft>
                <a:spcPts val="600"/>
              </a:spcAft>
            </a:pPr>
            <a:r>
              <a:rPr lang="en-US" sz="3400" b="1" i="0" dirty="0">
                <a:solidFill>
                  <a:srgbClr val="1B2A4A"/>
                </a:solidFill>
                <a:latin typeface="Liter"/>
              </a:rPr>
              <a:t>Experiments </a:t>
            </a:r>
            <a:r>
              <a:rPr sz="3400" b="1" i="0" dirty="0">
                <a:solidFill>
                  <a:srgbClr val="1B2A4A"/>
                </a:solidFill>
                <a:latin typeface="Liter"/>
              </a:rPr>
              <a:t>Tracking</a:t>
            </a:r>
            <a:r>
              <a:rPr lang="en-US" sz="3400" b="1" i="0" dirty="0">
                <a:solidFill>
                  <a:srgbClr val="1B2A4A"/>
                </a:solidFill>
                <a:latin typeface="Liter"/>
              </a:rPr>
              <a:t>: </a:t>
            </a:r>
            <a:r>
              <a:rPr lang="en-US" sz="3400" b="1" dirty="0">
                <a:solidFill>
                  <a:srgbClr val="1B2A4A"/>
                </a:solidFill>
                <a:latin typeface="Liter"/>
              </a:rPr>
              <a:t>auto-logging (</a:t>
            </a:r>
            <a:r>
              <a:rPr lang="en-US" sz="3400" b="1" dirty="0" err="1">
                <a:solidFill>
                  <a:srgbClr val="1B2A4A"/>
                </a:solidFill>
                <a:latin typeface="Liter"/>
              </a:rPr>
              <a:t>train_with_mlflow_autologing.py</a:t>
            </a:r>
            <a:r>
              <a:rPr lang="en-US" sz="3400" b="1" dirty="0">
                <a:solidFill>
                  <a:srgbClr val="1B2A4A"/>
                </a:solidFill>
                <a:latin typeface="Liter"/>
              </a:rPr>
              <a:t>)</a:t>
            </a:r>
            <a:endParaRPr sz="3400" b="1" i="0" dirty="0">
              <a:solidFill>
                <a:srgbClr val="1B2A4A"/>
              </a:solidFill>
              <a:latin typeface="Liter"/>
            </a:endParaRPr>
          </a:p>
        </p:txBody>
      </p:sp>
      <p:pic>
        <p:nvPicPr>
          <p:cNvPr id="14" name="Picture 13" descr="A screenshot of a computer&#10;&#10;AI-generated content may be incorrect.">
            <a:extLst>
              <a:ext uri="{FF2B5EF4-FFF2-40B4-BE49-F238E27FC236}">
                <a16:creationId xmlns:a16="http://schemas.microsoft.com/office/drawing/2014/main" id="{E8C60F1D-DA29-5D91-5F95-2D42F0C74751}"/>
              </a:ext>
            </a:extLst>
          </p:cNvPr>
          <p:cNvPicPr>
            <a:picLocks noChangeAspect="1"/>
          </p:cNvPicPr>
          <p:nvPr/>
        </p:nvPicPr>
        <p:blipFill>
          <a:blip r:embed="rId2"/>
          <a:stretch>
            <a:fillRect/>
          </a:stretch>
        </p:blipFill>
        <p:spPr>
          <a:xfrm>
            <a:off x="1022319" y="2739685"/>
            <a:ext cx="18170405" cy="10045873"/>
          </a:xfrm>
          <a:prstGeom prst="rect">
            <a:avLst/>
          </a:prstGeom>
        </p:spPr>
      </p:pic>
      <p:sp>
        <p:nvSpPr>
          <p:cNvPr id="16" name="TextBox 15">
            <a:extLst>
              <a:ext uri="{FF2B5EF4-FFF2-40B4-BE49-F238E27FC236}">
                <a16:creationId xmlns:a16="http://schemas.microsoft.com/office/drawing/2014/main" id="{7DBA4B91-17C5-DC80-75EE-86960AF8238F}"/>
              </a:ext>
            </a:extLst>
          </p:cNvPr>
          <p:cNvSpPr txBox="1"/>
          <p:nvPr/>
        </p:nvSpPr>
        <p:spPr>
          <a:xfrm>
            <a:off x="17465260" y="2911402"/>
            <a:ext cx="6351670" cy="3724096"/>
          </a:xfrm>
          <a:prstGeom prst="rect">
            <a:avLst/>
          </a:prstGeom>
          <a:noFill/>
        </p:spPr>
        <p:txBody>
          <a:bodyPr wrap="square" rtlCol="0">
            <a:spAutoFit/>
          </a:bodyPr>
          <a:lstStyle/>
          <a:p>
            <a:r>
              <a:rPr lang="en-US" sz="4400" b="1" dirty="0"/>
              <a:t>Auto-Logging information</a:t>
            </a:r>
          </a:p>
          <a:p>
            <a:pPr marL="342900" indent="-342900">
              <a:buFont typeface="+mj-lt"/>
              <a:buAutoNum type="arabicPeriod"/>
            </a:pPr>
            <a:r>
              <a:rPr lang="en-ID" sz="3200" dirty="0">
                <a:solidFill>
                  <a:srgbClr val="00B0F0"/>
                </a:solidFill>
              </a:rPr>
              <a:t>Model parameters and hyperparameters</a:t>
            </a:r>
          </a:p>
          <a:p>
            <a:pPr marL="342900" indent="-342900">
              <a:buFont typeface="+mj-lt"/>
              <a:buAutoNum type="arabicPeriod"/>
            </a:pPr>
            <a:r>
              <a:rPr lang="en-ID" sz="3200" dirty="0">
                <a:solidFill>
                  <a:srgbClr val="00B0F0"/>
                </a:solidFill>
              </a:rPr>
              <a:t>Training and validation metrics</a:t>
            </a:r>
          </a:p>
          <a:p>
            <a:pPr marL="342900" indent="-342900">
              <a:buFont typeface="+mj-lt"/>
              <a:buAutoNum type="arabicPeriod"/>
            </a:pPr>
            <a:r>
              <a:rPr lang="en-ID" sz="3200" dirty="0">
                <a:solidFill>
                  <a:srgbClr val="00B0F0"/>
                </a:solidFill>
              </a:rPr>
              <a:t>Model artifacts and checkpoints</a:t>
            </a:r>
          </a:p>
          <a:p>
            <a:pPr marL="342900" indent="-342900">
              <a:buFont typeface="+mj-lt"/>
              <a:buAutoNum type="arabicPeriod"/>
            </a:pPr>
            <a:r>
              <a:rPr lang="en-ID" sz="3200" dirty="0">
                <a:solidFill>
                  <a:srgbClr val="00B0F0"/>
                </a:solidFill>
              </a:rPr>
              <a:t>Training plots and visualizations</a:t>
            </a:r>
          </a:p>
          <a:p>
            <a:pPr marL="342900" indent="-342900">
              <a:buFont typeface="+mj-lt"/>
              <a:buAutoNum type="arabicPeriod"/>
            </a:pPr>
            <a:r>
              <a:rPr lang="en-ID" sz="3200" dirty="0">
                <a:solidFill>
                  <a:srgbClr val="00B0F0"/>
                </a:solidFill>
              </a:rPr>
              <a:t>Framework-specific metadata</a:t>
            </a:r>
          </a:p>
        </p:txBody>
      </p:sp>
      <p:sp>
        <p:nvSpPr>
          <p:cNvPr id="18" name="TextBox 17">
            <a:extLst>
              <a:ext uri="{FF2B5EF4-FFF2-40B4-BE49-F238E27FC236}">
                <a16:creationId xmlns:a16="http://schemas.microsoft.com/office/drawing/2014/main" id="{6520796B-8A59-669C-2B0F-2D1E63F0A66B}"/>
              </a:ext>
            </a:extLst>
          </p:cNvPr>
          <p:cNvSpPr txBox="1"/>
          <p:nvPr/>
        </p:nvSpPr>
        <p:spPr>
          <a:xfrm>
            <a:off x="1014984" y="12999585"/>
            <a:ext cx="12195544" cy="584775"/>
          </a:xfrm>
          <a:prstGeom prst="rect">
            <a:avLst/>
          </a:prstGeom>
          <a:noFill/>
        </p:spPr>
        <p:txBody>
          <a:bodyPr wrap="square">
            <a:spAutoFit/>
          </a:bodyPr>
          <a:lstStyle/>
          <a:p>
            <a:r>
              <a:rPr lang="en-US" sz="3200" dirty="0">
                <a:hlinkClick r:id="rId3"/>
              </a:rPr>
              <a:t>https://mlflow.org/docs/latest/ml/tracking/autolog/</a:t>
            </a:r>
            <a:r>
              <a:rPr lang="en-US" sz="3200" dirty="0"/>
              <a:t> </a:t>
            </a:r>
          </a:p>
        </p:txBody>
      </p:sp>
    </p:spTree>
    <p:extLst>
      <p:ext uri="{BB962C8B-B14F-4D97-AF65-F5344CB8AC3E}">
        <p14:creationId xmlns:p14="http://schemas.microsoft.com/office/powerpoint/2010/main" val="3371393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5BCEB2-F0A2-6AA1-B56C-1DD731ACDCF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139D95B-95A9-1351-693B-34585EAF4D53}"/>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Exploring Experiment Tracking</a:t>
            </a:r>
            <a:r>
              <a:rPr sz="4400" b="1" i="0" dirty="0">
                <a:solidFill>
                  <a:srgbClr val="1B2A4A"/>
                </a:solidFill>
                <a:latin typeface="Liter"/>
              </a:rPr>
              <a:t> with </a:t>
            </a:r>
            <a:r>
              <a:rPr sz="4400" b="1" i="0" dirty="0" err="1">
                <a:solidFill>
                  <a:srgbClr val="1B2A4A"/>
                </a:solidFill>
                <a:latin typeface="Liter"/>
              </a:rPr>
              <a:t>MLflow</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D35FD21D-D8E5-3699-3019-6148C255041D}"/>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50F36F21-C70B-96A5-04BC-97E4AF986333}"/>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9C2CE0A5-B0B7-BA81-6277-EA6B53EBC938}"/>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12" name="TextBox 11">
            <a:extLst>
              <a:ext uri="{FF2B5EF4-FFF2-40B4-BE49-F238E27FC236}">
                <a16:creationId xmlns:a16="http://schemas.microsoft.com/office/drawing/2014/main" id="{F89A288C-30ED-14A6-4A83-B48E75B533BB}"/>
              </a:ext>
            </a:extLst>
          </p:cNvPr>
          <p:cNvSpPr txBox="1"/>
          <p:nvPr/>
        </p:nvSpPr>
        <p:spPr>
          <a:xfrm>
            <a:off x="1022319" y="1923955"/>
            <a:ext cx="20646834" cy="601703"/>
          </a:xfrm>
          <a:prstGeom prst="rect">
            <a:avLst/>
          </a:prstGeom>
          <a:noFill/>
        </p:spPr>
        <p:txBody>
          <a:bodyPr wrap="square" lIns="0" tIns="0" rIns="0" bIns="0" anchor="ctr">
            <a:spAutoFit/>
          </a:bodyPr>
          <a:lstStyle/>
          <a:p>
            <a:pPr>
              <a:lnSpc>
                <a:spcPct val="120000"/>
              </a:lnSpc>
              <a:spcAft>
                <a:spcPts val="600"/>
              </a:spcAft>
            </a:pPr>
            <a:r>
              <a:rPr lang="en-US" sz="3400" b="1" dirty="0">
                <a:solidFill>
                  <a:srgbClr val="1B2A4A"/>
                </a:solidFill>
                <a:latin typeface="Liter"/>
                <a:hlinkClick r:id="rId2"/>
              </a:rPr>
              <a:t>https://mlflow.org/docs/latest/ml/tracking/tracking-api/</a:t>
            </a:r>
            <a:r>
              <a:rPr lang="en-US" sz="3400" b="1" dirty="0">
                <a:solidFill>
                  <a:srgbClr val="1B2A4A"/>
                </a:solidFill>
                <a:latin typeface="Liter"/>
              </a:rPr>
              <a:t> (</a:t>
            </a:r>
            <a:r>
              <a:rPr lang="en-US" sz="3400" b="1" dirty="0" err="1">
                <a:solidFill>
                  <a:srgbClr val="1B2A4A"/>
                </a:solidFill>
                <a:latin typeface="Liter"/>
              </a:rPr>
              <a:t>mlflow_explore_tracking.py</a:t>
            </a:r>
            <a:r>
              <a:rPr lang="en-US" sz="3400" b="1" dirty="0">
                <a:solidFill>
                  <a:srgbClr val="1B2A4A"/>
                </a:solidFill>
                <a:latin typeface="Liter"/>
              </a:rPr>
              <a:t>)</a:t>
            </a:r>
            <a:endParaRPr sz="3400" b="1" i="0" dirty="0">
              <a:solidFill>
                <a:srgbClr val="1B2A4A"/>
              </a:solidFill>
              <a:latin typeface="Liter"/>
            </a:endParaRPr>
          </a:p>
        </p:txBody>
      </p:sp>
      <p:pic>
        <p:nvPicPr>
          <p:cNvPr id="9" name="Picture 8" descr="A screenshot of a computer&#10;&#10;AI-generated content may be incorrect.">
            <a:extLst>
              <a:ext uri="{FF2B5EF4-FFF2-40B4-BE49-F238E27FC236}">
                <a16:creationId xmlns:a16="http://schemas.microsoft.com/office/drawing/2014/main" id="{48A9FB6C-1D85-7574-DC9D-48D4F50C4C72}"/>
              </a:ext>
            </a:extLst>
          </p:cNvPr>
          <p:cNvPicPr>
            <a:picLocks noChangeAspect="1"/>
          </p:cNvPicPr>
          <p:nvPr/>
        </p:nvPicPr>
        <p:blipFill>
          <a:blip r:embed="rId3"/>
          <a:stretch>
            <a:fillRect/>
          </a:stretch>
        </p:blipFill>
        <p:spPr>
          <a:xfrm>
            <a:off x="1022319" y="2739685"/>
            <a:ext cx="20125306" cy="10499413"/>
          </a:xfrm>
          <a:prstGeom prst="rect">
            <a:avLst/>
          </a:prstGeom>
        </p:spPr>
      </p:pic>
    </p:spTree>
    <p:extLst>
      <p:ext uri="{BB962C8B-B14F-4D97-AF65-F5344CB8AC3E}">
        <p14:creationId xmlns:p14="http://schemas.microsoft.com/office/powerpoint/2010/main" val="37238655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77683D-1AEA-F9AE-9038-1348A566BA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24E47E8-672A-ADC2-0809-1B7C6F525517}"/>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Exploring Experiment Tracking</a:t>
            </a:r>
            <a:r>
              <a:rPr sz="4400" b="1" i="0" dirty="0">
                <a:solidFill>
                  <a:srgbClr val="1B2A4A"/>
                </a:solidFill>
                <a:latin typeface="Liter"/>
              </a:rPr>
              <a:t> with </a:t>
            </a:r>
            <a:r>
              <a:rPr sz="4400" b="1" i="0" dirty="0" err="1">
                <a:solidFill>
                  <a:srgbClr val="1B2A4A"/>
                </a:solidFill>
                <a:latin typeface="Liter"/>
              </a:rPr>
              <a:t>MLflow</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88D92864-80E9-79C5-5562-8F8209836E7C}"/>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61A30ED-29F7-D836-21DB-D776ADA7924B}"/>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8C3E929B-FDE1-5516-F3F8-56737C8FCF97}"/>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
        <p:nvSpPr>
          <p:cNvPr id="12" name="TextBox 11">
            <a:extLst>
              <a:ext uri="{FF2B5EF4-FFF2-40B4-BE49-F238E27FC236}">
                <a16:creationId xmlns:a16="http://schemas.microsoft.com/office/drawing/2014/main" id="{4E31D0A6-5067-A4AC-05C7-E1D01656FBA2}"/>
              </a:ext>
            </a:extLst>
          </p:cNvPr>
          <p:cNvSpPr txBox="1"/>
          <p:nvPr/>
        </p:nvSpPr>
        <p:spPr>
          <a:xfrm>
            <a:off x="1022319" y="1923955"/>
            <a:ext cx="20646834" cy="601703"/>
          </a:xfrm>
          <a:prstGeom prst="rect">
            <a:avLst/>
          </a:prstGeom>
          <a:noFill/>
        </p:spPr>
        <p:txBody>
          <a:bodyPr wrap="square" lIns="0" tIns="0" rIns="0" bIns="0" anchor="ctr">
            <a:spAutoFit/>
          </a:bodyPr>
          <a:lstStyle/>
          <a:p>
            <a:pPr>
              <a:lnSpc>
                <a:spcPct val="120000"/>
              </a:lnSpc>
              <a:spcAft>
                <a:spcPts val="600"/>
              </a:spcAft>
            </a:pPr>
            <a:r>
              <a:rPr lang="en-US" sz="3400" b="1" dirty="0" err="1">
                <a:solidFill>
                  <a:srgbClr val="1B2A4A"/>
                </a:solidFill>
                <a:latin typeface="Liter"/>
              </a:rPr>
              <a:t>MLFlow</a:t>
            </a:r>
            <a:r>
              <a:rPr lang="en-US" sz="3400" b="1" dirty="0">
                <a:solidFill>
                  <a:srgbClr val="1B2A4A"/>
                </a:solidFill>
                <a:latin typeface="Liter"/>
              </a:rPr>
              <a:t> Logging Results</a:t>
            </a:r>
            <a:endParaRPr sz="3400" b="1" i="0" dirty="0">
              <a:solidFill>
                <a:srgbClr val="1B2A4A"/>
              </a:solidFill>
              <a:latin typeface="Liter"/>
            </a:endParaRPr>
          </a:p>
        </p:txBody>
      </p:sp>
      <p:pic>
        <p:nvPicPr>
          <p:cNvPr id="7" name="Picture 6" descr="A screenshot of a computer&#10;&#10;AI-generated content may be incorrect.">
            <a:extLst>
              <a:ext uri="{FF2B5EF4-FFF2-40B4-BE49-F238E27FC236}">
                <a16:creationId xmlns:a16="http://schemas.microsoft.com/office/drawing/2014/main" id="{F68E19CA-1EF1-40A1-0F98-CBD336781A4E}"/>
              </a:ext>
            </a:extLst>
          </p:cNvPr>
          <p:cNvPicPr>
            <a:picLocks noChangeAspect="1"/>
          </p:cNvPicPr>
          <p:nvPr/>
        </p:nvPicPr>
        <p:blipFill>
          <a:blip r:embed="rId2"/>
          <a:stretch>
            <a:fillRect/>
          </a:stretch>
        </p:blipFill>
        <p:spPr>
          <a:xfrm>
            <a:off x="1022319" y="2739685"/>
            <a:ext cx="17669718" cy="10375146"/>
          </a:xfrm>
          <a:prstGeom prst="rect">
            <a:avLst/>
          </a:prstGeom>
        </p:spPr>
      </p:pic>
    </p:spTree>
    <p:extLst>
      <p:ext uri="{BB962C8B-B14F-4D97-AF65-F5344CB8AC3E}">
        <p14:creationId xmlns:p14="http://schemas.microsoft.com/office/powerpoint/2010/main" val="26113208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B3D2E2-F456-195B-0315-D3062277B91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1FE43D5-5360-E825-314E-C9060CF73DD5}"/>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a:solidFill>
                  <a:srgbClr val="1B2A4A"/>
                </a:solidFill>
                <a:latin typeface="Liter"/>
              </a:rPr>
              <a:t>Assignments Experiment Tracking </a:t>
            </a:r>
            <a:r>
              <a:rPr sz="4400" b="1" i="0" dirty="0" err="1">
                <a:solidFill>
                  <a:srgbClr val="1B2A4A"/>
                </a:solidFill>
                <a:latin typeface="Liter"/>
              </a:rPr>
              <a:t>MLflow</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32DD88D1-EEDC-BC91-4420-02B58D875737}"/>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D158EF06-62B5-73DA-5F36-9B06441B5818}"/>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a:extLst>
              <a:ext uri="{FF2B5EF4-FFF2-40B4-BE49-F238E27FC236}">
                <a16:creationId xmlns:a16="http://schemas.microsoft.com/office/drawing/2014/main" id="{D3B804B4-416B-3DB7-A9B0-B50A899CFA12}"/>
              </a:ext>
            </a:extLst>
          </p:cNvPr>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11</a:t>
            </a:r>
          </a:p>
        </p:txBody>
      </p:sp>
    </p:spTree>
    <p:extLst>
      <p:ext uri="{BB962C8B-B14F-4D97-AF65-F5344CB8AC3E}">
        <p14:creationId xmlns:p14="http://schemas.microsoft.com/office/powerpoint/2010/main" val="8652084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MLFlow</a:t>
            </a:r>
            <a:r>
              <a:rPr lang="en-US" sz="4400" b="1" i="0" dirty="0">
                <a:solidFill>
                  <a:srgbClr val="1B2A4A"/>
                </a:solidFill>
                <a:latin typeface="Liter"/>
              </a:rPr>
              <a:t> Model Registry</a:t>
            </a:r>
            <a:endParaRPr sz="4400" b="1" i="0" dirty="0">
              <a:solidFill>
                <a:srgbClr val="1B2A4A"/>
              </a:solidFill>
              <a:latin typeface="Liter"/>
            </a:endParaRP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12</a:t>
            </a:r>
          </a:p>
        </p:txBody>
      </p:sp>
      <p:sp>
        <p:nvSpPr>
          <p:cNvPr id="15" name="Text 2">
            <a:extLst>
              <a:ext uri="{FF2B5EF4-FFF2-40B4-BE49-F238E27FC236}">
                <a16:creationId xmlns:a16="http://schemas.microsoft.com/office/drawing/2014/main" id="{614CF454-E9EA-B7B2-528D-9CF499E774C4}"/>
              </a:ext>
            </a:extLst>
          </p:cNvPr>
          <p:cNvSpPr txBox="1"/>
          <p:nvPr/>
        </p:nvSpPr>
        <p:spPr>
          <a:xfrm>
            <a:off x="1014983" y="1709928"/>
            <a:ext cx="21806260" cy="1606962"/>
          </a:xfrm>
          <a:prstGeom prst="rect">
            <a:avLst/>
          </a:prstGeom>
          <a:noFill/>
          <a:ln/>
        </p:spPr>
        <p:txBody>
          <a:bodyPr wrap="square" lIns="0" tIns="0" rIns="0" bIns="0" rtlCol="0" anchor="ctr"/>
          <a:lstStyle/>
          <a:p>
            <a:pPr marL="0" indent="0">
              <a:buNone/>
            </a:pPr>
            <a:r>
              <a:rPr lang="en-US" sz="3600" i="1" dirty="0">
                <a:solidFill>
                  <a:srgbClr val="5B6B76"/>
                </a:solidFill>
                <a:latin typeface="Calibri" pitchFamily="34" charset="0"/>
                <a:ea typeface="Calibri" pitchFamily="34" charset="-122"/>
                <a:cs typeface="Calibri" pitchFamily="34" charset="-120"/>
              </a:rPr>
              <a:t>A centralized model store, set of APIs, and UI for managing the full ML model lifecycle</a:t>
            </a:r>
            <a:endParaRPr lang="en-US" sz="3600" dirty="0"/>
          </a:p>
        </p:txBody>
      </p:sp>
      <p:sp>
        <p:nvSpPr>
          <p:cNvPr id="16" name="Text 3">
            <a:extLst>
              <a:ext uri="{FF2B5EF4-FFF2-40B4-BE49-F238E27FC236}">
                <a16:creationId xmlns:a16="http://schemas.microsoft.com/office/drawing/2014/main" id="{7B80CD86-2EBB-2803-469E-A3DAE6C25A13}"/>
              </a:ext>
            </a:extLst>
          </p:cNvPr>
          <p:cNvSpPr txBox="1"/>
          <p:nvPr/>
        </p:nvSpPr>
        <p:spPr>
          <a:xfrm>
            <a:off x="1014983" y="2644956"/>
            <a:ext cx="22738151" cy="2008702"/>
          </a:xfrm>
          <a:prstGeom prst="rect">
            <a:avLst/>
          </a:prstGeom>
          <a:noFill/>
          <a:ln/>
        </p:spPr>
        <p:txBody>
          <a:bodyPr wrap="square" lIns="0" tIns="0" rIns="0" bIns="0" rtlCol="0" anchor="ctr"/>
          <a:lstStyle/>
          <a:p>
            <a:pPr marL="0" indent="0">
              <a:buNone/>
            </a:pPr>
            <a:r>
              <a:rPr lang="en-US" sz="3600" dirty="0">
                <a:solidFill>
                  <a:srgbClr val="232A33"/>
                </a:solidFill>
                <a:latin typeface="Calibri" pitchFamily="34" charset="0"/>
                <a:ea typeface="Calibri" pitchFamily="34" charset="-122"/>
                <a:cs typeface="Calibri" pitchFamily="34" charset="-120"/>
              </a:rPr>
              <a:t>Provides lineage, versioning, aliasing, and metadata tagging, so every model has full traceability from the experiment that produced it through to production deployment.</a:t>
            </a:r>
            <a:endParaRPr lang="en-US" sz="3600" dirty="0"/>
          </a:p>
        </p:txBody>
      </p:sp>
      <p:graphicFrame>
        <p:nvGraphicFramePr>
          <p:cNvPr id="49" name="Table 48">
            <a:extLst>
              <a:ext uri="{FF2B5EF4-FFF2-40B4-BE49-F238E27FC236}">
                <a16:creationId xmlns:a16="http://schemas.microsoft.com/office/drawing/2014/main" id="{29BA356C-50E3-A90F-E7A7-9265F9FE87D0}"/>
              </a:ext>
            </a:extLst>
          </p:cNvPr>
          <p:cNvGraphicFramePr>
            <a:graphicFrameLocks noGrp="1"/>
          </p:cNvGraphicFramePr>
          <p:nvPr>
            <p:extLst>
              <p:ext uri="{D42A27DB-BD31-4B8C-83A1-F6EECF244321}">
                <p14:modId xmlns:p14="http://schemas.microsoft.com/office/powerpoint/2010/main" val="725964873"/>
              </p:ext>
            </p:extLst>
          </p:nvPr>
        </p:nvGraphicFramePr>
        <p:xfrm>
          <a:off x="1014982" y="5405018"/>
          <a:ext cx="22738152" cy="5881292"/>
        </p:xfrm>
        <a:graphic>
          <a:graphicData uri="http://schemas.openxmlformats.org/drawingml/2006/table">
            <a:tbl>
              <a:tblPr firstRow="1" bandRow="1">
                <a:tableStyleId>{16D9F66E-5EB9-4882-86FB-DCBF35E3C3E4}</a:tableStyleId>
              </a:tblPr>
              <a:tblGrid>
                <a:gridCol w="4003585">
                  <a:extLst>
                    <a:ext uri="{9D8B030D-6E8A-4147-A177-3AD203B41FA5}">
                      <a16:colId xmlns:a16="http://schemas.microsoft.com/office/drawing/2014/main" val="2534074152"/>
                    </a:ext>
                  </a:extLst>
                </a:gridCol>
                <a:gridCol w="18734567">
                  <a:extLst>
                    <a:ext uri="{9D8B030D-6E8A-4147-A177-3AD203B41FA5}">
                      <a16:colId xmlns:a16="http://schemas.microsoft.com/office/drawing/2014/main" val="2481200611"/>
                    </a:ext>
                  </a:extLst>
                </a:gridCol>
              </a:tblGrid>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Version Control</a:t>
                      </a:r>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Automatically tracks every model version — compare iterations, roll back, and manage staging vs. production in parallel.</a:t>
                      </a:r>
                    </a:p>
                  </a:txBody>
                  <a:tcPr anchor="ctr"/>
                </a:tc>
                <a:extLst>
                  <a:ext uri="{0D108BD9-81ED-4DB2-BD59-A6C34878D82A}">
                    <a16:rowId xmlns:a16="http://schemas.microsoft.com/office/drawing/2014/main" val="2864490830"/>
                  </a:ext>
                </a:extLst>
              </a:tr>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Lineage &amp; Traceability</a:t>
                      </a:r>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Each version links back to the </a:t>
                      </a:r>
                      <a:r>
                        <a:rPr lang="en-US" sz="3200" b="0" dirty="0" err="1">
                          <a:solidFill>
                            <a:schemeClr val="tx1"/>
                          </a:solidFill>
                        </a:rPr>
                        <a:t>MLflow</a:t>
                      </a:r>
                      <a:r>
                        <a:rPr lang="en-US" sz="3200" b="0" dirty="0">
                          <a:solidFill>
                            <a:schemeClr val="tx1"/>
                          </a:solidFill>
                        </a:rPr>
                        <a:t> run, logged model, or notebook that produced it — enabling full reproducibility.</a:t>
                      </a:r>
                    </a:p>
                  </a:txBody>
                  <a:tcPr anchor="ctr"/>
                </a:tc>
                <a:extLst>
                  <a:ext uri="{0D108BD9-81ED-4DB2-BD59-A6C34878D82A}">
                    <a16:rowId xmlns:a16="http://schemas.microsoft.com/office/drawing/2014/main" val="2831555179"/>
                  </a:ext>
                </a:extLst>
              </a:tr>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Production-Ready Workflows</a:t>
                      </a:r>
                      <a:endParaRPr lang="en-US" sz="32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Aliases (e.g. @champion) and tags support controlled, auditable promotion through experimental, staging, and production.</a:t>
                      </a:r>
                    </a:p>
                  </a:txBody>
                  <a:tcPr anchor="ctr"/>
                </a:tc>
                <a:extLst>
                  <a:ext uri="{0D108BD9-81ED-4DB2-BD59-A6C34878D82A}">
                    <a16:rowId xmlns:a16="http://schemas.microsoft.com/office/drawing/2014/main" val="3932269241"/>
                  </a:ext>
                </a:extLst>
              </a:tr>
              <a:tr h="147032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rPr>
                        <a:t>Governance &amp; Compliance</a:t>
                      </a:r>
                      <a:endParaRPr lang="en-US" sz="32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0" dirty="0">
                          <a:solidFill>
                            <a:schemeClr val="tx1"/>
                          </a:solidFill>
                        </a:rPr>
                        <a:t>Structured metadata, tagging, and role-based access control (on managed platforms) support enterprise-grade ML governance.</a:t>
                      </a:r>
                    </a:p>
                  </a:txBody>
                  <a:tcPr anchor="ctr"/>
                </a:tc>
                <a:extLst>
                  <a:ext uri="{0D108BD9-81ED-4DB2-BD59-A6C34878D82A}">
                    <a16:rowId xmlns:a16="http://schemas.microsoft.com/office/drawing/2014/main" val="2759469716"/>
                  </a:ext>
                </a:extLst>
              </a:tr>
            </a:tbl>
          </a:graphicData>
        </a:graphic>
      </p:graphicFrame>
      <p:sp>
        <p:nvSpPr>
          <p:cNvPr id="50" name="Text 2">
            <a:extLst>
              <a:ext uri="{FF2B5EF4-FFF2-40B4-BE49-F238E27FC236}">
                <a16:creationId xmlns:a16="http://schemas.microsoft.com/office/drawing/2014/main" id="{7E3D55FF-4DBF-CD28-15C4-AE3F871F6EF5}"/>
              </a:ext>
            </a:extLst>
          </p:cNvPr>
          <p:cNvSpPr txBox="1"/>
          <p:nvPr/>
        </p:nvSpPr>
        <p:spPr>
          <a:xfrm>
            <a:off x="1014983" y="4363283"/>
            <a:ext cx="21806260" cy="935028"/>
          </a:xfrm>
          <a:prstGeom prst="rect">
            <a:avLst/>
          </a:prstGeom>
          <a:noFill/>
          <a:ln/>
        </p:spPr>
        <p:txBody>
          <a:bodyPr wrap="square" lIns="0" tIns="0" rIns="0" bIns="0" rtlCol="0" anchor="ctr"/>
          <a:lstStyle/>
          <a:p>
            <a:pPr marL="0" indent="0">
              <a:buNone/>
            </a:pPr>
            <a:r>
              <a:rPr lang="en-US" sz="3600" i="1" dirty="0">
                <a:solidFill>
                  <a:srgbClr val="5B6B76"/>
                </a:solidFill>
                <a:latin typeface="Calibri" pitchFamily="34" charset="0"/>
                <a:ea typeface="Calibri" pitchFamily="34" charset="-122"/>
                <a:cs typeface="Calibri" pitchFamily="34" charset="-120"/>
              </a:rPr>
              <a:t>The importance of Model Registry</a:t>
            </a:r>
            <a:endParaRPr lang="en-US" sz="3600" dirty="0"/>
          </a:p>
        </p:txBody>
      </p:sp>
      <p:sp>
        <p:nvSpPr>
          <p:cNvPr id="51" name="Text 7">
            <a:extLst>
              <a:ext uri="{FF2B5EF4-FFF2-40B4-BE49-F238E27FC236}">
                <a16:creationId xmlns:a16="http://schemas.microsoft.com/office/drawing/2014/main" id="{4E7DEB15-C1AC-85BC-1C6D-F9385CFACB38}"/>
              </a:ext>
            </a:extLst>
          </p:cNvPr>
          <p:cNvSpPr txBox="1"/>
          <p:nvPr/>
        </p:nvSpPr>
        <p:spPr>
          <a:xfrm>
            <a:off x="2377440" y="9582912"/>
            <a:ext cx="2834640" cy="658368"/>
          </a:xfrm>
          <a:prstGeom prst="rect">
            <a:avLst/>
          </a:prstGeom>
          <a:noFill/>
          <a:ln/>
        </p:spPr>
        <p:txBody>
          <a:bodyPr wrap="square" lIns="0" tIns="0" rIns="0" bIns="0" rtlCol="0" anchor="t"/>
          <a:lstStyle/>
          <a:p>
            <a:pPr marL="0" indent="0">
              <a:buNone/>
            </a:pPr>
            <a:endParaRPr lang="en-US" sz="1300" dirty="0"/>
          </a:p>
        </p:txBody>
      </p:sp>
      <p:sp>
        <p:nvSpPr>
          <p:cNvPr id="53" name="Text 11">
            <a:extLst>
              <a:ext uri="{FF2B5EF4-FFF2-40B4-BE49-F238E27FC236}">
                <a16:creationId xmlns:a16="http://schemas.microsoft.com/office/drawing/2014/main" id="{2D68A04F-4E9A-82BA-5E00-F31B9D954B39}"/>
              </a:ext>
            </a:extLst>
          </p:cNvPr>
          <p:cNvSpPr txBox="1"/>
          <p:nvPr/>
        </p:nvSpPr>
        <p:spPr>
          <a:xfrm>
            <a:off x="2377440" y="10241280"/>
            <a:ext cx="2834640" cy="658368"/>
          </a:xfrm>
          <a:prstGeom prst="rect">
            <a:avLst/>
          </a:prstGeom>
          <a:noFill/>
          <a:ln/>
        </p:spPr>
        <p:txBody>
          <a:bodyPr wrap="square" lIns="0" tIns="0" rIns="0" bIns="0" rtlCol="0" anchor="t"/>
          <a:lstStyle/>
          <a:p>
            <a:pPr marL="0" indent="0">
              <a:buNone/>
            </a:pPr>
            <a:endParaRPr lang="en-US" sz="1300" dirty="0"/>
          </a:p>
        </p:txBody>
      </p:sp>
      <p:sp>
        <p:nvSpPr>
          <p:cNvPr id="55" name="Text 15">
            <a:extLst>
              <a:ext uri="{FF2B5EF4-FFF2-40B4-BE49-F238E27FC236}">
                <a16:creationId xmlns:a16="http://schemas.microsoft.com/office/drawing/2014/main" id="{03A69E49-20BE-9E82-F31F-3979A4D92391}"/>
              </a:ext>
            </a:extLst>
          </p:cNvPr>
          <p:cNvSpPr txBox="1"/>
          <p:nvPr/>
        </p:nvSpPr>
        <p:spPr>
          <a:xfrm>
            <a:off x="2377440" y="10899648"/>
            <a:ext cx="2834640" cy="658368"/>
          </a:xfrm>
          <a:prstGeom prst="rect">
            <a:avLst/>
          </a:prstGeom>
          <a:noFill/>
          <a:ln/>
        </p:spPr>
        <p:txBody>
          <a:bodyPr wrap="square" lIns="0" tIns="0" rIns="0" bIns="0" rtlCol="0" anchor="t"/>
          <a:lstStyle/>
          <a:p>
            <a:pPr marL="0" indent="0">
              <a:buNone/>
            </a:pPr>
            <a:endParaRPr lang="en-US" sz="1300" dirty="0"/>
          </a:p>
        </p:txBody>
      </p:sp>
      <p:sp>
        <p:nvSpPr>
          <p:cNvPr id="57" name="Text 19">
            <a:extLst>
              <a:ext uri="{FF2B5EF4-FFF2-40B4-BE49-F238E27FC236}">
                <a16:creationId xmlns:a16="http://schemas.microsoft.com/office/drawing/2014/main" id="{24BBF131-494D-1D85-43BA-38739BEA6D82}"/>
              </a:ext>
            </a:extLst>
          </p:cNvPr>
          <p:cNvSpPr txBox="1"/>
          <p:nvPr/>
        </p:nvSpPr>
        <p:spPr>
          <a:xfrm>
            <a:off x="2377440" y="11558016"/>
            <a:ext cx="2834640" cy="658368"/>
          </a:xfrm>
          <a:prstGeom prst="rect">
            <a:avLst/>
          </a:prstGeom>
          <a:noFill/>
          <a:ln/>
        </p:spPr>
        <p:txBody>
          <a:bodyPr wrap="square" lIns="0" tIns="0" rIns="0" bIns="0" rtlCol="0" anchor="t"/>
          <a:lstStyle/>
          <a:p>
            <a:pPr marL="0" indent="0">
              <a:buNone/>
            </a:pPr>
            <a:endParaRPr lang="en-US" sz="1300" dirty="0"/>
          </a:p>
        </p:txBody>
      </p:sp>
      <p:sp>
        <p:nvSpPr>
          <p:cNvPr id="58" name="Text 20">
            <a:extLst>
              <a:ext uri="{FF2B5EF4-FFF2-40B4-BE49-F238E27FC236}">
                <a16:creationId xmlns:a16="http://schemas.microsoft.com/office/drawing/2014/main" id="{C115A212-E02E-498E-CC99-1FA52F0D242D}"/>
              </a:ext>
            </a:extLst>
          </p:cNvPr>
          <p:cNvSpPr txBox="1"/>
          <p:nvPr/>
        </p:nvSpPr>
        <p:spPr>
          <a:xfrm>
            <a:off x="5303520" y="11558016"/>
            <a:ext cx="7680960" cy="658368"/>
          </a:xfrm>
          <a:prstGeom prst="rect">
            <a:avLst/>
          </a:prstGeom>
          <a:noFill/>
          <a:ln/>
        </p:spPr>
        <p:txBody>
          <a:bodyPr wrap="square" lIns="0" tIns="0" rIns="0" bIns="0" rtlCol="0" anchor="t"/>
          <a:lstStyle/>
          <a:p>
            <a:pPr marL="0" indent="0">
              <a:buNone/>
            </a:pPr>
            <a:endParaRPr lang="en-US" sz="1150" dirty="0"/>
          </a:p>
        </p:txBody>
      </p:sp>
      <p:sp>
        <p:nvSpPr>
          <p:cNvPr id="59" name="Shape 21">
            <a:extLst>
              <a:ext uri="{FF2B5EF4-FFF2-40B4-BE49-F238E27FC236}">
                <a16:creationId xmlns:a16="http://schemas.microsoft.com/office/drawing/2014/main" id="{6DEAE004-642D-9C79-0B31-D65EE4A0C917}"/>
              </a:ext>
            </a:extLst>
          </p:cNvPr>
          <p:cNvSpPr/>
          <p:nvPr/>
        </p:nvSpPr>
        <p:spPr>
          <a:xfrm>
            <a:off x="1014982" y="11558016"/>
            <a:ext cx="22738152" cy="1816422"/>
          </a:xfrm>
          <a:prstGeom prst="roundRect">
            <a:avLst>
              <a:gd name="adj" fmla="val 4930"/>
            </a:avLst>
          </a:prstGeom>
          <a:solidFill>
            <a:srgbClr val="EAF1F5"/>
          </a:solidFill>
          <a:ln/>
        </p:spPr>
        <p:txBody>
          <a:bodyPr/>
          <a:lstStyle/>
          <a:p>
            <a:endParaRPr lang="en-US"/>
          </a:p>
        </p:txBody>
      </p:sp>
      <p:sp>
        <p:nvSpPr>
          <p:cNvPr id="60" name="Text 22">
            <a:extLst>
              <a:ext uri="{FF2B5EF4-FFF2-40B4-BE49-F238E27FC236}">
                <a16:creationId xmlns:a16="http://schemas.microsoft.com/office/drawing/2014/main" id="{FDEC058A-61EE-4A1F-B080-390515E02DBA}"/>
              </a:ext>
            </a:extLst>
          </p:cNvPr>
          <p:cNvSpPr txBox="1"/>
          <p:nvPr/>
        </p:nvSpPr>
        <p:spPr>
          <a:xfrm>
            <a:off x="1264920" y="11750040"/>
            <a:ext cx="7315200" cy="256032"/>
          </a:xfrm>
          <a:prstGeom prst="rect">
            <a:avLst/>
          </a:prstGeom>
          <a:noFill/>
          <a:ln/>
        </p:spPr>
        <p:txBody>
          <a:bodyPr wrap="square" lIns="0" tIns="0" rIns="0" bIns="0" rtlCol="0" anchor="ctr"/>
          <a:lstStyle/>
          <a:p>
            <a:pPr marL="0" indent="0">
              <a:buNone/>
            </a:pPr>
            <a:r>
              <a:rPr lang="en-US" sz="2800" b="1" kern="0" spc="120" dirty="0">
                <a:solidFill>
                  <a:srgbClr val="065A82"/>
                </a:solidFill>
                <a:latin typeface="Calibri" pitchFamily="34" charset="0"/>
                <a:ea typeface="Calibri" pitchFamily="34" charset="-122"/>
                <a:cs typeface="Calibri" pitchFamily="34" charset="-120"/>
              </a:rPr>
              <a:t>CORE CONCEPT: MODEL URI</a:t>
            </a:r>
            <a:endParaRPr lang="en-US" sz="2800" dirty="0"/>
          </a:p>
        </p:txBody>
      </p:sp>
      <p:sp>
        <p:nvSpPr>
          <p:cNvPr id="61" name="Text 23">
            <a:extLst>
              <a:ext uri="{FF2B5EF4-FFF2-40B4-BE49-F238E27FC236}">
                <a16:creationId xmlns:a16="http://schemas.microsoft.com/office/drawing/2014/main" id="{541305A7-F2B4-2F0E-BAFE-5CC889331BAE}"/>
              </a:ext>
            </a:extLst>
          </p:cNvPr>
          <p:cNvSpPr txBox="1"/>
          <p:nvPr/>
        </p:nvSpPr>
        <p:spPr>
          <a:xfrm>
            <a:off x="2074817" y="12217692"/>
            <a:ext cx="2834640" cy="559956"/>
          </a:xfrm>
          <a:prstGeom prst="rect">
            <a:avLst/>
          </a:prstGeom>
          <a:noFill/>
          <a:ln/>
        </p:spPr>
        <p:txBody>
          <a:bodyPr wrap="square" lIns="0" tIns="0" rIns="0" bIns="0" rtlCol="0" anchor="ctr"/>
          <a:lstStyle/>
          <a:p>
            <a:pPr marL="0" indent="0">
              <a:buNone/>
            </a:pPr>
            <a:r>
              <a:rPr lang="en-US" sz="2800" b="1" dirty="0">
                <a:solidFill>
                  <a:srgbClr val="232A33"/>
                </a:solidFill>
                <a:latin typeface="Calibri" pitchFamily="34" charset="0"/>
                <a:ea typeface="Calibri" pitchFamily="34" charset="-122"/>
                <a:cs typeface="Calibri" pitchFamily="34" charset="-120"/>
              </a:rPr>
              <a:t>By version</a:t>
            </a:r>
            <a:endParaRPr lang="en-US" sz="2800" dirty="0"/>
          </a:p>
        </p:txBody>
      </p:sp>
      <p:sp>
        <p:nvSpPr>
          <p:cNvPr id="62" name="Text 24">
            <a:extLst>
              <a:ext uri="{FF2B5EF4-FFF2-40B4-BE49-F238E27FC236}">
                <a16:creationId xmlns:a16="http://schemas.microsoft.com/office/drawing/2014/main" id="{C317BCD5-D7B9-CD9E-462B-045A645991DC}"/>
              </a:ext>
            </a:extLst>
          </p:cNvPr>
          <p:cNvSpPr txBox="1"/>
          <p:nvPr/>
        </p:nvSpPr>
        <p:spPr>
          <a:xfrm>
            <a:off x="5643407" y="12217692"/>
            <a:ext cx="7680960" cy="402043"/>
          </a:xfrm>
          <a:prstGeom prst="rect">
            <a:avLst/>
          </a:prstGeom>
          <a:noFill/>
          <a:ln/>
        </p:spPr>
        <p:txBody>
          <a:bodyPr wrap="square" lIns="0" tIns="0" rIns="0" bIns="0" rtlCol="0" anchor="ctr"/>
          <a:lstStyle/>
          <a:p>
            <a:pPr marL="0" indent="0">
              <a:buNone/>
            </a:pPr>
            <a:r>
              <a:rPr lang="en-US" sz="2800" dirty="0">
                <a:solidFill>
                  <a:srgbClr val="21295C"/>
                </a:solidFill>
                <a:latin typeface="Consolas" pitchFamily="34" charset="0"/>
                <a:ea typeface="Consolas" pitchFamily="34" charset="-122"/>
                <a:cs typeface="Consolas" pitchFamily="34" charset="-120"/>
              </a:rPr>
              <a:t>models:/&lt;name&gt;/&lt;version&gt;</a:t>
            </a:r>
            <a:endParaRPr lang="en-US" sz="2800" dirty="0"/>
          </a:p>
        </p:txBody>
      </p:sp>
      <p:sp>
        <p:nvSpPr>
          <p:cNvPr id="63" name="Text 25">
            <a:extLst>
              <a:ext uri="{FF2B5EF4-FFF2-40B4-BE49-F238E27FC236}">
                <a16:creationId xmlns:a16="http://schemas.microsoft.com/office/drawing/2014/main" id="{9786C7B1-1445-2B22-CEDB-7E494B5ED2B7}"/>
              </a:ext>
            </a:extLst>
          </p:cNvPr>
          <p:cNvSpPr txBox="1"/>
          <p:nvPr/>
        </p:nvSpPr>
        <p:spPr>
          <a:xfrm>
            <a:off x="13903235" y="12242367"/>
            <a:ext cx="5669280" cy="329184"/>
          </a:xfrm>
          <a:prstGeom prst="rect">
            <a:avLst/>
          </a:prstGeom>
          <a:noFill/>
          <a:ln/>
        </p:spPr>
        <p:txBody>
          <a:bodyPr wrap="square" lIns="0" tIns="0" rIns="0" bIns="0" rtlCol="0" anchor="ctr"/>
          <a:lstStyle/>
          <a:p>
            <a:pPr marL="0" indent="0">
              <a:buNone/>
            </a:pPr>
            <a:r>
              <a:rPr lang="en-US" sz="2800" dirty="0">
                <a:solidFill>
                  <a:srgbClr val="1C7293"/>
                </a:solidFill>
                <a:latin typeface="Consolas" pitchFamily="34" charset="0"/>
                <a:ea typeface="Consolas" pitchFamily="34" charset="-122"/>
                <a:cs typeface="Consolas" pitchFamily="34" charset="-120"/>
              </a:rPr>
              <a:t>e.g.  models:/MyModel/1</a:t>
            </a:r>
            <a:endParaRPr lang="en-US" sz="2800" dirty="0"/>
          </a:p>
        </p:txBody>
      </p:sp>
      <p:sp>
        <p:nvSpPr>
          <p:cNvPr id="64" name="Text 26">
            <a:extLst>
              <a:ext uri="{FF2B5EF4-FFF2-40B4-BE49-F238E27FC236}">
                <a16:creationId xmlns:a16="http://schemas.microsoft.com/office/drawing/2014/main" id="{C20138A4-8874-2CE5-C3E5-66884AB71DF4}"/>
              </a:ext>
            </a:extLst>
          </p:cNvPr>
          <p:cNvSpPr txBox="1"/>
          <p:nvPr/>
        </p:nvSpPr>
        <p:spPr>
          <a:xfrm>
            <a:off x="2074817" y="12724531"/>
            <a:ext cx="2260458" cy="595078"/>
          </a:xfrm>
          <a:prstGeom prst="rect">
            <a:avLst/>
          </a:prstGeom>
          <a:noFill/>
          <a:ln/>
        </p:spPr>
        <p:txBody>
          <a:bodyPr wrap="square" lIns="0" tIns="0" rIns="0" bIns="0" rtlCol="0" anchor="ctr"/>
          <a:lstStyle/>
          <a:p>
            <a:pPr marL="0" indent="0">
              <a:buNone/>
            </a:pPr>
            <a:r>
              <a:rPr lang="en-US" sz="2800" b="1" dirty="0">
                <a:solidFill>
                  <a:srgbClr val="232A33"/>
                </a:solidFill>
                <a:latin typeface="Calibri" pitchFamily="34" charset="0"/>
                <a:ea typeface="Calibri" pitchFamily="34" charset="-122"/>
                <a:cs typeface="Calibri" pitchFamily="34" charset="-120"/>
              </a:rPr>
              <a:t>By alias</a:t>
            </a:r>
            <a:endParaRPr lang="en-US" sz="2800" dirty="0"/>
          </a:p>
        </p:txBody>
      </p:sp>
      <p:sp>
        <p:nvSpPr>
          <p:cNvPr id="65" name="Text 27">
            <a:extLst>
              <a:ext uri="{FF2B5EF4-FFF2-40B4-BE49-F238E27FC236}">
                <a16:creationId xmlns:a16="http://schemas.microsoft.com/office/drawing/2014/main" id="{54CC64BA-C080-9BDA-4766-6B4036FA2A75}"/>
              </a:ext>
            </a:extLst>
          </p:cNvPr>
          <p:cNvSpPr txBox="1"/>
          <p:nvPr/>
        </p:nvSpPr>
        <p:spPr>
          <a:xfrm>
            <a:off x="5643407" y="12918578"/>
            <a:ext cx="8826137" cy="279544"/>
          </a:xfrm>
          <a:prstGeom prst="rect">
            <a:avLst/>
          </a:prstGeom>
          <a:noFill/>
          <a:ln/>
        </p:spPr>
        <p:txBody>
          <a:bodyPr wrap="square" lIns="0" tIns="0" rIns="0" bIns="0" rtlCol="0" anchor="ctr"/>
          <a:lstStyle/>
          <a:p>
            <a:pPr marL="0" indent="0">
              <a:buNone/>
            </a:pPr>
            <a:r>
              <a:rPr lang="en-US" sz="2800" dirty="0">
                <a:solidFill>
                  <a:srgbClr val="21295C"/>
                </a:solidFill>
                <a:latin typeface="Consolas" pitchFamily="34" charset="0"/>
                <a:ea typeface="Consolas" pitchFamily="34" charset="-122"/>
                <a:cs typeface="Consolas" pitchFamily="34" charset="-120"/>
              </a:rPr>
              <a:t>models:/&lt;name&gt;@&lt;alias&gt;</a:t>
            </a:r>
            <a:endParaRPr lang="en-US" sz="2800" dirty="0"/>
          </a:p>
        </p:txBody>
      </p:sp>
      <p:sp>
        <p:nvSpPr>
          <p:cNvPr id="66" name="Text 28">
            <a:extLst>
              <a:ext uri="{FF2B5EF4-FFF2-40B4-BE49-F238E27FC236}">
                <a16:creationId xmlns:a16="http://schemas.microsoft.com/office/drawing/2014/main" id="{68CC11FC-9C9B-ED0D-3489-3C3DB554B9F6}"/>
              </a:ext>
            </a:extLst>
          </p:cNvPr>
          <p:cNvSpPr txBox="1"/>
          <p:nvPr/>
        </p:nvSpPr>
        <p:spPr>
          <a:xfrm>
            <a:off x="13929361" y="12809146"/>
            <a:ext cx="7680959" cy="457200"/>
          </a:xfrm>
          <a:prstGeom prst="rect">
            <a:avLst/>
          </a:prstGeom>
          <a:noFill/>
          <a:ln/>
        </p:spPr>
        <p:txBody>
          <a:bodyPr wrap="square" lIns="0" tIns="0" rIns="0" bIns="0" rtlCol="0" anchor="ctr"/>
          <a:lstStyle/>
          <a:p>
            <a:pPr marL="0" indent="0">
              <a:buNone/>
            </a:pPr>
            <a:r>
              <a:rPr lang="en-US" sz="2800" dirty="0">
                <a:solidFill>
                  <a:srgbClr val="1C7293"/>
                </a:solidFill>
                <a:latin typeface="Consolas" pitchFamily="34" charset="0"/>
                <a:ea typeface="Consolas" pitchFamily="34" charset="-122"/>
                <a:cs typeface="Consolas" pitchFamily="34" charset="-120"/>
              </a:rPr>
              <a:t>e.g.  models:/MyModel@champion</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83CF9-D635-6A0B-5A13-7D8B83E572C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B16BDBFD-5709-64DC-E800-8EDBFEB6C88E}"/>
              </a:ext>
            </a:extLst>
          </p:cNvPr>
          <p:cNvSpPr txBox="1"/>
          <p:nvPr/>
        </p:nvSpPr>
        <p:spPr>
          <a:xfrm>
            <a:off x="1014984" y="657650"/>
            <a:ext cx="15910559" cy="778675"/>
          </a:xfrm>
          <a:prstGeom prst="rect">
            <a:avLst/>
          </a:prstGeom>
          <a:noFill/>
        </p:spPr>
        <p:txBody>
          <a:bodyPr wrap="square" lIns="0" tIns="0" rIns="0" bIns="0" anchor="ctr">
            <a:spAutoFit/>
          </a:bodyPr>
          <a:lstStyle/>
          <a:p>
            <a:pPr algn="l">
              <a:lnSpc>
                <a:spcPct val="120000"/>
              </a:lnSpc>
              <a:spcAft>
                <a:spcPts val="600"/>
              </a:spcAft>
            </a:pPr>
            <a:r>
              <a:rPr lang="en-US" sz="4400" b="1" i="0" dirty="0" err="1">
                <a:solidFill>
                  <a:srgbClr val="1B2A4A"/>
                </a:solidFill>
                <a:latin typeface="Liter"/>
              </a:rPr>
              <a:t>MLFlow</a:t>
            </a:r>
            <a:r>
              <a:rPr lang="en-US" sz="4400" b="1" i="0" dirty="0">
                <a:solidFill>
                  <a:srgbClr val="1B2A4A"/>
                </a:solidFill>
                <a:latin typeface="Liter"/>
              </a:rPr>
              <a:t> Model Registry</a:t>
            </a:r>
            <a:endParaRPr sz="4400" b="1" i="0" dirty="0">
              <a:solidFill>
                <a:srgbClr val="1B2A4A"/>
              </a:solidFill>
              <a:latin typeface="Liter"/>
            </a:endParaRPr>
          </a:p>
        </p:txBody>
      </p:sp>
      <p:sp>
        <p:nvSpPr>
          <p:cNvPr id="3" name="Rectangle 2">
            <a:extLst>
              <a:ext uri="{FF2B5EF4-FFF2-40B4-BE49-F238E27FC236}">
                <a16:creationId xmlns:a16="http://schemas.microsoft.com/office/drawing/2014/main" id="{7F8752DF-0121-75DB-EAEE-7E23BA9C9EED}"/>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461CBD65-3CEC-35BC-A6AA-4522AF605A86}"/>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6" name="Text 2">
            <a:extLst>
              <a:ext uri="{FF2B5EF4-FFF2-40B4-BE49-F238E27FC236}">
                <a16:creationId xmlns:a16="http://schemas.microsoft.com/office/drawing/2014/main" id="{76B684EC-C0D4-F9B4-0AB8-308D7DB7E2CB}"/>
              </a:ext>
            </a:extLst>
          </p:cNvPr>
          <p:cNvSpPr txBox="1"/>
          <p:nvPr/>
        </p:nvSpPr>
        <p:spPr>
          <a:xfrm>
            <a:off x="1008888" y="2131269"/>
            <a:ext cx="21168795" cy="384048"/>
          </a:xfrm>
          <a:prstGeom prst="rect">
            <a:avLst/>
          </a:prstGeom>
          <a:noFill/>
          <a:ln/>
        </p:spPr>
        <p:txBody>
          <a:bodyPr wrap="square" lIns="0" tIns="0" rIns="0" bIns="0" rtlCol="0" anchor="ctr"/>
          <a:lstStyle/>
          <a:p>
            <a:pPr marL="0" indent="0">
              <a:buNone/>
            </a:pPr>
            <a:r>
              <a:rPr lang="en-US" sz="3600" i="1" dirty="0">
                <a:solidFill>
                  <a:srgbClr val="5B6B76"/>
                </a:solidFill>
                <a:latin typeface="Calibri" pitchFamily="34" charset="0"/>
                <a:ea typeface="Calibri" pitchFamily="34" charset="-122"/>
                <a:cs typeface="Calibri" pitchFamily="34" charset="-120"/>
              </a:rPr>
              <a:t>Two ways to register, load by version or alias, and how OSS MLflow compares to Databricks Unity Catalog</a:t>
            </a:r>
            <a:endParaRPr lang="en-US" sz="3600" dirty="0"/>
          </a:p>
        </p:txBody>
      </p:sp>
      <p:sp>
        <p:nvSpPr>
          <p:cNvPr id="14" name="Shape 10">
            <a:extLst>
              <a:ext uri="{FF2B5EF4-FFF2-40B4-BE49-F238E27FC236}">
                <a16:creationId xmlns:a16="http://schemas.microsoft.com/office/drawing/2014/main" id="{9DEF067F-FF0A-E1AB-3064-E486EDAA528D}"/>
              </a:ext>
            </a:extLst>
          </p:cNvPr>
          <p:cNvSpPr/>
          <p:nvPr/>
        </p:nvSpPr>
        <p:spPr>
          <a:xfrm>
            <a:off x="12728008" y="2924302"/>
            <a:ext cx="10994137" cy="5825788"/>
          </a:xfrm>
          <a:prstGeom prst="roundRect">
            <a:avLst>
              <a:gd name="adj" fmla="val 2254"/>
            </a:avLst>
          </a:prstGeom>
          <a:solidFill>
            <a:schemeClr val="tx1">
              <a:lumMod val="85000"/>
              <a:lumOff val="15000"/>
            </a:schemeClr>
          </a:solidFill>
          <a:ln/>
        </p:spPr>
        <p:txBody>
          <a:bodyPr/>
          <a:lstStyle/>
          <a:p>
            <a:endParaRPr lang="en-US"/>
          </a:p>
        </p:txBody>
      </p:sp>
      <p:sp>
        <p:nvSpPr>
          <p:cNvPr id="17" name="Text 11">
            <a:extLst>
              <a:ext uri="{FF2B5EF4-FFF2-40B4-BE49-F238E27FC236}">
                <a16:creationId xmlns:a16="http://schemas.microsoft.com/office/drawing/2014/main" id="{A1D9FB2D-016B-7D70-CF37-E2195E417D87}"/>
              </a:ext>
            </a:extLst>
          </p:cNvPr>
          <p:cNvSpPr txBox="1"/>
          <p:nvPr/>
        </p:nvSpPr>
        <p:spPr>
          <a:xfrm>
            <a:off x="13188257" y="3265124"/>
            <a:ext cx="6771786" cy="502919"/>
          </a:xfrm>
          <a:prstGeom prst="rect">
            <a:avLst/>
          </a:prstGeom>
          <a:noFill/>
          <a:ln/>
        </p:spPr>
        <p:txBody>
          <a:bodyPr wrap="square" lIns="0" tIns="0" rIns="0" bIns="0" rtlCol="0" anchor="ctr"/>
          <a:lstStyle/>
          <a:p>
            <a:pPr marL="0" indent="0">
              <a:buNone/>
            </a:pPr>
            <a:r>
              <a:rPr lang="en-US" sz="3600" b="1" kern="0" spc="120" dirty="0">
                <a:solidFill>
                  <a:srgbClr val="E8934A"/>
                </a:solidFill>
                <a:latin typeface="Calibri" pitchFamily="34" charset="0"/>
                <a:ea typeface="Calibri" pitchFamily="34" charset="-122"/>
                <a:cs typeface="Calibri" pitchFamily="34" charset="-120"/>
              </a:rPr>
              <a:t>KEY CONCEPT — MODEL ALIAS</a:t>
            </a:r>
            <a:endParaRPr lang="en-US" sz="3600" dirty="0"/>
          </a:p>
        </p:txBody>
      </p:sp>
      <p:sp>
        <p:nvSpPr>
          <p:cNvPr id="18" name="Text 12">
            <a:extLst>
              <a:ext uri="{FF2B5EF4-FFF2-40B4-BE49-F238E27FC236}">
                <a16:creationId xmlns:a16="http://schemas.microsoft.com/office/drawing/2014/main" id="{689BA867-BC20-8963-3A1B-7CE8932A2A4D}"/>
              </a:ext>
            </a:extLst>
          </p:cNvPr>
          <p:cNvSpPr txBox="1"/>
          <p:nvPr/>
        </p:nvSpPr>
        <p:spPr>
          <a:xfrm>
            <a:off x="13188257" y="3820954"/>
            <a:ext cx="9579196" cy="44472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A mutable, named pointer to one specific model version.</a:t>
            </a:r>
            <a:endParaRPr lang="en-US" sz="2800" dirty="0"/>
          </a:p>
        </p:txBody>
      </p:sp>
      <p:grpSp>
        <p:nvGrpSpPr>
          <p:cNvPr id="81" name="Group 80">
            <a:extLst>
              <a:ext uri="{FF2B5EF4-FFF2-40B4-BE49-F238E27FC236}">
                <a16:creationId xmlns:a16="http://schemas.microsoft.com/office/drawing/2014/main" id="{39359719-FD73-D963-B107-752AC856189E}"/>
              </a:ext>
            </a:extLst>
          </p:cNvPr>
          <p:cNvGrpSpPr/>
          <p:nvPr/>
        </p:nvGrpSpPr>
        <p:grpSpPr>
          <a:xfrm>
            <a:off x="13710110" y="4816086"/>
            <a:ext cx="8535489" cy="2132119"/>
            <a:chOff x="14855080" y="5026916"/>
            <a:chExt cx="3383280" cy="457200"/>
          </a:xfrm>
        </p:grpSpPr>
        <p:sp>
          <p:nvSpPr>
            <p:cNvPr id="19" name="Shape 13">
              <a:extLst>
                <a:ext uri="{FF2B5EF4-FFF2-40B4-BE49-F238E27FC236}">
                  <a16:creationId xmlns:a16="http://schemas.microsoft.com/office/drawing/2014/main" id="{64C400BA-CFA5-9344-090B-E7F80CCBE306}"/>
                </a:ext>
              </a:extLst>
            </p:cNvPr>
            <p:cNvSpPr/>
            <p:nvPr/>
          </p:nvSpPr>
          <p:spPr>
            <a:xfrm>
              <a:off x="14855080" y="5026916"/>
              <a:ext cx="1737360" cy="457200"/>
            </a:xfrm>
            <a:prstGeom prst="roundRect">
              <a:avLst>
                <a:gd name="adj" fmla="val 50000"/>
              </a:avLst>
            </a:prstGeom>
            <a:solidFill>
              <a:srgbClr val="E8934A"/>
            </a:solidFill>
            <a:ln/>
          </p:spPr>
          <p:txBody>
            <a:bodyPr/>
            <a:lstStyle/>
            <a:p>
              <a:endParaRPr lang="en-US"/>
            </a:p>
          </p:txBody>
        </p:sp>
        <p:sp>
          <p:nvSpPr>
            <p:cNvPr id="20" name="Text 14">
              <a:extLst>
                <a:ext uri="{FF2B5EF4-FFF2-40B4-BE49-F238E27FC236}">
                  <a16:creationId xmlns:a16="http://schemas.microsoft.com/office/drawing/2014/main" id="{23F6D346-A352-EFF6-49A0-8A272F833328}"/>
                </a:ext>
              </a:extLst>
            </p:cNvPr>
            <p:cNvSpPr txBox="1"/>
            <p:nvPr/>
          </p:nvSpPr>
          <p:spPr>
            <a:xfrm>
              <a:off x="14855080" y="5026916"/>
              <a:ext cx="1737360" cy="457200"/>
            </a:xfrm>
            <a:prstGeom prst="rect">
              <a:avLst/>
            </a:prstGeom>
            <a:noFill/>
            <a:ln/>
          </p:spPr>
          <p:txBody>
            <a:bodyPr wrap="square" lIns="0" tIns="0" rIns="0" bIns="0" rtlCol="0" anchor="ctr"/>
            <a:lstStyle/>
            <a:p>
              <a:pPr marL="0" indent="0" algn="ctr">
                <a:buNone/>
              </a:pPr>
              <a:r>
                <a:rPr lang="en-US" sz="3200" b="1" dirty="0">
                  <a:solidFill>
                    <a:srgbClr val="21295C"/>
                  </a:solidFill>
                  <a:latin typeface="Consolas" pitchFamily="34" charset="0"/>
                  <a:ea typeface="Consolas" pitchFamily="34" charset="-122"/>
                  <a:cs typeface="Consolas" pitchFamily="34" charset="-120"/>
                </a:rPr>
                <a:t>@champion</a:t>
              </a:r>
              <a:endParaRPr lang="en-US" sz="3200" dirty="0"/>
            </a:p>
          </p:txBody>
        </p:sp>
        <p:sp>
          <p:nvSpPr>
            <p:cNvPr id="21" name="Text 15">
              <a:extLst>
                <a:ext uri="{FF2B5EF4-FFF2-40B4-BE49-F238E27FC236}">
                  <a16:creationId xmlns:a16="http://schemas.microsoft.com/office/drawing/2014/main" id="{F1012C34-3181-E49D-5E2F-1EACA9BE8A4E}"/>
                </a:ext>
              </a:extLst>
            </p:cNvPr>
            <p:cNvSpPr txBox="1"/>
            <p:nvPr/>
          </p:nvSpPr>
          <p:spPr>
            <a:xfrm>
              <a:off x="16683880" y="5026916"/>
              <a:ext cx="457200" cy="457200"/>
            </a:xfrm>
            <a:prstGeom prst="rect">
              <a:avLst/>
            </a:prstGeom>
            <a:noFill/>
            <a:ln/>
          </p:spPr>
          <p:txBody>
            <a:bodyPr wrap="square" lIns="0" tIns="0" rIns="0" bIns="0" rtlCol="0" anchor="ctr"/>
            <a:lstStyle/>
            <a:p>
              <a:pPr marL="0" indent="0" algn="ctr">
                <a:buNone/>
              </a:pPr>
              <a:r>
                <a:rPr lang="en-US" sz="2800" dirty="0">
                  <a:solidFill>
                    <a:srgbClr val="FFFFFF"/>
                  </a:solidFill>
                  <a:latin typeface="Calibri" pitchFamily="34" charset="0"/>
                  <a:ea typeface="Calibri" pitchFamily="34" charset="-122"/>
                  <a:cs typeface="Calibri" pitchFamily="34" charset="-120"/>
                </a:rPr>
                <a:t>→</a:t>
              </a:r>
              <a:endParaRPr lang="en-US" sz="2800" dirty="0"/>
            </a:p>
          </p:txBody>
        </p:sp>
        <p:sp>
          <p:nvSpPr>
            <p:cNvPr id="22" name="Shape 16">
              <a:extLst>
                <a:ext uri="{FF2B5EF4-FFF2-40B4-BE49-F238E27FC236}">
                  <a16:creationId xmlns:a16="http://schemas.microsoft.com/office/drawing/2014/main" id="{968A4885-EEFA-EBBF-1860-1BAAD3B9D352}"/>
                </a:ext>
              </a:extLst>
            </p:cNvPr>
            <p:cNvSpPr/>
            <p:nvPr/>
          </p:nvSpPr>
          <p:spPr>
            <a:xfrm>
              <a:off x="17232520" y="5026916"/>
              <a:ext cx="1005840" cy="457200"/>
            </a:xfrm>
            <a:prstGeom prst="roundRect">
              <a:avLst>
                <a:gd name="adj" fmla="val 12000"/>
              </a:avLst>
            </a:prstGeom>
            <a:solidFill>
              <a:srgbClr val="1C7293"/>
            </a:solidFill>
            <a:ln/>
          </p:spPr>
          <p:txBody>
            <a:bodyPr/>
            <a:lstStyle/>
            <a:p>
              <a:endParaRPr lang="en-US"/>
            </a:p>
          </p:txBody>
        </p:sp>
        <p:sp>
          <p:nvSpPr>
            <p:cNvPr id="23" name="Text 17">
              <a:extLst>
                <a:ext uri="{FF2B5EF4-FFF2-40B4-BE49-F238E27FC236}">
                  <a16:creationId xmlns:a16="http://schemas.microsoft.com/office/drawing/2014/main" id="{7723BF42-AD14-28DB-11EF-DF70AF9A3311}"/>
                </a:ext>
              </a:extLst>
            </p:cNvPr>
            <p:cNvSpPr txBox="1"/>
            <p:nvPr/>
          </p:nvSpPr>
          <p:spPr>
            <a:xfrm>
              <a:off x="17232520" y="5026916"/>
              <a:ext cx="1005840" cy="457200"/>
            </a:xfrm>
            <a:prstGeom prst="rect">
              <a:avLst/>
            </a:prstGeom>
            <a:noFill/>
            <a:ln/>
          </p:spPr>
          <p:txBody>
            <a:bodyPr wrap="square" lIns="0" tIns="0" rIns="0" bIns="0" rtlCol="0" anchor="ctr"/>
            <a:lstStyle/>
            <a:p>
              <a:pPr marL="0" indent="0" algn="ctr">
                <a:buNone/>
              </a:pPr>
              <a:r>
                <a:rPr lang="en-US" sz="3200" b="1" dirty="0">
                  <a:solidFill>
                    <a:srgbClr val="FFFFFF"/>
                  </a:solidFill>
                  <a:latin typeface="Consolas" pitchFamily="34" charset="0"/>
                  <a:ea typeface="Consolas" pitchFamily="34" charset="-122"/>
                  <a:cs typeface="Consolas" pitchFamily="34" charset="-120"/>
                </a:rPr>
                <a:t>v1</a:t>
              </a:r>
              <a:endParaRPr lang="en-US" sz="3200" dirty="0"/>
            </a:p>
          </p:txBody>
        </p:sp>
      </p:grpSp>
      <p:sp>
        <p:nvSpPr>
          <p:cNvPr id="24" name="Text 18">
            <a:extLst>
              <a:ext uri="{FF2B5EF4-FFF2-40B4-BE49-F238E27FC236}">
                <a16:creationId xmlns:a16="http://schemas.microsoft.com/office/drawing/2014/main" id="{A41847E5-7069-E573-7DDE-1CF58A8169DF}"/>
              </a:ext>
            </a:extLst>
          </p:cNvPr>
          <p:cNvSpPr txBox="1"/>
          <p:nvPr/>
        </p:nvSpPr>
        <p:spPr>
          <a:xfrm>
            <a:off x="13295718" y="7534831"/>
            <a:ext cx="10056340" cy="743826"/>
          </a:xfrm>
          <a:prstGeom prst="rect">
            <a:avLst/>
          </a:prstGeom>
          <a:noFill/>
          <a:ln/>
        </p:spPr>
        <p:txBody>
          <a:bodyPr wrap="square" lIns="0" tIns="0" rIns="0" bIns="0" rtlCol="0" anchor="t"/>
          <a:lstStyle/>
          <a:p>
            <a:pPr marL="0" indent="0">
              <a:buNone/>
            </a:pPr>
            <a:r>
              <a:rPr lang="en-US" sz="2800" dirty="0">
                <a:solidFill>
                  <a:srgbClr val="CADCFC"/>
                </a:solidFill>
                <a:latin typeface="Calibri" pitchFamily="34" charset="0"/>
                <a:ea typeface="Calibri" pitchFamily="34" charset="-122"/>
                <a:cs typeface="Calibri" pitchFamily="34" charset="-120"/>
              </a:rPr>
              <a:t>Reassign the alias to point at a new version to roll out a model — the alias name in downstream code and pipelines never changes.</a:t>
            </a:r>
            <a:endParaRPr lang="en-US" sz="2800" dirty="0"/>
          </a:p>
        </p:txBody>
      </p:sp>
      <p:sp>
        <p:nvSpPr>
          <p:cNvPr id="25" name="Text 19">
            <a:extLst>
              <a:ext uri="{FF2B5EF4-FFF2-40B4-BE49-F238E27FC236}">
                <a16:creationId xmlns:a16="http://schemas.microsoft.com/office/drawing/2014/main" id="{37FF8AAE-628D-9966-A52A-8DB7E9FEC267}"/>
              </a:ext>
            </a:extLst>
          </p:cNvPr>
          <p:cNvSpPr txBox="1"/>
          <p:nvPr/>
        </p:nvSpPr>
        <p:spPr>
          <a:xfrm>
            <a:off x="1008888" y="9215718"/>
            <a:ext cx="17493343" cy="475488"/>
          </a:xfrm>
          <a:prstGeom prst="rect">
            <a:avLst/>
          </a:prstGeom>
          <a:noFill/>
          <a:ln/>
        </p:spPr>
        <p:txBody>
          <a:bodyPr wrap="square" lIns="0" tIns="0" rIns="0" bIns="0" rtlCol="0" anchor="ctr"/>
          <a:lstStyle/>
          <a:p>
            <a:pPr marL="0" indent="0">
              <a:buNone/>
            </a:pPr>
            <a:r>
              <a:rPr lang="en-US" sz="3600" b="1" kern="0" spc="120" dirty="0">
                <a:solidFill>
                  <a:srgbClr val="5B6B76"/>
                </a:solidFill>
                <a:latin typeface="Calibri" pitchFamily="34" charset="0"/>
                <a:ea typeface="Calibri" pitchFamily="34" charset="-122"/>
                <a:cs typeface="Calibri" pitchFamily="34" charset="-120"/>
              </a:rPr>
              <a:t>OSS MLFLOW  vs.  DATABRICKS UNITY CATALOG</a:t>
            </a:r>
            <a:endParaRPr lang="en-US" sz="3600" dirty="0"/>
          </a:p>
        </p:txBody>
      </p:sp>
      <p:grpSp>
        <p:nvGrpSpPr>
          <p:cNvPr id="71" name="Group 70">
            <a:extLst>
              <a:ext uri="{FF2B5EF4-FFF2-40B4-BE49-F238E27FC236}">
                <a16:creationId xmlns:a16="http://schemas.microsoft.com/office/drawing/2014/main" id="{E95D503B-0B3D-564A-5E3B-17CDC1CEA63B}"/>
              </a:ext>
            </a:extLst>
          </p:cNvPr>
          <p:cNvGrpSpPr/>
          <p:nvPr/>
        </p:nvGrpSpPr>
        <p:grpSpPr>
          <a:xfrm>
            <a:off x="993431" y="2936657"/>
            <a:ext cx="11198570" cy="5813433"/>
            <a:chOff x="502920" y="1536192"/>
            <a:chExt cx="5806440" cy="3246120"/>
          </a:xfrm>
        </p:grpSpPr>
        <p:grpSp>
          <p:nvGrpSpPr>
            <p:cNvPr id="72" name="Group 71">
              <a:extLst>
                <a:ext uri="{FF2B5EF4-FFF2-40B4-BE49-F238E27FC236}">
                  <a16:creationId xmlns:a16="http://schemas.microsoft.com/office/drawing/2014/main" id="{CC15C090-5CD1-8D11-5678-E984E2DBB6F6}"/>
                </a:ext>
              </a:extLst>
            </p:cNvPr>
            <p:cNvGrpSpPr/>
            <p:nvPr/>
          </p:nvGrpSpPr>
          <p:grpSpPr>
            <a:xfrm>
              <a:off x="502920" y="1536192"/>
              <a:ext cx="5806440" cy="3246120"/>
              <a:chOff x="502920" y="1536192"/>
              <a:chExt cx="5806440" cy="3246120"/>
            </a:xfrm>
          </p:grpSpPr>
          <p:grpSp>
            <p:nvGrpSpPr>
              <p:cNvPr id="74" name="Group 73">
                <a:extLst>
                  <a:ext uri="{FF2B5EF4-FFF2-40B4-BE49-F238E27FC236}">
                    <a16:creationId xmlns:a16="http://schemas.microsoft.com/office/drawing/2014/main" id="{86200C00-1A22-9799-0C40-ACF66AFCA98B}"/>
                  </a:ext>
                </a:extLst>
              </p:cNvPr>
              <p:cNvGrpSpPr/>
              <p:nvPr/>
            </p:nvGrpSpPr>
            <p:grpSpPr>
              <a:xfrm>
                <a:off x="502920" y="1536192"/>
                <a:ext cx="5806440" cy="347472"/>
                <a:chOff x="502920" y="1536192"/>
                <a:chExt cx="5806440" cy="347472"/>
              </a:xfrm>
            </p:grpSpPr>
            <p:sp>
              <p:nvSpPr>
                <p:cNvPr id="76" name="Shape 3">
                  <a:extLst>
                    <a:ext uri="{FF2B5EF4-FFF2-40B4-BE49-F238E27FC236}">
                      <a16:creationId xmlns:a16="http://schemas.microsoft.com/office/drawing/2014/main" id="{3055A212-E9FB-E693-173D-62BA51C1B312}"/>
                    </a:ext>
                  </a:extLst>
                </p:cNvPr>
                <p:cNvSpPr/>
                <p:nvPr/>
              </p:nvSpPr>
              <p:spPr>
                <a:xfrm>
                  <a:off x="502920" y="1536192"/>
                  <a:ext cx="5806440" cy="347472"/>
                </a:xfrm>
                <a:prstGeom prst="roundRect">
                  <a:avLst>
                    <a:gd name="adj" fmla="val 13158"/>
                  </a:avLst>
                </a:prstGeom>
                <a:solidFill>
                  <a:srgbClr val="0F1530"/>
                </a:solidFill>
                <a:ln/>
              </p:spPr>
              <p:txBody>
                <a:bodyPr/>
                <a:lstStyle/>
                <a:p>
                  <a:endParaRPr lang="en-US"/>
                </a:p>
              </p:txBody>
            </p:sp>
            <p:sp>
              <p:nvSpPr>
                <p:cNvPr id="77" name="Shape 4">
                  <a:extLst>
                    <a:ext uri="{FF2B5EF4-FFF2-40B4-BE49-F238E27FC236}">
                      <a16:creationId xmlns:a16="http://schemas.microsoft.com/office/drawing/2014/main" id="{93200077-88D1-6376-2C1D-4051AFF71DBA}"/>
                    </a:ext>
                  </a:extLst>
                </p:cNvPr>
                <p:cNvSpPr/>
                <p:nvPr/>
              </p:nvSpPr>
              <p:spPr>
                <a:xfrm>
                  <a:off x="630936" y="1641348"/>
                  <a:ext cx="128016" cy="128016"/>
                </a:xfrm>
                <a:prstGeom prst="ellipse">
                  <a:avLst/>
                </a:prstGeom>
                <a:solidFill>
                  <a:srgbClr val="E8594F"/>
                </a:solidFill>
                <a:ln/>
              </p:spPr>
              <p:txBody>
                <a:bodyPr/>
                <a:lstStyle/>
                <a:p>
                  <a:endParaRPr lang="en-US"/>
                </a:p>
              </p:txBody>
            </p:sp>
            <p:sp>
              <p:nvSpPr>
                <p:cNvPr id="78" name="Shape 5">
                  <a:extLst>
                    <a:ext uri="{FF2B5EF4-FFF2-40B4-BE49-F238E27FC236}">
                      <a16:creationId xmlns:a16="http://schemas.microsoft.com/office/drawing/2014/main" id="{D06E9DDC-F447-DAE9-305E-AB8BB19E2A80}"/>
                    </a:ext>
                  </a:extLst>
                </p:cNvPr>
                <p:cNvSpPr/>
                <p:nvPr/>
              </p:nvSpPr>
              <p:spPr>
                <a:xfrm>
                  <a:off x="822960" y="1641348"/>
                  <a:ext cx="128016" cy="128016"/>
                </a:xfrm>
                <a:prstGeom prst="ellipse">
                  <a:avLst/>
                </a:prstGeom>
                <a:solidFill>
                  <a:srgbClr val="F2C265"/>
                </a:solidFill>
                <a:ln/>
              </p:spPr>
              <p:txBody>
                <a:bodyPr/>
                <a:lstStyle/>
                <a:p>
                  <a:endParaRPr lang="en-US"/>
                </a:p>
              </p:txBody>
            </p:sp>
            <p:sp>
              <p:nvSpPr>
                <p:cNvPr id="79" name="Shape 6">
                  <a:extLst>
                    <a:ext uri="{FF2B5EF4-FFF2-40B4-BE49-F238E27FC236}">
                      <a16:creationId xmlns:a16="http://schemas.microsoft.com/office/drawing/2014/main" id="{9E10DCB6-CDB1-87B7-5FF1-C469DEB4EE02}"/>
                    </a:ext>
                  </a:extLst>
                </p:cNvPr>
                <p:cNvSpPr/>
                <p:nvPr/>
              </p:nvSpPr>
              <p:spPr>
                <a:xfrm>
                  <a:off x="1014984" y="1641348"/>
                  <a:ext cx="128016" cy="128016"/>
                </a:xfrm>
                <a:prstGeom prst="ellipse">
                  <a:avLst/>
                </a:prstGeom>
                <a:solidFill>
                  <a:srgbClr val="4FC77E"/>
                </a:solidFill>
                <a:ln/>
              </p:spPr>
              <p:txBody>
                <a:bodyPr/>
                <a:lstStyle/>
                <a:p>
                  <a:endParaRPr lang="en-US"/>
                </a:p>
              </p:txBody>
            </p:sp>
            <p:sp>
              <p:nvSpPr>
                <p:cNvPr id="80" name="Text 7">
                  <a:extLst>
                    <a:ext uri="{FF2B5EF4-FFF2-40B4-BE49-F238E27FC236}">
                      <a16:creationId xmlns:a16="http://schemas.microsoft.com/office/drawing/2014/main" id="{3EFC1734-7691-FA1D-32E4-B99787D26E4D}"/>
                    </a:ext>
                  </a:extLst>
                </p:cNvPr>
                <p:cNvSpPr txBox="1"/>
                <p:nvPr/>
              </p:nvSpPr>
              <p:spPr>
                <a:xfrm>
                  <a:off x="1325880" y="1536192"/>
                  <a:ext cx="3657600" cy="347472"/>
                </a:xfrm>
                <a:prstGeom prst="rect">
                  <a:avLst/>
                </a:prstGeom>
                <a:noFill/>
                <a:ln/>
              </p:spPr>
              <p:txBody>
                <a:bodyPr wrap="square" lIns="0" tIns="0" rIns="0" bIns="0" rtlCol="0" anchor="ctr"/>
                <a:lstStyle/>
                <a:p>
                  <a:pPr marL="0" indent="0">
                    <a:buNone/>
                  </a:pPr>
                  <a:r>
                    <a:rPr lang="en-US" sz="1000" dirty="0">
                      <a:solidFill>
                        <a:srgbClr val="9FB0C6"/>
                      </a:solidFill>
                      <a:latin typeface="Consolas" pitchFamily="34" charset="0"/>
                      <a:ea typeface="Consolas" pitchFamily="34" charset="-122"/>
                      <a:cs typeface="Consolas" pitchFamily="34" charset="-120"/>
                    </a:rPr>
                    <a:t>register_and_load.py</a:t>
                  </a:r>
                  <a:endParaRPr lang="en-US" sz="1000" dirty="0"/>
                </a:p>
              </p:txBody>
            </p:sp>
          </p:grpSp>
          <p:sp>
            <p:nvSpPr>
              <p:cNvPr id="75" name="Shape 8">
                <a:extLst>
                  <a:ext uri="{FF2B5EF4-FFF2-40B4-BE49-F238E27FC236}">
                    <a16:creationId xmlns:a16="http://schemas.microsoft.com/office/drawing/2014/main" id="{FEBF6FB0-0DFD-CFE6-6DD9-C3FFF9AE9FCF}"/>
                  </a:ext>
                </a:extLst>
              </p:cNvPr>
              <p:cNvSpPr/>
              <p:nvPr/>
            </p:nvSpPr>
            <p:spPr>
              <a:xfrm>
                <a:off x="502920" y="1883664"/>
                <a:ext cx="5806440" cy="2898648"/>
              </a:xfrm>
              <a:prstGeom prst="rect">
                <a:avLst/>
              </a:prstGeom>
              <a:solidFill>
                <a:srgbClr val="1B2340"/>
              </a:solidFill>
              <a:ln/>
            </p:spPr>
            <p:txBody>
              <a:bodyPr/>
              <a:lstStyle/>
              <a:p>
                <a:endParaRPr lang="en-US"/>
              </a:p>
            </p:txBody>
          </p:sp>
        </p:grpSp>
        <p:sp>
          <p:nvSpPr>
            <p:cNvPr id="73" name="Text 9">
              <a:extLst>
                <a:ext uri="{FF2B5EF4-FFF2-40B4-BE49-F238E27FC236}">
                  <a16:creationId xmlns:a16="http://schemas.microsoft.com/office/drawing/2014/main" id="{D024AFFB-E992-820F-AB12-175DC18A1DBB}"/>
                </a:ext>
              </a:extLst>
            </p:cNvPr>
            <p:cNvSpPr txBox="1"/>
            <p:nvPr/>
          </p:nvSpPr>
          <p:spPr>
            <a:xfrm>
              <a:off x="704088" y="2029968"/>
              <a:ext cx="5440680" cy="2606040"/>
            </a:xfrm>
            <a:prstGeom prst="rect">
              <a:avLst/>
            </a:prstGeom>
            <a:noFill/>
            <a:ln/>
          </p:spPr>
          <p:txBody>
            <a:bodyPr wrap="square" lIns="0" tIns="0" rIns="0" bIns="0" rtlCol="0" anchor="t"/>
            <a:lstStyle/>
            <a:p>
              <a:pPr marL="0" indent="0">
                <a:buNone/>
              </a:pPr>
              <a:r>
                <a:rPr lang="en-US" sz="2000" dirty="0">
                  <a:solidFill>
                    <a:srgbClr val="7FB8A6"/>
                  </a:solidFill>
                  <a:latin typeface="Consolas" pitchFamily="34" charset="0"/>
                  <a:ea typeface="Consolas" pitchFamily="34" charset="-122"/>
                  <a:cs typeface="Consolas" pitchFamily="34" charset="-120"/>
                </a:rPr>
                <a:t># Option 1 -- register while logging</a:t>
              </a:r>
              <a:endParaRPr lang="en-US" sz="2000" dirty="0"/>
            </a:p>
            <a:p>
              <a:pPr marL="0" indent="0">
                <a:buNone/>
              </a:pPr>
              <a:r>
                <a:rPr lang="en-US" sz="2000" dirty="0" err="1">
                  <a:solidFill>
                    <a:srgbClr val="D6E4F0"/>
                  </a:solidFill>
                  <a:latin typeface="Consolas" pitchFamily="34" charset="0"/>
                  <a:ea typeface="Consolas" pitchFamily="34" charset="-122"/>
                  <a:cs typeface="Consolas" pitchFamily="34" charset="-120"/>
                </a:rPr>
                <a:t>mlflow.sklearn.log_model</a:t>
              </a: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 </a:t>
              </a:r>
              <a:r>
                <a:rPr lang="en-US" sz="2000" dirty="0" err="1">
                  <a:solidFill>
                    <a:srgbClr val="D6E4F0"/>
                  </a:solidFill>
                  <a:latin typeface="Consolas" pitchFamily="34" charset="0"/>
                  <a:ea typeface="Consolas" pitchFamily="34" charset="-122"/>
                  <a:cs typeface="Consolas" pitchFamily="34" charset="-120"/>
                </a:rPr>
                <a:t>registered_model_name</a:t>
              </a:r>
              <a:r>
                <a:rPr lang="en-US" sz="2000" dirty="0">
                  <a:solidFill>
                    <a:srgbClr val="D6E4F0"/>
                  </a:solidFill>
                  <a:latin typeface="Consolas" pitchFamily="34" charset="0"/>
                  <a:ea typeface="Consolas" pitchFamily="34" charset="-122"/>
                  <a:cs typeface="Consolas" pitchFamily="34" charset="-120"/>
                </a:rPr>
                <a:t>=”model"</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a:t>
              </a:r>
              <a:endParaRPr lang="en-US" sz="2000" dirty="0"/>
            </a:p>
            <a:p>
              <a:pPr marL="0" indent="0">
                <a:buNone/>
              </a:pPr>
              <a:r>
                <a:rPr lang="en-US" sz="2000" dirty="0">
                  <a:solidFill>
                    <a:srgbClr val="7FB8A6"/>
                  </a:solidFill>
                  <a:latin typeface="Consolas" pitchFamily="34" charset="0"/>
                  <a:ea typeface="Consolas" pitchFamily="34" charset="-122"/>
                  <a:cs typeface="Consolas" pitchFamily="34" charset="-120"/>
                </a:rPr>
                <a:t># Option 2 -- register an already-logged model</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mlflow.register_model(</a:t>
              </a:r>
              <a:endParaRPr lang="en-US" sz="2000" dirty="0"/>
            </a:p>
            <a:p>
              <a:r>
                <a:rPr lang="en-ID" sz="2000" dirty="0">
                  <a:solidFill>
                    <a:srgbClr val="D6E4F0"/>
                  </a:solidFill>
                  <a:latin typeface="Consolas" pitchFamily="34" charset="0"/>
                  <a:cs typeface="Consolas" pitchFamily="34" charset="-120"/>
                </a:rPr>
                <a:t>	</a:t>
              </a:r>
              <a:r>
                <a:rPr lang="en-ID" sz="2000" dirty="0" err="1">
                  <a:solidFill>
                    <a:srgbClr val="D6E4F0"/>
                  </a:solidFill>
                  <a:latin typeface="Consolas" pitchFamily="34" charset="0"/>
                  <a:cs typeface="Consolas" pitchFamily="34" charset="-120"/>
                </a:rPr>
                <a:t>f"runs</a:t>
              </a:r>
              <a:r>
                <a:rPr lang="en-ID" sz="2000" dirty="0">
                  <a:solidFill>
                    <a:srgbClr val="D6E4F0"/>
                  </a:solidFill>
                  <a:latin typeface="Consolas" pitchFamily="34" charset="0"/>
                  <a:cs typeface="Consolas" pitchFamily="34" charset="-120"/>
                </a:rPr>
                <a:t>:/{</a:t>
              </a:r>
              <a:r>
                <a:rPr lang="en-ID" sz="2000" dirty="0" err="1">
                  <a:solidFill>
                    <a:srgbClr val="D6E4F0"/>
                  </a:solidFill>
                  <a:latin typeface="Consolas" pitchFamily="34" charset="0"/>
                  <a:cs typeface="Consolas" pitchFamily="34" charset="-120"/>
                </a:rPr>
                <a:t>best_run_id</a:t>
              </a:r>
              <a:r>
                <a:rPr lang="en-ID" sz="2000" dirty="0">
                  <a:solidFill>
                    <a:srgbClr val="D6E4F0"/>
                  </a:solidFill>
                  <a:latin typeface="Consolas" pitchFamily="34" charset="0"/>
                  <a:cs typeface="Consolas" pitchFamily="34" charset="-120"/>
                </a:rPr>
                <a:t>}/</a:t>
              </a:r>
              <a:r>
                <a:rPr lang="en-ID" sz="2000" dirty="0" err="1">
                  <a:solidFill>
                    <a:srgbClr val="D6E4F0"/>
                  </a:solidFill>
                  <a:latin typeface="Consolas" pitchFamily="34" charset="0"/>
                  <a:cs typeface="Consolas" pitchFamily="34" charset="-120"/>
                </a:rPr>
                <a:t>model”,"insurance</a:t>
              </a:r>
              <a:r>
                <a:rPr lang="en-ID" sz="2000" dirty="0">
                  <a:solidFill>
                    <a:srgbClr val="D6E4F0"/>
                  </a:solidFill>
                  <a:latin typeface="Consolas" pitchFamily="34" charset="0"/>
                  <a:cs typeface="Consolas" pitchFamily="34" charset="-120"/>
                </a:rPr>
                <a:t>-approval-model"</a:t>
              </a: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a:t>
              </a:r>
              <a:endParaRPr lang="en-US" sz="2000" dirty="0"/>
            </a:p>
            <a:p>
              <a:pPr marL="0" indent="0">
                <a:buNone/>
              </a:pPr>
              <a:r>
                <a:rPr lang="en-US" sz="2000" dirty="0">
                  <a:solidFill>
                    <a:srgbClr val="7FB8A6"/>
                  </a:solidFill>
                  <a:latin typeface="Consolas" pitchFamily="34" charset="0"/>
                  <a:ea typeface="Consolas" pitchFamily="34" charset="-122"/>
                  <a:cs typeface="Consolas" pitchFamily="34" charset="-120"/>
                </a:rPr>
                <a:t># Load a specific version</a:t>
              </a:r>
              <a:endParaRPr lang="en-US" sz="2000" dirty="0"/>
            </a:p>
            <a:p>
              <a:pPr marL="0" indent="0">
                <a:buNone/>
              </a:pPr>
              <a:r>
                <a:rPr lang="en-US" sz="2000" dirty="0" err="1">
                  <a:solidFill>
                    <a:srgbClr val="D6E4F0"/>
                  </a:solidFill>
                  <a:latin typeface="Consolas" pitchFamily="34" charset="0"/>
                  <a:ea typeface="Consolas" pitchFamily="34" charset="-122"/>
                  <a:cs typeface="Consolas" pitchFamily="34" charset="-120"/>
                </a:rPr>
                <a:t>mlflow.sklearn.load_model</a:t>
              </a:r>
              <a:r>
                <a:rPr lang="en-US" sz="2000" dirty="0">
                  <a:solidFill>
                    <a:srgbClr val="D6E4F0"/>
                  </a:solidFill>
                  <a:latin typeface="Consolas" pitchFamily="34" charset="0"/>
                  <a:ea typeface="Consolas" pitchFamily="34" charset="-122"/>
                  <a:cs typeface="Consolas" pitchFamily="34" charset="-120"/>
                </a:rPr>
                <a:t>("models:/model/1")</a:t>
              </a:r>
              <a:endParaRPr lang="en-US" sz="2000" dirty="0"/>
            </a:p>
            <a:p>
              <a:pPr marL="0" indent="0">
                <a:buNone/>
              </a:pPr>
              <a:r>
                <a:rPr lang="en-US" sz="2000" dirty="0">
                  <a:solidFill>
                    <a:srgbClr val="D6E4F0"/>
                  </a:solidFill>
                  <a:latin typeface="Consolas" pitchFamily="34" charset="0"/>
                  <a:ea typeface="Consolas" pitchFamily="34" charset="-122"/>
                  <a:cs typeface="Consolas" pitchFamily="34" charset="-120"/>
                </a:rPr>
                <a:t> </a:t>
              </a:r>
              <a:endParaRPr lang="en-US" sz="2000" dirty="0"/>
            </a:p>
            <a:p>
              <a:pPr marL="0" indent="0">
                <a:buNone/>
              </a:pPr>
              <a:r>
                <a:rPr lang="en-US" sz="2000" dirty="0">
                  <a:solidFill>
                    <a:srgbClr val="7FB8A6"/>
                  </a:solidFill>
                  <a:latin typeface="Consolas" pitchFamily="34" charset="0"/>
                  <a:ea typeface="Consolas" pitchFamily="34" charset="-122"/>
                  <a:cs typeface="Consolas" pitchFamily="34" charset="-120"/>
                </a:rPr>
                <a:t># Load via alias -- consumer code never changes</a:t>
              </a:r>
              <a:endParaRPr lang="en-US" sz="2000" dirty="0"/>
            </a:p>
            <a:p>
              <a:pPr marL="0" indent="0">
                <a:buNone/>
              </a:pPr>
              <a:r>
                <a:rPr lang="en-US" sz="2000" dirty="0" err="1">
                  <a:solidFill>
                    <a:srgbClr val="D6E4F0"/>
                  </a:solidFill>
                  <a:latin typeface="Consolas" pitchFamily="34" charset="0"/>
                  <a:ea typeface="Consolas" pitchFamily="34" charset="-122"/>
                  <a:cs typeface="Consolas" pitchFamily="34" charset="-120"/>
                </a:rPr>
                <a:t>mlflow.sklearn.load_model</a:t>
              </a:r>
              <a:r>
                <a:rPr lang="en-US" sz="2000" dirty="0">
                  <a:solidFill>
                    <a:srgbClr val="D6E4F0"/>
                  </a:solidFill>
                  <a:latin typeface="Consolas" pitchFamily="34" charset="0"/>
                  <a:ea typeface="Consolas" pitchFamily="34" charset="-122"/>
                  <a:cs typeface="Consolas" pitchFamily="34" charset="-120"/>
                </a:rPr>
                <a:t>("models:/</a:t>
              </a:r>
              <a:r>
                <a:rPr lang="en-US" sz="2000" dirty="0" err="1">
                  <a:solidFill>
                    <a:srgbClr val="D6E4F0"/>
                  </a:solidFill>
                  <a:latin typeface="Consolas" pitchFamily="34" charset="0"/>
                  <a:ea typeface="Consolas" pitchFamily="34" charset="-122"/>
                  <a:cs typeface="Consolas" pitchFamily="34" charset="-120"/>
                </a:rPr>
                <a:t>model@champion</a:t>
              </a:r>
              <a:r>
                <a:rPr lang="en-US" sz="2000" dirty="0">
                  <a:solidFill>
                    <a:srgbClr val="D6E4F0"/>
                  </a:solidFill>
                  <a:latin typeface="Consolas" pitchFamily="34" charset="0"/>
                  <a:ea typeface="Consolas" pitchFamily="34" charset="-122"/>
                  <a:cs typeface="Consolas" pitchFamily="34" charset="-120"/>
                </a:rPr>
                <a:t>")</a:t>
              </a:r>
              <a:endParaRPr lang="en-US" sz="2000" dirty="0"/>
            </a:p>
            <a:p>
              <a:pPr marL="0" indent="0">
                <a:buNone/>
              </a:pPr>
              <a:r>
                <a:rPr lang="en-US" sz="1150" dirty="0">
                  <a:solidFill>
                    <a:srgbClr val="D6E4F0"/>
                  </a:solidFill>
                  <a:latin typeface="Consolas" pitchFamily="34" charset="0"/>
                  <a:ea typeface="Consolas" pitchFamily="34" charset="-122"/>
                  <a:cs typeface="Consolas" pitchFamily="34" charset="-120"/>
                </a:rPr>
                <a:t> </a:t>
              </a:r>
              <a:endParaRPr lang="en-US" sz="1150" dirty="0"/>
            </a:p>
          </p:txBody>
        </p:sp>
      </p:grpSp>
      <p:graphicFrame>
        <p:nvGraphicFramePr>
          <p:cNvPr id="82" name="Table 81">
            <a:extLst>
              <a:ext uri="{FF2B5EF4-FFF2-40B4-BE49-F238E27FC236}">
                <a16:creationId xmlns:a16="http://schemas.microsoft.com/office/drawing/2014/main" id="{F140148B-31ED-9F78-25A6-4320094A1407}"/>
              </a:ext>
            </a:extLst>
          </p:cNvPr>
          <p:cNvGraphicFramePr>
            <a:graphicFrameLocks noGrp="1"/>
          </p:cNvGraphicFramePr>
          <p:nvPr>
            <p:extLst>
              <p:ext uri="{D42A27DB-BD31-4B8C-83A1-F6EECF244321}">
                <p14:modId xmlns:p14="http://schemas.microsoft.com/office/powerpoint/2010/main" val="4018029853"/>
              </p:ext>
            </p:extLst>
          </p:nvPr>
        </p:nvGraphicFramePr>
        <p:xfrm>
          <a:off x="1008888" y="9847371"/>
          <a:ext cx="22713258" cy="3251233"/>
        </p:xfrm>
        <a:graphic>
          <a:graphicData uri="http://schemas.openxmlformats.org/drawingml/2006/table">
            <a:tbl>
              <a:tblPr firstRow="1" bandRow="1">
                <a:tableStyleId>{073A0DAA-6AF3-43AB-8588-CEC1D06C72B9}</a:tableStyleId>
              </a:tblPr>
              <a:tblGrid>
                <a:gridCol w="4033375">
                  <a:extLst>
                    <a:ext uri="{9D8B030D-6E8A-4147-A177-3AD203B41FA5}">
                      <a16:colId xmlns:a16="http://schemas.microsoft.com/office/drawing/2014/main" val="1521679281"/>
                    </a:ext>
                  </a:extLst>
                </a:gridCol>
                <a:gridCol w="8229600">
                  <a:extLst>
                    <a:ext uri="{9D8B030D-6E8A-4147-A177-3AD203B41FA5}">
                      <a16:colId xmlns:a16="http://schemas.microsoft.com/office/drawing/2014/main" val="597864668"/>
                    </a:ext>
                  </a:extLst>
                </a:gridCol>
                <a:gridCol w="10450283">
                  <a:extLst>
                    <a:ext uri="{9D8B030D-6E8A-4147-A177-3AD203B41FA5}">
                      <a16:colId xmlns:a16="http://schemas.microsoft.com/office/drawing/2014/main" val="2485764218"/>
                    </a:ext>
                  </a:extLst>
                </a:gridCol>
              </a:tblGrid>
              <a:tr h="674209">
                <a:tc>
                  <a:txBody>
                    <a:bodyPr/>
                    <a:lstStyle/>
                    <a:p>
                      <a:pPr algn="ctr"/>
                      <a:r>
                        <a:rPr lang="en-US" sz="3200" b="1" dirty="0">
                          <a:solidFill>
                            <a:srgbClr val="FFFFFF"/>
                          </a:solidFill>
                        </a:rPr>
                        <a:t>Aspect</a:t>
                      </a:r>
                      <a:endParaRPr lang="en-US" sz="3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200" b="1" dirty="0">
                          <a:solidFill>
                            <a:srgbClr val="FFFFFF"/>
                          </a:solidFill>
                        </a:rPr>
                        <a:t>OSS </a:t>
                      </a:r>
                      <a:r>
                        <a:rPr lang="en-US" sz="3200" b="1" dirty="0" err="1">
                          <a:solidFill>
                            <a:srgbClr val="FFFFFF"/>
                          </a:solidFill>
                        </a:rPr>
                        <a:t>MLflow</a:t>
                      </a:r>
                      <a:endParaRPr lang="en-US" sz="32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3200" b="1" dirty="0">
                          <a:solidFill>
                            <a:srgbClr val="FFFFFF"/>
                          </a:solidFill>
                        </a:rPr>
                        <a:t>Databricks Unity Catalog</a:t>
                      </a:r>
                      <a:endParaRPr lang="en-US" sz="3200" dirty="0"/>
                    </a:p>
                  </a:txBody>
                  <a:tcPr/>
                </a:tc>
                <a:extLst>
                  <a:ext uri="{0D108BD9-81ED-4DB2-BD59-A6C34878D82A}">
                    <a16:rowId xmlns:a16="http://schemas.microsoft.com/office/drawing/2014/main" val="3984886275"/>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Registry URI</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Local / default tracking store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err="1">
                          <a:solidFill>
                            <a:srgbClr val="232A33"/>
                          </a:solidFill>
                          <a:latin typeface="Calibri" panose="020F0502020204030204" pitchFamily="34" charset="0"/>
                          <a:ea typeface="Consolas" pitchFamily="34" charset="-122"/>
                          <a:cs typeface="Calibri" panose="020F0502020204030204" pitchFamily="34" charset="0"/>
                        </a:rPr>
                        <a:t>set_registry_uri</a:t>
                      </a:r>
                      <a:r>
                        <a:rPr lang="en-US" sz="3200" dirty="0">
                          <a:solidFill>
                            <a:srgbClr val="232A33"/>
                          </a:solidFill>
                          <a:latin typeface="Calibri" panose="020F0502020204030204" pitchFamily="34" charset="0"/>
                          <a:ea typeface="Consolas" pitchFamily="34" charset="-122"/>
                          <a:cs typeface="Calibri" panose="020F0502020204030204" pitchFamily="34" charset="0"/>
                        </a:rPr>
                        <a:t>("</a:t>
                      </a:r>
                      <a:r>
                        <a:rPr lang="en-US" sz="3200" dirty="0" err="1">
                          <a:solidFill>
                            <a:srgbClr val="232A33"/>
                          </a:solidFill>
                          <a:latin typeface="Calibri" panose="020F0502020204030204" pitchFamily="34" charset="0"/>
                          <a:ea typeface="Consolas" pitchFamily="34" charset="-122"/>
                          <a:cs typeface="Calibri" panose="020F0502020204030204" pitchFamily="34" charset="0"/>
                        </a:rPr>
                        <a:t>databricks</a:t>
                      </a:r>
                      <a:r>
                        <a:rPr lang="en-US" sz="3200" dirty="0">
                          <a:solidFill>
                            <a:srgbClr val="232A33"/>
                          </a:solidFill>
                          <a:latin typeface="Calibri" panose="020F0502020204030204" pitchFamily="34" charset="0"/>
                          <a:ea typeface="Consolas" pitchFamily="34" charset="-122"/>
                          <a:cs typeface="Calibri" panose="020F0502020204030204" pitchFamily="34" charset="0"/>
                        </a:rPr>
                        <a:t>-uc")</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111655372"/>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Governance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Tags &amp; descriptions</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Fine-grained RBAC, access policies</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2373171465"/>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Scope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Single tracking store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Cross-workspace shared catalog</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712773022"/>
                  </a:ext>
                </a:extLst>
              </a:tr>
              <a:tr h="6442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b="1" dirty="0">
                          <a:solidFill>
                            <a:srgbClr val="21295C"/>
                          </a:solidFill>
                          <a:latin typeface="Calibri" panose="020F0502020204030204" pitchFamily="34" charset="0"/>
                          <a:ea typeface="Calibri" pitchFamily="34" charset="-122"/>
                          <a:cs typeface="Calibri" panose="020F0502020204030204" pitchFamily="34" charset="0"/>
                        </a:rPr>
                        <a:t>Model signature</a:t>
                      </a:r>
                      <a:endParaRPr lang="en-US" sz="3200" dirty="0">
                        <a:latin typeface="Calibri" panose="020F0502020204030204" pitchFamily="34" charset="0"/>
                        <a:cs typeface="Calibri" panose="020F0502020204030204" pitchFamily="34" charset="0"/>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dirty="0">
                          <a:solidFill>
                            <a:srgbClr val="232A33"/>
                          </a:solidFill>
                          <a:latin typeface="Calibri" panose="020F0502020204030204" pitchFamily="34" charset="0"/>
                          <a:ea typeface="Consolas" pitchFamily="34" charset="-122"/>
                          <a:cs typeface="Calibri" panose="020F0502020204030204" pitchFamily="34" charset="0"/>
                        </a:rPr>
                        <a:t>Optional</a:t>
                      </a:r>
                      <a:endParaRPr lang="en-US" sz="3200" dirty="0">
                        <a:latin typeface="Calibri" panose="020F0502020204030204" pitchFamily="34" charset="0"/>
                        <a:cs typeface="Calibri" panose="020F0502020204030204" pitchFamily="34" charset="0"/>
                      </a:endParaRPr>
                    </a:p>
                  </a:txBody>
                  <a:tcPr/>
                </a:tc>
                <a:tc>
                  <a:txBody>
                    <a:bodyPr/>
                    <a:lstStyle/>
                    <a:p>
                      <a:r>
                        <a:rPr lang="en-US" sz="3200" dirty="0">
                          <a:solidFill>
                            <a:srgbClr val="232A33"/>
                          </a:solidFill>
                          <a:latin typeface="Calibri" panose="020F0502020204030204" pitchFamily="34" charset="0"/>
                          <a:ea typeface="Consolas" pitchFamily="34" charset="-122"/>
                          <a:cs typeface="Calibri" panose="020F0502020204030204" pitchFamily="34" charset="0"/>
                        </a:rPr>
                        <a:t>Required</a:t>
                      </a:r>
                      <a:endParaRPr lang="en-US" sz="3200" dirty="0">
                        <a:latin typeface="Calibri" panose="020F0502020204030204" pitchFamily="34" charset="0"/>
                        <a:cs typeface="Calibri" panose="020F0502020204030204" pitchFamily="34" charset="0"/>
                      </a:endParaRPr>
                    </a:p>
                  </a:txBody>
                  <a:tcPr/>
                </a:tc>
                <a:extLst>
                  <a:ext uri="{0D108BD9-81ED-4DB2-BD59-A6C34878D82A}">
                    <a16:rowId xmlns:a16="http://schemas.microsoft.com/office/drawing/2014/main" val="2231256190"/>
                  </a:ext>
                </a:extLst>
              </a:tr>
            </a:tbl>
          </a:graphicData>
        </a:graphic>
      </p:graphicFrame>
    </p:spTree>
    <p:extLst>
      <p:ext uri="{BB962C8B-B14F-4D97-AF65-F5344CB8AC3E}">
        <p14:creationId xmlns:p14="http://schemas.microsoft.com/office/powerpoint/2010/main" val="9153619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C190A2-18B8-37BE-AF91-8576FF0B564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04B65D1-F4B4-CB13-8BE4-56BA9F2D0189}"/>
              </a:ext>
            </a:extLst>
          </p:cNvPr>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Register the Best Model + @champion Alias</a:t>
            </a:r>
          </a:p>
        </p:txBody>
      </p:sp>
      <p:sp>
        <p:nvSpPr>
          <p:cNvPr id="3" name="Rectangle 2">
            <a:extLst>
              <a:ext uri="{FF2B5EF4-FFF2-40B4-BE49-F238E27FC236}">
                <a16:creationId xmlns:a16="http://schemas.microsoft.com/office/drawing/2014/main" id="{51496163-F231-87E4-848E-B578F69CDCF2}"/>
              </a:ext>
            </a:extLst>
          </p:cNvPr>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BFD3E09E-A5BA-91EC-2BFB-BE4F591E691E}"/>
              </a:ext>
            </a:extLst>
          </p:cNvPr>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pic>
        <p:nvPicPr>
          <p:cNvPr id="16" name="Picture 15" descr="A screenshot of a computer&#10;&#10;AI-generated content may be incorrect.">
            <a:extLst>
              <a:ext uri="{FF2B5EF4-FFF2-40B4-BE49-F238E27FC236}">
                <a16:creationId xmlns:a16="http://schemas.microsoft.com/office/drawing/2014/main" id="{B7C55B45-EEFC-DE75-E009-58CD55C09838}"/>
              </a:ext>
            </a:extLst>
          </p:cNvPr>
          <p:cNvPicPr>
            <a:picLocks noChangeAspect="1"/>
          </p:cNvPicPr>
          <p:nvPr/>
        </p:nvPicPr>
        <p:blipFill>
          <a:blip r:embed="rId3"/>
          <a:stretch>
            <a:fillRect/>
          </a:stretch>
        </p:blipFill>
        <p:spPr>
          <a:xfrm>
            <a:off x="805979" y="2816352"/>
            <a:ext cx="18056787" cy="10602422"/>
          </a:xfrm>
          <a:prstGeom prst="rect">
            <a:avLst/>
          </a:prstGeom>
        </p:spPr>
      </p:pic>
      <p:sp>
        <p:nvSpPr>
          <p:cNvPr id="18" name="TextBox 17">
            <a:extLst>
              <a:ext uri="{FF2B5EF4-FFF2-40B4-BE49-F238E27FC236}">
                <a16:creationId xmlns:a16="http://schemas.microsoft.com/office/drawing/2014/main" id="{3FBA5E96-D7F8-CDB2-A727-76C3C4DD168C}"/>
              </a:ext>
            </a:extLst>
          </p:cNvPr>
          <p:cNvSpPr txBox="1"/>
          <p:nvPr/>
        </p:nvSpPr>
        <p:spPr>
          <a:xfrm>
            <a:off x="1014984" y="2320336"/>
            <a:ext cx="12200708" cy="314253"/>
          </a:xfrm>
          <a:prstGeom prst="rect">
            <a:avLst/>
          </a:prstGeom>
          <a:noFill/>
        </p:spPr>
        <p:txBody>
          <a:bodyPr wrap="square">
            <a:spAutoFit/>
          </a:bodyPr>
          <a:lstStyle/>
          <a:p>
            <a:pPr>
              <a:lnSpc>
                <a:spcPts val="1350"/>
              </a:lnSpc>
              <a:buNone/>
            </a:pPr>
            <a:r>
              <a:rPr lang="en-ID" sz="2800" b="0" dirty="0" err="1">
                <a:effectLst/>
                <a:latin typeface="Menlo" panose="020B0609030804020204" pitchFamily="49" charset="0"/>
              </a:rPr>
              <a:t>client.get_model_version_by_alias</a:t>
            </a:r>
            <a:r>
              <a:rPr lang="en-ID" sz="2800" b="0" dirty="0">
                <a:effectLst/>
                <a:latin typeface="Menlo" panose="020B0609030804020204" pitchFamily="49" charset="0"/>
              </a:rPr>
              <a:t>(MODEL_NAME, ALIAS)</a:t>
            </a:r>
          </a:p>
        </p:txBody>
      </p:sp>
      <p:sp>
        <p:nvSpPr>
          <p:cNvPr id="19" name="Rectangle 18">
            <a:extLst>
              <a:ext uri="{FF2B5EF4-FFF2-40B4-BE49-F238E27FC236}">
                <a16:creationId xmlns:a16="http://schemas.microsoft.com/office/drawing/2014/main" id="{DA8BD8BD-8917-95E6-1F31-F55E9AABCA97}"/>
              </a:ext>
            </a:extLst>
          </p:cNvPr>
          <p:cNvSpPr/>
          <p:nvPr/>
        </p:nvSpPr>
        <p:spPr>
          <a:xfrm>
            <a:off x="3918857" y="8595360"/>
            <a:ext cx="14578149" cy="83602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009144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No Release Without Passing the Threshold</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QUALITY GATE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16</a:t>
            </a:r>
          </a:p>
        </p:txBody>
      </p:sp>
      <p:sp>
        <p:nvSpPr>
          <p:cNvPr id="6" name="Rounded Rectangle 5"/>
          <p:cNvSpPr/>
          <p:nvPr/>
        </p:nvSpPr>
        <p:spPr>
          <a:xfrm>
            <a:off x="1014984" y="2514600"/>
            <a:ext cx="13075920" cy="10012680"/>
          </a:xfrm>
          <a:prstGeom prst="roundRect">
            <a:avLst>
              <a:gd name="adj" fmla="val 164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11064240"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scripts/quality_gate.py</a:t>
            </a:r>
          </a:p>
        </p:txBody>
      </p:sp>
      <p:sp>
        <p:nvSpPr>
          <p:cNvPr id="11" name="TextBox 10"/>
          <p:cNvSpPr txBox="1"/>
          <p:nvPr/>
        </p:nvSpPr>
        <p:spPr>
          <a:xfrm>
            <a:off x="1426464" y="3227832"/>
            <a:ext cx="12344400" cy="9144000"/>
          </a:xfrm>
          <a:prstGeom prst="rect">
            <a:avLst/>
          </a:prstGeom>
          <a:noFill/>
        </p:spPr>
        <p:txBody>
          <a:bodyPr wrap="square" lIns="0" tIns="0" rIns="0" bIns="0" anchor="t">
            <a:spAutoFit/>
          </a:bodyPr>
          <a:lstStyle/>
          <a:p>
            <a:pPr algn="l">
              <a:lnSpc>
                <a:spcPct val="100000"/>
              </a:lnSpc>
              <a:spcAft>
                <a:spcPts val="0"/>
              </a:spcAft>
            </a:pPr>
            <a:r>
              <a:rPr sz="2500" b="0" i="0">
                <a:solidFill>
                  <a:srgbClr val="E6EDF3"/>
                </a:solidFill>
                <a:latin typeface="Consolas"/>
              </a:rPr>
              <a:t>client = mlflow.MlflowClient()</a:t>
            </a:r>
          </a:p>
          <a:p>
            <a:pPr algn="l">
              <a:lnSpc>
                <a:spcPct val="100000"/>
              </a:lnSpc>
              <a:spcAft>
                <a:spcPts val="0"/>
              </a:spcAft>
            </a:pPr>
            <a:r>
              <a:rPr sz="2500" b="0" i="0">
                <a:solidFill>
                  <a:srgbClr val="E6EDF3"/>
                </a:solidFill>
                <a:latin typeface="Consolas"/>
              </a:rPr>
              <a:t>mv = client.get_model_version_by_alias(</a:t>
            </a:r>
          </a:p>
          <a:p>
            <a:pPr algn="l">
              <a:lnSpc>
                <a:spcPct val="100000"/>
              </a:lnSpc>
              <a:spcAft>
                <a:spcPts val="0"/>
              </a:spcAft>
            </a:pPr>
            <a:r>
              <a:rPr sz="2500" b="0" i="0">
                <a:solidFill>
                  <a:srgbClr val="E6EDF3"/>
                </a:solidFill>
                <a:latin typeface="Consolas"/>
              </a:rPr>
              <a:t>    "insurance-approval-model", "champion")</a:t>
            </a:r>
          </a:p>
          <a:p>
            <a:pPr algn="l">
              <a:lnSpc>
                <a:spcPct val="100000"/>
              </a:lnSpc>
              <a:spcAft>
                <a:spcPts val="0"/>
              </a:spcAft>
            </a:pPr>
            <a:r>
              <a:rPr sz="2500" b="0" i="0">
                <a:solidFill>
                  <a:srgbClr val="E6EDF3"/>
                </a:solidFill>
                <a:latin typeface="Consolas"/>
              </a:rPr>
              <a:t>m = client.get_run(mv.run_id).data.metrics</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E6EDF3"/>
                </a:solidFill>
                <a:latin typeface="Consolas"/>
              </a:rPr>
              <a:t>acc = m.get("accuracy", 0.0)</a:t>
            </a:r>
          </a:p>
          <a:p>
            <a:pPr algn="l">
              <a:lnSpc>
                <a:spcPct val="100000"/>
              </a:lnSpc>
              <a:spcAft>
                <a:spcPts val="0"/>
              </a:spcAft>
            </a:pPr>
            <a:r>
              <a:rPr sz="2500" b="0" i="0">
                <a:solidFill>
                  <a:srgbClr val="E6EDF3"/>
                </a:solidFill>
                <a:latin typeface="Consolas"/>
              </a:rPr>
              <a:t>auc = m.get("roc_auc", 0.0)</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E6EDF3"/>
                </a:solidFill>
                <a:latin typeface="Consolas"/>
              </a:rPr>
              <a:t>if acc &lt; args.min_accuracy or auc &lt; args.min_auc:</a:t>
            </a:r>
          </a:p>
          <a:p>
            <a:pPr algn="l">
              <a:lnSpc>
                <a:spcPct val="100000"/>
              </a:lnSpc>
              <a:spcAft>
                <a:spcPts val="0"/>
              </a:spcAft>
            </a:pPr>
            <a:r>
              <a:rPr sz="2500" b="0" i="0">
                <a:solidFill>
                  <a:srgbClr val="FF8A80"/>
                </a:solidFill>
                <a:latin typeface="Consolas"/>
              </a:rPr>
              <a:t>    print("QUALITY GATE: FAILED ...")</a:t>
            </a:r>
          </a:p>
          <a:p>
            <a:pPr algn="l">
              <a:lnSpc>
                <a:spcPct val="100000"/>
              </a:lnSpc>
              <a:spcAft>
                <a:spcPts val="0"/>
              </a:spcAft>
            </a:pPr>
            <a:r>
              <a:rPr sz="2500" b="0" i="0">
                <a:solidFill>
                  <a:srgbClr val="E6EDF3"/>
                </a:solidFill>
                <a:latin typeface="Consolas"/>
              </a:rPr>
              <a:t>    sys.exit(1)        # the CI pipeline stops here</a:t>
            </a:r>
          </a:p>
          <a:p>
            <a:pPr algn="l">
              <a:lnSpc>
                <a:spcPct val="100000"/>
              </a:lnSpc>
              <a:spcAft>
                <a:spcPts val="0"/>
              </a:spcAft>
            </a:pPr>
            <a:r>
              <a:rPr sz="2500" b="0" i="0">
                <a:solidFill>
                  <a:srgbClr val="8BE9A8"/>
                </a:solidFill>
                <a:latin typeface="Consolas"/>
              </a:rPr>
              <a:t>print("QUALITY GATE: PASSED")</a:t>
            </a:r>
          </a:p>
        </p:txBody>
      </p:sp>
      <p:sp>
        <p:nvSpPr>
          <p:cNvPr id="12" name="Rounded Rectangle 11"/>
          <p:cNvSpPr/>
          <p:nvPr/>
        </p:nvSpPr>
        <p:spPr>
          <a:xfrm>
            <a:off x="14538960" y="2514600"/>
            <a:ext cx="8823960" cy="4480560"/>
          </a:xfrm>
          <a:prstGeom prst="roundRect">
            <a:avLst>
              <a:gd name="adj" fmla="val 367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4868144"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5252192"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5636240"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6184880" y="2697480"/>
            <a:ext cx="6812280"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real output</a:t>
            </a:r>
          </a:p>
        </p:txBody>
      </p:sp>
      <p:sp>
        <p:nvSpPr>
          <p:cNvPr id="17" name="TextBox 16"/>
          <p:cNvSpPr txBox="1"/>
          <p:nvPr/>
        </p:nvSpPr>
        <p:spPr>
          <a:xfrm>
            <a:off x="14950440" y="3227832"/>
            <a:ext cx="8092440" cy="361188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gate</a:t>
            </a:r>
          </a:p>
          <a:p>
            <a:pPr algn="l">
              <a:lnSpc>
                <a:spcPct val="100000"/>
              </a:lnSpc>
              <a:spcAft>
                <a:spcPts val="0"/>
              </a:spcAft>
            </a:pPr>
            <a:r>
              <a:rPr sz="2400" b="0" i="0">
                <a:solidFill>
                  <a:srgbClr val="E6EDF3"/>
                </a:solidFill>
                <a:latin typeface="Consolas"/>
              </a:rPr>
              <a:t>Champion v1:</a:t>
            </a:r>
          </a:p>
          <a:p>
            <a:pPr algn="l">
              <a:lnSpc>
                <a:spcPct val="100000"/>
              </a:lnSpc>
              <a:spcAft>
                <a:spcPts val="0"/>
              </a:spcAft>
            </a:pPr>
            <a:r>
              <a:rPr sz="2400" b="0" i="0">
                <a:solidFill>
                  <a:srgbClr val="E6EDF3"/>
                </a:solidFill>
                <a:latin typeface="Consolas"/>
              </a:rPr>
              <a:t> accuracy=0.9380 (min 0.9)</a:t>
            </a:r>
          </a:p>
          <a:p>
            <a:pPr algn="l">
              <a:lnSpc>
                <a:spcPct val="100000"/>
              </a:lnSpc>
              <a:spcAft>
                <a:spcPts val="0"/>
              </a:spcAft>
            </a:pPr>
            <a:r>
              <a:rPr sz="2400" b="0" i="0">
                <a:solidFill>
                  <a:srgbClr val="E6EDF3"/>
                </a:solidFill>
                <a:latin typeface="Consolas"/>
              </a:rPr>
              <a:t> roc_auc=0.9817 (min 0.95)</a:t>
            </a:r>
          </a:p>
          <a:p>
            <a:pPr algn="l">
              <a:lnSpc>
                <a:spcPct val="100000"/>
              </a:lnSpc>
              <a:spcAft>
                <a:spcPts val="0"/>
              </a:spcAft>
            </a:pPr>
            <a:r>
              <a:rPr sz="2400" b="0" i="0">
                <a:solidFill>
                  <a:srgbClr val="8BE9A8"/>
                </a:solidFill>
                <a:latin typeface="Consolas"/>
              </a:rPr>
              <a:t>QUALITY GATE: PASSED</a:t>
            </a:r>
          </a:p>
        </p:txBody>
      </p:sp>
      <p:sp>
        <p:nvSpPr>
          <p:cNvPr id="18" name="Rounded Rectangle 17"/>
          <p:cNvSpPr/>
          <p:nvPr/>
        </p:nvSpPr>
        <p:spPr>
          <a:xfrm>
            <a:off x="14538960" y="7360920"/>
            <a:ext cx="8823960" cy="5166360"/>
          </a:xfrm>
          <a:prstGeom prst="roundRect">
            <a:avLst>
              <a:gd name="adj" fmla="val 619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5041880" y="7726679"/>
            <a:ext cx="7863840" cy="640080"/>
          </a:xfrm>
          <a:prstGeom prst="rect">
            <a:avLst/>
          </a:prstGeom>
          <a:noFill/>
        </p:spPr>
        <p:txBody>
          <a:bodyPr wrap="square" lIns="0" tIns="0" rIns="0" bIns="0" anchor="t">
            <a:spAutoFit/>
          </a:bodyPr>
          <a:lstStyle/>
          <a:p>
            <a:pPr algn="l">
              <a:lnSpc>
                <a:spcPct val="120000"/>
              </a:lnSpc>
              <a:spcAft>
                <a:spcPts val="600"/>
              </a:spcAft>
            </a:pPr>
            <a:r>
              <a:rPr sz="2800" b="1" i="0">
                <a:solidFill>
                  <a:srgbClr val="1B2A4A"/>
                </a:solidFill>
                <a:latin typeface="Liter"/>
              </a:rPr>
              <a:t>What a gate can check</a:t>
            </a:r>
          </a:p>
        </p:txBody>
      </p:sp>
      <p:sp>
        <p:nvSpPr>
          <p:cNvPr id="20" name="TextBox 19"/>
          <p:cNvSpPr txBox="1"/>
          <p:nvPr/>
        </p:nvSpPr>
        <p:spPr>
          <a:xfrm>
            <a:off x="15041880" y="8641080"/>
            <a:ext cx="7863840" cy="3749039"/>
          </a:xfrm>
          <a:prstGeom prst="rect">
            <a:avLst/>
          </a:prstGeom>
          <a:noFill/>
        </p:spPr>
        <p:txBody>
          <a:bodyPr wrap="square" lIns="0" tIns="0" rIns="0" bIns="0" anchor="t">
            <a:spAutoFit/>
          </a:bodyPr>
          <a:lstStyle/>
          <a:p>
            <a:pPr marL="365125" indent="-365125" algn="l">
              <a:lnSpc>
                <a:spcPct val="120000"/>
              </a:lnSpc>
              <a:spcAft>
                <a:spcPts val="1000"/>
              </a:spcAft>
              <a:buClr>
                <a:srgbClr val="D4A03A"/>
              </a:buClr>
              <a:buFont typeface="Arial"/>
              <a:buChar char="•"/>
            </a:pPr>
            <a:r>
              <a:rPr sz="2500" b="0" i="0">
                <a:solidFill>
                  <a:srgbClr val="1E293B"/>
                </a:solidFill>
                <a:latin typeface="Quattrocento Sans"/>
              </a:rPr>
              <a:t>Minimum metrics (accuracy, AUC)</a:t>
            </a:r>
          </a:p>
          <a:p>
            <a:pPr marL="365125" indent="-365125" algn="l">
              <a:lnSpc>
                <a:spcPct val="120000"/>
              </a:lnSpc>
              <a:spcAft>
                <a:spcPts val="1000"/>
              </a:spcAft>
              <a:buClr>
                <a:srgbClr val="D4A03A"/>
              </a:buClr>
              <a:buFont typeface="Arial"/>
              <a:buChar char="•"/>
            </a:pPr>
            <a:r>
              <a:rPr sz="2500" b="0" i="0">
                <a:solidFill>
                  <a:srgbClr val="1E293B"/>
                </a:solidFill>
                <a:latin typeface="Quattrocento Sans"/>
              </a:rPr>
              <a:t>Not worse than the current champion</a:t>
            </a:r>
          </a:p>
          <a:p>
            <a:pPr marL="365125" indent="-365125" algn="l">
              <a:lnSpc>
                <a:spcPct val="120000"/>
              </a:lnSpc>
              <a:spcAft>
                <a:spcPts val="1000"/>
              </a:spcAft>
              <a:buClr>
                <a:srgbClr val="D4A03A"/>
              </a:buClr>
              <a:buFont typeface="Arial"/>
              <a:buChar char="•"/>
            </a:pPr>
            <a:r>
              <a:rPr sz="2500" b="0" i="0">
                <a:solidFill>
                  <a:srgbClr val="1E293B"/>
                </a:solidFill>
                <a:latin typeface="Quattrocento Sans"/>
              </a:rPr>
              <a:t>Fairness / bias across groups</a:t>
            </a:r>
          </a:p>
          <a:p>
            <a:pPr marL="365125" indent="-365125" algn="l">
              <a:lnSpc>
                <a:spcPct val="120000"/>
              </a:lnSpc>
              <a:spcAft>
                <a:spcPts val="1000"/>
              </a:spcAft>
              <a:buClr>
                <a:srgbClr val="D4A03A"/>
              </a:buClr>
              <a:buFont typeface="Arial"/>
              <a:buChar char="•"/>
            </a:pPr>
            <a:r>
              <a:rPr sz="2500" b="0" i="0">
                <a:solidFill>
                  <a:srgbClr val="1E293B"/>
                </a:solidFill>
                <a:latin typeface="Quattrocento Sans"/>
              </a:rPr>
              <a:t>Inference latency &amp; model size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GitHub Actions — ml-ci.yml</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CI PIPELINE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17</a:t>
            </a:r>
          </a:p>
        </p:txBody>
      </p:sp>
      <p:sp>
        <p:nvSpPr>
          <p:cNvPr id="6" name="Rounded Rectangle 5"/>
          <p:cNvSpPr/>
          <p:nvPr/>
        </p:nvSpPr>
        <p:spPr>
          <a:xfrm>
            <a:off x="1014984" y="2514600"/>
            <a:ext cx="3267456" cy="1737360"/>
          </a:xfrm>
          <a:prstGeom prst="roundRect">
            <a:avLst>
              <a:gd name="adj" fmla="val 10526"/>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97864"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Checkout +</a:t>
            </a:r>
          </a:p>
          <a:p>
            <a:pPr algn="ctr">
              <a:lnSpc>
                <a:spcPct val="120000"/>
              </a:lnSpc>
              <a:spcAft>
                <a:spcPts val="600"/>
              </a:spcAft>
            </a:pPr>
            <a:r>
              <a:rPr sz="2200" b="1" i="0">
                <a:solidFill>
                  <a:srgbClr val="FFFFFF"/>
                </a:solidFill>
                <a:latin typeface="Quattrocento Sans"/>
              </a:rPr>
              <a:t>Python 3.11</a:t>
            </a:r>
          </a:p>
        </p:txBody>
      </p:sp>
      <p:sp>
        <p:nvSpPr>
          <p:cNvPr id="8" name="TextBox 7"/>
          <p:cNvSpPr txBox="1"/>
          <p:nvPr/>
        </p:nvSpPr>
        <p:spPr>
          <a:xfrm>
            <a:off x="4282440"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9" name="Rounded Rectangle 8"/>
          <p:cNvSpPr/>
          <p:nvPr/>
        </p:nvSpPr>
        <p:spPr>
          <a:xfrm>
            <a:off x="4831080" y="2514600"/>
            <a:ext cx="3267456" cy="1737360"/>
          </a:xfrm>
          <a:prstGeom prst="roundRect">
            <a:avLst>
              <a:gd name="adj" fmla="val 10526"/>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13960"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pytest</a:t>
            </a:r>
          </a:p>
        </p:txBody>
      </p:sp>
      <p:sp>
        <p:nvSpPr>
          <p:cNvPr id="11" name="TextBox 10"/>
          <p:cNvSpPr txBox="1"/>
          <p:nvPr/>
        </p:nvSpPr>
        <p:spPr>
          <a:xfrm>
            <a:off x="8098536"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2" name="Rounded Rectangle 11"/>
          <p:cNvSpPr/>
          <p:nvPr/>
        </p:nvSpPr>
        <p:spPr>
          <a:xfrm>
            <a:off x="8647176" y="2514600"/>
            <a:ext cx="3267456" cy="1737360"/>
          </a:xfrm>
          <a:prstGeom prst="roundRect">
            <a:avLst>
              <a:gd name="adj" fmla="val 10526"/>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830056"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Train +</a:t>
            </a:r>
          </a:p>
          <a:p>
            <a:pPr algn="ctr">
              <a:lnSpc>
                <a:spcPct val="120000"/>
              </a:lnSpc>
              <a:spcAft>
                <a:spcPts val="600"/>
              </a:spcAft>
            </a:pPr>
            <a:r>
              <a:rPr sz="2200" b="1" i="0">
                <a:solidFill>
                  <a:srgbClr val="FFFFFF"/>
                </a:solidFill>
                <a:latin typeface="Quattrocento Sans"/>
              </a:rPr>
              <a:t>MLflow</a:t>
            </a:r>
          </a:p>
        </p:txBody>
      </p:sp>
      <p:sp>
        <p:nvSpPr>
          <p:cNvPr id="14" name="TextBox 13"/>
          <p:cNvSpPr txBox="1"/>
          <p:nvPr/>
        </p:nvSpPr>
        <p:spPr>
          <a:xfrm>
            <a:off x="11914632"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5" name="Rounded Rectangle 14"/>
          <p:cNvSpPr/>
          <p:nvPr/>
        </p:nvSpPr>
        <p:spPr>
          <a:xfrm>
            <a:off x="12463272" y="2514600"/>
            <a:ext cx="3267456" cy="1737360"/>
          </a:xfrm>
          <a:prstGeom prst="roundRect">
            <a:avLst>
              <a:gd name="adj" fmla="val 10526"/>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646152"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Quality</a:t>
            </a:r>
          </a:p>
          <a:p>
            <a:pPr algn="ctr">
              <a:lnSpc>
                <a:spcPct val="120000"/>
              </a:lnSpc>
              <a:spcAft>
                <a:spcPts val="600"/>
              </a:spcAft>
            </a:pPr>
            <a:r>
              <a:rPr sz="2200" b="1" i="0">
                <a:solidFill>
                  <a:srgbClr val="FFFFFF"/>
                </a:solidFill>
                <a:latin typeface="Quattrocento Sans"/>
              </a:rPr>
              <a:t>gate</a:t>
            </a:r>
          </a:p>
        </p:txBody>
      </p:sp>
      <p:sp>
        <p:nvSpPr>
          <p:cNvPr id="17" name="TextBox 16"/>
          <p:cNvSpPr txBox="1"/>
          <p:nvPr/>
        </p:nvSpPr>
        <p:spPr>
          <a:xfrm>
            <a:off x="15730728"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8" name="Rounded Rectangle 17"/>
          <p:cNvSpPr/>
          <p:nvPr/>
        </p:nvSpPr>
        <p:spPr>
          <a:xfrm>
            <a:off x="16279368" y="2514600"/>
            <a:ext cx="3267456" cy="1737360"/>
          </a:xfrm>
          <a:prstGeom prst="roundRect">
            <a:avLst>
              <a:gd name="adj" fmla="val 10526"/>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6462248"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Export</a:t>
            </a:r>
          </a:p>
          <a:p>
            <a:pPr algn="ctr">
              <a:lnSpc>
                <a:spcPct val="120000"/>
              </a:lnSpc>
              <a:spcAft>
                <a:spcPts val="600"/>
              </a:spcAft>
            </a:pPr>
            <a:r>
              <a:rPr sz="2200" b="1" i="0">
                <a:solidFill>
                  <a:srgbClr val="FFFFFF"/>
                </a:solidFill>
                <a:latin typeface="Quattrocento Sans"/>
              </a:rPr>
              <a:t>model</a:t>
            </a:r>
          </a:p>
        </p:txBody>
      </p:sp>
      <p:sp>
        <p:nvSpPr>
          <p:cNvPr id="20" name="TextBox 19"/>
          <p:cNvSpPr txBox="1"/>
          <p:nvPr/>
        </p:nvSpPr>
        <p:spPr>
          <a:xfrm>
            <a:off x="19546824" y="2514600"/>
            <a:ext cx="548640" cy="17373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1" name="Rounded Rectangle 20"/>
          <p:cNvSpPr/>
          <p:nvPr/>
        </p:nvSpPr>
        <p:spPr>
          <a:xfrm>
            <a:off x="20095464" y="2514600"/>
            <a:ext cx="3267456" cy="1737360"/>
          </a:xfrm>
          <a:prstGeom prst="roundRect">
            <a:avLst>
              <a:gd name="adj" fmla="val 10526"/>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20278344" y="2606040"/>
            <a:ext cx="2901696" cy="1554480"/>
          </a:xfrm>
          <a:prstGeom prst="rect">
            <a:avLst/>
          </a:prstGeom>
          <a:noFill/>
        </p:spPr>
        <p:txBody>
          <a:bodyPr wrap="square" lIns="0" tIns="0" rIns="0" bIns="0" anchor="ctr">
            <a:spAutoFit/>
          </a:bodyPr>
          <a:lstStyle/>
          <a:p>
            <a:pPr algn="ctr">
              <a:lnSpc>
                <a:spcPct val="120000"/>
              </a:lnSpc>
              <a:spcAft>
                <a:spcPts val="600"/>
              </a:spcAft>
            </a:pPr>
            <a:r>
              <a:rPr sz="2200" b="1" i="0">
                <a:solidFill>
                  <a:srgbClr val="FFFFFF"/>
                </a:solidFill>
                <a:latin typeface="Quattrocento Sans"/>
              </a:rPr>
              <a:t>Upload</a:t>
            </a:r>
          </a:p>
          <a:p>
            <a:pPr algn="ctr">
              <a:lnSpc>
                <a:spcPct val="120000"/>
              </a:lnSpc>
              <a:spcAft>
                <a:spcPts val="600"/>
              </a:spcAft>
            </a:pPr>
            <a:r>
              <a:rPr sz="2200" b="1" i="0">
                <a:solidFill>
                  <a:srgbClr val="FFFFFF"/>
                </a:solidFill>
                <a:latin typeface="Quattrocento Sans"/>
              </a:rPr>
              <a:t>artefact</a:t>
            </a:r>
          </a:p>
        </p:txBody>
      </p:sp>
      <p:sp>
        <p:nvSpPr>
          <p:cNvPr id="23" name="Rounded Rectangle 22"/>
          <p:cNvSpPr/>
          <p:nvPr/>
        </p:nvSpPr>
        <p:spPr>
          <a:xfrm>
            <a:off x="1014984" y="4663440"/>
            <a:ext cx="22347936" cy="7863840"/>
          </a:xfrm>
          <a:prstGeom prst="roundRect">
            <a:avLst>
              <a:gd name="adj" fmla="val 209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344168" y="4937759"/>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728216" y="4937759"/>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2112264" y="4937759"/>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426464" y="5376672"/>
            <a:ext cx="21616416" cy="6995159"/>
          </a:xfrm>
          <a:prstGeom prst="rect">
            <a:avLst/>
          </a:prstGeom>
          <a:noFill/>
        </p:spPr>
        <p:txBody>
          <a:bodyPr wrap="square" lIns="0" tIns="0" rIns="0" bIns="0" anchor="t">
            <a:spAutoFit/>
          </a:bodyPr>
          <a:lstStyle/>
          <a:p>
            <a:pPr algn="l">
              <a:lnSpc>
                <a:spcPct val="100000"/>
              </a:lnSpc>
              <a:spcAft>
                <a:spcPts val="0"/>
              </a:spcAft>
            </a:pPr>
            <a:r>
              <a:rPr sz="2400" b="0" i="0">
                <a:solidFill>
                  <a:srgbClr val="8B9BB4"/>
                </a:solidFill>
                <a:latin typeface="Consolas"/>
              </a:rPr>
              <a:t># .github/workflows/ml-ci.yml (abridged)</a:t>
            </a:r>
          </a:p>
          <a:p>
            <a:pPr algn="l">
              <a:lnSpc>
                <a:spcPct val="100000"/>
              </a:lnSpc>
              <a:spcAft>
                <a:spcPts val="0"/>
              </a:spcAft>
            </a:pPr>
            <a:r>
              <a:rPr sz="2400" b="0" i="0">
                <a:solidFill>
                  <a:srgbClr val="E6EDF3"/>
                </a:solidFill>
                <a:latin typeface="Consolas"/>
              </a:rPr>
              <a:t>on: { push: { branches: [main] }, pull_request: {}, workflow_dispatch: {} }</a:t>
            </a:r>
          </a:p>
          <a:p>
            <a:pPr algn="l">
              <a:lnSpc>
                <a:spcPct val="100000"/>
              </a:lnSpc>
              <a:spcAft>
                <a:spcPts val="0"/>
              </a:spcAft>
            </a:pPr>
            <a:r>
              <a:rPr sz="2400" b="0" i="0">
                <a:solidFill>
                  <a:srgbClr val="E6EDF3"/>
                </a:solidFill>
                <a:latin typeface="Consolas"/>
              </a:rPr>
              <a:t>jobs:</a:t>
            </a:r>
          </a:p>
          <a:p>
            <a:pPr algn="l">
              <a:lnSpc>
                <a:spcPct val="100000"/>
              </a:lnSpc>
              <a:spcAft>
                <a:spcPts val="0"/>
              </a:spcAft>
            </a:pPr>
            <a:r>
              <a:rPr sz="2400" b="0" i="0">
                <a:solidFill>
                  <a:srgbClr val="E6EDF3"/>
                </a:solidFill>
                <a:latin typeface="Consolas"/>
              </a:rPr>
              <a:t>  train-and-validate:</a:t>
            </a:r>
          </a:p>
          <a:p>
            <a:pPr algn="l">
              <a:lnSpc>
                <a:spcPct val="100000"/>
              </a:lnSpc>
              <a:spcAft>
                <a:spcPts val="0"/>
              </a:spcAft>
            </a:pPr>
            <a:r>
              <a:rPr sz="2400" b="0" i="0">
                <a:solidFill>
                  <a:srgbClr val="E6EDF3"/>
                </a:solidFill>
                <a:latin typeface="Consolas"/>
              </a:rPr>
              <a:t>    runs-on: ubuntu-latest</a:t>
            </a:r>
          </a:p>
          <a:p>
            <a:pPr algn="l">
              <a:lnSpc>
                <a:spcPct val="100000"/>
              </a:lnSpc>
              <a:spcAft>
                <a:spcPts val="0"/>
              </a:spcAft>
            </a:pPr>
            <a:r>
              <a:rPr sz="2400" b="0" i="0">
                <a:solidFill>
                  <a:srgbClr val="E6EDF3"/>
                </a:solidFill>
                <a:latin typeface="Consolas"/>
              </a:rPr>
              <a:t>    steps:</a:t>
            </a:r>
          </a:p>
          <a:p>
            <a:pPr algn="l">
              <a:lnSpc>
                <a:spcPct val="100000"/>
              </a:lnSpc>
              <a:spcAft>
                <a:spcPts val="0"/>
              </a:spcAft>
            </a:pPr>
            <a:r>
              <a:rPr sz="2400" b="0" i="0">
                <a:solidFill>
                  <a:srgbClr val="E6EDF3"/>
                </a:solidFill>
                <a:latin typeface="Consolas"/>
              </a:rPr>
              <a:t>      - uses: actions/checkout@v4</a:t>
            </a:r>
          </a:p>
          <a:p>
            <a:pPr algn="l">
              <a:lnSpc>
                <a:spcPct val="100000"/>
              </a:lnSpc>
              <a:spcAft>
                <a:spcPts val="0"/>
              </a:spcAft>
            </a:pPr>
            <a:r>
              <a:rPr sz="2400" b="0" i="0">
                <a:solidFill>
                  <a:srgbClr val="E6EDF3"/>
                </a:solidFill>
                <a:latin typeface="Consolas"/>
              </a:rPr>
              <a:t>      - uses: actions/setup-python@v5</a:t>
            </a:r>
          </a:p>
          <a:p>
            <a:pPr algn="l">
              <a:lnSpc>
                <a:spcPct val="100000"/>
              </a:lnSpc>
              <a:spcAft>
                <a:spcPts val="0"/>
              </a:spcAft>
            </a:pPr>
            <a:r>
              <a:rPr sz="2400" b="0" i="0">
                <a:solidFill>
                  <a:srgbClr val="E6EDF3"/>
                </a:solidFill>
                <a:latin typeface="Consolas"/>
              </a:rPr>
              <a:t>        with: { python-version: "3.11", cache: pip }</a:t>
            </a:r>
          </a:p>
          <a:p>
            <a:pPr algn="l">
              <a:lnSpc>
                <a:spcPct val="100000"/>
              </a:lnSpc>
              <a:spcAft>
                <a:spcPts val="0"/>
              </a:spcAft>
            </a:pPr>
            <a:r>
              <a:rPr sz="2400" b="0" i="0">
                <a:solidFill>
                  <a:srgbClr val="E6EDF3"/>
                </a:solidFill>
                <a:latin typeface="Consolas"/>
              </a:rPr>
              <a:t>      - run: pip install -r requirements.txt</a:t>
            </a:r>
          </a:p>
          <a:p>
            <a:pPr algn="l">
              <a:lnSpc>
                <a:spcPct val="100000"/>
              </a:lnSpc>
              <a:spcAft>
                <a:spcPts val="0"/>
              </a:spcAft>
            </a:pPr>
            <a:r>
              <a:rPr sz="2400" b="0" i="0">
                <a:solidFill>
                  <a:srgbClr val="E6EDF3"/>
                </a:solidFill>
                <a:latin typeface="Consolas"/>
              </a:rPr>
              <a:t>      - run: pytest tests/ -v</a:t>
            </a:r>
          </a:p>
          <a:p>
            <a:pPr algn="l">
              <a:lnSpc>
                <a:spcPct val="100000"/>
              </a:lnSpc>
              <a:spcAft>
                <a:spcPts val="0"/>
              </a:spcAft>
            </a:pPr>
            <a:r>
              <a:rPr sz="2400" b="0" i="0">
                <a:solidFill>
                  <a:srgbClr val="E6EDF3"/>
                </a:solidFill>
                <a:latin typeface="Consolas"/>
              </a:rPr>
              <a:t>      - run: python mlflow/train_with_mlflow.py</a:t>
            </a:r>
          </a:p>
          <a:p>
            <a:pPr algn="l">
              <a:lnSpc>
                <a:spcPct val="100000"/>
              </a:lnSpc>
              <a:spcAft>
                <a:spcPts val="0"/>
              </a:spcAft>
            </a:pPr>
            <a:r>
              <a:rPr sz="2400" b="0" i="0">
                <a:solidFill>
                  <a:srgbClr val="E6EDF3"/>
                </a:solidFill>
                <a:latin typeface="Consolas"/>
              </a:rPr>
              <a:t>      - run: python scripts/quality_gate.py --min-accuracy 0.90 --min-auc 0.95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02</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Machine Learning Deployment Strategies</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10:45–12:00</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Serving patterns</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FastAPI with a validated contract</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A self-contained container image</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Deploying to Cloud Run</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Canary &amp; champion/challenger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Model Serving Patterns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28</a:t>
            </a:r>
          </a:p>
        </p:txBody>
      </p:sp>
      <p:graphicFrame>
        <p:nvGraphicFramePr>
          <p:cNvPr id="6" name="Table 5"/>
          <p:cNvGraphicFramePr>
            <a:graphicFrameLocks noGrp="1"/>
          </p:cNvGraphicFramePr>
          <p:nvPr/>
        </p:nvGraphicFramePr>
        <p:xfrm>
          <a:off x="1014984" y="2514600"/>
          <a:ext cx="22347936" cy="7315200"/>
        </p:xfrm>
        <a:graphic>
          <a:graphicData uri="http://schemas.openxmlformats.org/drawingml/2006/table">
            <a:tbl>
              <a:tblPr/>
              <a:tblGrid>
                <a:gridCol w="4655820">
                  <a:extLst>
                    <a:ext uri="{9D8B030D-6E8A-4147-A177-3AD203B41FA5}">
                      <a16:colId xmlns:a16="http://schemas.microsoft.com/office/drawing/2014/main" val="20000"/>
                    </a:ext>
                  </a:extLst>
                </a:gridCol>
                <a:gridCol w="8380476">
                  <a:extLst>
                    <a:ext uri="{9D8B030D-6E8A-4147-A177-3AD203B41FA5}">
                      <a16:colId xmlns:a16="http://schemas.microsoft.com/office/drawing/2014/main" val="20001"/>
                    </a:ext>
                  </a:extLst>
                </a:gridCol>
                <a:gridCol w="9311640">
                  <a:extLst>
                    <a:ext uri="{9D8B030D-6E8A-4147-A177-3AD203B41FA5}">
                      <a16:colId xmlns:a16="http://schemas.microsoft.com/office/drawing/2014/main" val="20002"/>
                    </a:ext>
                  </a:extLst>
                </a:gridCol>
              </a:tblGrid>
              <a:tr h="1828800">
                <a:tc>
                  <a:txBody>
                    <a:bodyPr/>
                    <a:lstStyle/>
                    <a:p>
                      <a:r>
                        <a:rPr sz="2600" b="1">
                          <a:solidFill>
                            <a:srgbClr val="FFFFFF"/>
                          </a:solidFill>
                          <a:latin typeface="Quattrocento Sans"/>
                        </a:rPr>
                        <a:t>Pattern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How it works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When to use it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828800">
                <a:tc>
                  <a:txBody>
                    <a:bodyPr/>
                    <a:lstStyle/>
                    <a:p>
                      <a:r>
                        <a:rPr sz="2600" b="1">
                          <a:solidFill>
                            <a:srgbClr val="1B2A4A"/>
                          </a:solidFill>
                          <a:latin typeface="Quattrocento Sans"/>
                        </a:rPr>
                        <a:t>Real-time (REST/gRPC)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Request in → instant prediction → response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A decision needs an immediate answer, e.g. validation at submission time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828800">
                <a:tc>
                  <a:txBody>
                    <a:bodyPr/>
                    <a:lstStyle/>
                    <a:p>
                      <a:r>
                        <a:rPr sz="2600" b="1">
                          <a:solidFill>
                            <a:srgbClr val="1B2A4A"/>
                          </a:solidFill>
                          <a:latin typeface="Quattrocento Sans"/>
                        </a:rPr>
                        <a:t>Batch</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Scheduled predictions over a whole dataset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High volume without an instant need, e.g. periodic risk scoring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828800">
                <a:tc>
                  <a:txBody>
                    <a:bodyPr/>
                    <a:lstStyle/>
                    <a:p>
                      <a:r>
                        <a:rPr sz="2600" b="1">
                          <a:solidFill>
                            <a:srgbClr val="1B2A4A"/>
                          </a:solidFill>
                          <a:latin typeface="Quattrocento Sans"/>
                        </a:rPr>
                        <a:t>Streaming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Predictions on a continuous data stream (Kafka, Pub/Sub)</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Data flows constantly, e.g. transaction anomaly detection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1014984" y="10698480"/>
            <a:ext cx="22347936" cy="1234440"/>
          </a:xfrm>
          <a:prstGeom prst="roundRect">
            <a:avLst>
              <a:gd name="adj" fmla="val 8888"/>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14984" y="10698480"/>
            <a:ext cx="128016" cy="12344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17904" y="10698480"/>
            <a:ext cx="21524976" cy="12344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Today's hands-on uses the real-time (REST) pattern, because that is what we containerise and deploy.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An API Contract with Pydantic</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29</a:t>
            </a:r>
          </a:p>
        </p:txBody>
      </p:sp>
      <p:sp>
        <p:nvSpPr>
          <p:cNvPr id="6" name="Rounded Rectangle 5"/>
          <p:cNvSpPr/>
          <p:nvPr/>
        </p:nvSpPr>
        <p:spPr>
          <a:xfrm>
            <a:off x="1014984" y="2514600"/>
            <a:ext cx="13350240"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11338559"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api/app.py</a:t>
            </a:r>
          </a:p>
        </p:txBody>
      </p:sp>
      <p:sp>
        <p:nvSpPr>
          <p:cNvPr id="11" name="TextBox 10"/>
          <p:cNvSpPr txBox="1"/>
          <p:nvPr/>
        </p:nvSpPr>
        <p:spPr>
          <a:xfrm>
            <a:off x="1426464" y="3227832"/>
            <a:ext cx="12618719" cy="9098280"/>
          </a:xfrm>
          <a:prstGeom prst="rect">
            <a:avLst/>
          </a:prstGeom>
          <a:noFill/>
        </p:spPr>
        <p:txBody>
          <a:bodyPr wrap="square" lIns="0" tIns="0" rIns="0" bIns="0" anchor="t">
            <a:spAutoFit/>
          </a:bodyPr>
          <a:lstStyle/>
          <a:p>
            <a:pPr algn="l">
              <a:lnSpc>
                <a:spcPct val="100000"/>
              </a:lnSpc>
              <a:spcAft>
                <a:spcPts val="0"/>
              </a:spcAft>
            </a:pPr>
            <a:r>
              <a:rPr sz="2500" b="0" i="0">
                <a:solidFill>
                  <a:srgbClr val="E6EDF3"/>
                </a:solidFill>
                <a:latin typeface="Consolas"/>
              </a:rPr>
              <a:t>class ApplicantData(BaseModel):</a:t>
            </a:r>
          </a:p>
          <a:p>
            <a:pPr algn="l">
              <a:lnSpc>
                <a:spcPct val="100000"/>
              </a:lnSpc>
              <a:spcAft>
                <a:spcPts val="0"/>
              </a:spcAft>
            </a:pPr>
            <a:r>
              <a:rPr sz="2500" b="0" i="0">
                <a:solidFill>
                  <a:srgbClr val="E6EDF3"/>
                </a:solidFill>
                <a:latin typeface="Consolas"/>
              </a:rPr>
              <a:t>    age: float = Field(..., examples=[34])</a:t>
            </a:r>
          </a:p>
          <a:p>
            <a:pPr algn="l">
              <a:lnSpc>
                <a:spcPct val="100000"/>
              </a:lnSpc>
              <a:spcAft>
                <a:spcPts val="0"/>
              </a:spcAft>
            </a:pPr>
            <a:r>
              <a:rPr sz="2500" b="0" i="0">
                <a:solidFill>
                  <a:srgbClr val="E6EDF3"/>
                </a:solidFill>
                <a:latin typeface="Consolas"/>
              </a:rPr>
              <a:t>    income: float = Field(..., examples=[78000])</a:t>
            </a:r>
          </a:p>
          <a:p>
            <a:pPr algn="l">
              <a:lnSpc>
                <a:spcPct val="100000"/>
              </a:lnSpc>
              <a:spcAft>
                <a:spcPts val="0"/>
              </a:spcAft>
            </a:pPr>
            <a:r>
              <a:rPr sz="2500" b="0" i="0">
                <a:solidFill>
                  <a:srgbClr val="E6EDF3"/>
                </a:solidFill>
                <a:latin typeface="Consolas"/>
              </a:rPr>
              <a:t>    bmi: float = Field(..., examples=[24.5])</a:t>
            </a:r>
          </a:p>
          <a:p>
            <a:pPr algn="l">
              <a:lnSpc>
                <a:spcPct val="100000"/>
              </a:lnSpc>
              <a:spcAft>
                <a:spcPts val="0"/>
              </a:spcAft>
            </a:pPr>
            <a:r>
              <a:rPr sz="2500" b="0" i="0">
                <a:solidFill>
                  <a:srgbClr val="E6EDF3"/>
                </a:solidFill>
                <a:latin typeface="Consolas"/>
              </a:rPr>
              <a:t>    tenure_months: float = Field(..., examples=[18])</a:t>
            </a:r>
          </a:p>
          <a:p>
            <a:pPr algn="l">
              <a:lnSpc>
                <a:spcPct val="100000"/>
              </a:lnSpc>
              <a:spcAft>
                <a:spcPts val="0"/>
              </a:spcAft>
            </a:pPr>
            <a:r>
              <a:rPr sz="2500" b="0" i="0">
                <a:solidFill>
                  <a:srgbClr val="E6EDF3"/>
                </a:solidFill>
                <a:latin typeface="Consolas"/>
              </a:rPr>
              <a:t>    num_claims: float = Field(..., examples=[1])</a:t>
            </a:r>
          </a:p>
          <a:p>
            <a:pPr algn="l">
              <a:lnSpc>
                <a:spcPct val="100000"/>
              </a:lnSpc>
              <a:spcAft>
                <a:spcPts val="0"/>
              </a:spcAft>
            </a:pPr>
            <a:r>
              <a:rPr sz="2500" b="0" i="0">
                <a:solidFill>
                  <a:srgbClr val="E6EDF3"/>
                </a:solidFill>
                <a:latin typeface="Consolas"/>
              </a:rPr>
              <a:t>    credit_score: float = Field(..., examples=[720])</a:t>
            </a:r>
          </a:p>
          <a:p>
            <a:pPr algn="l">
              <a:lnSpc>
                <a:spcPct val="100000"/>
              </a:lnSpc>
              <a:spcAft>
                <a:spcPts val="0"/>
              </a:spcAft>
            </a:pPr>
            <a:r>
              <a:rPr sz="2500" b="0" i="0">
                <a:solidFill>
                  <a:srgbClr val="E6EDF3"/>
                </a:solidFill>
                <a:latin typeface="Consolas"/>
              </a:rPr>
              <a:t>    policy_value: float = Field(..., examples=[150000])</a:t>
            </a:r>
          </a:p>
          <a:p>
            <a:pPr algn="l">
              <a:lnSpc>
                <a:spcPct val="100000"/>
              </a:lnSpc>
              <a:spcAft>
                <a:spcPts val="0"/>
              </a:spcAft>
            </a:pPr>
            <a:r>
              <a:rPr sz="2500" b="0" i="0">
                <a:solidFill>
                  <a:srgbClr val="E6EDF3"/>
                </a:solidFill>
                <a:latin typeface="Consolas"/>
              </a:rPr>
              <a:t>    risk_score: float = Field(..., examples=[42.5])</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E6EDF3"/>
                </a:solidFill>
                <a:latin typeface="Consolas"/>
              </a:rPr>
              <a:t>class PredictionResponse(BaseModel):</a:t>
            </a:r>
          </a:p>
          <a:p>
            <a:pPr algn="l">
              <a:lnSpc>
                <a:spcPct val="100000"/>
              </a:lnSpc>
              <a:spcAft>
                <a:spcPts val="0"/>
              </a:spcAft>
            </a:pPr>
            <a:r>
              <a:rPr sz="2500" b="0" i="0">
                <a:solidFill>
                  <a:srgbClr val="E6EDF3"/>
                </a:solidFill>
                <a:latin typeface="Consolas"/>
              </a:rPr>
              <a:t>    approved: bool</a:t>
            </a:r>
          </a:p>
          <a:p>
            <a:pPr algn="l">
              <a:lnSpc>
                <a:spcPct val="100000"/>
              </a:lnSpc>
              <a:spcAft>
                <a:spcPts val="0"/>
              </a:spcAft>
            </a:pPr>
            <a:r>
              <a:rPr sz="2500" b="0" i="0">
                <a:solidFill>
                  <a:srgbClr val="E6EDF3"/>
                </a:solidFill>
                <a:latin typeface="Consolas"/>
              </a:rPr>
              <a:t>    probability: float</a:t>
            </a:r>
          </a:p>
          <a:p>
            <a:pPr algn="l">
              <a:lnSpc>
                <a:spcPct val="100000"/>
              </a:lnSpc>
              <a:spcAft>
                <a:spcPts val="0"/>
              </a:spcAft>
            </a:pPr>
            <a:r>
              <a:rPr sz="2500" b="0" i="0">
                <a:solidFill>
                  <a:srgbClr val="E6EDF3"/>
                </a:solidFill>
                <a:latin typeface="Consolas"/>
              </a:rPr>
              <a:t>    model_version: str</a:t>
            </a:r>
          </a:p>
        </p:txBody>
      </p:sp>
      <p:sp>
        <p:nvSpPr>
          <p:cNvPr id="12" name="Rounded Rectangle 11"/>
          <p:cNvSpPr/>
          <p:nvPr/>
        </p:nvSpPr>
        <p:spPr>
          <a:xfrm>
            <a:off x="14813280" y="2514600"/>
            <a:ext cx="8549640" cy="9966960"/>
          </a:xfrm>
          <a:prstGeom prst="roundRect">
            <a:avLst>
              <a:gd name="adj" fmla="val 374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361920" y="2926080"/>
            <a:ext cx="7498079" cy="731520"/>
          </a:xfrm>
          <a:prstGeom prst="rect">
            <a:avLst/>
          </a:prstGeom>
          <a:noFill/>
        </p:spPr>
        <p:txBody>
          <a:bodyPr wrap="square" lIns="0" tIns="0" rIns="0" bIns="0" anchor="t">
            <a:spAutoFit/>
          </a:bodyPr>
          <a:lstStyle/>
          <a:p>
            <a:pPr algn="l">
              <a:lnSpc>
                <a:spcPct val="120000"/>
              </a:lnSpc>
              <a:spcAft>
                <a:spcPts val="600"/>
              </a:spcAft>
            </a:pPr>
            <a:r>
              <a:rPr sz="3200" b="1" i="0">
                <a:solidFill>
                  <a:srgbClr val="1B2A4A"/>
                </a:solidFill>
                <a:latin typeface="Liter"/>
              </a:rPr>
              <a:t>A two-way contract</a:t>
            </a:r>
          </a:p>
        </p:txBody>
      </p:sp>
      <p:sp>
        <p:nvSpPr>
          <p:cNvPr id="14" name="TextBox 13"/>
          <p:cNvSpPr txBox="1"/>
          <p:nvPr/>
        </p:nvSpPr>
        <p:spPr>
          <a:xfrm>
            <a:off x="15361920" y="4023360"/>
            <a:ext cx="7498079" cy="8229600"/>
          </a:xfrm>
          <a:prstGeom prst="rect">
            <a:avLst/>
          </a:prstGeom>
          <a:noFill/>
        </p:spPr>
        <p:txBody>
          <a:bodyPr wrap="square" lIns="0" tIns="0" rIns="0" bIns="0" anchor="t">
            <a:spAutoFit/>
          </a:bodyPr>
          <a:lstStyle/>
          <a:p>
            <a:pPr marL="408939" indent="-408939" algn="l">
              <a:lnSpc>
                <a:spcPct val="125000"/>
              </a:lnSpc>
              <a:spcAft>
                <a:spcPts val="2000"/>
              </a:spcAft>
              <a:buClr>
                <a:srgbClr val="D4A03A"/>
              </a:buClr>
              <a:buFont typeface="Arial"/>
              <a:buChar char="•"/>
            </a:pPr>
            <a:r>
              <a:rPr sz="2800" b="0" i="0">
                <a:solidFill>
                  <a:srgbClr val="1E293B"/>
                </a:solidFill>
                <a:latin typeface="Quattrocento Sans"/>
              </a:rPr>
              <a:t>Requests are validated before the handler runs</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Missing field or wrong type → HTTP 422 automatically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response_model keeps the output shape stable</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The /docs page is generated from this schema</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Loading the Model &amp; the /predict Endpoint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30</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api/app.py (abridged)</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600" b="0" i="0">
                <a:solidFill>
                  <a:srgbClr val="E6EDF3"/>
                </a:solidFill>
                <a:latin typeface="Consolas"/>
              </a:rPr>
              <a:t>if os.path.exists(MODEL_PATH):              # container path</a:t>
            </a:r>
          </a:p>
          <a:p>
            <a:pPr algn="l">
              <a:lnSpc>
                <a:spcPct val="100000"/>
              </a:lnSpc>
              <a:spcAft>
                <a:spcPts val="0"/>
              </a:spcAft>
            </a:pPr>
            <a:r>
              <a:rPr sz="2600" b="0" i="0">
                <a:solidFill>
                  <a:srgbClr val="E6EDF3"/>
                </a:solidFill>
                <a:latin typeface="Consolas"/>
              </a:rPr>
              <a:t>    model = joblib.load(MODEL_PATH)           # + model_info.json</a:t>
            </a:r>
          </a:p>
          <a:p>
            <a:pPr algn="l">
              <a:lnSpc>
                <a:spcPct val="100000"/>
              </a:lnSpc>
              <a:spcAft>
                <a:spcPts val="0"/>
              </a:spcAft>
            </a:pPr>
            <a:r>
              <a:rPr sz="2600" b="0" i="0">
                <a:solidFill>
                  <a:srgbClr val="E6EDF3"/>
                </a:solidFill>
                <a:latin typeface="Consolas"/>
              </a:rPr>
              <a:t>else:                                         # local development path</a:t>
            </a:r>
          </a:p>
          <a:p>
            <a:pPr algn="l">
              <a:lnSpc>
                <a:spcPct val="100000"/>
              </a:lnSpc>
              <a:spcAft>
                <a:spcPts val="0"/>
              </a:spcAft>
            </a:pPr>
            <a:r>
              <a:rPr sz="2600" b="0" i="0">
                <a:solidFill>
                  <a:srgbClr val="E6EDF3"/>
                </a:solidFill>
                <a:latin typeface="Consolas"/>
              </a:rPr>
              <a:t>    mv = MlflowClient().get_model_version_by_alias(MODEL_NAME, "champion")</a:t>
            </a:r>
          </a:p>
          <a:p>
            <a:pPr algn="l">
              <a:lnSpc>
                <a:spcPct val="100000"/>
              </a:lnSpc>
              <a:spcAft>
                <a:spcPts val="0"/>
              </a:spcAft>
            </a:pPr>
            <a:r>
              <a:rPr sz="2600" b="0" i="0">
                <a:solidFill>
                  <a:srgbClr val="E6EDF3"/>
                </a:solidFill>
                <a:latin typeface="Consolas"/>
              </a:rPr>
              <a:t>    model = mlflow.sklearn.load_model(f"models:/{MODEL_NAME}/{mv.version}")</a:t>
            </a:r>
          </a:p>
          <a:p>
            <a:pPr algn="l">
              <a:lnSpc>
                <a:spcPct val="100000"/>
              </a:lnSpc>
              <a:spcAft>
                <a:spcPts val="0"/>
              </a:spcAft>
            </a:pPr>
            <a:r>
              <a:rPr sz="2600" b="0" i="0">
                <a:solidFill>
                  <a:srgbClr val="E6EDF3"/>
                </a:solidFill>
                <a:latin typeface="Consolas"/>
              </a:rPr>
              <a:t>MODEL_VERSION = f"{type(model).__name__}-v{version}"</a:t>
            </a:r>
          </a:p>
          <a:p>
            <a:pPr algn="l">
              <a:lnSpc>
                <a:spcPct val="100000"/>
              </a:lnSpc>
              <a:spcAft>
                <a:spcPts val="0"/>
              </a:spcAft>
            </a:pPr>
            <a:r>
              <a:rPr sz="2600" b="0" i="0">
                <a:solidFill>
                  <a:srgbClr val="E6EDF3"/>
                </a:solidFill>
                <a:latin typeface="Consolas"/>
              </a:rPr>
              <a:t> </a:t>
            </a:r>
          </a:p>
          <a:p>
            <a:pPr algn="l">
              <a:lnSpc>
                <a:spcPct val="100000"/>
              </a:lnSpc>
              <a:spcAft>
                <a:spcPts val="0"/>
              </a:spcAft>
            </a:pPr>
            <a:r>
              <a:rPr sz="2600" b="0" i="0">
                <a:solidFill>
                  <a:srgbClr val="E6EDF3"/>
                </a:solidFill>
                <a:latin typeface="Consolas"/>
              </a:rPr>
              <a:t>@app.post("/predict", response_model=PredictionResponse)</a:t>
            </a:r>
          </a:p>
          <a:p>
            <a:pPr algn="l">
              <a:lnSpc>
                <a:spcPct val="100000"/>
              </a:lnSpc>
              <a:spcAft>
                <a:spcPts val="0"/>
              </a:spcAft>
            </a:pPr>
            <a:r>
              <a:rPr sz="2600" b="0" i="0">
                <a:solidFill>
                  <a:srgbClr val="E6EDF3"/>
                </a:solidFill>
                <a:latin typeface="Consolas"/>
              </a:rPr>
              <a:t>def predict(data: ApplicantData):</a:t>
            </a:r>
          </a:p>
          <a:p>
            <a:pPr algn="l">
              <a:lnSpc>
                <a:spcPct val="100000"/>
              </a:lnSpc>
              <a:spcAft>
                <a:spcPts val="0"/>
              </a:spcAft>
            </a:pPr>
            <a:r>
              <a:rPr sz="2600" b="0" i="0">
                <a:solidFill>
                  <a:srgbClr val="E6EDF3"/>
                </a:solidFill>
                <a:latin typeface="Consolas"/>
              </a:rPr>
              <a:t>    df = pd.DataFrame([data.model_dump()])</a:t>
            </a:r>
          </a:p>
          <a:p>
            <a:pPr algn="l">
              <a:lnSpc>
                <a:spcPct val="100000"/>
              </a:lnSpc>
              <a:spcAft>
                <a:spcPts val="0"/>
              </a:spcAft>
            </a:pPr>
            <a:r>
              <a:rPr sz="2600" b="0" i="0">
                <a:solidFill>
                  <a:srgbClr val="E6EDF3"/>
                </a:solidFill>
                <a:latin typeface="Consolas"/>
              </a:rPr>
              <a:t>    proba = model.predict_proba(df)[0][1]</a:t>
            </a:r>
          </a:p>
          <a:p>
            <a:pPr algn="l">
              <a:lnSpc>
                <a:spcPct val="100000"/>
              </a:lnSpc>
              <a:spcAft>
                <a:spcPts val="0"/>
              </a:spcAft>
            </a:pPr>
            <a:r>
              <a:rPr sz="2600" b="0" i="0">
                <a:solidFill>
                  <a:srgbClr val="E6EDF3"/>
                </a:solidFill>
                <a:latin typeface="Consolas"/>
              </a:rPr>
              <a:t>    return PredictionResponse(approved=bool(proba &gt;= 0.5),</a:t>
            </a:r>
          </a:p>
          <a:p>
            <a:pPr algn="l">
              <a:lnSpc>
                <a:spcPct val="100000"/>
              </a:lnSpc>
              <a:spcAft>
                <a:spcPts val="0"/>
              </a:spcAft>
            </a:pPr>
            <a:r>
              <a:rPr sz="2600" b="0" i="0">
                <a:solidFill>
                  <a:srgbClr val="E6EDF3"/>
                </a:solidFill>
                <a:latin typeface="Consolas"/>
              </a:rPr>
              <a:t>                              probability=round(float(proba), 4),</a:t>
            </a:r>
          </a:p>
          <a:p>
            <a:pPr algn="l">
              <a:lnSpc>
                <a:spcPct val="100000"/>
              </a:lnSpc>
              <a:spcAft>
                <a:spcPts val="0"/>
              </a:spcAft>
            </a:pPr>
            <a:r>
              <a:rPr sz="2600" b="0" i="0">
                <a:solidFill>
                  <a:srgbClr val="E6EDF3"/>
                </a:solidFill>
                <a:latin typeface="Consolas"/>
              </a:rPr>
              <a:t>                              model_version=MODEL_VERSION)</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and Test the API</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2</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31</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500" b="0" i="0">
                <a:solidFill>
                  <a:srgbClr val="F5C66B"/>
                </a:solidFill>
                <a:latin typeface="Consolas"/>
              </a:rPr>
              <a:t>$ make serve      # PREDICTION_LOG=logs/predictions.jsonl uvicorn api.app:app --reload</a:t>
            </a:r>
          </a:p>
          <a:p>
            <a:pPr algn="l">
              <a:lnSpc>
                <a:spcPct val="100000"/>
              </a:lnSpc>
              <a:spcAft>
                <a:spcPts val="0"/>
              </a:spcAft>
            </a:pPr>
            <a:r>
              <a:rPr sz="2500" b="0" i="0">
                <a:solidFill>
                  <a:srgbClr val="E6EDF3"/>
                </a:solidFill>
                <a:latin typeface="Consolas"/>
              </a:rPr>
              <a:t>INFO:     Uvicorn running on http://127.0.0.1:8000</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8B9BB4"/>
                </a:solidFill>
                <a:latin typeface="Consolas"/>
              </a:rPr>
              <a:t># second terminal</a:t>
            </a:r>
          </a:p>
          <a:p>
            <a:pPr algn="l">
              <a:lnSpc>
                <a:spcPct val="100000"/>
              </a:lnSpc>
              <a:spcAft>
                <a:spcPts val="0"/>
              </a:spcAft>
            </a:pPr>
            <a:r>
              <a:rPr sz="2500" b="0" i="0">
                <a:solidFill>
                  <a:srgbClr val="F5C66B"/>
                </a:solidFill>
                <a:latin typeface="Consolas"/>
              </a:rPr>
              <a:t>$ curl http://127.0.0.1:8000/</a:t>
            </a:r>
          </a:p>
          <a:p>
            <a:pPr algn="l">
              <a:lnSpc>
                <a:spcPct val="100000"/>
              </a:lnSpc>
              <a:spcAft>
                <a:spcPts val="0"/>
              </a:spcAft>
            </a:pPr>
            <a:r>
              <a:rPr sz="2500" b="0" i="0">
                <a:solidFill>
                  <a:srgbClr val="E6EDF3"/>
                </a:solidFill>
                <a:latin typeface="Consolas"/>
              </a:rPr>
              <a:t>{"status":"ok","service":"insurance-approval-api",</a:t>
            </a:r>
          </a:p>
          <a:p>
            <a:pPr algn="l">
              <a:lnSpc>
                <a:spcPct val="100000"/>
              </a:lnSpc>
              <a:spcAft>
                <a:spcPts val="0"/>
              </a:spcAft>
            </a:pPr>
            <a:r>
              <a:rPr sz="2500" b="0" i="0">
                <a:solidFill>
                  <a:srgbClr val="E6EDF3"/>
                </a:solidFill>
                <a:latin typeface="Consolas"/>
              </a:rPr>
              <a:t> "model_version":"RandomForestClassifier-v1","model_source":"MLflow Model Registry (@champion)"}</a:t>
            </a:r>
          </a:p>
          <a:p>
            <a:pPr algn="l">
              <a:lnSpc>
                <a:spcPct val="100000"/>
              </a:lnSpc>
              <a:spcAft>
                <a:spcPts val="0"/>
              </a:spcAft>
            </a:pPr>
            <a:r>
              <a:rPr sz="2500" b="0" i="0">
                <a:solidFill>
                  <a:srgbClr val="E6EDF3"/>
                </a:solidFill>
                <a:latin typeface="Consolas"/>
              </a:rPr>
              <a:t> </a:t>
            </a:r>
          </a:p>
          <a:p>
            <a:pPr algn="l">
              <a:lnSpc>
                <a:spcPct val="100000"/>
              </a:lnSpc>
              <a:spcAft>
                <a:spcPts val="0"/>
              </a:spcAft>
            </a:pPr>
            <a:r>
              <a:rPr sz="2500" b="0" i="0">
                <a:solidFill>
                  <a:srgbClr val="F5C66B"/>
                </a:solidFill>
                <a:latin typeface="Consolas"/>
              </a:rPr>
              <a:t>$ curl -X POST http://127.0.0.1:8000/predict -H "Content-Type: application/json" \</a:t>
            </a:r>
          </a:p>
          <a:p>
            <a:pPr algn="l">
              <a:lnSpc>
                <a:spcPct val="100000"/>
              </a:lnSpc>
              <a:spcAft>
                <a:spcPts val="0"/>
              </a:spcAft>
            </a:pPr>
            <a:r>
              <a:rPr sz="2500" b="0" i="0">
                <a:solidFill>
                  <a:srgbClr val="E6EDF3"/>
                </a:solidFill>
                <a:latin typeface="Consolas"/>
              </a:rPr>
              <a:t>  -d '{"age":34,"income":78000,"bmi":24.5,"tenure_months":18,</a:t>
            </a:r>
          </a:p>
          <a:p>
            <a:pPr algn="l">
              <a:lnSpc>
                <a:spcPct val="100000"/>
              </a:lnSpc>
              <a:spcAft>
                <a:spcPts val="0"/>
              </a:spcAft>
            </a:pPr>
            <a:r>
              <a:rPr sz="2500" b="0" i="0">
                <a:solidFill>
                  <a:srgbClr val="E6EDF3"/>
                </a:solidFill>
                <a:latin typeface="Consolas"/>
              </a:rPr>
              <a:t>       "num_claims":1,"credit_score":720,"policy_value":150000,"risk_score":42.5}'</a:t>
            </a:r>
          </a:p>
          <a:p>
            <a:pPr algn="l">
              <a:lnSpc>
                <a:spcPct val="100000"/>
              </a:lnSpc>
              <a:spcAft>
                <a:spcPts val="0"/>
              </a:spcAft>
            </a:pPr>
            <a:r>
              <a:rPr sz="2500" b="0" i="0">
                <a:solidFill>
                  <a:srgbClr val="E6EDF3"/>
                </a:solidFill>
                <a:latin typeface="Consolas"/>
              </a:rPr>
              <a:t>{"approved":false,"probability":0.4112,"model_version":"RandomForestClassifier-v1"}</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Swagger UI — http://127.0.0.1:8000/docs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32</a:t>
            </a:r>
          </a:p>
        </p:txBody>
      </p:sp>
      <p:pic>
        <p:nvPicPr>
          <p:cNvPr id="6" name="Picture 5" descr="crop_sw_resp.png"/>
          <p:cNvPicPr>
            <a:picLocks noChangeAspect="1"/>
          </p:cNvPicPr>
          <p:nvPr/>
        </p:nvPicPr>
        <p:blipFill>
          <a:blip r:embed="rId3"/>
          <a:stretch>
            <a:fillRect/>
          </a:stretch>
        </p:blipFill>
        <p:spPr>
          <a:xfrm>
            <a:off x="1014984" y="2520269"/>
            <a:ext cx="22347936" cy="8629741"/>
          </a:xfrm>
          <a:prstGeom prst="rect">
            <a:avLst/>
          </a:prstGeom>
          <a:ln w="19050">
            <a:solidFill>
              <a:srgbClr val="E0DCD3"/>
            </a:solidFill>
          </a:ln>
        </p:spPr>
      </p:pic>
      <p:sp>
        <p:nvSpPr>
          <p:cNvPr id="7" name="Rounded Rectangle 6"/>
          <p:cNvSpPr/>
          <p:nvPr/>
        </p:nvSpPr>
        <p:spPr>
          <a:xfrm>
            <a:off x="1014984" y="11338560"/>
            <a:ext cx="22347936" cy="1143000"/>
          </a:xfrm>
          <a:prstGeom prst="roundRect">
            <a:avLst>
              <a:gd name="adj" fmla="val 9600"/>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14984" y="11338560"/>
            <a:ext cx="128016" cy="1143000"/>
          </a:xfrm>
          <a:prstGeom prst="rect">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17904" y="11338560"/>
            <a:ext cx="21524976" cy="114300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Swagger UI loads its assets from a CDN. If the network blocks it, /docs is blank — use curl or make drill-check instead.</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Invalid Requests Are Rejected Automatically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VALIDATION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33</a:t>
            </a:r>
          </a:p>
        </p:txBody>
      </p:sp>
      <p:sp>
        <p:nvSpPr>
          <p:cNvPr id="6" name="Rounded Rectangle 5"/>
          <p:cNvSpPr/>
          <p:nvPr/>
        </p:nvSpPr>
        <p:spPr>
          <a:xfrm>
            <a:off x="1014984" y="2514600"/>
            <a:ext cx="7174992" cy="4754880"/>
          </a:xfrm>
          <a:prstGeom prst="roundRect">
            <a:avLst>
              <a:gd name="adj" fmla="val 673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3000" b="1" i="0">
                <a:solidFill>
                  <a:srgbClr val="1B2A4A"/>
                </a:solidFill>
                <a:latin typeface="Liter"/>
              </a:rPr>
              <a:t>Missing field</a:t>
            </a:r>
          </a:p>
        </p:txBody>
      </p:sp>
      <p:sp>
        <p:nvSpPr>
          <p:cNvPr id="9" name="TextBox 8"/>
          <p:cNvSpPr txBox="1"/>
          <p:nvPr/>
        </p:nvSpPr>
        <p:spPr>
          <a:xfrm>
            <a:off x="1563624" y="3931920"/>
            <a:ext cx="6077712" cy="310896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A request without credit_score → HTTP 422, with no extra validation code.</a:t>
            </a:r>
          </a:p>
        </p:txBody>
      </p:sp>
      <p:sp>
        <p:nvSpPr>
          <p:cNvPr id="10" name="Rounded Rectangle 9"/>
          <p:cNvSpPr/>
          <p:nvPr/>
        </p:nvSpPr>
        <p:spPr>
          <a:xfrm>
            <a:off x="8601456" y="2514600"/>
            <a:ext cx="7174992" cy="4754880"/>
          </a:xfrm>
          <a:prstGeom prst="roundRect">
            <a:avLst>
              <a:gd name="adj" fmla="val 673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3000" b="1" i="0">
                <a:solidFill>
                  <a:srgbClr val="1B2A4A"/>
                </a:solidFill>
                <a:latin typeface="Liter"/>
              </a:rPr>
              <a:t>Wrong type</a:t>
            </a:r>
          </a:p>
        </p:txBody>
      </p:sp>
      <p:sp>
        <p:nvSpPr>
          <p:cNvPr id="13" name="TextBox 12"/>
          <p:cNvSpPr txBox="1"/>
          <p:nvPr/>
        </p:nvSpPr>
        <p:spPr>
          <a:xfrm>
            <a:off x="9150096" y="3931920"/>
            <a:ext cx="6077712" cy="310896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credit_score = "high" is rejected before predict() ever runs.</a:t>
            </a:r>
          </a:p>
        </p:txBody>
      </p:sp>
      <p:sp>
        <p:nvSpPr>
          <p:cNvPr id="14" name="Rounded Rectangle 13"/>
          <p:cNvSpPr/>
          <p:nvPr/>
        </p:nvSpPr>
        <p:spPr>
          <a:xfrm>
            <a:off x="16187928" y="2514600"/>
            <a:ext cx="7174992" cy="4754880"/>
          </a:xfrm>
          <a:prstGeom prst="roundRect">
            <a:avLst>
              <a:gd name="adj" fmla="val 673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3000" b="1" i="0">
                <a:solidFill>
                  <a:srgbClr val="1B2A4A"/>
                </a:solidFill>
                <a:latin typeface="Liter"/>
              </a:rPr>
              <a:t>Structured errors</a:t>
            </a:r>
          </a:p>
        </p:txBody>
      </p:sp>
      <p:sp>
        <p:nvSpPr>
          <p:cNvPr id="17" name="TextBox 16"/>
          <p:cNvSpPr txBox="1"/>
          <p:nvPr/>
        </p:nvSpPr>
        <p:spPr>
          <a:xfrm>
            <a:off x="16736568" y="3931920"/>
            <a:ext cx="6077712" cy="3108960"/>
          </a:xfrm>
          <a:prstGeom prst="rect">
            <a:avLst/>
          </a:prstGeom>
          <a:noFill/>
        </p:spPr>
        <p:txBody>
          <a:bodyPr wrap="square" lIns="0" tIns="0" rIns="0" bIns="0" anchor="t">
            <a:spAutoFit/>
          </a:bodyPr>
          <a:lstStyle/>
          <a:p>
            <a:pPr algn="l">
              <a:lnSpc>
                <a:spcPct val="130000"/>
              </a:lnSpc>
              <a:spcAft>
                <a:spcPts val="600"/>
              </a:spcAft>
            </a:pPr>
            <a:r>
              <a:rPr sz="2600" b="0" i="0">
                <a:solidFill>
                  <a:srgbClr val="1E293B"/>
                </a:solidFill>
                <a:latin typeface="Quattrocento Sans"/>
              </a:rPr>
              <a:t>The 422 body names the field and the reason — easy for client teams to fix.</a:t>
            </a:r>
          </a:p>
        </p:txBody>
      </p:sp>
      <p:sp>
        <p:nvSpPr>
          <p:cNvPr id="18" name="Rounded Rectangle 17"/>
          <p:cNvSpPr/>
          <p:nvPr/>
        </p:nvSpPr>
        <p:spPr>
          <a:xfrm>
            <a:off x="1014984" y="7680960"/>
            <a:ext cx="22347936" cy="4800600"/>
          </a:xfrm>
          <a:prstGeom prst="roundRect">
            <a:avLst>
              <a:gd name="adj" fmla="val 342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344168" y="795528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728216" y="795528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112264" y="795528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426464" y="8394192"/>
            <a:ext cx="21616416" cy="3931920"/>
          </a:xfrm>
          <a:prstGeom prst="rect">
            <a:avLst/>
          </a:prstGeom>
          <a:noFill/>
        </p:spPr>
        <p:txBody>
          <a:bodyPr wrap="square" lIns="0" tIns="0" rIns="0" bIns="0" anchor="t">
            <a:spAutoFit/>
          </a:bodyPr>
          <a:lstStyle/>
          <a:p>
            <a:pPr algn="l">
              <a:lnSpc>
                <a:spcPct val="100000"/>
              </a:lnSpc>
              <a:spcAft>
                <a:spcPts val="0"/>
              </a:spcAft>
            </a:pPr>
            <a:r>
              <a:rPr sz="2400" b="0" i="0">
                <a:solidFill>
                  <a:srgbClr val="8B9BB4"/>
                </a:solidFill>
                <a:latin typeface="Consolas"/>
              </a:rPr>
              <a:t># real response when credit_score is missing</a:t>
            </a:r>
          </a:p>
          <a:p>
            <a:pPr algn="l">
              <a:lnSpc>
                <a:spcPct val="100000"/>
              </a:lnSpc>
              <a:spcAft>
                <a:spcPts val="0"/>
              </a:spcAft>
            </a:pPr>
            <a:r>
              <a:rPr sz="2400" b="0" i="0">
                <a:solidFill>
                  <a:srgbClr val="E6EDF3"/>
                </a:solidFill>
                <a:latin typeface="Consolas"/>
              </a:rPr>
              <a:t>{"detail":[{"type":"missing","loc":["body","credit_score"],"msg":"Field required", ...}]}</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8B9BB4"/>
                </a:solidFill>
                <a:latin typeface="Consolas"/>
              </a:rPr>
              <a:t># real response when credit_score = "high"</a:t>
            </a:r>
          </a:p>
          <a:p>
            <a:pPr algn="l">
              <a:lnSpc>
                <a:spcPct val="100000"/>
              </a:lnSpc>
              <a:spcAft>
                <a:spcPts val="0"/>
              </a:spcAft>
            </a:pPr>
            <a:r>
              <a:rPr sz="2400" b="0" i="0">
                <a:solidFill>
                  <a:srgbClr val="E6EDF3"/>
                </a:solidFill>
                <a:latin typeface="Consolas"/>
              </a:rPr>
              <a:t>{"detail":[{"type":"float_parsing","loc":["body","credit_score"],</a:t>
            </a:r>
          </a:p>
          <a:p>
            <a:pPr algn="l">
              <a:lnSpc>
                <a:spcPct val="100000"/>
              </a:lnSpc>
              <a:spcAft>
                <a:spcPts val="0"/>
              </a:spcAft>
            </a:pPr>
            <a:r>
              <a:rPr sz="2400" b="0" i="0">
                <a:solidFill>
                  <a:srgbClr val="E6EDF3"/>
                </a:solidFill>
                <a:latin typeface="Consolas"/>
              </a:rPr>
              <a:t>  "msg":"Input should be a valid number, unable to parse string as a number","input":"high"}]}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From the Registry to a Self-Contained Image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CONTAINERISATION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34</a:t>
            </a:r>
          </a:p>
        </p:txBody>
      </p:sp>
      <p:sp>
        <p:nvSpPr>
          <p:cNvPr id="6" name="Rounded Rectangle 5"/>
          <p:cNvSpPr/>
          <p:nvPr/>
        </p:nvSpPr>
        <p:spPr>
          <a:xfrm>
            <a:off x="1014984" y="2514600"/>
            <a:ext cx="10945368"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8933688"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step 0 — export (real output)</a:t>
            </a:r>
          </a:p>
        </p:txBody>
      </p:sp>
      <p:sp>
        <p:nvSpPr>
          <p:cNvPr id="11" name="TextBox 10"/>
          <p:cNvSpPr txBox="1"/>
          <p:nvPr/>
        </p:nvSpPr>
        <p:spPr>
          <a:xfrm>
            <a:off x="1426464" y="3227832"/>
            <a:ext cx="10213848" cy="909828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export</a:t>
            </a:r>
          </a:p>
          <a:p>
            <a:pPr algn="l">
              <a:lnSpc>
                <a:spcPct val="100000"/>
              </a:lnSpc>
              <a:spcAft>
                <a:spcPts val="0"/>
              </a:spcAft>
            </a:pPr>
            <a:r>
              <a:rPr sz="2400" b="0" i="0">
                <a:solidFill>
                  <a:srgbClr val="E6EDF3"/>
                </a:solidFill>
                <a:latin typeface="Consolas"/>
              </a:rPr>
              <a:t>Model 'insurance-approval-model'</a:t>
            </a:r>
          </a:p>
          <a:p>
            <a:pPr algn="l">
              <a:lnSpc>
                <a:spcPct val="100000"/>
              </a:lnSpc>
              <a:spcAft>
                <a:spcPts val="0"/>
              </a:spcAft>
            </a:pPr>
            <a:r>
              <a:rPr sz="2400" b="0" i="0">
                <a:solidFill>
                  <a:srgbClr val="E6EDF3"/>
                </a:solidFill>
                <a:latin typeface="Consolas"/>
              </a:rPr>
              <a:t>version 1 (RandomForestClassifier)</a:t>
            </a:r>
          </a:p>
          <a:p>
            <a:pPr algn="l">
              <a:lnSpc>
                <a:spcPct val="100000"/>
              </a:lnSpc>
              <a:spcAft>
                <a:spcPts val="0"/>
              </a:spcAft>
            </a:pPr>
            <a:r>
              <a:rPr sz="2400" b="0" i="0">
                <a:solidFill>
                  <a:srgbClr val="E6EDF3"/>
                </a:solidFill>
                <a:latin typeface="Consolas"/>
              </a:rPr>
              <a:t>exported to api/models/model.pkl</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8B9BB4"/>
                </a:solidFill>
                <a:latin typeface="Consolas"/>
              </a:rPr>
              <a:t># api/models/model_info.json</a:t>
            </a:r>
          </a:p>
          <a:p>
            <a:pPr algn="l">
              <a:lnSpc>
                <a:spcPct val="100000"/>
              </a:lnSpc>
              <a:spcAft>
                <a:spcPts val="0"/>
              </a:spcAft>
            </a:pPr>
            <a:r>
              <a:rPr sz="2400" b="0" i="0">
                <a:solidFill>
                  <a:srgbClr val="E6EDF3"/>
                </a:solidFill>
                <a:latin typeface="Consolas"/>
              </a:rPr>
              <a:t>{</a:t>
            </a:r>
          </a:p>
          <a:p>
            <a:pPr algn="l">
              <a:lnSpc>
                <a:spcPct val="100000"/>
              </a:lnSpc>
              <a:spcAft>
                <a:spcPts val="0"/>
              </a:spcAft>
            </a:pPr>
            <a:r>
              <a:rPr sz="2400" b="0" i="0">
                <a:solidFill>
                  <a:srgbClr val="E6EDF3"/>
                </a:solidFill>
                <a:latin typeface="Consolas"/>
              </a:rPr>
              <a:t>  "model_name": "insurance-approval-model",</a:t>
            </a:r>
          </a:p>
          <a:p>
            <a:pPr algn="l">
              <a:lnSpc>
                <a:spcPct val="100000"/>
              </a:lnSpc>
              <a:spcAft>
                <a:spcPts val="0"/>
              </a:spcAft>
            </a:pPr>
            <a:r>
              <a:rPr sz="2400" b="0" i="0">
                <a:solidFill>
                  <a:srgbClr val="E6EDF3"/>
                </a:solidFill>
                <a:latin typeface="Consolas"/>
              </a:rPr>
              <a:t>  "version": "1",</a:t>
            </a:r>
          </a:p>
          <a:p>
            <a:pPr algn="l">
              <a:lnSpc>
                <a:spcPct val="100000"/>
              </a:lnSpc>
              <a:spcAft>
                <a:spcPts val="0"/>
              </a:spcAft>
            </a:pPr>
            <a:r>
              <a:rPr sz="2400" b="0" i="0">
                <a:solidFill>
                  <a:srgbClr val="E6EDF3"/>
                </a:solidFill>
                <a:latin typeface="Consolas"/>
              </a:rPr>
              <a:t>  "model_class": "RandomForestClassifier",</a:t>
            </a:r>
          </a:p>
          <a:p>
            <a:pPr algn="l">
              <a:lnSpc>
                <a:spcPct val="100000"/>
              </a:lnSpc>
              <a:spcAft>
                <a:spcPts val="0"/>
              </a:spcAft>
            </a:pPr>
            <a:r>
              <a:rPr sz="2400" b="0" i="0">
                <a:solidFill>
                  <a:srgbClr val="E6EDF3"/>
                </a:solidFill>
                <a:latin typeface="Consolas"/>
              </a:rPr>
              <a:t>  "run_id": "..."</a:t>
            </a:r>
          </a:p>
          <a:p>
            <a:pPr algn="l">
              <a:lnSpc>
                <a:spcPct val="100000"/>
              </a:lnSpc>
              <a:spcAft>
                <a:spcPts val="0"/>
              </a:spcAft>
            </a:pPr>
            <a:r>
              <a:rPr sz="2400" b="0" i="0">
                <a:solidFill>
                  <a:srgbClr val="E6EDF3"/>
                </a:solidFill>
                <a:latin typeface="Consolas"/>
              </a:rPr>
              <a:t>}</a:t>
            </a:r>
          </a:p>
        </p:txBody>
      </p:sp>
      <p:sp>
        <p:nvSpPr>
          <p:cNvPr id="12" name="Rounded Rectangle 11"/>
          <p:cNvSpPr/>
          <p:nvPr/>
        </p:nvSpPr>
        <p:spPr>
          <a:xfrm>
            <a:off x="12417552" y="2514600"/>
            <a:ext cx="10945368"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2746736"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3130784"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3514832"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063472" y="2697480"/>
            <a:ext cx="8933688"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docker/Dockerfile</a:t>
            </a:r>
          </a:p>
        </p:txBody>
      </p:sp>
      <p:sp>
        <p:nvSpPr>
          <p:cNvPr id="17" name="TextBox 16"/>
          <p:cNvSpPr txBox="1"/>
          <p:nvPr/>
        </p:nvSpPr>
        <p:spPr>
          <a:xfrm>
            <a:off x="12829032" y="3227832"/>
            <a:ext cx="10213848" cy="9098280"/>
          </a:xfrm>
          <a:prstGeom prst="rect">
            <a:avLst/>
          </a:prstGeom>
          <a:noFill/>
        </p:spPr>
        <p:txBody>
          <a:bodyPr wrap="square" lIns="0" tIns="0" rIns="0" bIns="0" anchor="t">
            <a:spAutoFit/>
          </a:bodyPr>
          <a:lstStyle/>
          <a:p>
            <a:pPr algn="l">
              <a:lnSpc>
                <a:spcPct val="100000"/>
              </a:lnSpc>
              <a:spcAft>
                <a:spcPts val="0"/>
              </a:spcAft>
            </a:pPr>
            <a:r>
              <a:rPr sz="2300" b="0" i="0">
                <a:solidFill>
                  <a:srgbClr val="E6EDF3"/>
                </a:solidFill>
                <a:latin typeface="Consolas"/>
              </a:rPr>
              <a:t>FROM python:3.11-slim</a:t>
            </a:r>
          </a:p>
          <a:p>
            <a:pPr algn="l">
              <a:lnSpc>
                <a:spcPct val="100000"/>
              </a:lnSpc>
              <a:spcAft>
                <a:spcPts val="0"/>
              </a:spcAft>
            </a:pPr>
            <a:r>
              <a:rPr sz="2300" b="0" i="0">
                <a:solidFill>
                  <a:srgbClr val="E6EDF3"/>
                </a:solidFill>
                <a:latin typeface="Consolas"/>
              </a:rPr>
              <a:t>WORKDIR /app</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8B9BB4"/>
                </a:solidFill>
                <a:latin typeface="Consolas"/>
              </a:rPr>
              <a:t># requirements first -&gt; cached pip layer</a:t>
            </a:r>
          </a:p>
          <a:p>
            <a:pPr algn="l">
              <a:lnSpc>
                <a:spcPct val="100000"/>
              </a:lnSpc>
              <a:spcAft>
                <a:spcPts val="0"/>
              </a:spcAft>
            </a:pPr>
            <a:r>
              <a:rPr sz="2300" b="0" i="0">
                <a:solidFill>
                  <a:srgbClr val="E6EDF3"/>
                </a:solidFill>
                <a:latin typeface="Consolas"/>
              </a:rPr>
              <a:t>COPY api/requirements.txt .</a:t>
            </a:r>
          </a:p>
          <a:p>
            <a:pPr algn="l">
              <a:lnSpc>
                <a:spcPct val="100000"/>
              </a:lnSpc>
              <a:spcAft>
                <a:spcPts val="0"/>
              </a:spcAft>
            </a:pPr>
            <a:r>
              <a:rPr sz="2300" b="0" i="0">
                <a:solidFill>
                  <a:srgbClr val="E6EDF3"/>
                </a:solidFill>
                <a:latin typeface="Consolas"/>
              </a:rPr>
              <a:t>RUN pip install --no-cache-dir \</a:t>
            </a:r>
          </a:p>
          <a:p>
            <a:pPr algn="l">
              <a:lnSpc>
                <a:spcPct val="100000"/>
              </a:lnSpc>
              <a:spcAft>
                <a:spcPts val="0"/>
              </a:spcAft>
            </a:pPr>
            <a:r>
              <a:rPr sz="2300" b="0" i="0">
                <a:solidFill>
                  <a:srgbClr val="E6EDF3"/>
                </a:solidFill>
                <a:latin typeface="Consolas"/>
              </a:rPr>
              <a:t>    -r requirements.txt</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E6EDF3"/>
                </a:solidFill>
                <a:latin typeface="Consolas"/>
              </a:rPr>
              <a:t>COPY api/app.py .</a:t>
            </a:r>
          </a:p>
          <a:p>
            <a:pPr algn="l">
              <a:lnSpc>
                <a:spcPct val="100000"/>
              </a:lnSpc>
              <a:spcAft>
                <a:spcPts val="0"/>
              </a:spcAft>
            </a:pPr>
            <a:r>
              <a:rPr sz="2300" b="0" i="0">
                <a:solidFill>
                  <a:srgbClr val="E6EDF3"/>
                </a:solidFill>
                <a:latin typeface="Consolas"/>
              </a:rPr>
              <a:t>COPY api/models/ ./models/</a:t>
            </a:r>
          </a:p>
          <a:p>
            <a:pPr algn="l">
              <a:lnSpc>
                <a:spcPct val="100000"/>
              </a:lnSpc>
              <a:spcAft>
                <a:spcPts val="0"/>
              </a:spcAft>
            </a:pPr>
            <a:r>
              <a:rPr sz="2300" b="0" i="0">
                <a:solidFill>
                  <a:srgbClr val="E6EDF3"/>
                </a:solidFill>
                <a:latin typeface="Consolas"/>
              </a:rPr>
              <a:t> </a:t>
            </a:r>
          </a:p>
          <a:p>
            <a:pPr algn="l">
              <a:lnSpc>
                <a:spcPct val="100000"/>
              </a:lnSpc>
              <a:spcAft>
                <a:spcPts val="0"/>
              </a:spcAft>
            </a:pPr>
            <a:r>
              <a:rPr sz="2300" b="0" i="0">
                <a:solidFill>
                  <a:srgbClr val="E6EDF3"/>
                </a:solidFill>
                <a:latin typeface="Consolas"/>
              </a:rPr>
              <a:t>ENV PORT=8080</a:t>
            </a:r>
          </a:p>
          <a:p>
            <a:pPr algn="l">
              <a:lnSpc>
                <a:spcPct val="100000"/>
              </a:lnSpc>
              <a:spcAft>
                <a:spcPts val="0"/>
              </a:spcAft>
            </a:pPr>
            <a:r>
              <a:rPr sz="2300" b="0" i="0">
                <a:solidFill>
                  <a:srgbClr val="8B9BB4"/>
                </a:solidFill>
                <a:latin typeface="Consolas"/>
              </a:rPr>
              <a:t># exec: uvicorn is PID 1, receives SIGTERM</a:t>
            </a:r>
          </a:p>
          <a:p>
            <a:pPr algn="l">
              <a:lnSpc>
                <a:spcPct val="100000"/>
              </a:lnSpc>
              <a:spcAft>
                <a:spcPts val="0"/>
              </a:spcAft>
            </a:pPr>
            <a:r>
              <a:rPr sz="2300" b="0" i="0">
                <a:solidFill>
                  <a:srgbClr val="E6EDF3"/>
                </a:solidFill>
                <a:latin typeface="Consolas"/>
              </a:rPr>
              <a:t>CMD exec uvicorn app:app \</a:t>
            </a:r>
          </a:p>
          <a:p>
            <a:pPr algn="l">
              <a:lnSpc>
                <a:spcPct val="100000"/>
              </a:lnSpc>
              <a:spcAft>
                <a:spcPts val="0"/>
              </a:spcAft>
            </a:pPr>
            <a:r>
              <a:rPr sz="2300" b="0" i="0">
                <a:solidFill>
                  <a:srgbClr val="E6EDF3"/>
                </a:solidFill>
                <a:latin typeface="Consolas"/>
              </a:rPr>
              <a:t>    --host 0.0.0.0 --port ${PORT}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Build &amp; Run the Container Locally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3</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35</a:t>
            </a:r>
          </a:p>
        </p:txBody>
      </p:sp>
      <p:sp>
        <p:nvSpPr>
          <p:cNvPr id="6" name="Rounded Rectangle 5"/>
          <p:cNvSpPr/>
          <p:nvPr/>
        </p:nvSpPr>
        <p:spPr>
          <a:xfrm>
            <a:off x="1014984" y="2514600"/>
            <a:ext cx="22347936" cy="6949440"/>
          </a:xfrm>
          <a:prstGeom prst="roundRect">
            <a:avLst>
              <a:gd name="adj" fmla="val 236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a:t>
            </a:r>
          </a:p>
        </p:txBody>
      </p:sp>
      <p:sp>
        <p:nvSpPr>
          <p:cNvPr id="11" name="TextBox 10"/>
          <p:cNvSpPr txBox="1"/>
          <p:nvPr/>
        </p:nvSpPr>
        <p:spPr>
          <a:xfrm>
            <a:off x="1426464" y="3227832"/>
            <a:ext cx="21616416" cy="6080759"/>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docker-build      # docker build -f docker/Dockerfile -t insurance-api .</a:t>
            </a:r>
          </a:p>
          <a:p>
            <a:pPr algn="l">
              <a:lnSpc>
                <a:spcPct val="100000"/>
              </a:lnSpc>
              <a:spcAft>
                <a:spcPts val="0"/>
              </a:spcAft>
            </a:pPr>
            <a:r>
              <a:rPr sz="2400" b="0" i="0">
                <a:solidFill>
                  <a:srgbClr val="F5C66B"/>
                </a:solidFill>
                <a:latin typeface="Consolas"/>
              </a:rPr>
              <a:t>$ make docker-run        # docker run -d -p 8080:8080 --name api insurance-api</a:t>
            </a:r>
          </a:p>
          <a:p>
            <a:pPr algn="l">
              <a:lnSpc>
                <a:spcPct val="100000"/>
              </a:lnSpc>
              <a:spcAft>
                <a:spcPts val="0"/>
              </a:spcAft>
            </a:pPr>
            <a:r>
              <a:rPr sz="2400" b="0" i="0">
                <a:solidFill>
                  <a:srgbClr val="F5C66B"/>
                </a:solidFill>
                <a:latin typeface="Consolas"/>
              </a:rPr>
              <a:t>$ python3 scripts/test_deployment.py http://127.0.0.1:8080</a:t>
            </a:r>
          </a:p>
          <a:p>
            <a:pPr algn="l">
              <a:lnSpc>
                <a:spcPct val="100000"/>
              </a:lnSpc>
              <a:spcAft>
                <a:spcPts val="0"/>
              </a:spcAft>
            </a:pPr>
            <a:r>
              <a:rPr sz="2400" b="0" i="0">
                <a:solidFill>
                  <a:srgbClr val="E6EDF3"/>
                </a:solidFill>
                <a:latin typeface="Consolas"/>
              </a:rPr>
              <a:t>&gt;&gt; Health check...</a:t>
            </a:r>
          </a:p>
          <a:p>
            <a:pPr algn="l">
              <a:lnSpc>
                <a:spcPct val="100000"/>
              </a:lnSpc>
              <a:spcAft>
                <a:spcPts val="0"/>
              </a:spcAft>
            </a:pPr>
            <a:r>
              <a:rPr sz="2400" b="0" i="0">
                <a:solidFill>
                  <a:srgbClr val="E6EDF3"/>
                </a:solidFill>
                <a:latin typeface="Consolas"/>
              </a:rPr>
              <a:t>200 {'status': 'ok', ..., 'model_version': 'RandomForestClassifier-v1',</a:t>
            </a:r>
          </a:p>
          <a:p>
            <a:pPr algn="l">
              <a:lnSpc>
                <a:spcPct val="100000"/>
              </a:lnSpc>
              <a:spcAft>
                <a:spcPts val="0"/>
              </a:spcAft>
            </a:pPr>
            <a:r>
              <a:rPr sz="2400" b="0" i="0">
                <a:solidFill>
                  <a:srgbClr val="E6EDF3"/>
                </a:solidFill>
                <a:latin typeface="Consolas"/>
              </a:rPr>
              <a:t>     'model_source': 'local file (api/models/model.pkl)'}</a:t>
            </a:r>
          </a:p>
          <a:p>
            <a:pPr algn="l">
              <a:lnSpc>
                <a:spcPct val="100000"/>
              </a:lnSpc>
              <a:spcAft>
                <a:spcPts val="0"/>
              </a:spcAft>
            </a:pPr>
            <a:r>
              <a:rPr sz="2400" b="0" i="0">
                <a:solidFill>
                  <a:srgbClr val="E6EDF3"/>
                </a:solidFill>
                <a:latin typeface="Consolas"/>
              </a:rPr>
              <a:t>&gt;&gt; Predict (compare elapsed time for cold vs warm start)...</a:t>
            </a:r>
          </a:p>
          <a:p>
            <a:pPr algn="l">
              <a:lnSpc>
                <a:spcPct val="100000"/>
              </a:lnSpc>
              <a:spcAft>
                <a:spcPts val="0"/>
              </a:spcAft>
            </a:pPr>
            <a:r>
              <a:rPr sz="2400" b="0" i="0">
                <a:solidFill>
                  <a:srgbClr val="E6EDF3"/>
                </a:solidFill>
                <a:latin typeface="Consolas"/>
              </a:rPr>
              <a:t>200 {'approved': False, 'probability': 0.4112, 'model_version': 'RandomForestClassifier-v1'}</a:t>
            </a:r>
          </a:p>
          <a:p>
            <a:pPr algn="l">
              <a:lnSpc>
                <a:spcPct val="100000"/>
              </a:lnSpc>
              <a:spcAft>
                <a:spcPts val="0"/>
              </a:spcAft>
            </a:pPr>
            <a:r>
              <a:rPr sz="2400" b="0" i="0">
                <a:solidFill>
                  <a:srgbClr val="F5C66B"/>
                </a:solidFill>
                <a:latin typeface="Consolas"/>
              </a:rPr>
              <a:t>$ docker stop api &amp;&amp; docker rm api</a:t>
            </a:r>
          </a:p>
        </p:txBody>
      </p:sp>
      <p:sp>
        <p:nvSpPr>
          <p:cNvPr id="12" name="Rounded Rectangle 11"/>
          <p:cNvSpPr/>
          <p:nvPr/>
        </p:nvSpPr>
        <p:spPr>
          <a:xfrm>
            <a:off x="1014984" y="9829800"/>
            <a:ext cx="10968228" cy="265176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63624" y="10241280"/>
            <a:ext cx="10053828"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Layer caching</a:t>
            </a:r>
          </a:p>
        </p:txBody>
      </p:sp>
      <p:sp>
        <p:nvSpPr>
          <p:cNvPr id="14" name="TextBox 13"/>
          <p:cNvSpPr txBox="1"/>
          <p:nvPr/>
        </p:nvSpPr>
        <p:spPr>
          <a:xfrm>
            <a:off x="1563624" y="11247120"/>
            <a:ext cx="9870948" cy="1005839"/>
          </a:xfrm>
          <a:prstGeom prst="rect">
            <a:avLst/>
          </a:prstGeom>
          <a:noFill/>
        </p:spPr>
        <p:txBody>
          <a:bodyPr wrap="square" lIns="0" tIns="0" rIns="0" bIns="0" anchor="t">
            <a:spAutoFit/>
          </a:bodyPr>
          <a:lstStyle/>
          <a:p>
            <a:pPr algn="l">
              <a:lnSpc>
                <a:spcPct val="130000"/>
              </a:lnSpc>
              <a:spcAft>
                <a:spcPts val="600"/>
              </a:spcAft>
            </a:pPr>
            <a:r>
              <a:rPr sz="2500" b="0" i="0">
                <a:solidFill>
                  <a:srgbClr val="1E293B"/>
                </a:solidFill>
                <a:latin typeface="Quattrocento Sans"/>
              </a:rPr>
              <a:t>Change one line in app.py and rebuild: the pip install layer stays CACHED.</a:t>
            </a:r>
          </a:p>
        </p:txBody>
      </p:sp>
      <p:sp>
        <p:nvSpPr>
          <p:cNvPr id="15" name="Rounded Rectangle 14"/>
          <p:cNvSpPr/>
          <p:nvPr/>
        </p:nvSpPr>
        <p:spPr>
          <a:xfrm>
            <a:off x="12394692" y="9829800"/>
            <a:ext cx="10968228" cy="265176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2943332" y="10241280"/>
            <a:ext cx="10053828"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model_source</a:t>
            </a:r>
          </a:p>
        </p:txBody>
      </p:sp>
      <p:sp>
        <p:nvSpPr>
          <p:cNvPr id="17" name="TextBox 16"/>
          <p:cNvSpPr txBox="1"/>
          <p:nvPr/>
        </p:nvSpPr>
        <p:spPr>
          <a:xfrm>
            <a:off x="12943332" y="11247120"/>
            <a:ext cx="9870948" cy="1005839"/>
          </a:xfrm>
          <a:prstGeom prst="rect">
            <a:avLst/>
          </a:prstGeom>
          <a:noFill/>
        </p:spPr>
        <p:txBody>
          <a:bodyPr wrap="square" lIns="0" tIns="0" rIns="0" bIns="0" anchor="t">
            <a:spAutoFit/>
          </a:bodyPr>
          <a:lstStyle/>
          <a:p>
            <a:pPr algn="l">
              <a:lnSpc>
                <a:spcPct val="130000"/>
              </a:lnSpc>
              <a:spcAft>
                <a:spcPts val="600"/>
              </a:spcAft>
            </a:pPr>
            <a:r>
              <a:rPr sz="2500" b="0" i="0">
                <a:solidFill>
                  <a:srgbClr val="1E293B"/>
                </a:solidFill>
                <a:latin typeface="Quattrocento Sans"/>
              </a:rPr>
              <a:t>Must say "local file" — proof that the image does not depend on MLflow.</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Safely Replacing a Model in Production</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RELEASE STRATEGIES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38</a:t>
            </a:r>
          </a:p>
        </p:txBody>
      </p:sp>
      <p:graphicFrame>
        <p:nvGraphicFramePr>
          <p:cNvPr id="6" name="Table 5"/>
          <p:cNvGraphicFramePr>
            <a:graphicFrameLocks noGrp="1"/>
          </p:cNvGraphicFramePr>
          <p:nvPr/>
        </p:nvGraphicFramePr>
        <p:xfrm>
          <a:off x="1014984" y="2514600"/>
          <a:ext cx="22347935" cy="9601200"/>
        </p:xfrm>
        <a:graphic>
          <a:graphicData uri="http://schemas.openxmlformats.org/drawingml/2006/table">
            <a:tbl>
              <a:tblPr/>
              <a:tblGrid>
                <a:gridCol w="3352190">
                  <a:extLst>
                    <a:ext uri="{9D8B030D-6E8A-4147-A177-3AD203B41FA5}">
                      <a16:colId xmlns:a16="http://schemas.microsoft.com/office/drawing/2014/main" val="20000"/>
                    </a:ext>
                  </a:extLst>
                </a:gridCol>
                <a:gridCol w="8380476">
                  <a:extLst>
                    <a:ext uri="{9D8B030D-6E8A-4147-A177-3AD203B41FA5}">
                      <a16:colId xmlns:a16="http://schemas.microsoft.com/office/drawing/2014/main" val="20001"/>
                    </a:ext>
                  </a:extLst>
                </a:gridCol>
                <a:gridCol w="4655820">
                  <a:extLst>
                    <a:ext uri="{9D8B030D-6E8A-4147-A177-3AD203B41FA5}">
                      <a16:colId xmlns:a16="http://schemas.microsoft.com/office/drawing/2014/main" val="20002"/>
                    </a:ext>
                  </a:extLst>
                </a:gridCol>
                <a:gridCol w="5959449">
                  <a:extLst>
                    <a:ext uri="{9D8B030D-6E8A-4147-A177-3AD203B41FA5}">
                      <a16:colId xmlns:a16="http://schemas.microsoft.com/office/drawing/2014/main" val="20003"/>
                    </a:ext>
                  </a:extLst>
                </a:gridCol>
              </a:tblGrid>
              <a:tr h="1600200">
                <a:tc>
                  <a:txBody>
                    <a:bodyPr/>
                    <a:lstStyle/>
                    <a:p>
                      <a:r>
                        <a:rPr sz="2400" b="1">
                          <a:solidFill>
                            <a:srgbClr val="FFFFFF"/>
                          </a:solidFill>
                          <a:latin typeface="Quattrocento Sans"/>
                        </a:rPr>
                        <a:t>Strategy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How it works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Strength</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Risk / cost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600200">
                <a:tc>
                  <a:txBody>
                    <a:bodyPr/>
                    <a:lstStyle/>
                    <a:p>
                      <a:r>
                        <a:rPr sz="2400" b="1">
                          <a:solidFill>
                            <a:srgbClr val="1B2A4A"/>
                          </a:solidFill>
                          <a:latin typeface="Quattrocento Sans"/>
                        </a:rPr>
                        <a:t>Recreate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Stop the old version, start the new one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Simplest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Downtime; slow rollback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600200">
                <a:tc>
                  <a:txBody>
                    <a:bodyPr/>
                    <a:lstStyle/>
                    <a:p>
                      <a:r>
                        <a:rPr sz="2400" b="1">
                          <a:solidFill>
                            <a:srgbClr val="1B2A4A"/>
                          </a:solidFill>
                          <a:latin typeface="Quattrocento Sans"/>
                        </a:rPr>
                        <a:t>Blue/Green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Two identical environments; switch traffic at once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Instant rollback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Double capacity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600200">
                <a:tc>
                  <a:txBody>
                    <a:bodyPr/>
                    <a:lstStyle/>
                    <a:p>
                      <a:r>
                        <a:rPr sz="2400" b="1">
                          <a:solidFill>
                            <a:srgbClr val="1B2A4A"/>
                          </a:solidFill>
                          <a:latin typeface="Quattrocento Sans"/>
                        </a:rPr>
                        <a:t>Canary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The new version gets a small share of traffic (e.g. 10%)</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Limited blast radius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Needs per-version monitoring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600200">
                <a:tc>
                  <a:txBody>
                    <a:bodyPr/>
                    <a:lstStyle/>
                    <a:p>
                      <a:r>
                        <a:rPr sz="2400" b="1">
                          <a:solidFill>
                            <a:srgbClr val="1B2A4A"/>
                          </a:solidFill>
                          <a:latin typeface="Quattrocento Sans"/>
                        </a:rPr>
                        <a:t>Shadow</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The new version gets a copy of traffic; its output is ignored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Zero user risk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Double compute cost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r h="1600200">
                <a:tc>
                  <a:txBody>
                    <a:bodyPr/>
                    <a:lstStyle/>
                    <a:p>
                      <a:r>
                        <a:rPr sz="2400" b="1">
                          <a:solidFill>
                            <a:srgbClr val="1B2A4A"/>
                          </a:solidFill>
                          <a:latin typeface="Quattrocento Sans"/>
                        </a:rPr>
                        <a:t>A/B test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Traffic split at random; impact compared statistically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Measures business impact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Needs volume &amp; experiment design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03</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Monitoring and Observability</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13:15–14:45</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Monitoring vs observability</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Structured prediction logs</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Data drift with Evidently AI</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Reading the drift report</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Retraining policy</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Monitoring vs Observability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42</a:t>
            </a:r>
          </a:p>
        </p:txBody>
      </p:sp>
      <p:sp>
        <p:nvSpPr>
          <p:cNvPr id="6" name="Rounded Rectangle 5"/>
          <p:cNvSpPr/>
          <p:nvPr/>
        </p:nvSpPr>
        <p:spPr>
          <a:xfrm>
            <a:off x="1014984" y="2514600"/>
            <a:ext cx="10968228" cy="5577840"/>
          </a:xfrm>
          <a:prstGeom prst="roundRect">
            <a:avLst>
              <a:gd name="adj" fmla="val 573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9870948"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Monitoring</a:t>
            </a:r>
          </a:p>
        </p:txBody>
      </p:sp>
      <p:sp>
        <p:nvSpPr>
          <p:cNvPr id="9" name="TextBox 8"/>
          <p:cNvSpPr txBox="1"/>
          <p:nvPr/>
        </p:nvSpPr>
        <p:spPr>
          <a:xfrm>
            <a:off x="1563624" y="4160520"/>
            <a:ext cx="9870948"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Answers: is the system healthy?</a:t>
            </a:r>
          </a:p>
        </p:txBody>
      </p:sp>
      <p:sp>
        <p:nvSpPr>
          <p:cNvPr id="10" name="TextBox 9"/>
          <p:cNvSpPr txBox="1"/>
          <p:nvPr/>
        </p:nvSpPr>
        <p:spPr>
          <a:xfrm>
            <a:off x="1563624" y="5212079"/>
            <a:ext cx="9870948" cy="2514600"/>
          </a:xfrm>
          <a:prstGeom prst="rect">
            <a:avLst/>
          </a:prstGeom>
          <a:noFill/>
        </p:spPr>
        <p:txBody>
          <a:bodyPr wrap="square" lIns="0" tIns="0" rIns="0" bIns="0" anchor="t">
            <a:spAutoFit/>
          </a:bodyPr>
          <a:lstStyle/>
          <a:p>
            <a:pPr marL="379729" indent="-379729" algn="l">
              <a:lnSpc>
                <a:spcPct val="120000"/>
              </a:lnSpc>
              <a:spcAft>
                <a:spcPts val="1200"/>
              </a:spcAft>
              <a:buClr>
                <a:srgbClr val="1B2A4A"/>
              </a:buClr>
              <a:buFont typeface="Arial"/>
              <a:buChar char="•"/>
            </a:pPr>
            <a:r>
              <a:rPr sz="2600" b="0" i="0">
                <a:solidFill>
                  <a:srgbClr val="1E293B"/>
                </a:solidFill>
                <a:latin typeface="Quattrocento Sans"/>
              </a:rPr>
              <a:t>Predefined metrics and thresholds</a:t>
            </a:r>
          </a:p>
          <a:p>
            <a:pPr marL="379729" indent="-379729" algn="l">
              <a:lnSpc>
                <a:spcPct val="120000"/>
              </a:lnSpc>
              <a:spcAft>
                <a:spcPts val="1200"/>
              </a:spcAft>
              <a:buClr>
                <a:srgbClr val="1B2A4A"/>
              </a:buClr>
              <a:buFont typeface="Arial"/>
              <a:buChar char="•"/>
            </a:pPr>
            <a:r>
              <a:rPr sz="2600" b="0" i="0">
                <a:solidFill>
                  <a:srgbClr val="1E293B"/>
                </a:solidFill>
                <a:latin typeface="Quattrocento Sans"/>
              </a:rPr>
              <a:t>Alerts when a threshold is crossed</a:t>
            </a:r>
          </a:p>
          <a:p>
            <a:pPr marL="379729" indent="-379729" algn="l">
              <a:lnSpc>
                <a:spcPct val="120000"/>
              </a:lnSpc>
              <a:spcAft>
                <a:spcPts val="1200"/>
              </a:spcAft>
              <a:buClr>
                <a:srgbClr val="1B2A4A"/>
              </a:buClr>
              <a:buFont typeface="Arial"/>
              <a:buChar char="•"/>
            </a:pPr>
            <a:r>
              <a:rPr sz="2600" b="0" i="0">
                <a:solidFill>
                  <a:srgbClr val="1E293B"/>
                </a:solidFill>
                <a:latin typeface="Quattrocento Sans"/>
              </a:rPr>
              <a:t>Example: p95 latency &gt; 500 ms, drift &gt; 30%</a:t>
            </a:r>
          </a:p>
        </p:txBody>
      </p:sp>
      <p:sp>
        <p:nvSpPr>
          <p:cNvPr id="11" name="Rounded Rectangle 10"/>
          <p:cNvSpPr/>
          <p:nvPr/>
        </p:nvSpPr>
        <p:spPr>
          <a:xfrm>
            <a:off x="12394692" y="2514600"/>
            <a:ext cx="10968228" cy="5577840"/>
          </a:xfrm>
          <a:prstGeom prst="roundRect">
            <a:avLst>
              <a:gd name="adj" fmla="val 573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12943332"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2943332" y="3246120"/>
            <a:ext cx="9870948"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Observability</a:t>
            </a:r>
          </a:p>
        </p:txBody>
      </p:sp>
      <p:sp>
        <p:nvSpPr>
          <p:cNvPr id="14" name="TextBox 13"/>
          <p:cNvSpPr txBox="1"/>
          <p:nvPr/>
        </p:nvSpPr>
        <p:spPr>
          <a:xfrm>
            <a:off x="12943332" y="4160520"/>
            <a:ext cx="9870948"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Answers: why is it behaving this way?</a:t>
            </a:r>
          </a:p>
        </p:txBody>
      </p:sp>
      <p:sp>
        <p:nvSpPr>
          <p:cNvPr id="15" name="TextBox 14"/>
          <p:cNvSpPr txBox="1"/>
          <p:nvPr/>
        </p:nvSpPr>
        <p:spPr>
          <a:xfrm>
            <a:off x="12943332" y="5212079"/>
            <a:ext cx="9870948" cy="2514600"/>
          </a:xfrm>
          <a:prstGeom prst="rect">
            <a:avLst/>
          </a:prstGeom>
          <a:noFill/>
        </p:spPr>
        <p:txBody>
          <a:bodyPr wrap="square" lIns="0" tIns="0" rIns="0" bIns="0" anchor="t">
            <a:spAutoFit/>
          </a:bodyPr>
          <a:lstStyle/>
          <a:p>
            <a:pPr marL="379729" indent="-379729" algn="l">
              <a:lnSpc>
                <a:spcPct val="120000"/>
              </a:lnSpc>
              <a:spcAft>
                <a:spcPts val="1200"/>
              </a:spcAft>
              <a:buClr>
                <a:srgbClr val="D4A03A"/>
              </a:buClr>
              <a:buFont typeface="Arial"/>
              <a:buChar char="•"/>
            </a:pPr>
            <a:r>
              <a:rPr sz="2600" b="0" i="0">
                <a:solidFill>
                  <a:srgbClr val="1E293B"/>
                </a:solidFill>
                <a:latin typeface="Quattrocento Sans"/>
              </a:rPr>
              <a:t>Context-rich logs, metrics and traces</a:t>
            </a:r>
          </a:p>
          <a:p>
            <a:pPr marL="379729" indent="-379729" algn="l">
              <a:lnSpc>
                <a:spcPct val="120000"/>
              </a:lnSpc>
              <a:spcAft>
                <a:spcPts val="1200"/>
              </a:spcAft>
              <a:buClr>
                <a:srgbClr val="D4A03A"/>
              </a:buClr>
              <a:buFont typeface="Arial"/>
              <a:buChar char="•"/>
            </a:pPr>
            <a:r>
              <a:rPr sz="2600" b="0" i="0">
                <a:solidFill>
                  <a:srgbClr val="1E293B"/>
                </a:solidFill>
                <a:latin typeface="Quattrocento Sans"/>
              </a:rPr>
              <a:t>Lets you investigate problems you did not predict</a:t>
            </a:r>
          </a:p>
          <a:p>
            <a:pPr marL="379729" indent="-379729" algn="l">
              <a:lnSpc>
                <a:spcPct val="120000"/>
              </a:lnSpc>
              <a:spcAft>
                <a:spcPts val="1200"/>
              </a:spcAft>
              <a:buClr>
                <a:srgbClr val="D4A03A"/>
              </a:buClr>
              <a:buFont typeface="Arial"/>
              <a:buChar char="•"/>
            </a:pPr>
            <a:r>
              <a:rPr sz="2600" b="0" i="0">
                <a:solidFill>
                  <a:srgbClr val="1E293B"/>
                </a:solidFill>
                <a:latin typeface="Quattrocento Sans"/>
              </a:rPr>
              <a:t>Example: per-prediction logs with model version &amp; features</a:t>
            </a:r>
          </a:p>
        </p:txBody>
      </p:sp>
      <p:sp>
        <p:nvSpPr>
          <p:cNvPr id="16" name="TextBox 15"/>
          <p:cNvSpPr txBox="1"/>
          <p:nvPr/>
        </p:nvSpPr>
        <p:spPr>
          <a:xfrm>
            <a:off x="1014984" y="8412480"/>
            <a:ext cx="22347936"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What to watch in an ML system</a:t>
            </a:r>
          </a:p>
        </p:txBody>
      </p:sp>
      <p:sp>
        <p:nvSpPr>
          <p:cNvPr id="17" name="Rounded Rectangle 16"/>
          <p:cNvSpPr/>
          <p:nvPr/>
        </p:nvSpPr>
        <p:spPr>
          <a:xfrm>
            <a:off x="1014984" y="9372600"/>
            <a:ext cx="5175504" cy="2651760"/>
          </a:xfrm>
          <a:prstGeom prst="roundRect">
            <a:avLst>
              <a:gd name="adj" fmla="val 6896"/>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97864"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Service</a:t>
            </a:r>
          </a:p>
          <a:p>
            <a:pPr algn="ctr">
              <a:lnSpc>
                <a:spcPct val="120000"/>
              </a:lnSpc>
              <a:spcAft>
                <a:spcPts val="600"/>
              </a:spcAft>
            </a:pPr>
            <a:r>
              <a:rPr sz="2400" b="1" i="0">
                <a:solidFill>
                  <a:srgbClr val="FFFFFF"/>
                </a:solidFill>
                <a:latin typeface="Quattrocento Sans"/>
              </a:rPr>
              <a:t>latency · errors · traffic</a:t>
            </a:r>
          </a:p>
        </p:txBody>
      </p:sp>
      <p:sp>
        <p:nvSpPr>
          <p:cNvPr id="19" name="TextBox 18"/>
          <p:cNvSpPr txBox="1"/>
          <p:nvPr/>
        </p:nvSpPr>
        <p:spPr>
          <a:xfrm>
            <a:off x="6190488" y="9372600"/>
            <a:ext cx="548640" cy="26517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0" name="Rounded Rectangle 19"/>
          <p:cNvSpPr/>
          <p:nvPr/>
        </p:nvSpPr>
        <p:spPr>
          <a:xfrm>
            <a:off x="6739128" y="9372600"/>
            <a:ext cx="5175504" cy="2651760"/>
          </a:xfrm>
          <a:prstGeom prst="roundRect">
            <a:avLst>
              <a:gd name="adj" fmla="val 6896"/>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22008"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Data</a:t>
            </a:r>
          </a:p>
          <a:p>
            <a:pPr algn="ctr">
              <a:lnSpc>
                <a:spcPct val="120000"/>
              </a:lnSpc>
              <a:spcAft>
                <a:spcPts val="600"/>
              </a:spcAft>
            </a:pPr>
            <a:r>
              <a:rPr sz="2400" b="1" i="0">
                <a:solidFill>
                  <a:srgbClr val="FFFFFF"/>
                </a:solidFill>
                <a:latin typeface="Quattrocento Sans"/>
              </a:rPr>
              <a:t>feature distributions</a:t>
            </a:r>
          </a:p>
        </p:txBody>
      </p:sp>
      <p:sp>
        <p:nvSpPr>
          <p:cNvPr id="22" name="TextBox 21"/>
          <p:cNvSpPr txBox="1"/>
          <p:nvPr/>
        </p:nvSpPr>
        <p:spPr>
          <a:xfrm>
            <a:off x="11914632" y="9372600"/>
            <a:ext cx="548640" cy="26517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3" name="Rounded Rectangle 22"/>
          <p:cNvSpPr/>
          <p:nvPr/>
        </p:nvSpPr>
        <p:spPr>
          <a:xfrm>
            <a:off x="12463272" y="9372600"/>
            <a:ext cx="5175504" cy="2651760"/>
          </a:xfrm>
          <a:prstGeom prst="roundRect">
            <a:avLst>
              <a:gd name="adj" fmla="val 6896"/>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2646151"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Model</a:t>
            </a:r>
          </a:p>
          <a:p>
            <a:pPr algn="ctr">
              <a:lnSpc>
                <a:spcPct val="120000"/>
              </a:lnSpc>
              <a:spcAft>
                <a:spcPts val="600"/>
              </a:spcAft>
            </a:pPr>
            <a:r>
              <a:rPr sz="2400" b="1" i="0">
                <a:solidFill>
                  <a:srgbClr val="FFFFFF"/>
                </a:solidFill>
                <a:latin typeface="Quattrocento Sans"/>
              </a:rPr>
              <a:t>prediction quality</a:t>
            </a:r>
          </a:p>
        </p:txBody>
      </p:sp>
      <p:sp>
        <p:nvSpPr>
          <p:cNvPr id="25" name="TextBox 24"/>
          <p:cNvSpPr txBox="1"/>
          <p:nvPr/>
        </p:nvSpPr>
        <p:spPr>
          <a:xfrm>
            <a:off x="17638776" y="9372600"/>
            <a:ext cx="548640" cy="265176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6" name="Rounded Rectangle 25"/>
          <p:cNvSpPr/>
          <p:nvPr/>
        </p:nvSpPr>
        <p:spPr>
          <a:xfrm>
            <a:off x="18187416" y="9372600"/>
            <a:ext cx="5175504" cy="2651760"/>
          </a:xfrm>
          <a:prstGeom prst="roundRect">
            <a:avLst>
              <a:gd name="adj" fmla="val 6896"/>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370296" y="9464040"/>
            <a:ext cx="4809744" cy="2468879"/>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Business</a:t>
            </a:r>
          </a:p>
          <a:p>
            <a:pPr algn="ctr">
              <a:lnSpc>
                <a:spcPct val="120000"/>
              </a:lnSpc>
              <a:spcAft>
                <a:spcPts val="600"/>
              </a:spcAft>
            </a:pPr>
            <a:r>
              <a:rPr sz="2400" b="1" i="0">
                <a:solidFill>
                  <a:srgbClr val="FFFFFF"/>
                </a:solidFill>
                <a:latin typeface="Quattrocento Sans"/>
              </a:rPr>
              <a:t>decision impact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Goes Wrong After Deployment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TAXONOMY</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43</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Data drift</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Input feature distributions change, e.g. average income rises with inflation.</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Target drift</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label distribution changes, e.g. approval rates shift after a policy change.</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Concept drift</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relationship between features and target changes — learned patterns no longer hold.</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Service degradation</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Latency rises, memory grows, errors increase — not a data issue, but still must be watched.</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Structured Logging for Every Prediction</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OBSERVABILITY</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44</a:t>
            </a:r>
          </a:p>
        </p:txBody>
      </p:sp>
      <p:sp>
        <p:nvSpPr>
          <p:cNvPr id="6" name="Rounded Rectangle 5"/>
          <p:cNvSpPr/>
          <p:nvPr/>
        </p:nvSpPr>
        <p:spPr>
          <a:xfrm>
            <a:off x="1014984" y="2514600"/>
            <a:ext cx="22347936" cy="4754880"/>
          </a:xfrm>
          <a:prstGeom prst="roundRect">
            <a:avLst>
              <a:gd name="adj" fmla="val 346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api/app.py</a:t>
            </a:r>
          </a:p>
        </p:txBody>
      </p:sp>
      <p:sp>
        <p:nvSpPr>
          <p:cNvPr id="11" name="TextBox 10"/>
          <p:cNvSpPr txBox="1"/>
          <p:nvPr/>
        </p:nvSpPr>
        <p:spPr>
          <a:xfrm>
            <a:off x="1426464" y="3227832"/>
            <a:ext cx="21616416" cy="3886200"/>
          </a:xfrm>
          <a:prstGeom prst="rect">
            <a:avLst/>
          </a:prstGeom>
          <a:noFill/>
        </p:spPr>
        <p:txBody>
          <a:bodyPr wrap="square" lIns="0" tIns="0" rIns="0" bIns="0" anchor="t">
            <a:spAutoFit/>
          </a:bodyPr>
          <a:lstStyle/>
          <a:p>
            <a:pPr algn="l">
              <a:lnSpc>
                <a:spcPct val="100000"/>
              </a:lnSpc>
              <a:spcAft>
                <a:spcPts val="0"/>
              </a:spcAft>
            </a:pPr>
            <a:r>
              <a:rPr sz="2400" b="0" i="0">
                <a:solidFill>
                  <a:srgbClr val="E6EDF3"/>
                </a:solidFill>
                <a:latin typeface="Consolas"/>
              </a:rPr>
              <a:t>record = {"event": "prediction", "ts": ..., "model_version": MODEL_VERSION,</a:t>
            </a:r>
          </a:p>
          <a:p>
            <a:pPr algn="l">
              <a:lnSpc>
                <a:spcPct val="100000"/>
              </a:lnSpc>
              <a:spcAft>
                <a:spcPts val="0"/>
              </a:spcAft>
            </a:pPr>
            <a:r>
              <a:rPr sz="2400" b="0" i="0">
                <a:solidFill>
                  <a:srgbClr val="E6EDF3"/>
                </a:solidFill>
                <a:latin typeface="Consolas"/>
              </a:rPr>
              <a:t>          "latency_ms": ..., "approved": ..., "probability": ..., **features}</a:t>
            </a:r>
          </a:p>
          <a:p>
            <a:pPr algn="l">
              <a:lnSpc>
                <a:spcPct val="100000"/>
              </a:lnSpc>
              <a:spcAft>
                <a:spcPts val="0"/>
              </a:spcAft>
            </a:pPr>
            <a:r>
              <a:rPr sz="2400" b="0" i="0">
                <a:solidFill>
                  <a:srgbClr val="E6EDF3"/>
                </a:solidFill>
                <a:latin typeface="Consolas"/>
              </a:rPr>
              <a:t>logger.info(json.dumps(record))      # stdout -&gt; Cloud Logging</a:t>
            </a:r>
          </a:p>
          <a:p>
            <a:pPr algn="l">
              <a:lnSpc>
                <a:spcPct val="100000"/>
              </a:lnSpc>
              <a:spcAft>
                <a:spcPts val="0"/>
              </a:spcAft>
            </a:pPr>
            <a:r>
              <a:rPr sz="2400" b="0" i="0">
                <a:solidFill>
                  <a:srgbClr val="E6EDF3"/>
                </a:solidFill>
                <a:latin typeface="Consolas"/>
              </a:rPr>
              <a:t>if PREDICTION_LOG:                   # optional JSONL file</a:t>
            </a:r>
          </a:p>
          <a:p>
            <a:pPr algn="l">
              <a:lnSpc>
                <a:spcPct val="100000"/>
              </a:lnSpc>
              <a:spcAft>
                <a:spcPts val="0"/>
              </a:spcAft>
            </a:pPr>
            <a:r>
              <a:rPr sz="2400" b="0" i="0">
                <a:solidFill>
                  <a:srgbClr val="E6EDF3"/>
                </a:solidFill>
                <a:latin typeface="Consolas"/>
              </a:rPr>
              <a:t>    open(PREDICTION_LOG, "a").write(json.dumps(record) + "\n")</a:t>
            </a:r>
          </a:p>
        </p:txBody>
      </p:sp>
      <p:sp>
        <p:nvSpPr>
          <p:cNvPr id="12" name="Rounded Rectangle 11"/>
          <p:cNvSpPr/>
          <p:nvPr/>
        </p:nvSpPr>
        <p:spPr>
          <a:xfrm>
            <a:off x="1014984" y="7543800"/>
            <a:ext cx="22347936" cy="2651760"/>
          </a:xfrm>
          <a:prstGeom prst="roundRect">
            <a:avLst>
              <a:gd name="adj" fmla="val 620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78181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78181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78181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660904" y="7726679"/>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one real log line</a:t>
            </a:r>
          </a:p>
        </p:txBody>
      </p:sp>
      <p:sp>
        <p:nvSpPr>
          <p:cNvPr id="17" name="TextBox 16"/>
          <p:cNvSpPr txBox="1"/>
          <p:nvPr/>
        </p:nvSpPr>
        <p:spPr>
          <a:xfrm>
            <a:off x="1426464" y="8257031"/>
            <a:ext cx="21616416" cy="1783080"/>
          </a:xfrm>
          <a:prstGeom prst="rect">
            <a:avLst/>
          </a:prstGeom>
          <a:noFill/>
        </p:spPr>
        <p:txBody>
          <a:bodyPr wrap="square" lIns="0" tIns="0" rIns="0" bIns="0" anchor="t">
            <a:spAutoFit/>
          </a:bodyPr>
          <a:lstStyle/>
          <a:p>
            <a:pPr algn="l">
              <a:lnSpc>
                <a:spcPct val="100000"/>
              </a:lnSpc>
              <a:spcAft>
                <a:spcPts val="0"/>
              </a:spcAft>
            </a:pPr>
            <a:r>
              <a:rPr sz="2200" b="0" i="0">
                <a:solidFill>
                  <a:srgbClr val="E6EDF3"/>
                </a:solidFill>
                <a:latin typeface="Consolas"/>
              </a:rPr>
              <a:t>{"event": "prediction", "ts": "2026-09-16T09:48:01Z", "model_version": "RandomForestClassifier-v1",</a:t>
            </a:r>
          </a:p>
          <a:p>
            <a:pPr algn="l">
              <a:lnSpc>
                <a:spcPct val="100000"/>
              </a:lnSpc>
              <a:spcAft>
                <a:spcPts val="0"/>
              </a:spcAft>
            </a:pPr>
            <a:r>
              <a:rPr sz="2200" b="0" i="0">
                <a:solidFill>
                  <a:srgbClr val="E6EDF3"/>
                </a:solidFill>
                <a:latin typeface="Consolas"/>
              </a:rPr>
              <a:t> "latency_ms": 18.58, "approved": false, "probability": 0.4112, "age": 34.0, "income": 78000.0, ...}</a:t>
            </a:r>
          </a:p>
        </p:txBody>
      </p:sp>
      <p:sp>
        <p:nvSpPr>
          <p:cNvPr id="18" name="Rounded Rectangle 17"/>
          <p:cNvSpPr/>
          <p:nvPr/>
        </p:nvSpPr>
        <p:spPr>
          <a:xfrm>
            <a:off x="1014984" y="10607040"/>
            <a:ext cx="22347936" cy="1463040"/>
          </a:xfrm>
          <a:prstGeom prst="roundRect">
            <a:avLst>
              <a:gd name="adj" fmla="val 7500"/>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0607040"/>
            <a:ext cx="128016" cy="1463040"/>
          </a:xfrm>
          <a:prstGeom prst="rect">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0607040"/>
            <a:ext cx="21524976" cy="14630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Privacy: the log contains input features. For taxpayer data, mask or hash identifier columns before logging (see Data Privacy, Day 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Drift Report — monitoring/monitor.py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46</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monitoring/monitor.py (abridged)</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400" b="0" i="0">
                <a:solidFill>
                  <a:srgbClr val="E6EDF3"/>
                </a:solidFill>
                <a:latin typeface="Consolas"/>
              </a:rPr>
              <a:t>from evidently.report import Report</a:t>
            </a:r>
          </a:p>
          <a:p>
            <a:pPr algn="l">
              <a:lnSpc>
                <a:spcPct val="100000"/>
              </a:lnSpc>
              <a:spcAft>
                <a:spcPts val="0"/>
              </a:spcAft>
            </a:pPr>
            <a:r>
              <a:rPr sz="2400" b="0" i="0">
                <a:solidFill>
                  <a:srgbClr val="E6EDF3"/>
                </a:solidFill>
                <a:latin typeface="Consolas"/>
              </a:rPr>
              <a:t>from evidently.metric_preset import DataDriftPreset</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E6EDF3"/>
                </a:solidFill>
                <a:latin typeface="Consolas"/>
              </a:rPr>
              <a:t>reference = pd.read_csv("data/test.csv")[FEATURES]           # baseline from evaluation</a:t>
            </a:r>
          </a:p>
          <a:p>
            <a:pPr algn="l">
              <a:lnSpc>
                <a:spcPct val="100000"/>
              </a:lnSpc>
              <a:spcAft>
                <a:spcPts val="0"/>
              </a:spcAft>
            </a:pPr>
            <a:r>
              <a:rPr sz="2400" b="0" i="0">
                <a:solidFill>
                  <a:srgbClr val="E6EDF3"/>
                </a:solidFill>
                <a:latin typeface="Consolas"/>
              </a:rPr>
              <a:t>if args.current.endswith(".jsonl"):                           # prediction logs from the API</a:t>
            </a:r>
          </a:p>
          <a:p>
            <a:pPr algn="l">
              <a:lnSpc>
                <a:spcPct val="100000"/>
              </a:lnSpc>
              <a:spcAft>
                <a:spcPts val="0"/>
              </a:spcAft>
            </a:pPr>
            <a:r>
              <a:rPr sz="2400" b="0" i="0">
                <a:solidFill>
                  <a:srgbClr val="E6EDF3"/>
                </a:solidFill>
                <a:latin typeface="Consolas"/>
              </a:rPr>
              <a:t>    current = pd.read_json(args.current, lines=True)[FEATURES]</a:t>
            </a:r>
          </a:p>
          <a:p>
            <a:pPr algn="l">
              <a:lnSpc>
                <a:spcPct val="100000"/>
              </a:lnSpc>
              <a:spcAft>
                <a:spcPts val="0"/>
              </a:spcAft>
            </a:pPr>
            <a:r>
              <a:rPr sz="2400" b="0" i="0">
                <a:solidFill>
                  <a:srgbClr val="E6EDF3"/>
                </a:solidFill>
                <a:latin typeface="Consolas"/>
              </a:rPr>
              <a:t>else:</a:t>
            </a:r>
          </a:p>
          <a:p>
            <a:pPr algn="l">
              <a:lnSpc>
                <a:spcPct val="100000"/>
              </a:lnSpc>
              <a:spcAft>
                <a:spcPts val="0"/>
              </a:spcAft>
            </a:pPr>
            <a:r>
              <a:rPr sz="2400" b="0" i="0">
                <a:solidFill>
                  <a:srgbClr val="E6EDF3"/>
                </a:solidFill>
                <a:latin typeface="Consolas"/>
              </a:rPr>
              <a:t>    current = pd.read_csv(args.current)[FEATURES]            # default: data/production.csv</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E6EDF3"/>
                </a:solidFill>
                <a:latin typeface="Consolas"/>
              </a:rPr>
              <a:t>report = Report(metrics=[DataDriftPreset()])                  # K-S test per numeric column</a:t>
            </a:r>
          </a:p>
          <a:p>
            <a:pPr algn="l">
              <a:lnSpc>
                <a:spcPct val="100000"/>
              </a:lnSpc>
              <a:spcAft>
                <a:spcPts val="0"/>
              </a:spcAft>
            </a:pPr>
            <a:r>
              <a:rPr sz="2400" b="0" i="0">
                <a:solidFill>
                  <a:srgbClr val="E6EDF3"/>
                </a:solidFill>
                <a:latin typeface="Consolas"/>
              </a:rPr>
              <a:t>report.run(reference_data=reference, current_data=current)</a:t>
            </a:r>
          </a:p>
          <a:p>
            <a:pPr algn="l">
              <a:lnSpc>
                <a:spcPct val="100000"/>
              </a:lnSpc>
              <a:spcAft>
                <a:spcPts val="0"/>
              </a:spcAft>
            </a:pPr>
            <a:r>
              <a:rPr sz="2400" b="0" i="0">
                <a:solidFill>
                  <a:srgbClr val="E6EDF3"/>
                </a:solidFill>
                <a:latin typeface="Consolas"/>
              </a:rPr>
              <a:t>report.save_html("monitoring/drift_report.html")</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E6EDF3"/>
                </a:solidFill>
                <a:latin typeface="Consolas"/>
              </a:rPr>
              <a:t>result = report.as_dict()["metrics"][0]["result"]             # for automation / schedulers</a:t>
            </a:r>
          </a:p>
          <a:p>
            <a:pPr algn="l">
              <a:lnSpc>
                <a:spcPct val="100000"/>
              </a:lnSpc>
              <a:spcAft>
                <a:spcPts val="0"/>
              </a:spcAft>
            </a:pPr>
            <a:r>
              <a:rPr sz="2400" b="0" i="0">
                <a:solidFill>
                  <a:srgbClr val="E6EDF3"/>
                </a:solidFill>
                <a:latin typeface="Consolas"/>
              </a:rPr>
              <a:t>share = result["share_of_drifted_columns"]</a:t>
            </a:r>
          </a:p>
          <a:p>
            <a:pPr algn="l">
              <a:lnSpc>
                <a:spcPct val="100000"/>
              </a:lnSpc>
              <a:spcAft>
                <a:spcPts val="0"/>
              </a:spcAft>
            </a:pPr>
            <a:r>
              <a:rPr sz="2400" b="0" i="0">
                <a:solidFill>
                  <a:srgbClr val="E6EDF3"/>
                </a:solidFill>
                <a:latin typeface="Consolas"/>
              </a:rPr>
              <a:t>if share &gt;= THRESHOLD:                                        # THRESHOLD = 0.3</a:t>
            </a:r>
          </a:p>
          <a:p>
            <a:pPr algn="l">
              <a:lnSpc>
                <a:spcPct val="100000"/>
              </a:lnSpc>
              <a:spcAft>
                <a:spcPts val="0"/>
              </a:spcAft>
            </a:pPr>
            <a:r>
              <a:rPr sz="2400" b="0" i="0">
                <a:solidFill>
                  <a:srgbClr val="E6EDF3"/>
                </a:solidFill>
                <a:latin typeface="Consolas"/>
              </a:rPr>
              <a:t>    print("... -- consider retraining.")</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the Drift Report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4</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47</a:t>
            </a:r>
          </a:p>
        </p:txBody>
      </p:sp>
      <p:sp>
        <p:nvSpPr>
          <p:cNvPr id="6" name="Rounded Rectangle 5"/>
          <p:cNvSpPr/>
          <p:nvPr/>
        </p:nvSpPr>
        <p:spPr>
          <a:xfrm>
            <a:off x="1014984" y="2514600"/>
            <a:ext cx="22347936" cy="4206240"/>
          </a:xfrm>
          <a:prstGeom prst="roundRect">
            <a:avLst>
              <a:gd name="adj" fmla="val 3913"/>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mode 1 — static production data (real output)</a:t>
            </a:r>
          </a:p>
        </p:txBody>
      </p:sp>
      <p:sp>
        <p:nvSpPr>
          <p:cNvPr id="11" name="TextBox 10"/>
          <p:cNvSpPr txBox="1"/>
          <p:nvPr/>
        </p:nvSpPr>
        <p:spPr>
          <a:xfrm>
            <a:off x="1426464" y="3227832"/>
            <a:ext cx="21616416" cy="3337559"/>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monitor</a:t>
            </a:r>
          </a:p>
          <a:p>
            <a:pPr algn="l">
              <a:lnSpc>
                <a:spcPct val="100000"/>
              </a:lnSpc>
              <a:spcAft>
                <a:spcPts val="0"/>
              </a:spcAft>
            </a:pPr>
            <a:r>
              <a:rPr sz="2400" b="0" i="0">
                <a:solidFill>
                  <a:srgbClr val="E6EDF3"/>
                </a:solidFill>
                <a:latin typeface="Consolas"/>
              </a:rPr>
              <a:t>Reference: 500 rows | Current: 500 rows (data/production.csv)</a:t>
            </a:r>
          </a:p>
          <a:p>
            <a:pPr algn="l">
              <a:lnSpc>
                <a:spcPct val="100000"/>
              </a:lnSpc>
              <a:spcAft>
                <a:spcPts val="0"/>
              </a:spcAft>
            </a:pPr>
            <a:r>
              <a:rPr sz="2400" b="0" i="0">
                <a:solidFill>
                  <a:srgbClr val="E6EDF3"/>
                </a:solidFill>
                <a:latin typeface="Consolas"/>
              </a:rPr>
              <a:t>Report saved to monitoring/drift_report.html</a:t>
            </a:r>
          </a:p>
          <a:p>
            <a:pPr algn="l">
              <a:lnSpc>
                <a:spcPct val="100000"/>
              </a:lnSpc>
              <a:spcAft>
                <a:spcPts val="0"/>
              </a:spcAft>
            </a:pPr>
            <a:r>
              <a:rPr sz="2400" b="0" i="0">
                <a:solidFill>
                  <a:srgbClr val="E6EDF3"/>
                </a:solidFill>
                <a:latin typeface="Consolas"/>
              </a:rPr>
              <a:t>Drift detected in 3/8 columns (share: 0.375)</a:t>
            </a:r>
          </a:p>
          <a:p>
            <a:pPr algn="l">
              <a:lnSpc>
                <a:spcPct val="100000"/>
              </a:lnSpc>
              <a:spcAft>
                <a:spcPts val="0"/>
              </a:spcAft>
            </a:pPr>
            <a:r>
              <a:rPr sz="2400" b="0" i="0">
                <a:solidFill>
                  <a:srgbClr val="E6EDF3"/>
                </a:solidFill>
                <a:latin typeface="Consolas"/>
              </a:rPr>
              <a:t>⚠ Drift share (0.38) exceeds threshold (0.3) -- consider retraining.</a:t>
            </a:r>
          </a:p>
        </p:txBody>
      </p:sp>
      <p:sp>
        <p:nvSpPr>
          <p:cNvPr id="12" name="Rounded Rectangle 11"/>
          <p:cNvSpPr/>
          <p:nvPr/>
        </p:nvSpPr>
        <p:spPr>
          <a:xfrm>
            <a:off x="1014984" y="6995160"/>
            <a:ext cx="22347936" cy="3840480"/>
          </a:xfrm>
          <a:prstGeom prst="roundRect">
            <a:avLst>
              <a:gd name="adj" fmla="val 4285"/>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726948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726948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726948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660904" y="717804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mode 2 — API prediction logs from Session 2 (real output)</a:t>
            </a:r>
          </a:p>
        </p:txBody>
      </p:sp>
      <p:sp>
        <p:nvSpPr>
          <p:cNvPr id="17" name="TextBox 16"/>
          <p:cNvSpPr txBox="1"/>
          <p:nvPr/>
        </p:nvSpPr>
        <p:spPr>
          <a:xfrm>
            <a:off x="1426464" y="7708392"/>
            <a:ext cx="21616416" cy="297180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python3 monitoring/monitor.py --current logs/predictions.jsonl</a:t>
            </a:r>
          </a:p>
          <a:p>
            <a:pPr algn="l">
              <a:lnSpc>
                <a:spcPct val="100000"/>
              </a:lnSpc>
              <a:spcAft>
                <a:spcPts val="0"/>
              </a:spcAft>
            </a:pPr>
            <a:r>
              <a:rPr sz="2400" b="0" i="0">
                <a:solidFill>
                  <a:srgbClr val="E6EDF3"/>
                </a:solidFill>
                <a:latin typeface="Consolas"/>
              </a:rPr>
              <a:t>Reference: 500 rows | Current: 301 rows (logs/predictions.jsonl)</a:t>
            </a:r>
          </a:p>
          <a:p>
            <a:pPr algn="l">
              <a:lnSpc>
                <a:spcPct val="100000"/>
              </a:lnSpc>
              <a:spcAft>
                <a:spcPts val="0"/>
              </a:spcAft>
            </a:pPr>
            <a:r>
              <a:rPr sz="2400" b="0" i="0">
                <a:solidFill>
                  <a:srgbClr val="E6EDF3"/>
                </a:solidFill>
                <a:latin typeface="Consolas"/>
              </a:rPr>
              <a:t>Drift detected in 3/8 columns (share: 0.375)</a:t>
            </a:r>
          </a:p>
          <a:p>
            <a:pPr algn="l">
              <a:lnSpc>
                <a:spcPct val="100000"/>
              </a:lnSpc>
              <a:spcAft>
                <a:spcPts val="0"/>
              </a:spcAft>
            </a:pPr>
            <a:r>
              <a:rPr sz="2400" b="0" i="0">
                <a:solidFill>
                  <a:srgbClr val="E6EDF3"/>
                </a:solidFill>
                <a:latin typeface="Consolas"/>
              </a:rPr>
              <a:t>⚠ Drift share (0.38) exceeds threshold (0.3) -- consider retraining.</a:t>
            </a:r>
          </a:p>
        </p:txBody>
      </p:sp>
      <p:sp>
        <p:nvSpPr>
          <p:cNvPr id="18" name="Rounded Rectangle 17"/>
          <p:cNvSpPr/>
          <p:nvPr/>
        </p:nvSpPr>
        <p:spPr>
          <a:xfrm>
            <a:off x="1014984" y="11155680"/>
            <a:ext cx="22347936" cy="1280160"/>
          </a:xfrm>
          <a:prstGeom prst="roundRect">
            <a:avLst>
              <a:gd name="adj" fmla="val 8571"/>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1155680"/>
            <a:ext cx="128016" cy="128016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1155680"/>
            <a:ext cx="21524976" cy="128016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Mode 2 is more meaningful: drift is computed from the requests each participant's own API actually received.</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Evidently Drift Report</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48</a:t>
            </a:r>
          </a:p>
        </p:txBody>
      </p:sp>
      <p:pic>
        <p:nvPicPr>
          <p:cNvPr id="6" name="Picture 5" descr="crop_ev_summary.png"/>
          <p:cNvPicPr>
            <a:picLocks noChangeAspect="1"/>
          </p:cNvPicPr>
          <p:nvPr/>
        </p:nvPicPr>
        <p:blipFill>
          <a:blip r:embed="rId3"/>
          <a:stretch>
            <a:fillRect/>
          </a:stretch>
        </p:blipFill>
        <p:spPr>
          <a:xfrm>
            <a:off x="2561336" y="2514600"/>
            <a:ext cx="19255232" cy="4206240"/>
          </a:xfrm>
          <a:prstGeom prst="rect">
            <a:avLst/>
          </a:prstGeom>
          <a:ln w="19050">
            <a:solidFill>
              <a:srgbClr val="E0DCD3"/>
            </a:solidFill>
          </a:ln>
        </p:spPr>
      </p:pic>
      <p:pic>
        <p:nvPicPr>
          <p:cNvPr id="7" name="Picture 6" descr="crop_ev_rows.png"/>
          <p:cNvPicPr>
            <a:picLocks noChangeAspect="1"/>
          </p:cNvPicPr>
          <p:nvPr/>
        </p:nvPicPr>
        <p:blipFill>
          <a:blip r:embed="rId4"/>
          <a:stretch>
            <a:fillRect/>
          </a:stretch>
        </p:blipFill>
        <p:spPr>
          <a:xfrm>
            <a:off x="1014984" y="7224603"/>
            <a:ext cx="22347936" cy="4936073"/>
          </a:xfrm>
          <a:prstGeom prst="rect">
            <a:avLst/>
          </a:prstGeom>
          <a:ln w="19050">
            <a:solidFill>
              <a:srgbClr val="E0DCD3"/>
            </a:solid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Reading the Results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INTERPRETATION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49</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3 of 8 columns drifted</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income, num_claims, credit_score — K-S p-value = 0, exactly the three features that were shifted.</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Share 0.375 &lt; 0.5</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Below Evidently's default threshold, so the overall status reads "Dataset Drift NOT detected".</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5 stable columns</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age, bmi, policy_value, risk_score, tenure_months were not shifted — p-value = 1.</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Implication</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aggregate status can mislead. A retraining policy should also watch key features individually.</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Defining a Retraining Policy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OPERATING POLICY</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50</a:t>
            </a:r>
          </a:p>
        </p:txBody>
      </p:sp>
      <p:sp>
        <p:nvSpPr>
          <p:cNvPr id="6" name="TextBox 5"/>
          <p:cNvSpPr txBox="1"/>
          <p:nvPr/>
        </p:nvSpPr>
        <p:spPr>
          <a:xfrm>
            <a:off x="1014984" y="25146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01</a:t>
            </a:r>
          </a:p>
        </p:txBody>
      </p:sp>
      <p:sp>
        <p:nvSpPr>
          <p:cNvPr id="7" name="Rounded Rectangle 6"/>
          <p:cNvSpPr/>
          <p:nvPr/>
        </p:nvSpPr>
        <p:spPr>
          <a:xfrm>
            <a:off x="2157984" y="25146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615184" y="25146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Set a threshold, e.g. retrain if ≥30% of columns drift for 3 consecutive days</a:t>
            </a:r>
          </a:p>
        </p:txBody>
      </p:sp>
      <p:sp>
        <p:nvSpPr>
          <p:cNvPr id="9" name="TextBox 8"/>
          <p:cNvSpPr txBox="1"/>
          <p:nvPr/>
        </p:nvSpPr>
        <p:spPr>
          <a:xfrm>
            <a:off x="1014984" y="41148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02</a:t>
            </a:r>
          </a:p>
        </p:txBody>
      </p:sp>
      <p:sp>
        <p:nvSpPr>
          <p:cNvPr id="10" name="Rounded Rectangle 9"/>
          <p:cNvSpPr/>
          <p:nvPr/>
        </p:nvSpPr>
        <p:spPr>
          <a:xfrm>
            <a:off x="2157984" y="41148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615184" y="41148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Run orchestration/pipeline.py daily (a Prefect schedule or Cloud Run Jobs)</a:t>
            </a:r>
          </a:p>
        </p:txBody>
      </p:sp>
      <p:sp>
        <p:nvSpPr>
          <p:cNvPr id="12" name="TextBox 11"/>
          <p:cNvSpPr txBox="1"/>
          <p:nvPr/>
        </p:nvSpPr>
        <p:spPr>
          <a:xfrm>
            <a:off x="1014984" y="57150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03</a:t>
            </a:r>
          </a:p>
        </p:txBody>
      </p:sp>
      <p:sp>
        <p:nvSpPr>
          <p:cNvPr id="13" name="Rounded Rectangle 12"/>
          <p:cNvSpPr/>
          <p:nvPr/>
        </p:nvSpPr>
        <p:spPr>
          <a:xfrm>
            <a:off x="2157984" y="57150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2615184" y="57150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Store report.as_dict() in a table to see trends, not just snapshots</a:t>
            </a:r>
          </a:p>
        </p:txBody>
      </p:sp>
      <p:sp>
        <p:nvSpPr>
          <p:cNvPr id="15" name="TextBox 14"/>
          <p:cNvSpPr txBox="1"/>
          <p:nvPr/>
        </p:nvSpPr>
        <p:spPr>
          <a:xfrm>
            <a:off x="1014984" y="73152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04</a:t>
            </a:r>
          </a:p>
        </p:txBody>
      </p:sp>
      <p:sp>
        <p:nvSpPr>
          <p:cNvPr id="16" name="Rounded Rectangle 15"/>
          <p:cNvSpPr/>
          <p:nvPr/>
        </p:nvSpPr>
        <p:spPr>
          <a:xfrm>
            <a:off x="2157984" y="73152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615184" y="73152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When the threshold is crossed, trigger the training pipeline (Session 1) on fresh data</a:t>
            </a:r>
          </a:p>
        </p:txBody>
      </p:sp>
      <p:sp>
        <p:nvSpPr>
          <p:cNvPr id="18" name="TextBox 17"/>
          <p:cNvSpPr txBox="1"/>
          <p:nvPr/>
        </p:nvSpPr>
        <p:spPr>
          <a:xfrm>
            <a:off x="1014984" y="8915400"/>
            <a:ext cx="1005840" cy="1371600"/>
          </a:xfrm>
          <a:prstGeom prst="rect">
            <a:avLst/>
          </a:prstGeom>
          <a:noFill/>
        </p:spPr>
        <p:txBody>
          <a:bodyPr wrap="square" lIns="0" tIns="0" rIns="0" bIns="0" anchor="ctr">
            <a:spAutoFit/>
          </a:bodyPr>
          <a:lstStyle/>
          <a:p>
            <a:pPr algn="l">
              <a:lnSpc>
                <a:spcPct val="120000"/>
              </a:lnSpc>
              <a:spcAft>
                <a:spcPts val="600"/>
              </a:spcAft>
            </a:pPr>
            <a:r>
              <a:rPr sz="4000" b="1" i="0">
                <a:solidFill>
                  <a:srgbClr val="D4A03A"/>
                </a:solidFill>
                <a:latin typeface="Liter"/>
              </a:rPr>
              <a:t>05</a:t>
            </a:r>
          </a:p>
        </p:txBody>
      </p:sp>
      <p:sp>
        <p:nvSpPr>
          <p:cNvPr id="19" name="Rounded Rectangle 18"/>
          <p:cNvSpPr/>
          <p:nvPr/>
        </p:nvSpPr>
        <p:spPr>
          <a:xfrm>
            <a:off x="2157984" y="8915400"/>
            <a:ext cx="21204936" cy="137160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615184" y="8915400"/>
            <a:ext cx="20336256" cy="1371600"/>
          </a:xfrm>
          <a:prstGeom prst="rect">
            <a:avLst/>
          </a:prstGeom>
          <a:noFill/>
        </p:spPr>
        <p:txBody>
          <a:bodyPr wrap="square" lIns="0" tIns="0" rIns="0" bIns="0" anchor="ctr">
            <a:spAutoFit/>
          </a:bodyPr>
          <a:lstStyle/>
          <a:p>
            <a:pPr algn="l">
              <a:lnSpc>
                <a:spcPct val="120000"/>
              </a:lnSpc>
              <a:spcAft>
                <a:spcPts val="600"/>
              </a:spcAft>
            </a:pPr>
            <a:r>
              <a:rPr sz="3100" b="0" i="0">
                <a:solidFill>
                  <a:srgbClr val="1E293B"/>
                </a:solidFill>
                <a:latin typeface="Quattrocento Sans"/>
              </a:rPr>
              <a:t>The new model becomes @challenger → passes the quality gate → canary → @champion</a:t>
            </a:r>
          </a:p>
        </p:txBody>
      </p:sp>
      <p:sp>
        <p:nvSpPr>
          <p:cNvPr id="21" name="Rounded Rectangle 20"/>
          <p:cNvSpPr/>
          <p:nvPr/>
        </p:nvSpPr>
        <p:spPr>
          <a:xfrm>
            <a:off x="1014984" y="10744200"/>
            <a:ext cx="22347936" cy="1234440"/>
          </a:xfrm>
          <a:prstGeom prst="roundRect">
            <a:avLst>
              <a:gd name="adj" fmla="val 8888"/>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1014984" y="10744200"/>
            <a:ext cx="128016" cy="12344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17904" y="10744200"/>
            <a:ext cx="21524976" cy="12344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Steps 4–5 are exactly what orchestration/pipeline.py (Session 1) automates: drift → retrain → gate → release or roll back.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Critique of Statistical Drift Detection</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LIMITATIONS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51</a:t>
            </a:r>
          </a:p>
        </p:txBody>
      </p:sp>
      <p:sp>
        <p:nvSpPr>
          <p:cNvPr id="6" name="Rounded Rectangle 5"/>
          <p:cNvSpPr/>
          <p:nvPr/>
        </p:nvSpPr>
        <p:spPr>
          <a:xfrm>
            <a:off x="1014984"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Seasonal false positives</a:t>
            </a:r>
          </a:p>
        </p:txBody>
      </p:sp>
      <p:sp>
        <p:nvSpPr>
          <p:cNvPr id="9" name="TextBox 8"/>
          <p:cNvSpPr txBox="1"/>
          <p:nvPr/>
        </p:nvSpPr>
        <p:spPr>
          <a:xfrm>
            <a:off x="1563624" y="3931920"/>
            <a:ext cx="6077712" cy="5852159"/>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Seasonal patterns (e.g. spikes before tax filing deadlines) can look like drift when they are normal.</a:t>
            </a:r>
          </a:p>
        </p:txBody>
      </p:sp>
      <p:sp>
        <p:nvSpPr>
          <p:cNvPr id="10" name="Rounded Rectangle 9"/>
          <p:cNvSpPr/>
          <p:nvPr/>
        </p:nvSpPr>
        <p:spPr>
          <a:xfrm>
            <a:off x="8601456"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Drift is not accuracy loss</a:t>
            </a:r>
          </a:p>
        </p:txBody>
      </p:sp>
      <p:sp>
        <p:nvSpPr>
          <p:cNvPr id="13" name="TextBox 12"/>
          <p:cNvSpPr txBox="1"/>
          <p:nvPr/>
        </p:nvSpPr>
        <p:spPr>
          <a:xfrm>
            <a:off x="9150096" y="3931920"/>
            <a:ext cx="6077712" cy="5852159"/>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It must be confirmed with ground truth — which often arrives months later.</a:t>
            </a:r>
          </a:p>
        </p:txBody>
      </p:sp>
      <p:sp>
        <p:nvSpPr>
          <p:cNvPr id="14" name="Rounded Rectangle 13"/>
          <p:cNvSpPr/>
          <p:nvPr/>
        </p:nvSpPr>
        <p:spPr>
          <a:xfrm>
            <a:off x="16187928" y="2514600"/>
            <a:ext cx="7174992" cy="7498079"/>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Threshold sensitivity</a:t>
            </a:r>
          </a:p>
        </p:txBody>
      </p:sp>
      <p:sp>
        <p:nvSpPr>
          <p:cNvPr id="17" name="TextBox 16"/>
          <p:cNvSpPr txBox="1"/>
          <p:nvPr/>
        </p:nvSpPr>
        <p:spPr>
          <a:xfrm>
            <a:off x="16736568" y="3931920"/>
            <a:ext cx="6077712" cy="5852159"/>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Too strict → alert fatigue; too loose → real drift slips through.</a:t>
            </a:r>
          </a:p>
        </p:txBody>
      </p:sp>
      <p:sp>
        <p:nvSpPr>
          <p:cNvPr id="18" name="Rounded Rectangle 17"/>
          <p:cNvSpPr/>
          <p:nvPr/>
        </p:nvSpPr>
        <p:spPr>
          <a:xfrm>
            <a:off x="1014984" y="10424160"/>
            <a:ext cx="22347936" cy="1463040"/>
          </a:xfrm>
          <a:prstGeom prst="roundRect">
            <a:avLst>
              <a:gd name="adj" fmla="val 750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0424160"/>
            <a:ext cx="128016" cy="14630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0424160"/>
            <a:ext cx="21524976" cy="146304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Discussion: for DJP models, when does ground truth arrive? Which proxy metrics can you watch in the meantime?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3FEEB2-98A4-875F-4ED5-C3CBBFCF1AA7}"/>
            </a:ext>
          </a:extLst>
        </p:cNvPr>
        <p:cNvGrpSpPr/>
        <p:nvPr/>
      </p:nvGrpSpPr>
      <p:grpSpPr>
        <a:xfrm>
          <a:off x="0" y="0"/>
          <a:ext cx="0" cy="0"/>
          <a:chOff x="0" y="0"/>
          <a:chExt cx="0" cy="0"/>
        </a:xfrm>
      </p:grpSpPr>
      <p:sp>
        <p:nvSpPr>
          <p:cNvPr id="19" name="Text 2">
            <a:extLst>
              <a:ext uri="{FF2B5EF4-FFF2-40B4-BE49-F238E27FC236}">
                <a16:creationId xmlns:a16="http://schemas.microsoft.com/office/drawing/2014/main" id="{552F593E-4AC8-568A-F30B-30A4BBF247DC}"/>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04</a:t>
            </a:r>
            <a:endParaRPr lang="en-US" sz="5000" dirty="0"/>
          </a:p>
        </p:txBody>
      </p:sp>
      <p:sp>
        <p:nvSpPr>
          <p:cNvPr id="21" name="Text 3">
            <a:extLst>
              <a:ext uri="{FF2B5EF4-FFF2-40B4-BE49-F238E27FC236}">
                <a16:creationId xmlns:a16="http://schemas.microsoft.com/office/drawing/2014/main" id="{B5152CCA-3E47-6637-A0E3-4DD1E1423577}"/>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Orchestration</a:t>
            </a:r>
            <a:endParaRPr lang="en-US" sz="7200" dirty="0"/>
          </a:p>
        </p:txBody>
      </p:sp>
      <p:sp>
        <p:nvSpPr>
          <p:cNvPr id="23" name="Shape 4">
            <a:extLst>
              <a:ext uri="{FF2B5EF4-FFF2-40B4-BE49-F238E27FC236}">
                <a16:creationId xmlns:a16="http://schemas.microsoft.com/office/drawing/2014/main" id="{636A64F3-0C1F-C206-FD0B-AD12C265E7AA}"/>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a:extLst>
              <a:ext uri="{FF2B5EF4-FFF2-40B4-BE49-F238E27FC236}">
                <a16:creationId xmlns:a16="http://schemas.microsoft.com/office/drawing/2014/main" id="{C21BDFD8-ACB0-3FAE-91F8-DA07469581CB}"/>
              </a:ext>
            </a:extLst>
          </p:cNvPr>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15:00–16:00</a:t>
            </a:r>
          </a:p>
        </p:txBody>
      </p:sp>
      <p:sp>
        <p:nvSpPr>
          <p:cNvPr id="25" name="TextBox 24">
            <a:extLst>
              <a:ext uri="{FF2B5EF4-FFF2-40B4-BE49-F238E27FC236}">
                <a16:creationId xmlns:a16="http://schemas.microsoft.com/office/drawing/2014/main" id="{0E7CFAA8-15D6-1816-88DF-45A7590773BD}"/>
              </a:ext>
            </a:extLst>
          </p:cNvPr>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a:extLst>
              <a:ext uri="{FF2B5EF4-FFF2-40B4-BE49-F238E27FC236}">
                <a16:creationId xmlns:a16="http://schemas.microsoft.com/office/drawing/2014/main" id="{3869BBE0-627D-2E26-6690-AF9BF80B3F0F}"/>
              </a:ext>
            </a:extLst>
          </p:cNvPr>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a:extLst>
              <a:ext uri="{FF2B5EF4-FFF2-40B4-BE49-F238E27FC236}">
                <a16:creationId xmlns:a16="http://schemas.microsoft.com/office/drawing/2014/main" id="{D05ADCE9-6D07-BF98-B829-334FE0037A5D}"/>
              </a:ext>
            </a:extLst>
          </p:cNvPr>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Types of ML incidents</a:t>
            </a:r>
          </a:p>
        </p:txBody>
      </p:sp>
      <p:sp>
        <p:nvSpPr>
          <p:cNvPr id="28" name="Rectangle 27">
            <a:extLst>
              <a:ext uri="{FF2B5EF4-FFF2-40B4-BE49-F238E27FC236}">
                <a16:creationId xmlns:a16="http://schemas.microsoft.com/office/drawing/2014/main" id="{8DCC8E26-34E0-0025-4A5D-827CC5A24B80}"/>
              </a:ext>
            </a:extLst>
          </p:cNvPr>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a:extLst>
              <a:ext uri="{FF2B5EF4-FFF2-40B4-BE49-F238E27FC236}">
                <a16:creationId xmlns:a16="http://schemas.microsoft.com/office/drawing/2014/main" id="{B8E23789-2A4D-9BB5-70AC-D3C3D89D0F6A}"/>
              </a:ext>
            </a:extLst>
          </p:cNvPr>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a:extLst>
              <a:ext uri="{FF2B5EF4-FFF2-40B4-BE49-F238E27FC236}">
                <a16:creationId xmlns:a16="http://schemas.microsoft.com/office/drawing/2014/main" id="{396AC629-5445-C23F-CAC6-AAEDD83D84CB}"/>
              </a:ext>
            </a:extLst>
          </p:cNvPr>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The incident lifecycle &amp; severity</a:t>
            </a:r>
          </a:p>
        </p:txBody>
      </p:sp>
      <p:sp>
        <p:nvSpPr>
          <p:cNvPr id="31" name="Rectangle 30">
            <a:extLst>
              <a:ext uri="{FF2B5EF4-FFF2-40B4-BE49-F238E27FC236}">
                <a16:creationId xmlns:a16="http://schemas.microsoft.com/office/drawing/2014/main" id="{0289DC7C-EA2D-658B-45F5-143F560CA6DD}"/>
              </a:ext>
            </a:extLst>
          </p:cNvPr>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a:extLst>
              <a:ext uri="{FF2B5EF4-FFF2-40B4-BE49-F238E27FC236}">
                <a16:creationId xmlns:a16="http://schemas.microsoft.com/office/drawing/2014/main" id="{DCFB35DA-BBED-D788-5F6C-3F3F0206140E}"/>
              </a:ext>
            </a:extLst>
          </p:cNvPr>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a:extLst>
              <a:ext uri="{FF2B5EF4-FFF2-40B4-BE49-F238E27FC236}">
                <a16:creationId xmlns:a16="http://schemas.microsoft.com/office/drawing/2014/main" id="{F3BC7FF2-B92A-0F65-1867-16DF1DE42E22}"/>
              </a:ext>
            </a:extLst>
          </p:cNvPr>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Rollback options</a:t>
            </a:r>
          </a:p>
        </p:txBody>
      </p:sp>
      <p:sp>
        <p:nvSpPr>
          <p:cNvPr id="34" name="Rectangle 33">
            <a:extLst>
              <a:ext uri="{FF2B5EF4-FFF2-40B4-BE49-F238E27FC236}">
                <a16:creationId xmlns:a16="http://schemas.microsoft.com/office/drawing/2014/main" id="{B24C0DAA-7538-9E77-6436-577E18BA5DA1}"/>
              </a:ext>
            </a:extLst>
          </p:cNvPr>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B7314A9F-DBA5-8DFC-4E4E-35D392F0B451}"/>
              </a:ext>
            </a:extLst>
          </p:cNvPr>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a:extLst>
              <a:ext uri="{FF2B5EF4-FFF2-40B4-BE49-F238E27FC236}">
                <a16:creationId xmlns:a16="http://schemas.microsoft.com/office/drawing/2014/main" id="{922D849A-54B2-8F30-4DCA-9C4AC94B73CF}"/>
              </a:ext>
            </a:extLst>
          </p:cNvPr>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Drill: a bad model release</a:t>
            </a:r>
          </a:p>
        </p:txBody>
      </p:sp>
      <p:sp>
        <p:nvSpPr>
          <p:cNvPr id="37" name="Rectangle 36">
            <a:extLst>
              <a:ext uri="{FF2B5EF4-FFF2-40B4-BE49-F238E27FC236}">
                <a16:creationId xmlns:a16="http://schemas.microsoft.com/office/drawing/2014/main" id="{EA270478-C61D-87B9-B191-D8D695F41A66}"/>
              </a:ext>
            </a:extLst>
          </p:cNvPr>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D9D850D0-E534-773F-488E-F04C1F700AA7}"/>
              </a:ext>
            </a:extLst>
          </p:cNvPr>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a:extLst>
              <a:ext uri="{FF2B5EF4-FFF2-40B4-BE49-F238E27FC236}">
                <a16:creationId xmlns:a16="http://schemas.microsoft.com/office/drawing/2014/main" id="{D05CBB6E-4C85-04D1-2C89-389E82143615}"/>
              </a:ext>
            </a:extLst>
          </p:cNvPr>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Runbooks &amp; blameless postmortems</a:t>
            </a:r>
          </a:p>
        </p:txBody>
      </p:sp>
    </p:spTree>
    <p:extLst>
      <p:ext uri="{BB962C8B-B14F-4D97-AF65-F5344CB8AC3E}">
        <p14:creationId xmlns:p14="http://schemas.microsoft.com/office/powerpoint/2010/main" val="171593892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When Should a Model Be Retrained?</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CONTINUOUS TRAINING</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18</a:t>
            </a:r>
          </a:p>
        </p:txBody>
      </p:sp>
      <p:sp>
        <p:nvSpPr>
          <p:cNvPr id="6" name="Rounded Rectangle 5"/>
          <p:cNvSpPr/>
          <p:nvPr/>
        </p:nvSpPr>
        <p:spPr>
          <a:xfrm>
            <a:off x="1014984" y="251460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On a schedule</a:t>
            </a:r>
          </a:p>
        </p:txBody>
      </p:sp>
      <p:sp>
        <p:nvSpPr>
          <p:cNvPr id="9" name="TextBox 8"/>
          <p:cNvSpPr txBox="1"/>
          <p:nvPr/>
        </p:nvSpPr>
        <p:spPr>
          <a:xfrm>
            <a:off x="1563624" y="393192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daily, weekly or monthly. Simple, but wasteful when the data has not changed.</a:t>
            </a:r>
          </a:p>
        </p:txBody>
      </p:sp>
      <p:sp>
        <p:nvSpPr>
          <p:cNvPr id="10" name="Rounded Rectangle 9"/>
          <p:cNvSpPr/>
          <p:nvPr/>
        </p:nvSpPr>
        <p:spPr>
          <a:xfrm>
            <a:off x="12394692" y="251460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New data arrives</a:t>
            </a:r>
          </a:p>
        </p:txBody>
      </p:sp>
      <p:sp>
        <p:nvSpPr>
          <p:cNvPr id="13" name="TextBox 12"/>
          <p:cNvSpPr txBox="1"/>
          <p:nvPr/>
        </p:nvSpPr>
        <p:spPr>
          <a:xfrm>
            <a:off x="12943332" y="393192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when a new batch of labelled data lands, e.g. at every period close.</a:t>
            </a:r>
          </a:p>
        </p:txBody>
      </p:sp>
      <p:sp>
        <p:nvSpPr>
          <p:cNvPr id="14" name="Rounded Rectangle 13"/>
          <p:cNvSpPr/>
          <p:nvPr/>
        </p:nvSpPr>
        <p:spPr>
          <a:xfrm>
            <a:off x="1014984" y="678942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72009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72009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Drift detected</a:t>
            </a:r>
          </a:p>
        </p:txBody>
      </p:sp>
      <p:sp>
        <p:nvSpPr>
          <p:cNvPr id="17" name="TextBox 16"/>
          <p:cNvSpPr txBox="1"/>
          <p:nvPr/>
        </p:nvSpPr>
        <p:spPr>
          <a:xfrm>
            <a:off x="1563624" y="820674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when monitoring shows feature distributions shifting past a threshold (Session 3).</a:t>
            </a:r>
          </a:p>
        </p:txBody>
      </p:sp>
      <p:sp>
        <p:nvSpPr>
          <p:cNvPr id="18" name="Rounded Rectangle 17"/>
          <p:cNvSpPr/>
          <p:nvPr/>
        </p:nvSpPr>
        <p:spPr>
          <a:xfrm>
            <a:off x="12394692" y="6789420"/>
            <a:ext cx="10968228" cy="3863340"/>
          </a:xfrm>
          <a:prstGeom prst="roundRect">
            <a:avLst>
              <a:gd name="adj" fmla="val 8284"/>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72009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72009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Performance drops</a:t>
            </a:r>
          </a:p>
        </p:txBody>
      </p:sp>
      <p:sp>
        <p:nvSpPr>
          <p:cNvPr id="21" name="TextBox 20"/>
          <p:cNvSpPr txBox="1"/>
          <p:nvPr/>
        </p:nvSpPr>
        <p:spPr>
          <a:xfrm>
            <a:off x="12943332" y="8206740"/>
            <a:ext cx="9870948" cy="22174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Retrain when live metrics (with ground truth) fall below the agreed threshold.</a:t>
            </a:r>
          </a:p>
        </p:txBody>
      </p:sp>
      <p:sp>
        <p:nvSpPr>
          <p:cNvPr id="22" name="Rounded Rectangle 21"/>
          <p:cNvSpPr/>
          <p:nvPr/>
        </p:nvSpPr>
        <p:spPr>
          <a:xfrm>
            <a:off x="1014984" y="11247120"/>
            <a:ext cx="22347936" cy="1188720"/>
          </a:xfrm>
          <a:prstGeom prst="roundRect">
            <a:avLst>
              <a:gd name="adj" fmla="val 923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1014984" y="11247120"/>
            <a:ext cx="128016" cy="118872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517904" y="11247120"/>
            <a:ext cx="21524976" cy="118872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Whatever the trigger, a retrained model must pass the same quality gate before it becomes @champion.</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Manual Orchestration Is Maturity Level 0</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PROBLEM</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19</a:t>
            </a:r>
          </a:p>
        </p:txBody>
      </p:sp>
      <p:sp>
        <p:nvSpPr>
          <p:cNvPr id="6" name="Rounded Rectangle 5"/>
          <p:cNvSpPr/>
          <p:nvPr/>
        </p:nvSpPr>
        <p:spPr>
          <a:xfrm>
            <a:off x="1014984" y="2834640"/>
            <a:ext cx="4030675" cy="2377440"/>
          </a:xfrm>
          <a:prstGeom prst="roundRect">
            <a:avLst>
              <a:gd name="adj" fmla="val 7692"/>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97864"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Check drift</a:t>
            </a:r>
          </a:p>
          <a:p>
            <a:pPr algn="ctr">
              <a:lnSpc>
                <a:spcPct val="120000"/>
              </a:lnSpc>
              <a:spcAft>
                <a:spcPts val="600"/>
              </a:spcAft>
            </a:pPr>
            <a:r>
              <a:rPr sz="2400" b="1" i="0">
                <a:solidFill>
                  <a:srgbClr val="FFFFFF"/>
                </a:solidFill>
                <a:latin typeface="Quattrocento Sans"/>
              </a:rPr>
              <a:t>monitor.py</a:t>
            </a:r>
          </a:p>
        </p:txBody>
      </p:sp>
      <p:sp>
        <p:nvSpPr>
          <p:cNvPr id="8" name="TextBox 7"/>
          <p:cNvSpPr txBox="1"/>
          <p:nvPr/>
        </p:nvSpPr>
        <p:spPr>
          <a:xfrm>
            <a:off x="1060704"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A person reads the output and decides</a:t>
            </a:r>
          </a:p>
        </p:txBody>
      </p:sp>
      <p:sp>
        <p:nvSpPr>
          <p:cNvPr id="9" name="TextBox 8"/>
          <p:cNvSpPr txBox="1"/>
          <p:nvPr/>
        </p:nvSpPr>
        <p:spPr>
          <a:xfrm>
            <a:off x="5045659"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0" name="Rounded Rectangle 9"/>
          <p:cNvSpPr/>
          <p:nvPr/>
        </p:nvSpPr>
        <p:spPr>
          <a:xfrm>
            <a:off x="5594299" y="2834640"/>
            <a:ext cx="4030675" cy="2377440"/>
          </a:xfrm>
          <a:prstGeom prst="roundRect">
            <a:avLst>
              <a:gd name="adj" fmla="val 7692"/>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77179"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Retrain</a:t>
            </a:r>
          </a:p>
          <a:p>
            <a:pPr algn="ctr">
              <a:lnSpc>
                <a:spcPct val="120000"/>
              </a:lnSpc>
              <a:spcAft>
                <a:spcPts val="600"/>
              </a:spcAft>
            </a:pPr>
            <a:r>
              <a:rPr sz="2400" b="1" i="0">
                <a:solidFill>
                  <a:srgbClr val="FFFFFF"/>
                </a:solidFill>
                <a:latin typeface="Quattrocento Sans"/>
              </a:rPr>
              <a:t>train_with_mlflow.py</a:t>
            </a:r>
          </a:p>
        </p:txBody>
      </p:sp>
      <p:sp>
        <p:nvSpPr>
          <p:cNvPr id="12" name="TextBox 11"/>
          <p:cNvSpPr txBox="1"/>
          <p:nvPr/>
        </p:nvSpPr>
        <p:spPr>
          <a:xfrm>
            <a:off x="5640019"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Run when someone remembers</a:t>
            </a:r>
          </a:p>
        </p:txBody>
      </p:sp>
      <p:sp>
        <p:nvSpPr>
          <p:cNvPr id="13" name="TextBox 12"/>
          <p:cNvSpPr txBox="1"/>
          <p:nvPr/>
        </p:nvSpPr>
        <p:spPr>
          <a:xfrm>
            <a:off x="9624974"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4" name="Rounded Rectangle 13"/>
          <p:cNvSpPr/>
          <p:nvPr/>
        </p:nvSpPr>
        <p:spPr>
          <a:xfrm>
            <a:off x="10173614" y="2834640"/>
            <a:ext cx="4030675" cy="2377440"/>
          </a:xfrm>
          <a:prstGeom prst="roundRect">
            <a:avLst>
              <a:gd name="adj" fmla="val 7692"/>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356494"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Check quality</a:t>
            </a:r>
          </a:p>
          <a:p>
            <a:pPr algn="ctr">
              <a:lnSpc>
                <a:spcPct val="120000"/>
              </a:lnSpc>
              <a:spcAft>
                <a:spcPts val="600"/>
              </a:spcAft>
            </a:pPr>
            <a:r>
              <a:rPr sz="2400" b="1" i="0">
                <a:solidFill>
                  <a:srgbClr val="FFFFFF"/>
                </a:solidFill>
                <a:latin typeface="Quattrocento Sans"/>
              </a:rPr>
              <a:t>quality_gate.py</a:t>
            </a:r>
          </a:p>
        </p:txBody>
      </p:sp>
      <p:sp>
        <p:nvSpPr>
          <p:cNvPr id="16" name="TextBox 15"/>
          <p:cNvSpPr txBox="1"/>
          <p:nvPr/>
        </p:nvSpPr>
        <p:spPr>
          <a:xfrm>
            <a:off x="10219334"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Easy to skip under time pressure</a:t>
            </a:r>
          </a:p>
        </p:txBody>
      </p:sp>
      <p:sp>
        <p:nvSpPr>
          <p:cNvPr id="17" name="TextBox 16"/>
          <p:cNvSpPr txBox="1"/>
          <p:nvPr/>
        </p:nvSpPr>
        <p:spPr>
          <a:xfrm>
            <a:off x="14204289"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8" name="Rounded Rectangle 17"/>
          <p:cNvSpPr/>
          <p:nvPr/>
        </p:nvSpPr>
        <p:spPr>
          <a:xfrm>
            <a:off x="14752929" y="2834640"/>
            <a:ext cx="4030675" cy="2377440"/>
          </a:xfrm>
          <a:prstGeom prst="roundRect">
            <a:avLst>
              <a:gd name="adj" fmla="val 7692"/>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4935809" y="2926080"/>
            <a:ext cx="3664915" cy="2194560"/>
          </a:xfrm>
          <a:prstGeom prst="rect">
            <a:avLst/>
          </a:prstGeom>
          <a:noFill/>
        </p:spPr>
        <p:txBody>
          <a:bodyPr wrap="square" lIns="0" tIns="0" rIns="0" bIns="0" anchor="ctr">
            <a:spAutoFit/>
          </a:bodyPr>
          <a:lstStyle/>
          <a:p>
            <a:pPr algn="ctr">
              <a:lnSpc>
                <a:spcPct val="120000"/>
              </a:lnSpc>
              <a:spcAft>
                <a:spcPts val="600"/>
              </a:spcAft>
            </a:pPr>
            <a:r>
              <a:rPr sz="2400" b="1" i="0">
                <a:solidFill>
                  <a:srgbClr val="FFFFFF"/>
                </a:solidFill>
                <a:latin typeface="Quattrocento Sans"/>
              </a:rPr>
              <a:t>Export</a:t>
            </a:r>
          </a:p>
          <a:p>
            <a:pPr algn="ctr">
              <a:lnSpc>
                <a:spcPct val="120000"/>
              </a:lnSpc>
              <a:spcAft>
                <a:spcPts val="600"/>
              </a:spcAft>
            </a:pPr>
            <a:r>
              <a:rPr sz="2400" b="1" i="0">
                <a:solidFill>
                  <a:srgbClr val="FFFFFF"/>
                </a:solidFill>
                <a:latin typeface="Quattrocento Sans"/>
              </a:rPr>
              <a:t>export_model.py</a:t>
            </a:r>
          </a:p>
        </p:txBody>
      </p:sp>
      <p:sp>
        <p:nvSpPr>
          <p:cNvPr id="20" name="TextBox 19"/>
          <p:cNvSpPr txBox="1"/>
          <p:nvPr/>
        </p:nvSpPr>
        <p:spPr>
          <a:xfrm>
            <a:off x="14798649"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The bridge step that gets forgotten</a:t>
            </a:r>
          </a:p>
        </p:txBody>
      </p:sp>
      <p:sp>
        <p:nvSpPr>
          <p:cNvPr id="21" name="TextBox 20"/>
          <p:cNvSpPr txBox="1"/>
          <p:nvPr/>
        </p:nvSpPr>
        <p:spPr>
          <a:xfrm>
            <a:off x="18783604" y="2834640"/>
            <a:ext cx="548640" cy="237744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2" name="Rounded Rectangle 21"/>
          <p:cNvSpPr/>
          <p:nvPr/>
        </p:nvSpPr>
        <p:spPr>
          <a:xfrm>
            <a:off x="19332244" y="2834640"/>
            <a:ext cx="4030675" cy="2377440"/>
          </a:xfrm>
          <a:prstGeom prst="roundRect">
            <a:avLst>
              <a:gd name="adj" fmla="val 7692"/>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9515124" y="3553744"/>
            <a:ext cx="3664915" cy="939231"/>
          </a:xfrm>
          <a:prstGeom prst="rect">
            <a:avLst/>
          </a:prstGeom>
          <a:noFill/>
        </p:spPr>
        <p:txBody>
          <a:bodyPr wrap="square" lIns="0" tIns="0" rIns="0" bIns="0" anchor="ctr">
            <a:spAutoFit/>
          </a:bodyPr>
          <a:lstStyle/>
          <a:p>
            <a:pPr algn="ctr">
              <a:lnSpc>
                <a:spcPct val="120000"/>
              </a:lnSpc>
              <a:spcAft>
                <a:spcPts val="600"/>
              </a:spcAft>
            </a:pPr>
            <a:r>
              <a:rPr sz="2400" b="1" i="0" dirty="0">
                <a:solidFill>
                  <a:srgbClr val="FFFFFF"/>
                </a:solidFill>
                <a:latin typeface="Quattrocento Sans"/>
              </a:rPr>
              <a:t>Deploy</a:t>
            </a:r>
          </a:p>
          <a:p>
            <a:pPr algn="ctr">
              <a:lnSpc>
                <a:spcPct val="120000"/>
              </a:lnSpc>
              <a:spcAft>
                <a:spcPts val="600"/>
              </a:spcAft>
            </a:pPr>
            <a:r>
              <a:rPr lang="en-US" sz="2400" b="1" i="0" dirty="0" err="1">
                <a:solidFill>
                  <a:srgbClr val="FFFFFF"/>
                </a:solidFill>
                <a:latin typeface="Quattrocento Sans"/>
              </a:rPr>
              <a:t>Local_</a:t>
            </a:r>
            <a:r>
              <a:rPr sz="2400" b="1" i="0" dirty="0" err="1">
                <a:solidFill>
                  <a:srgbClr val="FFFFFF"/>
                </a:solidFill>
                <a:latin typeface="Quattrocento Sans"/>
              </a:rPr>
              <a:t>deploy.sh</a:t>
            </a:r>
            <a:endParaRPr sz="2400" b="1" i="0" dirty="0">
              <a:solidFill>
                <a:srgbClr val="FFFFFF"/>
              </a:solidFill>
              <a:latin typeface="Quattrocento Sans"/>
            </a:endParaRPr>
          </a:p>
        </p:txBody>
      </p:sp>
      <p:sp>
        <p:nvSpPr>
          <p:cNvPr id="24" name="TextBox 23"/>
          <p:cNvSpPr txBox="1"/>
          <p:nvPr/>
        </p:nvSpPr>
        <p:spPr>
          <a:xfrm>
            <a:off x="19377964" y="54864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No retry when the network fails</a:t>
            </a:r>
          </a:p>
        </p:txBody>
      </p:sp>
      <p:sp>
        <p:nvSpPr>
          <p:cNvPr id="25" name="Rounded Rectangle 24"/>
          <p:cNvSpPr/>
          <p:nvPr/>
        </p:nvSpPr>
        <p:spPr>
          <a:xfrm>
            <a:off x="1014984" y="8229600"/>
            <a:ext cx="22347936" cy="1554480"/>
          </a:xfrm>
          <a:prstGeom prst="roundRect">
            <a:avLst>
              <a:gd name="adj" fmla="val 7058"/>
            </a:avLst>
          </a:prstGeom>
          <a:solidFill>
            <a:srgbClr val="FBE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14984" y="8229600"/>
            <a:ext cx="128016" cy="1554480"/>
          </a:xfrm>
          <a:prstGeom prst="rect">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17904" y="8229600"/>
            <a:ext cx="21524976" cy="1554480"/>
          </a:xfrm>
          <a:prstGeom prst="rect">
            <a:avLst/>
          </a:prstGeom>
          <a:noFill/>
        </p:spPr>
        <p:txBody>
          <a:bodyPr wrap="square" lIns="0" tIns="0" rIns="0" bIns="0" anchor="ctr">
            <a:spAutoFit/>
          </a:bodyPr>
          <a:lstStyle/>
          <a:p>
            <a:pPr algn="l">
              <a:lnSpc>
                <a:spcPct val="120000"/>
              </a:lnSpc>
              <a:spcAft>
                <a:spcPts val="600"/>
              </a:spcAft>
            </a:pPr>
            <a:r>
              <a:rPr sz="2700" b="0" i="1">
                <a:solidFill>
                  <a:srgbClr val="1B2A4A"/>
                </a:solidFill>
                <a:latin typeface="Quattrocento Sans"/>
              </a:rPr>
              <a:t>Each arrow is a human decision, not code. The retraining policy exists only as a sentence in a document.</a:t>
            </a:r>
          </a:p>
        </p:txBody>
      </p:sp>
      <p:sp>
        <p:nvSpPr>
          <p:cNvPr id="28" name="Rounded Rectangle 27"/>
          <p:cNvSpPr/>
          <p:nvPr/>
        </p:nvSpPr>
        <p:spPr>
          <a:xfrm>
            <a:off x="1014984" y="10149840"/>
            <a:ext cx="22347936" cy="1554480"/>
          </a:xfrm>
          <a:prstGeom prst="roundRect">
            <a:avLst>
              <a:gd name="adj" fmla="val 7058"/>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014984" y="10149840"/>
            <a:ext cx="128016" cy="155448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517904" y="10149840"/>
            <a:ext cx="21524976" cy="1554480"/>
          </a:xfrm>
          <a:prstGeom prst="rect">
            <a:avLst/>
          </a:prstGeom>
          <a:noFill/>
        </p:spPr>
        <p:txBody>
          <a:bodyPr wrap="square" lIns="0" tIns="0" rIns="0" bIns="0" anchor="ctr">
            <a:spAutoFit/>
          </a:bodyPr>
          <a:lstStyle/>
          <a:p>
            <a:pPr algn="l">
              <a:lnSpc>
                <a:spcPct val="120000"/>
              </a:lnSpc>
              <a:spcAft>
                <a:spcPts val="600"/>
              </a:spcAft>
            </a:pPr>
            <a:r>
              <a:rPr sz="2700" b="0" i="1">
                <a:solidFill>
                  <a:srgbClr val="1B2A4A"/>
                </a:solidFill>
                <a:latin typeface="Quattrocento Sans"/>
              </a:rPr>
              <a:t>Orchestration moves the arrows into code: order, conditions, retries and history.</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What an Orchestrator Adds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20</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Scheduling</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pipeline runs every night at 02:00, not whenever an engineer remembers to run it.</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Conditional branching</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"Release ONLY IF the candidate passes the gate" — logic that used to live in someone's head.</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Closing the loop</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retraining policy from Session 3 ("retrain if ≥30% of columns drift") is actually executed.</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Retries &amp; history</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flaky gcloud call is retried automatically; every run is recorded and can be audited in a UI.</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Orchestration Tools: Infrastructure Trade-offs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COMPARISON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21</a:t>
            </a:r>
          </a:p>
        </p:txBody>
      </p:sp>
      <p:graphicFrame>
        <p:nvGraphicFramePr>
          <p:cNvPr id="6" name="Table 5"/>
          <p:cNvGraphicFramePr>
            <a:graphicFrameLocks noGrp="1"/>
          </p:cNvGraphicFramePr>
          <p:nvPr/>
        </p:nvGraphicFramePr>
        <p:xfrm>
          <a:off x="1014984" y="2514600"/>
          <a:ext cx="22347933" cy="8001000"/>
        </p:xfrm>
        <a:graphic>
          <a:graphicData uri="http://schemas.openxmlformats.org/drawingml/2006/table">
            <a:tbl>
              <a:tblPr/>
              <a:tblGrid>
                <a:gridCol w="3846775">
                  <a:extLst>
                    <a:ext uri="{9D8B030D-6E8A-4147-A177-3AD203B41FA5}">
                      <a16:colId xmlns:a16="http://schemas.microsoft.com/office/drawing/2014/main" val="20000"/>
                    </a:ext>
                  </a:extLst>
                </a:gridCol>
                <a:gridCol w="4945854">
                  <a:extLst>
                    <a:ext uri="{9D8B030D-6E8A-4147-A177-3AD203B41FA5}">
                      <a16:colId xmlns:a16="http://schemas.microsoft.com/office/drawing/2014/main" val="20001"/>
                    </a:ext>
                  </a:extLst>
                </a:gridCol>
                <a:gridCol w="6777652">
                  <a:extLst>
                    <a:ext uri="{9D8B030D-6E8A-4147-A177-3AD203B41FA5}">
                      <a16:colId xmlns:a16="http://schemas.microsoft.com/office/drawing/2014/main" val="20002"/>
                    </a:ext>
                  </a:extLst>
                </a:gridCol>
                <a:gridCol w="6777652">
                  <a:extLst>
                    <a:ext uri="{9D8B030D-6E8A-4147-A177-3AD203B41FA5}">
                      <a16:colId xmlns:a16="http://schemas.microsoft.com/office/drawing/2014/main" val="20003"/>
                    </a:ext>
                  </a:extLst>
                </a:gridCol>
              </a:tblGrid>
              <a:tr h="1600200">
                <a:tc>
                  <a:txBody>
                    <a:bodyPr/>
                    <a:lstStyle/>
                    <a:p>
                      <a:r>
                        <a:rPr sz="2400" b="1">
                          <a:solidFill>
                            <a:srgbClr val="FFFFFF"/>
                          </a:solidFill>
                          <a:latin typeface="Quattrocento Sans"/>
                        </a:rPr>
                        <a:t>Tool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Execution model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Infrastructure required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400" b="1">
                          <a:solidFill>
                            <a:srgbClr val="FFFFFF"/>
                          </a:solidFill>
                          <a:latin typeface="Quattrocento Sans"/>
                        </a:rPr>
                        <a:t>When to choose it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600200">
                <a:tc>
                  <a:txBody>
                    <a:bodyPr/>
                    <a:lstStyle/>
                    <a:p>
                      <a:r>
                        <a:rPr sz="2400" b="1">
                          <a:solidFill>
                            <a:srgbClr val="1B2A4A"/>
                          </a:solidFill>
                          <a:latin typeface="Quattrocento Sans"/>
                        </a:rPr>
                        <a:t>Airflow</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Scheduler + static DAGs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Metadata DB (Postgres), webserver, scheduler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Many non-ML pipelines already; one central scheduler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600200">
                <a:tc>
                  <a:txBody>
                    <a:bodyPr/>
                    <a:lstStyle/>
                    <a:p>
                      <a:r>
                        <a:rPr sz="2400" b="1">
                          <a:solidFill>
                            <a:srgbClr val="1B2A4A"/>
                          </a:solidFill>
                          <a:latin typeface="Quattrocento Sans"/>
                        </a:rPr>
                        <a:t>Kubeflow Pipelines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One container per step on K8s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A Kubernetes cluster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Steps need large resources (GPUs) each</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600200">
                <a:tc>
                  <a:txBody>
                    <a:bodyPr/>
                    <a:lstStyle/>
                    <a:p>
                      <a:r>
                        <a:rPr sz="2400" b="1">
                          <a:solidFill>
                            <a:srgbClr val="1B2A4A"/>
                          </a:solidFill>
                          <a:latin typeface="Quattrocento Sans"/>
                        </a:rPr>
                        <a:t>Prefect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Native Python, dynamic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None to start — @flow is a Python function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400" b="0">
                          <a:solidFill>
                            <a:srgbClr val="1E293B"/>
                          </a:solidFill>
                          <a:latin typeface="Quattrocento Sans"/>
                        </a:rPr>
                        <a:t>Small-to-medium teams; no extra servers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600200">
                <a:tc>
                  <a:txBody>
                    <a:bodyPr/>
                    <a:lstStyle/>
                    <a:p>
                      <a:r>
                        <a:rPr sz="2400" b="1">
                          <a:solidFill>
                            <a:srgbClr val="1B2A4A"/>
                          </a:solidFill>
                          <a:latin typeface="Quattrocento Sans"/>
                        </a:rPr>
                        <a:t>ZenML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Abstraction over other tools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Local SQLite for the basics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400" b="0">
                          <a:solidFill>
                            <a:srgbClr val="1E293B"/>
                          </a:solidFill>
                          <a:latin typeface="Quattrocento Sans"/>
                        </a:rPr>
                        <a:t>Gradual migration reusing existing MLflow/storage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bl>
          </a:graphicData>
        </a:graphic>
      </p:graphicFrame>
      <p:sp>
        <p:nvSpPr>
          <p:cNvPr id="7" name="Rounded Rectangle 6"/>
          <p:cNvSpPr/>
          <p:nvPr/>
        </p:nvSpPr>
        <p:spPr>
          <a:xfrm>
            <a:off x="1014984" y="10927080"/>
            <a:ext cx="22347936" cy="1280160"/>
          </a:xfrm>
          <a:prstGeom prst="roundRect">
            <a:avLst>
              <a:gd name="adj" fmla="val 8571"/>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014984" y="10927080"/>
            <a:ext cx="128016" cy="128016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517904" y="10927080"/>
            <a:ext cx="21524976" cy="128016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We use Prefect today because it is a plain pip install. The design ideas carry over to Airflow or Kubeflow unchanged.</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Prefect Flow with a Quality Gate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CODE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22</a:t>
            </a:r>
          </a:p>
        </p:txBody>
      </p:sp>
      <p:sp>
        <p:nvSpPr>
          <p:cNvPr id="6" name="Rounded Rectangle 5"/>
          <p:cNvSpPr/>
          <p:nvPr/>
        </p:nvSpPr>
        <p:spPr>
          <a:xfrm>
            <a:off x="1014984" y="2514600"/>
            <a:ext cx="14081760"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12070080"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orchestration/pipeline.py (abridged)</a:t>
            </a:r>
          </a:p>
        </p:txBody>
      </p:sp>
      <p:sp>
        <p:nvSpPr>
          <p:cNvPr id="11" name="TextBox 10"/>
          <p:cNvSpPr txBox="1"/>
          <p:nvPr/>
        </p:nvSpPr>
        <p:spPr>
          <a:xfrm>
            <a:off x="1426464" y="3227832"/>
            <a:ext cx="13350240" cy="8894743"/>
          </a:xfrm>
          <a:prstGeom prst="rect">
            <a:avLst/>
          </a:prstGeom>
          <a:noFill/>
        </p:spPr>
        <p:txBody>
          <a:bodyPr wrap="square" lIns="0" tIns="0" rIns="0" bIns="0" anchor="t">
            <a:spAutoFit/>
          </a:bodyPr>
          <a:lstStyle/>
          <a:p>
            <a:pPr algn="l">
              <a:lnSpc>
                <a:spcPct val="100000"/>
              </a:lnSpc>
              <a:spcAft>
                <a:spcPts val="0"/>
              </a:spcAft>
            </a:pPr>
            <a:r>
              <a:rPr sz="2200" b="0" i="0" dirty="0">
                <a:solidFill>
                  <a:srgbClr val="E6EDF3"/>
                </a:solidFill>
                <a:latin typeface="Consolas"/>
              </a:rPr>
              <a:t>@task(retries=2, </a:t>
            </a:r>
            <a:r>
              <a:rPr sz="2200" b="0" i="0" dirty="0" err="1">
                <a:solidFill>
                  <a:srgbClr val="E6EDF3"/>
                </a:solidFill>
                <a:latin typeface="Consolas"/>
              </a:rPr>
              <a:t>retry_delay_seconds</a:t>
            </a:r>
            <a:r>
              <a:rPr sz="2200" b="0" i="0" dirty="0">
                <a:solidFill>
                  <a:srgbClr val="E6EDF3"/>
                </a:solidFill>
                <a:latin typeface="Consolas"/>
              </a:rPr>
              <a:t>=5, </a:t>
            </a:r>
            <a:r>
              <a:rPr sz="2200" b="0" i="0" dirty="0" err="1">
                <a:solidFill>
                  <a:srgbClr val="E6EDF3"/>
                </a:solidFill>
                <a:latin typeface="Consolas"/>
              </a:rPr>
              <a:t>log_prints</a:t>
            </a:r>
            <a:r>
              <a:rPr sz="2200" b="0" i="0" dirty="0">
                <a:solidFill>
                  <a:srgbClr val="E6EDF3"/>
                </a:solidFill>
                <a:latin typeface="Consolas"/>
              </a:rPr>
              <a:t>=True)</a:t>
            </a:r>
          </a:p>
          <a:p>
            <a:pPr algn="l">
              <a:lnSpc>
                <a:spcPct val="100000"/>
              </a:lnSpc>
              <a:spcAft>
                <a:spcPts val="0"/>
              </a:spcAft>
            </a:pPr>
            <a:r>
              <a:rPr sz="2200" b="0" i="0" dirty="0">
                <a:solidFill>
                  <a:srgbClr val="E6EDF3"/>
                </a:solidFill>
                <a:latin typeface="Consolas"/>
              </a:rPr>
              <a:t>def </a:t>
            </a:r>
            <a:r>
              <a:rPr sz="2200" b="0" i="0" dirty="0" err="1">
                <a:solidFill>
                  <a:srgbClr val="E6EDF3"/>
                </a:solidFill>
                <a:latin typeface="Consolas"/>
              </a:rPr>
              <a:t>check_drift</a:t>
            </a:r>
            <a:r>
              <a:rPr sz="2200" b="0" i="0" dirty="0">
                <a:solidFill>
                  <a:srgbClr val="E6EDF3"/>
                </a:solidFill>
                <a:latin typeface="Consolas"/>
              </a:rPr>
              <a:t>() -&gt; bool:</a:t>
            </a:r>
          </a:p>
          <a:p>
            <a:pPr algn="l">
              <a:lnSpc>
                <a:spcPct val="100000"/>
              </a:lnSpc>
              <a:spcAft>
                <a:spcPts val="0"/>
              </a:spcAft>
            </a:pPr>
            <a:r>
              <a:rPr sz="2200" b="0" i="0" dirty="0">
                <a:solidFill>
                  <a:srgbClr val="E6EDF3"/>
                </a:solidFill>
                <a:latin typeface="Consolas"/>
              </a:rPr>
              <a:t>    return "exceeds threshold" in _run([PY, "monitoring/</a:t>
            </a:r>
            <a:r>
              <a:rPr sz="2200" b="0" i="0" dirty="0" err="1">
                <a:solidFill>
                  <a:srgbClr val="E6EDF3"/>
                </a:solidFill>
                <a:latin typeface="Consolas"/>
              </a:rPr>
              <a:t>monitor.py</a:t>
            </a:r>
            <a:r>
              <a:rPr sz="2200" b="0" i="0" dirty="0">
                <a:solidFill>
                  <a:srgbClr val="E6EDF3"/>
                </a:solidFill>
                <a:latin typeface="Consolas"/>
              </a:rPr>
              <a:t>"])</a:t>
            </a:r>
          </a:p>
          <a:p>
            <a:pPr algn="l">
              <a:lnSpc>
                <a:spcPct val="100000"/>
              </a:lnSpc>
              <a:spcAft>
                <a:spcPts val="0"/>
              </a:spcAft>
            </a:pPr>
            <a:r>
              <a:rPr sz="2200" b="0" i="0" dirty="0">
                <a:solidFill>
                  <a:srgbClr val="E6EDF3"/>
                </a:solidFill>
                <a:latin typeface="Consolas"/>
              </a:rPr>
              <a:t> </a:t>
            </a:r>
          </a:p>
          <a:p>
            <a:pPr algn="l">
              <a:lnSpc>
                <a:spcPct val="100000"/>
              </a:lnSpc>
              <a:spcAft>
                <a:spcPts val="0"/>
              </a:spcAft>
            </a:pPr>
            <a:r>
              <a:rPr sz="2200" b="0" i="0" dirty="0">
                <a:solidFill>
                  <a:srgbClr val="E6EDF3"/>
                </a:solidFill>
                <a:latin typeface="Consolas"/>
              </a:rPr>
              <a:t>@task(retries=3, </a:t>
            </a:r>
            <a:r>
              <a:rPr sz="2200" b="0" i="0" dirty="0" err="1">
                <a:solidFill>
                  <a:srgbClr val="E6EDF3"/>
                </a:solidFill>
                <a:latin typeface="Consolas"/>
              </a:rPr>
              <a:t>retry_delay_seconds</a:t>
            </a:r>
            <a:r>
              <a:rPr sz="2200" b="0" i="0" dirty="0">
                <a:solidFill>
                  <a:srgbClr val="E6EDF3"/>
                </a:solidFill>
                <a:latin typeface="Consolas"/>
              </a:rPr>
              <a:t>=10, </a:t>
            </a:r>
            <a:r>
              <a:rPr sz="2200" b="0" i="0" dirty="0" err="1">
                <a:solidFill>
                  <a:srgbClr val="E6EDF3"/>
                </a:solidFill>
                <a:latin typeface="Consolas"/>
              </a:rPr>
              <a:t>log_prints</a:t>
            </a:r>
            <a:r>
              <a:rPr sz="2200" b="0" i="0" dirty="0">
                <a:solidFill>
                  <a:srgbClr val="E6EDF3"/>
                </a:solidFill>
                <a:latin typeface="Consolas"/>
              </a:rPr>
              <a:t>=True)</a:t>
            </a:r>
          </a:p>
          <a:p>
            <a:pPr algn="l">
              <a:lnSpc>
                <a:spcPct val="100000"/>
              </a:lnSpc>
              <a:spcAft>
                <a:spcPts val="0"/>
              </a:spcAft>
            </a:pPr>
            <a:r>
              <a:rPr sz="2200" b="0" i="0" dirty="0">
                <a:solidFill>
                  <a:srgbClr val="E6EDF3"/>
                </a:solidFill>
                <a:latin typeface="Consolas"/>
              </a:rPr>
              <a:t>def deploy():</a:t>
            </a:r>
          </a:p>
          <a:p>
            <a:pPr algn="l">
              <a:lnSpc>
                <a:spcPct val="100000"/>
              </a:lnSpc>
              <a:spcAft>
                <a:spcPts val="0"/>
              </a:spcAft>
            </a:pPr>
            <a:r>
              <a:rPr sz="2200" b="0" i="0" dirty="0">
                <a:solidFill>
                  <a:srgbClr val="E6EDF3"/>
                </a:solidFill>
                <a:latin typeface="Consolas"/>
              </a:rPr>
              <a:t>    _run(["bash", "docker/</a:t>
            </a:r>
            <a:r>
              <a:rPr sz="2200" b="0" i="0" dirty="0" err="1">
                <a:solidFill>
                  <a:srgbClr val="E6EDF3"/>
                </a:solidFill>
                <a:latin typeface="Consolas"/>
              </a:rPr>
              <a:t>deploy.sh</a:t>
            </a:r>
            <a:r>
              <a:rPr sz="2200" b="0" i="0" dirty="0">
                <a:solidFill>
                  <a:srgbClr val="E6EDF3"/>
                </a:solidFill>
                <a:latin typeface="Consolas"/>
              </a:rPr>
              <a:t>"])</a:t>
            </a:r>
          </a:p>
          <a:p>
            <a:pPr algn="l">
              <a:lnSpc>
                <a:spcPct val="100000"/>
              </a:lnSpc>
              <a:spcAft>
                <a:spcPts val="0"/>
              </a:spcAft>
            </a:pPr>
            <a:r>
              <a:rPr sz="2200" b="0" i="0" dirty="0">
                <a:solidFill>
                  <a:srgbClr val="E6EDF3"/>
                </a:solidFill>
                <a:latin typeface="Consolas"/>
              </a:rPr>
              <a:t> </a:t>
            </a:r>
          </a:p>
          <a:p>
            <a:pPr algn="l">
              <a:lnSpc>
                <a:spcPct val="100000"/>
              </a:lnSpc>
              <a:spcAft>
                <a:spcPts val="0"/>
              </a:spcAft>
            </a:pPr>
            <a:r>
              <a:rPr sz="2200" b="0" i="0" dirty="0">
                <a:solidFill>
                  <a:srgbClr val="E6EDF3"/>
                </a:solidFill>
                <a:latin typeface="Consolas"/>
              </a:rPr>
              <a:t>@flow(name="insurance-approval-retraining", </a:t>
            </a:r>
            <a:r>
              <a:rPr sz="2200" b="0" i="0" dirty="0" err="1">
                <a:solidFill>
                  <a:srgbClr val="E6EDF3"/>
                </a:solidFill>
                <a:latin typeface="Consolas"/>
              </a:rPr>
              <a:t>log_prints</a:t>
            </a:r>
            <a:r>
              <a:rPr sz="2200" b="0" i="0" dirty="0">
                <a:solidFill>
                  <a:srgbClr val="E6EDF3"/>
                </a:solidFill>
                <a:latin typeface="Consolas"/>
              </a:rPr>
              <a:t>=True)</a:t>
            </a:r>
          </a:p>
          <a:p>
            <a:pPr algn="l">
              <a:lnSpc>
                <a:spcPct val="100000"/>
              </a:lnSpc>
              <a:spcAft>
                <a:spcPts val="0"/>
              </a:spcAft>
            </a:pPr>
            <a:r>
              <a:rPr sz="2200" b="0" i="0" dirty="0">
                <a:solidFill>
                  <a:srgbClr val="E6EDF3"/>
                </a:solidFill>
                <a:latin typeface="Consolas"/>
              </a:rPr>
              <a:t>def </a:t>
            </a:r>
            <a:r>
              <a:rPr sz="2200" b="0" i="0" dirty="0" err="1">
                <a:solidFill>
                  <a:srgbClr val="E6EDF3"/>
                </a:solidFill>
                <a:latin typeface="Consolas"/>
              </a:rPr>
              <a:t>mlops_pipeline</a:t>
            </a:r>
            <a:r>
              <a:rPr sz="2200" b="0" i="0" dirty="0">
                <a:solidFill>
                  <a:srgbClr val="E6EDF3"/>
                </a:solidFill>
                <a:latin typeface="Consolas"/>
              </a:rPr>
              <a:t>():</a:t>
            </a:r>
          </a:p>
          <a:p>
            <a:pPr algn="l">
              <a:lnSpc>
                <a:spcPct val="100000"/>
              </a:lnSpc>
              <a:spcAft>
                <a:spcPts val="0"/>
              </a:spcAft>
            </a:pPr>
            <a:r>
              <a:rPr sz="2200" b="0" i="0" dirty="0">
                <a:solidFill>
                  <a:srgbClr val="E6EDF3"/>
                </a:solidFill>
                <a:latin typeface="Consolas"/>
              </a:rPr>
              <a:t>    if not </a:t>
            </a:r>
            <a:r>
              <a:rPr sz="2200" b="0" i="0" dirty="0" err="1">
                <a:solidFill>
                  <a:srgbClr val="E6EDF3"/>
                </a:solidFill>
                <a:latin typeface="Consolas"/>
              </a:rPr>
              <a:t>check_drift</a:t>
            </a:r>
            <a:r>
              <a:rPr sz="2200" b="0" i="0" dirty="0">
                <a:solidFill>
                  <a:srgbClr val="E6EDF3"/>
                </a:solidFill>
                <a:latin typeface="Consolas"/>
              </a:rPr>
              <a:t>():</a:t>
            </a:r>
          </a:p>
          <a:p>
            <a:pPr algn="l">
              <a:lnSpc>
                <a:spcPct val="100000"/>
              </a:lnSpc>
              <a:spcAft>
                <a:spcPts val="0"/>
              </a:spcAft>
            </a:pPr>
            <a:r>
              <a:rPr sz="2200" b="0" i="0" dirty="0">
                <a:solidFill>
                  <a:srgbClr val="E6EDF3"/>
                </a:solidFill>
                <a:latin typeface="Consolas"/>
              </a:rPr>
              <a:t>        return                          # nothing to do</a:t>
            </a:r>
          </a:p>
          <a:p>
            <a:pPr algn="l">
              <a:lnSpc>
                <a:spcPct val="100000"/>
              </a:lnSpc>
              <a:spcAft>
                <a:spcPts val="0"/>
              </a:spcAft>
            </a:pPr>
            <a:r>
              <a:rPr sz="2200" b="0" i="0" dirty="0">
                <a:solidFill>
                  <a:srgbClr val="E6EDF3"/>
                </a:solidFill>
                <a:latin typeface="Consolas"/>
              </a:rPr>
              <a:t>    previous = _</a:t>
            </a:r>
            <a:r>
              <a:rPr sz="2200" b="0" i="0" dirty="0" err="1">
                <a:solidFill>
                  <a:srgbClr val="E6EDF3"/>
                </a:solidFill>
                <a:latin typeface="Consolas"/>
              </a:rPr>
              <a:t>champion_version</a:t>
            </a:r>
            <a:r>
              <a:rPr sz="2200" b="0" i="0" dirty="0">
                <a:solidFill>
                  <a:srgbClr val="E6EDF3"/>
                </a:solidFill>
                <a:latin typeface="Consolas"/>
              </a:rPr>
              <a:t>()</a:t>
            </a:r>
          </a:p>
          <a:p>
            <a:pPr algn="l">
              <a:lnSpc>
                <a:spcPct val="100000"/>
              </a:lnSpc>
              <a:spcAft>
                <a:spcPts val="0"/>
              </a:spcAft>
            </a:pPr>
            <a:r>
              <a:rPr sz="2200" b="0" i="0" dirty="0">
                <a:solidFill>
                  <a:srgbClr val="E6EDF3"/>
                </a:solidFill>
                <a:latin typeface="Consolas"/>
              </a:rPr>
              <a:t>    retrain()</a:t>
            </a:r>
          </a:p>
          <a:p>
            <a:pPr algn="l">
              <a:lnSpc>
                <a:spcPct val="100000"/>
              </a:lnSpc>
              <a:spcAft>
                <a:spcPts val="0"/>
              </a:spcAft>
            </a:pPr>
            <a:r>
              <a:rPr sz="2200" b="0" i="0" dirty="0">
                <a:solidFill>
                  <a:srgbClr val="E6EDF3"/>
                </a:solidFill>
                <a:latin typeface="Consolas"/>
              </a:rPr>
              <a:t>    if not </a:t>
            </a:r>
            <a:r>
              <a:rPr sz="2200" b="0" i="0" dirty="0" err="1">
                <a:solidFill>
                  <a:srgbClr val="E6EDF3"/>
                </a:solidFill>
                <a:latin typeface="Consolas"/>
              </a:rPr>
              <a:t>quality_gate</a:t>
            </a:r>
            <a:r>
              <a:rPr sz="2200" b="0" i="0" dirty="0">
                <a:solidFill>
                  <a:srgbClr val="E6EDF3"/>
                </a:solidFill>
                <a:latin typeface="Consolas"/>
              </a:rPr>
              <a:t>():</a:t>
            </a:r>
          </a:p>
          <a:p>
            <a:pPr algn="l">
              <a:lnSpc>
                <a:spcPct val="100000"/>
              </a:lnSpc>
              <a:spcAft>
                <a:spcPts val="0"/>
              </a:spcAft>
            </a:pPr>
            <a:r>
              <a:rPr sz="2200" b="0" i="0" dirty="0">
                <a:solidFill>
                  <a:srgbClr val="E6EDF3"/>
                </a:solidFill>
                <a:latin typeface="Consolas"/>
              </a:rPr>
              <a:t>        rollback(previous)              # never release a failing candidate</a:t>
            </a:r>
          </a:p>
          <a:p>
            <a:pPr algn="l">
              <a:lnSpc>
                <a:spcPct val="100000"/>
              </a:lnSpc>
              <a:spcAft>
                <a:spcPts val="0"/>
              </a:spcAft>
            </a:pPr>
            <a:r>
              <a:rPr sz="2200" b="0" i="0" dirty="0">
                <a:solidFill>
                  <a:srgbClr val="E6EDF3"/>
                </a:solidFill>
                <a:latin typeface="Consolas"/>
              </a:rPr>
              <a:t>        return</a:t>
            </a:r>
          </a:p>
          <a:p>
            <a:pPr algn="l">
              <a:lnSpc>
                <a:spcPct val="100000"/>
              </a:lnSpc>
              <a:spcAft>
                <a:spcPts val="0"/>
              </a:spcAft>
            </a:pPr>
            <a:r>
              <a:rPr sz="2200" b="0" i="0" dirty="0">
                <a:solidFill>
                  <a:srgbClr val="E6EDF3"/>
                </a:solidFill>
                <a:latin typeface="Consolas"/>
              </a:rPr>
              <a:t>    </a:t>
            </a:r>
            <a:r>
              <a:rPr sz="2200" b="0" i="0" dirty="0" err="1">
                <a:solidFill>
                  <a:srgbClr val="E6EDF3"/>
                </a:solidFill>
                <a:latin typeface="Consolas"/>
              </a:rPr>
              <a:t>export_model</a:t>
            </a:r>
            <a:r>
              <a:rPr sz="2200" b="0" i="0" dirty="0">
                <a:solidFill>
                  <a:srgbClr val="E6EDF3"/>
                </a:solidFill>
                <a:latin typeface="Consolas"/>
              </a:rPr>
              <a:t>()</a:t>
            </a:r>
          </a:p>
          <a:p>
            <a:pPr algn="l">
              <a:lnSpc>
                <a:spcPct val="100000"/>
              </a:lnSpc>
              <a:spcAft>
                <a:spcPts val="0"/>
              </a:spcAft>
            </a:pPr>
            <a:r>
              <a:rPr sz="2200" b="0" i="0" dirty="0">
                <a:solidFill>
                  <a:srgbClr val="E6EDF3"/>
                </a:solidFill>
                <a:latin typeface="Consolas"/>
              </a:rPr>
              <a:t>    if </a:t>
            </a:r>
            <a:r>
              <a:rPr sz="2200" b="0" i="0" dirty="0" err="1">
                <a:solidFill>
                  <a:srgbClr val="E6EDF3"/>
                </a:solidFill>
                <a:latin typeface="Consolas"/>
              </a:rPr>
              <a:t>os.getenv</a:t>
            </a:r>
            <a:r>
              <a:rPr sz="2200" b="0" i="0" dirty="0">
                <a:solidFill>
                  <a:srgbClr val="E6EDF3"/>
                </a:solidFill>
                <a:latin typeface="Consolas"/>
              </a:rPr>
              <a:t>("PROJECT_ID"):</a:t>
            </a:r>
          </a:p>
          <a:p>
            <a:pPr algn="l">
              <a:lnSpc>
                <a:spcPct val="100000"/>
              </a:lnSpc>
              <a:spcAft>
                <a:spcPts val="0"/>
              </a:spcAft>
            </a:pPr>
            <a:r>
              <a:rPr sz="2200" b="0" i="0" dirty="0">
                <a:solidFill>
                  <a:srgbClr val="E6EDF3"/>
                </a:solidFill>
                <a:latin typeface="Consolas"/>
              </a:rPr>
              <a:t>        deploy()</a:t>
            </a:r>
            <a:endParaRPr lang="en-US" sz="2200" b="0" i="0" dirty="0">
              <a:solidFill>
                <a:srgbClr val="E6EDF3"/>
              </a:solidFill>
              <a:latin typeface="Consolas"/>
            </a:endParaRPr>
          </a:p>
          <a:p>
            <a:endParaRPr lang="en-ID" sz="2800" dirty="0">
              <a:solidFill>
                <a:schemeClr val="bg1"/>
              </a:solidFill>
            </a:endParaRPr>
          </a:p>
          <a:p>
            <a:r>
              <a:rPr lang="en-ID" sz="2200" dirty="0">
                <a:solidFill>
                  <a:schemeClr val="bg1"/>
                </a:solidFill>
                <a:latin typeface="Consolas" panose="020B0609020204030204" pitchFamily="49" charset="0"/>
                <a:cs typeface="Consolas" panose="020B0609020204030204" pitchFamily="49" charset="0"/>
              </a:rPr>
              <a:t>if __name__ == "__main__":</a:t>
            </a:r>
          </a:p>
          <a:p>
            <a:r>
              <a:rPr lang="en-ID" sz="2200" dirty="0">
                <a:solidFill>
                  <a:schemeClr val="bg1"/>
                </a:solidFill>
                <a:latin typeface="Consolas" panose="020B0609020204030204" pitchFamily="49" charset="0"/>
                <a:cs typeface="Consolas" panose="020B0609020204030204" pitchFamily="49" charset="0"/>
              </a:rPr>
              <a:t>    </a:t>
            </a:r>
            <a:r>
              <a:rPr lang="en-ID" sz="2200" dirty="0" err="1">
                <a:solidFill>
                  <a:schemeClr val="bg1"/>
                </a:solidFill>
                <a:latin typeface="Consolas" panose="020B0609020204030204" pitchFamily="49" charset="0"/>
                <a:cs typeface="Consolas" panose="020B0609020204030204" pitchFamily="49" charset="0"/>
              </a:rPr>
              <a:t>mlops_pipeline.serve</a:t>
            </a:r>
            <a:r>
              <a:rPr lang="en-ID" sz="2200" dirty="0">
                <a:solidFill>
                  <a:schemeClr val="bg1"/>
                </a:solidFill>
                <a:latin typeface="Consolas" panose="020B0609020204030204" pitchFamily="49" charset="0"/>
                <a:cs typeface="Consolas" panose="020B0609020204030204" pitchFamily="49" charset="0"/>
              </a:rPr>
              <a:t>( </a:t>
            </a:r>
          </a:p>
          <a:p>
            <a:r>
              <a:rPr lang="en-ID" sz="2200" dirty="0">
                <a:solidFill>
                  <a:schemeClr val="bg1"/>
                </a:solidFill>
                <a:latin typeface="Consolas" panose="020B0609020204030204" pitchFamily="49" charset="0"/>
                <a:cs typeface="Consolas" panose="020B0609020204030204" pitchFamily="49" charset="0"/>
              </a:rPr>
              <a:t>	  name="insurance-approval-test",</a:t>
            </a:r>
          </a:p>
          <a:p>
            <a:r>
              <a:rPr lang="en-ID" sz="2200" dirty="0">
                <a:solidFill>
                  <a:schemeClr val="bg1"/>
                </a:solidFill>
                <a:latin typeface="Consolas" panose="020B0609020204030204" pitchFamily="49" charset="0"/>
                <a:cs typeface="Consolas" panose="020B0609020204030204" pitchFamily="49" charset="0"/>
              </a:rPr>
              <a:t>	  interval=60,</a:t>
            </a:r>
          </a:p>
          <a:p>
            <a:r>
              <a:rPr lang="en-ID" sz="2200" dirty="0">
                <a:solidFill>
                  <a:schemeClr val="bg1"/>
                </a:solidFill>
                <a:latin typeface="Consolas" panose="020B0609020204030204" pitchFamily="49" charset="0"/>
                <a:cs typeface="Consolas" panose="020B0609020204030204" pitchFamily="49" charset="0"/>
              </a:rPr>
              <a:t>    )</a:t>
            </a:r>
            <a:endParaRPr sz="2200" b="0" i="0" dirty="0">
              <a:solidFill>
                <a:srgbClr val="E6EDF3"/>
              </a:solidFill>
              <a:latin typeface="Consolas" panose="020B0609020204030204" pitchFamily="49" charset="0"/>
              <a:cs typeface="Consolas" panose="020B0609020204030204" pitchFamily="49" charset="0"/>
            </a:endParaRPr>
          </a:p>
        </p:txBody>
      </p:sp>
      <p:sp>
        <p:nvSpPr>
          <p:cNvPr id="12" name="Rounded Rectangle 11"/>
          <p:cNvSpPr/>
          <p:nvPr/>
        </p:nvSpPr>
        <p:spPr>
          <a:xfrm>
            <a:off x="15544800" y="2514600"/>
            <a:ext cx="7818120" cy="9966960"/>
          </a:xfrm>
          <a:prstGeom prst="roundRect">
            <a:avLst>
              <a:gd name="adj" fmla="val 4093"/>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6047720" y="2926080"/>
            <a:ext cx="6858000"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What Prefect adds</a:t>
            </a:r>
          </a:p>
        </p:txBody>
      </p:sp>
      <p:sp>
        <p:nvSpPr>
          <p:cNvPr id="14" name="TextBox 13"/>
          <p:cNvSpPr txBox="1"/>
          <p:nvPr/>
        </p:nvSpPr>
        <p:spPr>
          <a:xfrm>
            <a:off x="16047720" y="3977639"/>
            <a:ext cx="6858000" cy="5393400"/>
          </a:xfrm>
          <a:prstGeom prst="rect">
            <a:avLst/>
          </a:prstGeom>
          <a:noFill/>
        </p:spPr>
        <p:txBody>
          <a:bodyPr wrap="square" lIns="0" tIns="0" rIns="0" bIns="0" anchor="t">
            <a:spAutoFit/>
          </a:bodyPr>
          <a:lstStyle/>
          <a:p>
            <a:pPr marL="379729" indent="-379729" algn="l">
              <a:lnSpc>
                <a:spcPct val="125000"/>
              </a:lnSpc>
              <a:spcAft>
                <a:spcPts val="1800"/>
              </a:spcAft>
              <a:buClr>
                <a:srgbClr val="D4A03A"/>
              </a:buClr>
              <a:buFont typeface="Arial"/>
              <a:buChar char="•"/>
            </a:pPr>
            <a:r>
              <a:rPr sz="2600" b="0" i="0" dirty="0">
                <a:solidFill>
                  <a:srgbClr val="1E293B"/>
                </a:solidFill>
                <a:latin typeface="Quattrocento Sans"/>
              </a:rPr>
              <a:t>@task: retries, timing and logs per step</a:t>
            </a:r>
          </a:p>
          <a:p>
            <a:pPr marL="379729" indent="-379729" algn="l">
              <a:lnSpc>
                <a:spcPct val="125000"/>
              </a:lnSpc>
              <a:spcAft>
                <a:spcPts val="1800"/>
              </a:spcAft>
              <a:buClr>
                <a:srgbClr val="D4A03A"/>
              </a:buClr>
              <a:buFont typeface="Arial"/>
              <a:buChar char="•"/>
            </a:pPr>
            <a:r>
              <a:rPr sz="2600" b="0" i="0" dirty="0">
                <a:solidFill>
                  <a:srgbClr val="1E293B"/>
                </a:solidFill>
                <a:latin typeface="Quattrocento Sans"/>
              </a:rPr>
              <a:t>@flow: the order and the if-branches live in code</a:t>
            </a:r>
          </a:p>
          <a:p>
            <a:pPr marL="379729" indent="-379729" algn="l">
              <a:lnSpc>
                <a:spcPct val="125000"/>
              </a:lnSpc>
              <a:spcAft>
                <a:spcPts val="1800"/>
              </a:spcAft>
              <a:buClr>
                <a:srgbClr val="D4A03A"/>
              </a:buClr>
              <a:buFont typeface="Arial"/>
              <a:buChar char="•"/>
            </a:pPr>
            <a:r>
              <a:rPr sz="2600" b="0" i="0" dirty="0">
                <a:solidFill>
                  <a:srgbClr val="1E293B"/>
                </a:solidFill>
                <a:latin typeface="Quattrocento Sans"/>
              </a:rPr>
              <a:t>_run() shows a failing step's stderr instead of hiding it</a:t>
            </a:r>
          </a:p>
          <a:p>
            <a:pPr marL="379729" indent="-379729" algn="l">
              <a:lnSpc>
                <a:spcPct val="125000"/>
              </a:lnSpc>
              <a:spcAft>
                <a:spcPts val="1800"/>
              </a:spcAft>
              <a:buClr>
                <a:srgbClr val="D4A03A"/>
              </a:buClr>
              <a:buFont typeface="Arial"/>
              <a:buChar char="•"/>
            </a:pPr>
            <a:r>
              <a:rPr sz="2600" b="0" i="0" dirty="0">
                <a:solidFill>
                  <a:srgbClr val="1E293B"/>
                </a:solidFill>
                <a:latin typeface="Quattrocento Sans"/>
              </a:rPr>
              <a:t>Deploy runs only when PROJECT_ID is set</a:t>
            </a:r>
            <a:endParaRPr lang="en-US" sz="2600" b="0" i="0" dirty="0">
              <a:solidFill>
                <a:srgbClr val="1E293B"/>
              </a:solidFill>
              <a:latin typeface="Quattrocento Sans"/>
            </a:endParaRPr>
          </a:p>
          <a:p>
            <a:pPr marL="379729" indent="-379729" algn="l">
              <a:lnSpc>
                <a:spcPct val="125000"/>
              </a:lnSpc>
              <a:spcAft>
                <a:spcPts val="1800"/>
              </a:spcAft>
              <a:buClr>
                <a:srgbClr val="D4A03A"/>
              </a:buClr>
              <a:buFont typeface="Arial"/>
              <a:buChar char="•"/>
            </a:pPr>
            <a:r>
              <a:rPr lang="en-ID" sz="2600" dirty="0">
                <a:solidFill>
                  <a:srgbClr val="1E293B"/>
                </a:solidFill>
                <a:latin typeface="Quattrocento Sans"/>
              </a:rPr>
              <a:t>In this </a:t>
            </a:r>
            <a:r>
              <a:rPr lang="en-ID" sz="2600" dirty="0" err="1">
                <a:solidFill>
                  <a:srgbClr val="1E293B"/>
                </a:solidFill>
                <a:latin typeface="Quattrocento Sans"/>
              </a:rPr>
              <a:t>snippset</a:t>
            </a:r>
            <a:r>
              <a:rPr lang="en-ID" sz="2600" dirty="0">
                <a:solidFill>
                  <a:srgbClr val="1E293B"/>
                </a:solidFill>
                <a:latin typeface="Quattrocento Sans"/>
              </a:rPr>
              <a:t> the monitoring will be executed once every 60 seconds. Note that prefect process can be placed as Cron job.</a:t>
            </a:r>
            <a:endParaRPr sz="2600" b="0" i="0" dirty="0">
              <a:solidFill>
                <a:srgbClr val="1E293B"/>
              </a:solidFill>
              <a:latin typeface="Quattrocento San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Run the Flow: Two Outcomes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HANDS-ON 1B</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23</a:t>
            </a:r>
          </a:p>
        </p:txBody>
      </p:sp>
      <p:sp>
        <p:nvSpPr>
          <p:cNvPr id="6" name="Rounded Rectangle 5"/>
          <p:cNvSpPr/>
          <p:nvPr/>
        </p:nvSpPr>
        <p:spPr>
          <a:xfrm>
            <a:off x="1014984" y="2514600"/>
            <a:ext cx="22347936" cy="5989320"/>
          </a:xfrm>
          <a:prstGeom prst="roundRect">
            <a:avLst>
              <a:gd name="adj" fmla="val 2748"/>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outcome 1 — drift above threshold (real Prefect log, abridged)</a:t>
            </a:r>
          </a:p>
        </p:txBody>
      </p:sp>
      <p:sp>
        <p:nvSpPr>
          <p:cNvPr id="11" name="TextBox 10"/>
          <p:cNvSpPr txBox="1"/>
          <p:nvPr/>
        </p:nvSpPr>
        <p:spPr>
          <a:xfrm>
            <a:off x="1426464" y="3227832"/>
            <a:ext cx="21616416" cy="5120640"/>
          </a:xfrm>
          <a:prstGeom prst="rect">
            <a:avLst/>
          </a:prstGeom>
          <a:noFill/>
        </p:spPr>
        <p:txBody>
          <a:bodyPr wrap="square" lIns="0" tIns="0" rIns="0" bIns="0" anchor="t">
            <a:spAutoFit/>
          </a:bodyPr>
          <a:lstStyle/>
          <a:p>
            <a:pPr algn="l">
              <a:lnSpc>
                <a:spcPct val="100000"/>
              </a:lnSpc>
              <a:spcAft>
                <a:spcPts val="0"/>
              </a:spcAft>
            </a:pPr>
            <a:r>
              <a:rPr sz="2100" b="0" i="0">
                <a:solidFill>
                  <a:srgbClr val="F5C66B"/>
                </a:solidFill>
                <a:latin typeface="Consolas"/>
              </a:rPr>
              <a:t>$ make pipeline                          # drift above threshold (default 0.30)</a:t>
            </a:r>
          </a:p>
          <a:p>
            <a:pPr algn="l">
              <a:lnSpc>
                <a:spcPct val="100000"/>
              </a:lnSpc>
              <a:spcAft>
                <a:spcPts val="0"/>
              </a:spcAft>
            </a:pPr>
            <a:r>
              <a:rPr sz="2100" b="0" i="0">
                <a:solidFill>
                  <a:srgbClr val="E6EDF3"/>
                </a:solidFill>
                <a:latin typeface="Consolas"/>
              </a:rPr>
              <a:t>Flow run 'opalescent-chimera' - Beginning flow run ... 'insurance-approval-retraining'</a:t>
            </a:r>
          </a:p>
          <a:p>
            <a:pPr algn="l">
              <a:lnSpc>
                <a:spcPct val="100000"/>
              </a:lnSpc>
              <a:spcAft>
                <a:spcPts val="0"/>
              </a:spcAft>
            </a:pPr>
            <a:r>
              <a:rPr sz="2100" b="0" i="0">
                <a:solidFill>
                  <a:srgbClr val="E6EDF3"/>
                </a:solidFill>
                <a:latin typeface="Consolas"/>
              </a:rPr>
              <a:t>Task run 'check_drift-ce7' - Drift detected in 3/8 columns (share: 0.375)</a:t>
            </a:r>
          </a:p>
          <a:p>
            <a:pPr algn="l">
              <a:lnSpc>
                <a:spcPct val="100000"/>
              </a:lnSpc>
              <a:spcAft>
                <a:spcPts val="0"/>
              </a:spcAft>
            </a:pPr>
            <a:r>
              <a:rPr sz="2100" b="0" i="0">
                <a:solidFill>
                  <a:srgbClr val="E6EDF3"/>
                </a:solidFill>
                <a:latin typeface="Consolas"/>
              </a:rPr>
              <a:t>Flow run 'opalescent-chimera' - &gt;&gt; Drift exceeds threshold -- retraining (current @champion: none)...</a:t>
            </a:r>
          </a:p>
          <a:p>
            <a:pPr algn="l">
              <a:lnSpc>
                <a:spcPct val="100000"/>
              </a:lnSpc>
              <a:spcAft>
                <a:spcPts val="0"/>
              </a:spcAft>
            </a:pPr>
            <a:r>
              <a:rPr sz="2100" b="0" i="0">
                <a:solidFill>
                  <a:srgbClr val="E6EDF3"/>
                </a:solidFill>
                <a:latin typeface="Consolas"/>
              </a:rPr>
              <a:t>Task run 'retrain-226' - BEST: RandomForest (accuracy=0.9380) ... Registered version: 1</a:t>
            </a:r>
          </a:p>
          <a:p>
            <a:pPr algn="l">
              <a:lnSpc>
                <a:spcPct val="100000"/>
              </a:lnSpc>
              <a:spcAft>
                <a:spcPts val="0"/>
              </a:spcAft>
            </a:pPr>
            <a:r>
              <a:rPr sz="2100" b="0" i="0">
                <a:solidFill>
                  <a:srgbClr val="8BE9A8"/>
                </a:solidFill>
                <a:latin typeface="Consolas"/>
              </a:rPr>
              <a:t>Task run 'quality_gate-8f3' - QUALITY GATE: PASSED</a:t>
            </a:r>
          </a:p>
          <a:p>
            <a:pPr algn="l">
              <a:lnSpc>
                <a:spcPct val="100000"/>
              </a:lnSpc>
              <a:spcAft>
                <a:spcPts val="0"/>
              </a:spcAft>
            </a:pPr>
            <a:r>
              <a:rPr sz="2100" b="0" i="0">
                <a:solidFill>
                  <a:srgbClr val="E6EDF3"/>
                </a:solidFill>
                <a:latin typeface="Consolas"/>
              </a:rPr>
              <a:t>Task run 'export_model-1da' - Model 'insurance-approval-model' version 1 ... exported</a:t>
            </a:r>
          </a:p>
          <a:p>
            <a:pPr algn="l">
              <a:lnSpc>
                <a:spcPct val="100000"/>
              </a:lnSpc>
              <a:spcAft>
                <a:spcPts val="0"/>
              </a:spcAft>
            </a:pPr>
            <a:r>
              <a:rPr sz="2100" b="0" i="0">
                <a:solidFill>
                  <a:srgbClr val="E6EDF3"/>
                </a:solidFill>
                <a:latin typeface="Consolas"/>
              </a:rPr>
              <a:t>Flow run 'opalescent-chimera' - &gt;&gt; PROJECT_ID not set -- skipping Cloud Run deploy</a:t>
            </a:r>
          </a:p>
          <a:p>
            <a:pPr algn="l">
              <a:lnSpc>
                <a:spcPct val="100000"/>
              </a:lnSpc>
              <a:spcAft>
                <a:spcPts val="0"/>
              </a:spcAft>
            </a:pPr>
            <a:r>
              <a:rPr sz="2100" b="0" i="0">
                <a:solidFill>
                  <a:srgbClr val="E6EDF3"/>
                </a:solidFill>
                <a:latin typeface="Consolas"/>
              </a:rPr>
              <a:t>Flow run 'opalescent-chimera' - Finished in state Completed()</a:t>
            </a:r>
          </a:p>
        </p:txBody>
      </p:sp>
      <p:sp>
        <p:nvSpPr>
          <p:cNvPr id="12" name="Rounded Rectangle 11"/>
          <p:cNvSpPr/>
          <p:nvPr/>
        </p:nvSpPr>
        <p:spPr>
          <a:xfrm>
            <a:off x="1014984" y="8778240"/>
            <a:ext cx="22347936" cy="3703320"/>
          </a:xfrm>
          <a:prstGeom prst="roundRect">
            <a:avLst>
              <a:gd name="adj" fmla="val 4444"/>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344168" y="905256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1728216" y="905256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2112264" y="905256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660904" y="8961119"/>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outcome 2 — drift below threshold (real Prefect log)</a:t>
            </a:r>
          </a:p>
        </p:txBody>
      </p:sp>
      <p:sp>
        <p:nvSpPr>
          <p:cNvPr id="17" name="TextBox 16"/>
          <p:cNvSpPr txBox="1"/>
          <p:nvPr/>
        </p:nvSpPr>
        <p:spPr>
          <a:xfrm>
            <a:off x="1426464" y="9491472"/>
            <a:ext cx="21616416" cy="2834639"/>
          </a:xfrm>
          <a:prstGeom prst="rect">
            <a:avLst/>
          </a:prstGeom>
          <a:noFill/>
        </p:spPr>
        <p:txBody>
          <a:bodyPr wrap="square" lIns="0" tIns="0" rIns="0" bIns="0" anchor="t">
            <a:spAutoFit/>
          </a:bodyPr>
          <a:lstStyle/>
          <a:p>
            <a:pPr algn="l">
              <a:lnSpc>
                <a:spcPct val="100000"/>
              </a:lnSpc>
              <a:spcAft>
                <a:spcPts val="0"/>
              </a:spcAft>
            </a:pPr>
            <a:r>
              <a:rPr sz="2100" b="0" i="0">
                <a:solidFill>
                  <a:srgbClr val="8B9BB4"/>
                </a:solidFill>
                <a:latin typeface="Consolas"/>
              </a:rPr>
              <a:t># lab: THRESHOLD = 0.50 in monitoring/monitor.py</a:t>
            </a:r>
          </a:p>
          <a:p>
            <a:pPr algn="l">
              <a:lnSpc>
                <a:spcPct val="100000"/>
              </a:lnSpc>
              <a:spcAft>
                <a:spcPts val="0"/>
              </a:spcAft>
            </a:pPr>
            <a:r>
              <a:rPr sz="2100" b="0" i="0">
                <a:solidFill>
                  <a:srgbClr val="F5C66B"/>
                </a:solidFill>
                <a:latin typeface="Consolas"/>
              </a:rPr>
              <a:t>$ make pipeline</a:t>
            </a:r>
          </a:p>
          <a:p>
            <a:pPr algn="l">
              <a:lnSpc>
                <a:spcPct val="100000"/>
              </a:lnSpc>
              <a:spcAft>
                <a:spcPts val="0"/>
              </a:spcAft>
            </a:pPr>
            <a:r>
              <a:rPr sz="2100" b="0" i="0">
                <a:solidFill>
                  <a:srgbClr val="E6EDF3"/>
                </a:solidFill>
                <a:latin typeface="Consolas"/>
              </a:rPr>
              <a:t>Task run 'check_drift-def' - Drift share (0.38) is below threshold (0.5).</a:t>
            </a:r>
          </a:p>
          <a:p>
            <a:pPr algn="l">
              <a:lnSpc>
                <a:spcPct val="100000"/>
              </a:lnSpc>
              <a:spcAft>
                <a:spcPts val="0"/>
              </a:spcAft>
            </a:pPr>
            <a:r>
              <a:rPr sz="2100" b="0" i="0">
                <a:solidFill>
                  <a:srgbClr val="E6EDF3"/>
                </a:solidFill>
                <a:latin typeface="Consolas"/>
              </a:rPr>
              <a:t>Flow run 'tough-cormorant' - &gt;&gt; Drift below threshold -- nothing to do.</a:t>
            </a:r>
          </a:p>
          <a:p>
            <a:pPr algn="l">
              <a:lnSpc>
                <a:spcPct val="100000"/>
              </a:lnSpc>
              <a:spcAft>
                <a:spcPts val="0"/>
              </a:spcAft>
            </a:pPr>
            <a:r>
              <a:rPr sz="2100" b="0" i="0">
                <a:solidFill>
                  <a:srgbClr val="E6EDF3"/>
                </a:solidFill>
                <a:latin typeface="Consolas"/>
              </a:rPr>
              <a:t>Flow run 'tough-cormorant' - Finished in state Completed()</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Failing Candidate Is Never Released</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REAL SCREENSHOT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24</a:t>
            </a:r>
          </a:p>
        </p:txBody>
      </p:sp>
      <p:sp>
        <p:nvSpPr>
          <p:cNvPr id="6" name="Rounded Rectangle 5"/>
          <p:cNvSpPr/>
          <p:nvPr/>
        </p:nvSpPr>
        <p:spPr>
          <a:xfrm>
            <a:off x="1014984" y="2514600"/>
            <a:ext cx="22347936" cy="3291840"/>
          </a:xfrm>
          <a:prstGeom prst="roundRect">
            <a:avLst>
              <a:gd name="adj" fmla="val 5000"/>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real Prefect log (gate minimum raised to 0.99 for the demo)</a:t>
            </a:r>
          </a:p>
        </p:txBody>
      </p:sp>
      <p:sp>
        <p:nvSpPr>
          <p:cNvPr id="11" name="TextBox 10"/>
          <p:cNvSpPr txBox="1"/>
          <p:nvPr/>
        </p:nvSpPr>
        <p:spPr>
          <a:xfrm>
            <a:off x="1426464" y="3227832"/>
            <a:ext cx="21616416" cy="2423160"/>
          </a:xfrm>
          <a:prstGeom prst="rect">
            <a:avLst/>
          </a:prstGeom>
          <a:noFill/>
        </p:spPr>
        <p:txBody>
          <a:bodyPr wrap="square" lIns="0" tIns="0" rIns="0" bIns="0" anchor="t">
            <a:spAutoFit/>
          </a:bodyPr>
          <a:lstStyle/>
          <a:p>
            <a:pPr algn="l">
              <a:lnSpc>
                <a:spcPct val="100000"/>
              </a:lnSpc>
              <a:spcAft>
                <a:spcPts val="0"/>
              </a:spcAft>
            </a:pPr>
            <a:r>
              <a:rPr sz="2100" b="0" i="0">
                <a:solidFill>
                  <a:srgbClr val="E6EDF3"/>
                </a:solidFill>
                <a:latin typeface="Consolas"/>
              </a:rPr>
              <a:t>Task run 'retrain-13a' - Registered version: 2 ... Alias 'champion' -&gt; version 2</a:t>
            </a:r>
          </a:p>
          <a:p>
            <a:pPr algn="l">
              <a:lnSpc>
                <a:spcPct val="100000"/>
              </a:lnSpc>
              <a:spcAft>
                <a:spcPts val="0"/>
              </a:spcAft>
            </a:pPr>
            <a:r>
              <a:rPr sz="2100" b="0" i="0">
                <a:solidFill>
                  <a:srgbClr val="FF8A80"/>
                </a:solidFill>
                <a:latin typeface="Consolas"/>
              </a:rPr>
              <a:t>Task run 'quality_gate-24f' - QUALITY GATE: FAILED -- this model must not be released.</a:t>
            </a:r>
          </a:p>
          <a:p>
            <a:pPr algn="l">
              <a:lnSpc>
                <a:spcPct val="100000"/>
              </a:lnSpc>
              <a:spcAft>
                <a:spcPts val="0"/>
              </a:spcAft>
            </a:pPr>
            <a:r>
              <a:rPr sz="2100" b="0" i="0">
                <a:solidFill>
                  <a:srgbClr val="E6EDF3"/>
                </a:solidFill>
                <a:latin typeface="Consolas"/>
              </a:rPr>
              <a:t>Task run 'rollback-069' - ROLLBACK: @champion v2 -&gt; v1</a:t>
            </a:r>
          </a:p>
          <a:p>
            <a:pPr algn="l">
              <a:lnSpc>
                <a:spcPct val="100000"/>
              </a:lnSpc>
              <a:spcAft>
                <a:spcPts val="0"/>
              </a:spcAft>
            </a:pPr>
            <a:r>
              <a:rPr sz="2100" b="0" i="0">
                <a:solidFill>
                  <a:srgbClr val="FF8A80"/>
                </a:solidFill>
                <a:latin typeface="Consolas"/>
              </a:rPr>
              <a:t>Flow run 'adept-penguin' - &gt;&gt; Candidate FAILED the quality gate -- not released.</a:t>
            </a:r>
          </a:p>
        </p:txBody>
      </p:sp>
      <p:pic>
        <p:nvPicPr>
          <p:cNvPr id="12" name="Picture 11" descr="crop_prefect_run.png"/>
          <p:cNvPicPr>
            <a:picLocks noChangeAspect="1"/>
          </p:cNvPicPr>
          <p:nvPr/>
        </p:nvPicPr>
        <p:blipFill>
          <a:blip r:embed="rId3"/>
          <a:stretch>
            <a:fillRect/>
          </a:stretch>
        </p:blipFill>
        <p:spPr>
          <a:xfrm>
            <a:off x="2867950" y="6035040"/>
            <a:ext cx="18642003" cy="6492240"/>
          </a:xfrm>
          <a:prstGeom prst="rect">
            <a:avLst/>
          </a:prstGeom>
          <a:ln w="19050">
            <a:solidFill>
              <a:srgbClr val="E0DCD3"/>
            </a:solidFill>
          </a:ln>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Text 2">
            <a:extLst>
              <a:ext uri="{FF2B5EF4-FFF2-40B4-BE49-F238E27FC236}">
                <a16:creationId xmlns:a16="http://schemas.microsoft.com/office/drawing/2014/main" id="{62763A1A-0935-4A5E-FE9C-F87FDB7642F5}"/>
              </a:ext>
            </a:extLst>
          </p:cNvPr>
          <p:cNvSpPr/>
          <p:nvPr/>
        </p:nvSpPr>
        <p:spPr>
          <a:xfrm>
            <a:off x="1649562" y="4206240"/>
            <a:ext cx="5080000" cy="381000"/>
          </a:xfrm>
          <a:prstGeom prst="rect">
            <a:avLst/>
          </a:prstGeom>
          <a:noFill/>
          <a:ln/>
        </p:spPr>
        <p:txBody>
          <a:bodyPr wrap="none" lIns="0" tIns="0" rIns="0" bIns="0" rtlCol="0" anchor="ctr"/>
          <a:lstStyle/>
          <a:p>
            <a:pPr algn="l">
              <a:lnSpc>
                <a:spcPct val="120000"/>
              </a:lnSpc>
            </a:pPr>
            <a:r>
              <a:rPr lang="en-US" sz="5000" b="1" kern="0" spc="400" dirty="0">
                <a:solidFill>
                  <a:srgbClr val="D4A03A"/>
                </a:solidFill>
                <a:latin typeface="Liter" pitchFamily="34" charset="0"/>
                <a:ea typeface="Liter" pitchFamily="34" charset="-122"/>
                <a:cs typeface="Liter" pitchFamily="34" charset="-120"/>
              </a:rPr>
              <a:t>05</a:t>
            </a:r>
            <a:endParaRPr lang="en-US" sz="5000" dirty="0"/>
          </a:p>
        </p:txBody>
      </p:sp>
      <p:sp>
        <p:nvSpPr>
          <p:cNvPr id="21" name="Text 3">
            <a:extLst>
              <a:ext uri="{FF2B5EF4-FFF2-40B4-BE49-F238E27FC236}">
                <a16:creationId xmlns:a16="http://schemas.microsoft.com/office/drawing/2014/main" id="{EDE4DF64-756A-6BDE-4A9C-3DF7AF92A34D}"/>
              </a:ext>
            </a:extLst>
          </p:cNvPr>
          <p:cNvSpPr/>
          <p:nvPr/>
        </p:nvSpPr>
        <p:spPr>
          <a:xfrm>
            <a:off x="1649562" y="4983480"/>
            <a:ext cx="11155680" cy="2651760"/>
          </a:xfrm>
          <a:prstGeom prst="rect">
            <a:avLst/>
          </a:prstGeom>
          <a:noFill/>
          <a:ln/>
        </p:spPr>
        <p:txBody>
          <a:bodyPr wrap="square" lIns="0" tIns="0" rIns="0" bIns="0" rtlCol="0" anchor="t"/>
          <a:lstStyle/>
          <a:p>
            <a:pPr algn="l">
              <a:lnSpc>
                <a:spcPct val="110000"/>
              </a:lnSpc>
            </a:pPr>
            <a:r>
              <a:rPr lang="en-US" sz="6000" kern="0" spc="200" dirty="0">
                <a:solidFill>
                  <a:srgbClr val="1B2A4A"/>
                </a:solidFill>
                <a:latin typeface="Liter" pitchFamily="34" charset="0"/>
                <a:ea typeface="Liter" pitchFamily="34" charset="-122"/>
                <a:cs typeface="Liter" pitchFamily="34" charset="-120"/>
              </a:rPr>
              <a:t>Incident Handling</a:t>
            </a:r>
            <a:endParaRPr lang="en-US" sz="7200" dirty="0"/>
          </a:p>
        </p:txBody>
      </p:sp>
      <p:sp>
        <p:nvSpPr>
          <p:cNvPr id="23" name="Shape 4">
            <a:extLst>
              <a:ext uri="{FF2B5EF4-FFF2-40B4-BE49-F238E27FC236}">
                <a16:creationId xmlns:a16="http://schemas.microsoft.com/office/drawing/2014/main" id="{1CC7B515-BF06-6CCF-F4A0-76A6E14F43FC}"/>
              </a:ext>
            </a:extLst>
          </p:cNvPr>
          <p:cNvSpPr/>
          <p:nvPr/>
        </p:nvSpPr>
        <p:spPr>
          <a:xfrm>
            <a:off x="1649562" y="8001000"/>
            <a:ext cx="1016000" cy="50800"/>
          </a:xfrm>
          <a:prstGeom prst="rect">
            <a:avLst/>
          </a:prstGeom>
          <a:solidFill>
            <a:srgbClr val="D4A03A"/>
          </a:solidFill>
          <a:ln/>
        </p:spPr>
        <p:txBody>
          <a:bodyPr/>
          <a:lstStyle/>
          <a:p>
            <a:endParaRPr lang="en-ID"/>
          </a:p>
        </p:txBody>
      </p:sp>
      <p:sp>
        <p:nvSpPr>
          <p:cNvPr id="24" name="TextBox 23"/>
          <p:cNvSpPr txBox="1"/>
          <p:nvPr/>
        </p:nvSpPr>
        <p:spPr>
          <a:xfrm>
            <a:off x="1645920" y="8412480"/>
            <a:ext cx="10972800" cy="640080"/>
          </a:xfrm>
          <a:prstGeom prst="rect">
            <a:avLst/>
          </a:prstGeom>
          <a:noFill/>
        </p:spPr>
        <p:txBody>
          <a:bodyPr wrap="square" lIns="0" tIns="0" rIns="0" bIns="0" anchor="t">
            <a:spAutoFit/>
          </a:bodyPr>
          <a:lstStyle/>
          <a:p>
            <a:pPr algn="l">
              <a:lnSpc>
                <a:spcPct val="120000"/>
              </a:lnSpc>
              <a:spcAft>
                <a:spcPts val="600"/>
              </a:spcAft>
            </a:pPr>
            <a:r>
              <a:rPr sz="2800" b="0" i="0">
                <a:solidFill>
                  <a:srgbClr val="6B7B8D"/>
                </a:solidFill>
                <a:latin typeface="Quattrocento Sans"/>
              </a:rPr>
              <a:t>15:00–16:00</a:t>
            </a:r>
          </a:p>
        </p:txBody>
      </p:sp>
      <p:sp>
        <p:nvSpPr>
          <p:cNvPr id="25" name="TextBox 24"/>
          <p:cNvSpPr txBox="1"/>
          <p:nvPr/>
        </p:nvSpPr>
        <p:spPr>
          <a:xfrm>
            <a:off x="13898880" y="3291840"/>
            <a:ext cx="8686800" cy="457200"/>
          </a:xfrm>
          <a:prstGeom prst="rect">
            <a:avLst/>
          </a:prstGeom>
          <a:noFill/>
        </p:spPr>
        <p:txBody>
          <a:bodyPr wrap="square" lIns="0" tIns="0" rIns="0" bIns="0" anchor="t">
            <a:spAutoFit/>
          </a:bodyPr>
          <a:lstStyle/>
          <a:p>
            <a:pPr algn="l">
              <a:lnSpc>
                <a:spcPct val="120000"/>
              </a:lnSpc>
              <a:spcAft>
                <a:spcPts val="600"/>
              </a:spcAft>
            </a:pPr>
            <a:r>
              <a:rPr sz="1600" b="1" i="0" spc="300">
                <a:solidFill>
                  <a:srgbClr val="D4A03A"/>
                </a:solidFill>
                <a:latin typeface="Liter"/>
              </a:rPr>
              <a:t>IN THIS SESSION</a:t>
            </a:r>
          </a:p>
        </p:txBody>
      </p:sp>
      <p:sp>
        <p:nvSpPr>
          <p:cNvPr id="26" name="TextBox 25"/>
          <p:cNvSpPr txBox="1"/>
          <p:nvPr/>
        </p:nvSpPr>
        <p:spPr>
          <a:xfrm>
            <a:off x="13898880" y="406908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01</a:t>
            </a:r>
          </a:p>
        </p:txBody>
      </p:sp>
      <p:sp>
        <p:nvSpPr>
          <p:cNvPr id="27" name="TextBox 26"/>
          <p:cNvSpPr txBox="1"/>
          <p:nvPr/>
        </p:nvSpPr>
        <p:spPr>
          <a:xfrm>
            <a:off x="14904720" y="406908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Types of ML incidents</a:t>
            </a:r>
          </a:p>
        </p:txBody>
      </p:sp>
      <p:sp>
        <p:nvSpPr>
          <p:cNvPr id="28" name="Rectangle 27"/>
          <p:cNvSpPr/>
          <p:nvPr/>
        </p:nvSpPr>
        <p:spPr>
          <a:xfrm>
            <a:off x="13898880" y="512064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3898880" y="525780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02</a:t>
            </a:r>
          </a:p>
        </p:txBody>
      </p:sp>
      <p:sp>
        <p:nvSpPr>
          <p:cNvPr id="30" name="TextBox 29"/>
          <p:cNvSpPr txBox="1"/>
          <p:nvPr/>
        </p:nvSpPr>
        <p:spPr>
          <a:xfrm>
            <a:off x="14904720" y="525780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The incident lifecycle &amp; severity</a:t>
            </a:r>
          </a:p>
        </p:txBody>
      </p:sp>
      <p:sp>
        <p:nvSpPr>
          <p:cNvPr id="31" name="Rectangle 30"/>
          <p:cNvSpPr/>
          <p:nvPr/>
        </p:nvSpPr>
        <p:spPr>
          <a:xfrm>
            <a:off x="13898880" y="630936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3898880" y="644652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03</a:t>
            </a:r>
          </a:p>
        </p:txBody>
      </p:sp>
      <p:sp>
        <p:nvSpPr>
          <p:cNvPr id="33" name="TextBox 32"/>
          <p:cNvSpPr txBox="1"/>
          <p:nvPr/>
        </p:nvSpPr>
        <p:spPr>
          <a:xfrm>
            <a:off x="14904720" y="644652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Rollback options</a:t>
            </a:r>
          </a:p>
        </p:txBody>
      </p:sp>
      <p:sp>
        <p:nvSpPr>
          <p:cNvPr id="34" name="Rectangle 33"/>
          <p:cNvSpPr/>
          <p:nvPr/>
        </p:nvSpPr>
        <p:spPr>
          <a:xfrm>
            <a:off x="13898880" y="749808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13898880" y="763524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04</a:t>
            </a:r>
          </a:p>
        </p:txBody>
      </p:sp>
      <p:sp>
        <p:nvSpPr>
          <p:cNvPr id="36" name="TextBox 35"/>
          <p:cNvSpPr txBox="1"/>
          <p:nvPr/>
        </p:nvSpPr>
        <p:spPr>
          <a:xfrm>
            <a:off x="14904720" y="763524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Drill: a bad model release</a:t>
            </a:r>
          </a:p>
        </p:txBody>
      </p:sp>
      <p:sp>
        <p:nvSpPr>
          <p:cNvPr id="37" name="Rectangle 36"/>
          <p:cNvSpPr/>
          <p:nvPr/>
        </p:nvSpPr>
        <p:spPr>
          <a:xfrm>
            <a:off x="13898880" y="8686800"/>
            <a:ext cx="9052560" cy="10972"/>
          </a:xfrm>
          <a:prstGeom prst="rect">
            <a:avLst/>
          </a:prstGeom>
          <a:solidFill>
            <a:srgbClr val="E0D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13898880" y="8823960"/>
            <a:ext cx="822960" cy="914400"/>
          </a:xfrm>
          <a:prstGeom prst="rect">
            <a:avLst/>
          </a:prstGeom>
          <a:noFill/>
        </p:spPr>
        <p:txBody>
          <a:bodyPr wrap="square" lIns="0" tIns="0" rIns="0" bIns="0" anchor="ctr">
            <a:spAutoFit/>
          </a:bodyPr>
          <a:lstStyle/>
          <a:p>
            <a:pPr algn="l">
              <a:lnSpc>
                <a:spcPct val="120000"/>
              </a:lnSpc>
              <a:spcAft>
                <a:spcPts val="600"/>
              </a:spcAft>
            </a:pPr>
            <a:r>
              <a:rPr sz="3000" b="1" i="0">
                <a:solidFill>
                  <a:srgbClr val="D4A03A"/>
                </a:solidFill>
                <a:latin typeface="Liter"/>
              </a:rPr>
              <a:t>05</a:t>
            </a:r>
          </a:p>
        </p:txBody>
      </p:sp>
      <p:sp>
        <p:nvSpPr>
          <p:cNvPr id="39" name="TextBox 38"/>
          <p:cNvSpPr txBox="1"/>
          <p:nvPr/>
        </p:nvSpPr>
        <p:spPr>
          <a:xfrm>
            <a:off x="14904720" y="8823960"/>
            <a:ext cx="8046720" cy="914400"/>
          </a:xfrm>
          <a:prstGeom prst="rect">
            <a:avLst/>
          </a:prstGeom>
          <a:noFill/>
        </p:spPr>
        <p:txBody>
          <a:bodyPr wrap="square" lIns="0" tIns="0" rIns="0" bIns="0" anchor="ctr">
            <a:spAutoFit/>
          </a:bodyPr>
          <a:lstStyle/>
          <a:p>
            <a:pPr algn="l">
              <a:lnSpc>
                <a:spcPct val="120000"/>
              </a:lnSpc>
              <a:spcAft>
                <a:spcPts val="600"/>
              </a:spcAft>
            </a:pPr>
            <a:r>
              <a:rPr sz="2600" b="0" i="0">
                <a:solidFill>
                  <a:srgbClr val="1E293B"/>
                </a:solidFill>
                <a:latin typeface="Quattrocento Sans"/>
              </a:rPr>
              <a:t>Runbooks &amp; blameless postmortems</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Types of Incidents in ML Systems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CONCEPT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54</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B4432F"/>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Model quality</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model makes wrong predictions at scale: a bad release or sudden concept drift.</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Data pipeline</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Wrong joins, swapped columns, shuffled labels, late data — the model is trained on broken data.</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1B2A4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Service &amp; infrastructure</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Endpoint down, latency spikes, repeated cold starts, exhausted cloud quota.</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4A5B7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Security &amp; privacy</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Sensitive data leaking through logs, unauthorised access, attacks on the model (MLSecOps, Day 1).</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From Detection to Learning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LIFECYCLE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55</a:t>
            </a:r>
          </a:p>
        </p:txBody>
      </p:sp>
      <p:sp>
        <p:nvSpPr>
          <p:cNvPr id="6" name="Rounded Rectangle 5"/>
          <p:cNvSpPr/>
          <p:nvPr/>
        </p:nvSpPr>
        <p:spPr>
          <a:xfrm>
            <a:off x="1014984" y="2651760"/>
            <a:ext cx="4030675" cy="1645920"/>
          </a:xfrm>
          <a:prstGeom prst="roundRect">
            <a:avLst>
              <a:gd name="adj" fmla="val 11111"/>
            </a:avLst>
          </a:prstGeom>
          <a:solidFill>
            <a:srgbClr val="B4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97864"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Detect</a:t>
            </a:r>
          </a:p>
        </p:txBody>
      </p:sp>
      <p:sp>
        <p:nvSpPr>
          <p:cNvPr id="8" name="TextBox 7"/>
          <p:cNvSpPr txBox="1"/>
          <p:nvPr/>
        </p:nvSpPr>
        <p:spPr>
          <a:xfrm>
            <a:off x="1060704"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Alerts from monitoring, smoke tests or user reports</a:t>
            </a:r>
          </a:p>
        </p:txBody>
      </p:sp>
      <p:sp>
        <p:nvSpPr>
          <p:cNvPr id="9" name="TextBox 8"/>
          <p:cNvSpPr txBox="1"/>
          <p:nvPr/>
        </p:nvSpPr>
        <p:spPr>
          <a:xfrm>
            <a:off x="5045659"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0" name="Rounded Rectangle 9"/>
          <p:cNvSpPr/>
          <p:nvPr/>
        </p:nvSpPr>
        <p:spPr>
          <a:xfrm>
            <a:off x="5594299" y="2651760"/>
            <a:ext cx="4030675" cy="1645920"/>
          </a:xfrm>
          <a:prstGeom prst="roundRect">
            <a:avLst>
              <a:gd name="adj" fmla="val 11111"/>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777179"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Triage</a:t>
            </a:r>
          </a:p>
        </p:txBody>
      </p:sp>
      <p:sp>
        <p:nvSpPr>
          <p:cNvPr id="12" name="TextBox 11"/>
          <p:cNvSpPr txBox="1"/>
          <p:nvPr/>
        </p:nvSpPr>
        <p:spPr>
          <a:xfrm>
            <a:off x="5640019"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Set the severity and an owner (incident commander)</a:t>
            </a:r>
          </a:p>
        </p:txBody>
      </p:sp>
      <p:sp>
        <p:nvSpPr>
          <p:cNvPr id="13" name="TextBox 12"/>
          <p:cNvSpPr txBox="1"/>
          <p:nvPr/>
        </p:nvSpPr>
        <p:spPr>
          <a:xfrm>
            <a:off x="9624974"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4" name="Rounded Rectangle 13"/>
          <p:cNvSpPr/>
          <p:nvPr/>
        </p:nvSpPr>
        <p:spPr>
          <a:xfrm>
            <a:off x="10173614" y="2651760"/>
            <a:ext cx="4030675" cy="1645920"/>
          </a:xfrm>
          <a:prstGeom prst="roundRect">
            <a:avLst>
              <a:gd name="adj" fmla="val 11111"/>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356494"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Mitigate</a:t>
            </a:r>
          </a:p>
        </p:txBody>
      </p:sp>
      <p:sp>
        <p:nvSpPr>
          <p:cNvPr id="16" name="TextBox 15"/>
          <p:cNvSpPr txBox="1"/>
          <p:nvPr/>
        </p:nvSpPr>
        <p:spPr>
          <a:xfrm>
            <a:off x="10219334"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Stop the impact: roll back, shift traffic, fall back</a:t>
            </a:r>
          </a:p>
        </p:txBody>
      </p:sp>
      <p:sp>
        <p:nvSpPr>
          <p:cNvPr id="17" name="TextBox 16"/>
          <p:cNvSpPr txBox="1"/>
          <p:nvPr/>
        </p:nvSpPr>
        <p:spPr>
          <a:xfrm>
            <a:off x="14204289"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18" name="Rounded Rectangle 17"/>
          <p:cNvSpPr/>
          <p:nvPr/>
        </p:nvSpPr>
        <p:spPr>
          <a:xfrm>
            <a:off x="14752929" y="2651760"/>
            <a:ext cx="4030675" cy="1645920"/>
          </a:xfrm>
          <a:prstGeom prst="roundRect">
            <a:avLst>
              <a:gd name="adj" fmla="val 11111"/>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4935809"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Recover</a:t>
            </a:r>
          </a:p>
        </p:txBody>
      </p:sp>
      <p:sp>
        <p:nvSpPr>
          <p:cNvPr id="20" name="TextBox 19"/>
          <p:cNvSpPr txBox="1"/>
          <p:nvPr/>
        </p:nvSpPr>
        <p:spPr>
          <a:xfrm>
            <a:off x="14798649"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Fix the root cause and re-release through the normal pipeline</a:t>
            </a:r>
          </a:p>
        </p:txBody>
      </p:sp>
      <p:sp>
        <p:nvSpPr>
          <p:cNvPr id="21" name="TextBox 20"/>
          <p:cNvSpPr txBox="1"/>
          <p:nvPr/>
        </p:nvSpPr>
        <p:spPr>
          <a:xfrm>
            <a:off x="18783604" y="2651760"/>
            <a:ext cx="548640" cy="1645920"/>
          </a:xfrm>
          <a:prstGeom prst="rect">
            <a:avLst/>
          </a:prstGeom>
          <a:noFill/>
        </p:spPr>
        <p:txBody>
          <a:bodyPr wrap="square" lIns="0" tIns="0" rIns="0" bIns="0" anchor="ctr">
            <a:spAutoFit/>
          </a:bodyPr>
          <a:lstStyle/>
          <a:p>
            <a:pPr algn="ctr">
              <a:lnSpc>
                <a:spcPct val="120000"/>
              </a:lnSpc>
              <a:spcAft>
                <a:spcPts val="600"/>
              </a:spcAft>
            </a:pPr>
            <a:r>
              <a:rPr sz="3600" b="1" i="0">
                <a:solidFill>
                  <a:srgbClr val="D4A03A"/>
                </a:solidFill>
                <a:latin typeface="Quattrocento Sans"/>
              </a:rPr>
              <a:t>→</a:t>
            </a:r>
          </a:p>
        </p:txBody>
      </p:sp>
      <p:sp>
        <p:nvSpPr>
          <p:cNvPr id="22" name="Rounded Rectangle 21"/>
          <p:cNvSpPr/>
          <p:nvPr/>
        </p:nvSpPr>
        <p:spPr>
          <a:xfrm>
            <a:off x="19332244" y="2651760"/>
            <a:ext cx="4030675" cy="1645920"/>
          </a:xfrm>
          <a:prstGeom prst="roundRect">
            <a:avLst>
              <a:gd name="adj" fmla="val 11111"/>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9515124" y="2743200"/>
            <a:ext cx="3664915" cy="1463040"/>
          </a:xfrm>
          <a:prstGeom prst="rect">
            <a:avLst/>
          </a:prstGeom>
          <a:noFill/>
        </p:spPr>
        <p:txBody>
          <a:bodyPr wrap="square" lIns="0" tIns="0" rIns="0" bIns="0" anchor="ctr">
            <a:spAutoFit/>
          </a:bodyPr>
          <a:lstStyle/>
          <a:p>
            <a:pPr algn="ctr">
              <a:lnSpc>
                <a:spcPct val="120000"/>
              </a:lnSpc>
              <a:spcAft>
                <a:spcPts val="600"/>
              </a:spcAft>
            </a:pPr>
            <a:r>
              <a:rPr sz="3000" b="1" i="0">
                <a:solidFill>
                  <a:srgbClr val="FFFFFF"/>
                </a:solidFill>
                <a:latin typeface="Quattrocento Sans"/>
              </a:rPr>
              <a:t>Postmortem</a:t>
            </a:r>
          </a:p>
        </p:txBody>
      </p:sp>
      <p:sp>
        <p:nvSpPr>
          <p:cNvPr id="24" name="TextBox 23"/>
          <p:cNvSpPr txBox="1"/>
          <p:nvPr/>
        </p:nvSpPr>
        <p:spPr>
          <a:xfrm>
            <a:off x="19377964" y="4572000"/>
            <a:ext cx="3939235" cy="2743200"/>
          </a:xfrm>
          <a:prstGeom prst="rect">
            <a:avLst/>
          </a:prstGeom>
          <a:noFill/>
        </p:spPr>
        <p:txBody>
          <a:bodyPr wrap="square" lIns="0" tIns="0" rIns="0" bIns="0" anchor="t">
            <a:spAutoFit/>
          </a:bodyPr>
          <a:lstStyle/>
          <a:p>
            <a:pPr algn="ctr">
              <a:lnSpc>
                <a:spcPct val="125000"/>
              </a:lnSpc>
              <a:spcAft>
                <a:spcPts val="600"/>
              </a:spcAft>
            </a:pPr>
            <a:r>
              <a:rPr sz="2800" b="0" i="0">
                <a:solidFill>
                  <a:srgbClr val="1E293B"/>
                </a:solidFill>
                <a:latin typeface="Quattrocento Sans"/>
              </a:rPr>
              <a:t>Write a blameless postmortem with action items</a:t>
            </a:r>
          </a:p>
        </p:txBody>
      </p:sp>
      <p:sp>
        <p:nvSpPr>
          <p:cNvPr id="25" name="Rounded Rectangle 24"/>
          <p:cNvSpPr/>
          <p:nvPr/>
        </p:nvSpPr>
        <p:spPr>
          <a:xfrm>
            <a:off x="1014984" y="9326880"/>
            <a:ext cx="22347936" cy="1463040"/>
          </a:xfrm>
          <a:prstGeom prst="roundRect">
            <a:avLst>
              <a:gd name="adj" fmla="val 750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014984" y="9326880"/>
            <a:ext cx="128016" cy="146304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517904" y="9326880"/>
            <a:ext cx="21524976" cy="1463040"/>
          </a:xfrm>
          <a:prstGeom prst="rect">
            <a:avLst/>
          </a:prstGeom>
          <a:noFill/>
        </p:spPr>
        <p:txBody>
          <a:bodyPr wrap="square" lIns="0" tIns="0" rIns="0" bIns="0" anchor="ctr">
            <a:spAutoFit/>
          </a:bodyPr>
          <a:lstStyle/>
          <a:p>
            <a:pPr algn="l">
              <a:lnSpc>
                <a:spcPct val="120000"/>
              </a:lnSpc>
              <a:spcAft>
                <a:spcPts val="600"/>
              </a:spcAft>
            </a:pPr>
            <a:r>
              <a:rPr sz="2600" b="0" i="1">
                <a:solidFill>
                  <a:srgbClr val="1B2A4A"/>
                </a:solidFill>
                <a:latin typeface="Quattrocento Sans"/>
              </a:rPr>
              <a:t>Principle: restore service first, find the root cause later. A fast rollback is worth more than a perfect diagnosis.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Example Severity Levels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TRIAGE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56</a:t>
            </a:r>
          </a:p>
        </p:txBody>
      </p:sp>
      <p:graphicFrame>
        <p:nvGraphicFramePr>
          <p:cNvPr id="6" name="Table 5"/>
          <p:cNvGraphicFramePr>
            <a:graphicFrameLocks noGrp="1"/>
          </p:cNvGraphicFramePr>
          <p:nvPr/>
        </p:nvGraphicFramePr>
        <p:xfrm>
          <a:off x="1014984" y="2514600"/>
          <a:ext cx="22347934" cy="8046720"/>
        </p:xfrm>
        <a:graphic>
          <a:graphicData uri="http://schemas.openxmlformats.org/drawingml/2006/table">
            <a:tbl>
              <a:tblPr/>
              <a:tblGrid>
                <a:gridCol w="2371617">
                  <a:extLst>
                    <a:ext uri="{9D8B030D-6E8A-4147-A177-3AD203B41FA5}">
                      <a16:colId xmlns:a16="http://schemas.microsoft.com/office/drawing/2014/main" val="20000"/>
                    </a:ext>
                  </a:extLst>
                </a:gridCol>
                <a:gridCol w="8665526">
                  <a:extLst>
                    <a:ext uri="{9D8B030D-6E8A-4147-A177-3AD203B41FA5}">
                      <a16:colId xmlns:a16="http://schemas.microsoft.com/office/drawing/2014/main" val="20001"/>
                    </a:ext>
                  </a:extLst>
                </a:gridCol>
                <a:gridCol w="5472963">
                  <a:extLst>
                    <a:ext uri="{9D8B030D-6E8A-4147-A177-3AD203B41FA5}">
                      <a16:colId xmlns:a16="http://schemas.microsoft.com/office/drawing/2014/main" val="20002"/>
                    </a:ext>
                  </a:extLst>
                </a:gridCol>
                <a:gridCol w="5837828">
                  <a:extLst>
                    <a:ext uri="{9D8B030D-6E8A-4147-A177-3AD203B41FA5}">
                      <a16:colId xmlns:a16="http://schemas.microsoft.com/office/drawing/2014/main" val="20003"/>
                    </a:ext>
                  </a:extLst>
                </a:gridCol>
              </a:tblGrid>
              <a:tr h="2011680">
                <a:tc>
                  <a:txBody>
                    <a:bodyPr/>
                    <a:lstStyle/>
                    <a:p>
                      <a:r>
                        <a:rPr sz="2600" b="1">
                          <a:solidFill>
                            <a:srgbClr val="FFFFFF"/>
                          </a:solidFill>
                          <a:latin typeface="Quattrocento Sans"/>
                        </a:rPr>
                        <a:t>Level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Criteria (example)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Response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Communication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2011680">
                <a:tc>
                  <a:txBody>
                    <a:bodyPr/>
                    <a:lstStyle/>
                    <a:p>
                      <a:r>
                        <a:rPr sz="2600" b="1">
                          <a:solidFill>
                            <a:srgbClr val="1B2A4A"/>
                          </a:solidFill>
                          <a:latin typeface="Quattrocento Sans"/>
                        </a:rPr>
                        <a:t>SEV-1</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Service down, or wrong predictions affecting decisions at scale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Immediate, 24/7; roll back first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Leadership &amp; service owner, regular updates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2011680">
                <a:tc>
                  <a:txBody>
                    <a:bodyPr/>
                    <a:lstStyle/>
                    <a:p>
                      <a:r>
                        <a:rPr sz="2600" b="1">
                          <a:solidFill>
                            <a:srgbClr val="1B2A4A"/>
                          </a:solidFill>
                          <a:latin typeface="Quattrocento Sans"/>
                        </a:rPr>
                        <a:t>SEV-2</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Significant quality drop for some cases, high latency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Same business day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Related teams &amp; model owner</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2011680">
                <a:tc>
                  <a:txBody>
                    <a:bodyPr/>
                    <a:lstStyle/>
                    <a:p>
                      <a:r>
                        <a:rPr sz="2600" b="1">
                          <a:solidFill>
                            <a:srgbClr val="1B2A4A"/>
                          </a:solidFill>
                          <a:latin typeface="Quattrocento Sans"/>
                        </a:rPr>
                        <a:t>SEV-3</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Drift detected, no measurable impact yet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Backlog / scheduled retrain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ML team</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The Rollback Options We Already Have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MITIGATION</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57</a:t>
            </a:r>
          </a:p>
        </p:txBody>
      </p:sp>
      <p:sp>
        <p:nvSpPr>
          <p:cNvPr id="6" name="Rounded Rectangle 5"/>
          <p:cNvSpPr/>
          <p:nvPr/>
        </p:nvSpPr>
        <p:spPr>
          <a:xfrm>
            <a:off x="1014984" y="2514600"/>
            <a:ext cx="7174992" cy="99669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563624"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63624"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Registry alias</a:t>
            </a:r>
          </a:p>
        </p:txBody>
      </p:sp>
      <p:sp>
        <p:nvSpPr>
          <p:cNvPr id="9" name="TextBox 8"/>
          <p:cNvSpPr txBox="1"/>
          <p:nvPr/>
        </p:nvSpPr>
        <p:spPr>
          <a:xfrm>
            <a:off x="1563624"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Model level</a:t>
            </a:r>
          </a:p>
        </p:txBody>
      </p:sp>
      <p:sp>
        <p:nvSpPr>
          <p:cNvPr id="10" name="TextBox 9"/>
          <p:cNvSpPr txBox="1"/>
          <p:nvPr/>
        </p:nvSpPr>
        <p:spPr>
          <a:xfrm>
            <a:off x="1563624" y="5212079"/>
            <a:ext cx="6077712" cy="6903720"/>
          </a:xfrm>
          <a:prstGeom prst="rect">
            <a:avLst/>
          </a:prstGeom>
          <a:noFill/>
        </p:spPr>
        <p:txBody>
          <a:bodyPr wrap="square" lIns="0" tIns="0" rIns="0" bIns="0" anchor="t">
            <a:spAutoFit/>
          </a:bodyPr>
          <a:lstStyle/>
          <a:p>
            <a:pPr marL="452754" indent="-452754" algn="l">
              <a:lnSpc>
                <a:spcPct val="120000"/>
              </a:lnSpc>
              <a:spcAft>
                <a:spcPts val="1200"/>
              </a:spcAft>
              <a:buClr>
                <a:srgbClr val="D4A03A"/>
              </a:buClr>
              <a:buFont typeface="Arial"/>
              <a:buChar char="•"/>
            </a:pPr>
            <a:r>
              <a:rPr sz="3100" b="0" i="0">
                <a:solidFill>
                  <a:srgbClr val="1E293B"/>
                </a:solidFill>
                <a:latin typeface="Quattrocento Sans"/>
              </a:rPr>
              <a:t>Move @champion back to the previous version</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incident/rollback.py</a:t>
            </a:r>
          </a:p>
          <a:p>
            <a:pPr marL="452754" indent="-452754" algn="l">
              <a:lnSpc>
                <a:spcPct val="120000"/>
              </a:lnSpc>
              <a:spcAft>
                <a:spcPts val="1200"/>
              </a:spcAft>
              <a:buClr>
                <a:srgbClr val="D4A03A"/>
              </a:buClr>
              <a:buFont typeface="Arial"/>
              <a:buChar char="•"/>
            </a:pPr>
            <a:r>
              <a:rPr sz="3100" b="0" i="0">
                <a:solidFill>
                  <a:srgbClr val="1E293B"/>
                </a:solidFill>
                <a:latin typeface="Quattrocento Sans"/>
              </a:rPr>
              <a:t>Requires an API restart/redeploy</a:t>
            </a:r>
          </a:p>
        </p:txBody>
      </p:sp>
      <p:sp>
        <p:nvSpPr>
          <p:cNvPr id="11" name="Rounded Rectangle 10"/>
          <p:cNvSpPr/>
          <p:nvPr/>
        </p:nvSpPr>
        <p:spPr>
          <a:xfrm>
            <a:off x="8601456" y="2514600"/>
            <a:ext cx="7174992" cy="99669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150096" y="3017520"/>
            <a:ext cx="822960" cy="73152"/>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150096"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Cloud Run traffic</a:t>
            </a:r>
          </a:p>
        </p:txBody>
      </p:sp>
      <p:sp>
        <p:nvSpPr>
          <p:cNvPr id="14" name="TextBox 13"/>
          <p:cNvSpPr txBox="1"/>
          <p:nvPr/>
        </p:nvSpPr>
        <p:spPr>
          <a:xfrm>
            <a:off x="9150096"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Service level</a:t>
            </a:r>
          </a:p>
        </p:txBody>
      </p:sp>
      <p:sp>
        <p:nvSpPr>
          <p:cNvPr id="15" name="TextBox 14"/>
          <p:cNvSpPr txBox="1"/>
          <p:nvPr/>
        </p:nvSpPr>
        <p:spPr>
          <a:xfrm>
            <a:off x="9150096" y="5212079"/>
            <a:ext cx="6077712" cy="6903720"/>
          </a:xfrm>
          <a:prstGeom prst="rect">
            <a:avLst/>
          </a:prstGeom>
          <a:noFill/>
        </p:spPr>
        <p:txBody>
          <a:bodyPr wrap="square" lIns="0" tIns="0" rIns="0" bIns="0" anchor="t">
            <a:spAutoFit/>
          </a:bodyPr>
          <a:lstStyle/>
          <a:p>
            <a:pPr marL="452754" indent="-452754" algn="l">
              <a:lnSpc>
                <a:spcPct val="120000"/>
              </a:lnSpc>
              <a:spcAft>
                <a:spcPts val="1200"/>
              </a:spcAft>
              <a:buClr>
                <a:srgbClr val="1B2A4A"/>
              </a:buClr>
              <a:buFont typeface="Arial"/>
              <a:buChar char="•"/>
            </a:pPr>
            <a:r>
              <a:rPr sz="3100" b="0" i="0">
                <a:solidFill>
                  <a:srgbClr val="1E293B"/>
                </a:solidFill>
                <a:latin typeface="Quattrocento Sans"/>
              </a:rPr>
              <a:t>Send 100% of traffic to the old revision</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No rebuild — takes seconds</a:t>
            </a:r>
          </a:p>
          <a:p>
            <a:pPr marL="452754" indent="-452754" algn="l">
              <a:lnSpc>
                <a:spcPct val="120000"/>
              </a:lnSpc>
              <a:spcAft>
                <a:spcPts val="1200"/>
              </a:spcAft>
              <a:buClr>
                <a:srgbClr val="1B2A4A"/>
              </a:buClr>
              <a:buFont typeface="Arial"/>
              <a:buChar char="•"/>
            </a:pPr>
            <a:r>
              <a:rPr sz="3100" b="0" i="0">
                <a:solidFill>
                  <a:srgbClr val="1E293B"/>
                </a:solidFill>
                <a:latin typeface="Quattrocento Sans"/>
              </a:rPr>
              <a:t>update-traffic --to-revisions</a:t>
            </a:r>
          </a:p>
        </p:txBody>
      </p:sp>
      <p:sp>
        <p:nvSpPr>
          <p:cNvPr id="16" name="Rounded Rectangle 15"/>
          <p:cNvSpPr/>
          <p:nvPr/>
        </p:nvSpPr>
        <p:spPr>
          <a:xfrm>
            <a:off x="16187928" y="2514600"/>
            <a:ext cx="7174992" cy="9966960"/>
          </a:xfrm>
          <a:prstGeom prst="roundRect">
            <a:avLst>
              <a:gd name="adj" fmla="val 446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16736568" y="3017520"/>
            <a:ext cx="822960" cy="73152"/>
          </a:xfrm>
          <a:prstGeom prst="rect">
            <a:avLst/>
          </a:prstGeom>
          <a:solidFill>
            <a:srgbClr val="4A5B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736568" y="3246120"/>
            <a:ext cx="6077712" cy="82296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Fallback</a:t>
            </a:r>
          </a:p>
        </p:txBody>
      </p:sp>
      <p:sp>
        <p:nvSpPr>
          <p:cNvPr id="19" name="TextBox 18"/>
          <p:cNvSpPr txBox="1"/>
          <p:nvPr/>
        </p:nvSpPr>
        <p:spPr>
          <a:xfrm>
            <a:off x="16736568" y="4160520"/>
            <a:ext cx="6077712" cy="914400"/>
          </a:xfrm>
          <a:prstGeom prst="rect">
            <a:avLst/>
          </a:prstGeom>
          <a:noFill/>
        </p:spPr>
        <p:txBody>
          <a:bodyPr wrap="square" lIns="0" tIns="0" rIns="0" bIns="0" anchor="t">
            <a:spAutoFit/>
          </a:bodyPr>
          <a:lstStyle/>
          <a:p>
            <a:pPr algn="l">
              <a:lnSpc>
                <a:spcPct val="120000"/>
              </a:lnSpc>
              <a:spcAft>
                <a:spcPts val="600"/>
              </a:spcAft>
            </a:pPr>
            <a:r>
              <a:rPr sz="2600" b="0" i="1">
                <a:solidFill>
                  <a:srgbClr val="6B7B8D"/>
                </a:solidFill>
                <a:latin typeface="Quattrocento Sans"/>
              </a:rPr>
              <a:t>Business level</a:t>
            </a:r>
          </a:p>
        </p:txBody>
      </p:sp>
      <p:sp>
        <p:nvSpPr>
          <p:cNvPr id="20" name="TextBox 19"/>
          <p:cNvSpPr txBox="1"/>
          <p:nvPr/>
        </p:nvSpPr>
        <p:spPr>
          <a:xfrm>
            <a:off x="16736568" y="5212079"/>
            <a:ext cx="6077712" cy="6903720"/>
          </a:xfrm>
          <a:prstGeom prst="rect">
            <a:avLst/>
          </a:prstGeom>
          <a:noFill/>
        </p:spPr>
        <p:txBody>
          <a:bodyPr wrap="square" lIns="0" tIns="0" rIns="0" bIns="0" anchor="t">
            <a:spAutoFit/>
          </a:bodyPr>
          <a:lstStyle/>
          <a:p>
            <a:pPr marL="452754" indent="-452754" algn="l">
              <a:lnSpc>
                <a:spcPct val="120000"/>
              </a:lnSpc>
              <a:spcAft>
                <a:spcPts val="1200"/>
              </a:spcAft>
              <a:buClr>
                <a:srgbClr val="4A5B7A"/>
              </a:buClr>
              <a:buFont typeface="Arial"/>
              <a:buChar char="•"/>
            </a:pPr>
            <a:r>
              <a:rPr sz="3100" b="0" i="0">
                <a:solidFill>
                  <a:srgbClr val="1E293B"/>
                </a:solidFill>
                <a:latin typeface="Quattrocento Sans"/>
              </a:rPr>
              <a:t>Revert to simple rules or a manual process</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Used when no model version is fit for use</a:t>
            </a:r>
          </a:p>
          <a:p>
            <a:pPr marL="452754" indent="-452754" algn="l">
              <a:lnSpc>
                <a:spcPct val="120000"/>
              </a:lnSpc>
              <a:spcAft>
                <a:spcPts val="1200"/>
              </a:spcAft>
              <a:buClr>
                <a:srgbClr val="4A5B7A"/>
              </a:buClr>
              <a:buFont typeface="Arial"/>
              <a:buChar char="•"/>
            </a:pPr>
            <a:r>
              <a:rPr sz="3100" b="0" i="0">
                <a:solidFill>
                  <a:srgbClr val="1E293B"/>
                </a:solidFill>
                <a:latin typeface="Quattrocento Sans"/>
              </a:rPr>
              <a:t>Must be prepared before an incident</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Exercise: Releasing a Model with a Label Bug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DRILL</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58</a:t>
            </a:r>
          </a:p>
        </p:txBody>
      </p:sp>
      <p:sp>
        <p:nvSpPr>
          <p:cNvPr id="6" name="Rounded Rectangle 5"/>
          <p:cNvSpPr/>
          <p:nvPr/>
        </p:nvSpPr>
        <p:spPr>
          <a:xfrm>
            <a:off x="1014984" y="2514600"/>
            <a:ext cx="22347936" cy="1463040"/>
          </a:xfrm>
          <a:prstGeom prst="roundRect">
            <a:avLst>
              <a:gd name="adj" fmla="val 7500"/>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14984" y="2514600"/>
            <a:ext cx="128016" cy="146304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17904" y="2514600"/>
            <a:ext cx="21524976" cy="1463040"/>
          </a:xfrm>
          <a:prstGeom prst="rect">
            <a:avLst/>
          </a:prstGeom>
          <a:noFill/>
        </p:spPr>
        <p:txBody>
          <a:bodyPr wrap="square" lIns="0" tIns="0" rIns="0" bIns="0" anchor="ctr">
            <a:spAutoFit/>
          </a:bodyPr>
          <a:lstStyle/>
          <a:p>
            <a:pPr algn="l">
              <a:lnSpc>
                <a:spcPct val="120000"/>
              </a:lnSpc>
              <a:spcAft>
                <a:spcPts val="600"/>
              </a:spcAft>
            </a:pPr>
            <a:r>
              <a:rPr sz="2600" b="0" i="1">
                <a:solidFill>
                  <a:srgbClr val="1B2A4A"/>
                </a:solidFill>
                <a:latin typeface="Quattrocento Sans"/>
              </a:rPr>
              <a:t>Story: a "hotfix" is trained on data whose labels were shuffled by a bad join. There is no quality gate, so it goes straight to @champion.</a:t>
            </a:r>
          </a:p>
        </p:txBody>
      </p:sp>
      <p:graphicFrame>
        <p:nvGraphicFramePr>
          <p:cNvPr id="9" name="Table 8"/>
          <p:cNvGraphicFramePr>
            <a:graphicFrameLocks noGrp="1"/>
          </p:cNvGraphicFramePr>
          <p:nvPr/>
        </p:nvGraphicFramePr>
        <p:xfrm>
          <a:off x="1014984" y="4389120"/>
          <a:ext cx="22347934" cy="7955280"/>
        </p:xfrm>
        <a:graphic>
          <a:graphicData uri="http://schemas.openxmlformats.org/drawingml/2006/table">
            <a:tbl>
              <a:tblPr/>
              <a:tblGrid>
                <a:gridCol w="5016883">
                  <a:extLst>
                    <a:ext uri="{9D8B030D-6E8A-4147-A177-3AD203B41FA5}">
                      <a16:colId xmlns:a16="http://schemas.microsoft.com/office/drawing/2014/main" val="20000"/>
                    </a:ext>
                  </a:extLst>
                </a:gridCol>
                <a:gridCol w="9121606">
                  <a:extLst>
                    <a:ext uri="{9D8B030D-6E8A-4147-A177-3AD203B41FA5}">
                      <a16:colId xmlns:a16="http://schemas.microsoft.com/office/drawing/2014/main" val="20001"/>
                    </a:ext>
                  </a:extLst>
                </a:gridCol>
                <a:gridCol w="8209445">
                  <a:extLst>
                    <a:ext uri="{9D8B030D-6E8A-4147-A177-3AD203B41FA5}">
                      <a16:colId xmlns:a16="http://schemas.microsoft.com/office/drawing/2014/main" val="20002"/>
                    </a:ext>
                  </a:extLst>
                </a:gridCol>
              </a:tblGrid>
              <a:tr h="1325880">
                <a:tc>
                  <a:txBody>
                    <a:bodyPr/>
                    <a:lstStyle/>
                    <a:p>
                      <a:r>
                        <a:rPr sz="2600" b="1">
                          <a:solidFill>
                            <a:srgbClr val="FFFFFF"/>
                          </a:solidFill>
                          <a:latin typeface="Quattrocento Sans"/>
                        </a:rPr>
                        <a:t>Step</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Terminal B</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600" b="1">
                          <a:solidFill>
                            <a:srgbClr val="FFFFFF"/>
                          </a:solidFill>
                          <a:latin typeface="Quattrocento Sans"/>
                        </a:rPr>
                        <a:t>Then in terminal A</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1325880">
                <a:tc>
                  <a:txBody>
                    <a:bodyPr/>
                    <a:lstStyle/>
                    <a:p>
                      <a:r>
                        <a:rPr sz="2600" b="1">
                          <a:solidFill>
                            <a:srgbClr val="1B2A4A"/>
                          </a:solidFill>
                          <a:latin typeface="Quattrocento Sans"/>
                        </a:rPr>
                        <a:t>0. Normal state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make drill-check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  (make serve already running)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1325880">
                <a:tc>
                  <a:txBody>
                    <a:bodyPr/>
                    <a:lstStyle/>
                    <a:p>
                      <a:r>
                        <a:rPr sz="2600" b="1">
                          <a:solidFill>
                            <a:srgbClr val="1B2A4A"/>
                          </a:solidFill>
                          <a:latin typeface="Quattrocento Sans"/>
                        </a:rPr>
                        <a:t>1. Incident happens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make drill-bad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Ctrl+C, then make serve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1325880">
                <a:tc>
                  <a:txBody>
                    <a:bodyPr/>
                    <a:lstStyle/>
                    <a:p>
                      <a:r>
                        <a:rPr sz="2600" b="1">
                          <a:solidFill>
                            <a:srgbClr val="1B2A4A"/>
                          </a:solidFill>
                          <a:latin typeface="Quattrocento Sans"/>
                        </a:rPr>
                        <a:t>2. Detect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make drill-check  &amp;  make gate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1325880">
                <a:tc>
                  <a:txBody>
                    <a:bodyPr/>
                    <a:lstStyle/>
                    <a:p>
                      <a:r>
                        <a:rPr sz="2600" b="1">
                          <a:solidFill>
                            <a:srgbClr val="1B2A4A"/>
                          </a:solidFill>
                          <a:latin typeface="Quattrocento Sans"/>
                        </a:rPr>
                        <a:t>3. Mitigate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make drill-rollback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600" b="0">
                          <a:solidFill>
                            <a:srgbClr val="1E293B"/>
                          </a:solidFill>
                          <a:latin typeface="Quattrocento Sans"/>
                        </a:rPr>
                        <a:t>Ctrl+C, then make serve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r h="1325880">
                <a:tc>
                  <a:txBody>
                    <a:bodyPr/>
                    <a:lstStyle/>
                    <a:p>
                      <a:r>
                        <a:rPr sz="2600" b="1">
                          <a:solidFill>
                            <a:srgbClr val="1B2A4A"/>
                          </a:solidFill>
                          <a:latin typeface="Quattrocento Sans"/>
                        </a:rPr>
                        <a:t>4. Verify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make drill-check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600" b="0">
                          <a:solidFill>
                            <a:srgbClr val="1E293B"/>
                          </a:solidFill>
                          <a:latin typeface="Quattrocento Sans"/>
                        </a:rPr>
                        <a: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Smoke Test Catches the Bad Release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DRILL — DETECT</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59</a:t>
            </a:r>
          </a:p>
        </p:txBody>
      </p:sp>
      <p:sp>
        <p:nvSpPr>
          <p:cNvPr id="6" name="Rounded Rectangle 5"/>
          <p:cNvSpPr/>
          <p:nvPr/>
        </p:nvSpPr>
        <p:spPr>
          <a:xfrm>
            <a:off x="1014984" y="2514600"/>
            <a:ext cx="22347936" cy="9966960"/>
          </a:xfrm>
          <a:prstGeom prst="roundRect">
            <a:avLst>
              <a:gd name="adj" fmla="val 1651"/>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9098280"/>
          </a:xfrm>
          <a:prstGeom prst="rect">
            <a:avLst/>
          </a:prstGeom>
          <a:noFill/>
        </p:spPr>
        <p:txBody>
          <a:bodyPr wrap="square" lIns="0" tIns="0" rIns="0" bIns="0" anchor="t">
            <a:spAutoFit/>
          </a:bodyPr>
          <a:lstStyle/>
          <a:p>
            <a:pPr algn="l">
              <a:lnSpc>
                <a:spcPct val="100000"/>
              </a:lnSpc>
              <a:spcAft>
                <a:spcPts val="0"/>
              </a:spcAft>
            </a:pPr>
            <a:r>
              <a:rPr sz="2400" b="0" i="0">
                <a:solidFill>
                  <a:srgbClr val="F5C66B"/>
                </a:solidFill>
                <a:latin typeface="Consolas"/>
              </a:rPr>
              <a:t>$ make drill-check                       # normal state</a:t>
            </a:r>
          </a:p>
          <a:p>
            <a:pPr algn="l">
              <a:lnSpc>
                <a:spcPct val="100000"/>
              </a:lnSpc>
              <a:spcAft>
                <a:spcPts val="0"/>
              </a:spcAft>
            </a:pPr>
            <a:r>
              <a:rPr sz="2400" b="0" i="0">
                <a:solidFill>
                  <a:srgbClr val="E6EDF3"/>
                </a:solidFill>
                <a:latin typeface="Consolas"/>
              </a:rPr>
              <a:t>Serving model     : RandomForestClassifier-v1</a:t>
            </a:r>
          </a:p>
          <a:p>
            <a:pPr algn="l">
              <a:lnSpc>
                <a:spcPct val="100000"/>
              </a:lnSpc>
              <a:spcAft>
                <a:spcPts val="0"/>
              </a:spcAft>
            </a:pPr>
            <a:r>
              <a:rPr sz="2400" b="0" i="0">
                <a:solidFill>
                  <a:srgbClr val="E6EDF3"/>
                </a:solidFill>
                <a:latin typeface="Consolas"/>
              </a:rPr>
              <a:t>Live accuracy     : 0.950 (95/100)</a:t>
            </a:r>
          </a:p>
          <a:p>
            <a:pPr algn="l">
              <a:lnSpc>
                <a:spcPct val="100000"/>
              </a:lnSpc>
              <a:spcAft>
                <a:spcPts val="0"/>
              </a:spcAft>
            </a:pPr>
            <a:r>
              <a:rPr sz="2400" b="0" i="0">
                <a:solidFill>
                  <a:srgbClr val="8BE9A8"/>
                </a:solidFill>
                <a:latin typeface="Consolas"/>
              </a:rPr>
              <a:t>OK: above threshold.</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F5C66B"/>
                </a:solidFill>
                <a:latin typeface="Consolas"/>
              </a:rPr>
              <a:t>$ make drill-bad                         # incident: shuffled labels</a:t>
            </a:r>
          </a:p>
          <a:p>
            <a:pPr algn="l">
              <a:lnSpc>
                <a:spcPct val="100000"/>
              </a:lnSpc>
              <a:spcAft>
                <a:spcPts val="0"/>
              </a:spcAft>
            </a:pPr>
            <a:r>
              <a:rPr sz="2400" b="0" i="0">
                <a:solidFill>
                  <a:srgbClr val="E6EDF3"/>
                </a:solidFill>
                <a:latin typeface="Consolas"/>
              </a:rPr>
              <a:t>Current champion: v1 -&gt; saved as alias 'previous'</a:t>
            </a:r>
          </a:p>
          <a:p>
            <a:pPr algn="l">
              <a:lnSpc>
                <a:spcPct val="100000"/>
              </a:lnSpc>
              <a:spcAft>
                <a:spcPts val="0"/>
              </a:spcAft>
            </a:pPr>
            <a:r>
              <a:rPr sz="2400" b="0" i="0">
                <a:solidFill>
                  <a:srgbClr val="E6EDF3"/>
                </a:solidFill>
                <a:latin typeface="Consolas"/>
              </a:rPr>
              <a:t>Bad version v2 (offline accuracy=0.4200) is now @champion</a:t>
            </a:r>
          </a:p>
          <a:p>
            <a:pPr algn="l">
              <a:lnSpc>
                <a:spcPct val="100000"/>
              </a:lnSpc>
              <a:spcAft>
                <a:spcPts val="0"/>
              </a:spcAft>
            </a:pPr>
            <a:r>
              <a:rPr sz="2400" b="0" i="0">
                <a:solidFill>
                  <a:srgbClr val="E6EDF3"/>
                </a:solidFill>
                <a:latin typeface="Consolas"/>
              </a:rPr>
              <a:t> </a:t>
            </a:r>
          </a:p>
          <a:p>
            <a:pPr algn="l">
              <a:lnSpc>
                <a:spcPct val="100000"/>
              </a:lnSpc>
              <a:spcAft>
                <a:spcPts val="0"/>
              </a:spcAft>
            </a:pPr>
            <a:r>
              <a:rPr sz="2400" b="0" i="0">
                <a:solidFill>
                  <a:srgbClr val="F5C66B"/>
                </a:solidFill>
                <a:latin typeface="Consolas"/>
              </a:rPr>
              <a:t>$ make drill-check                       # after restarting the API</a:t>
            </a:r>
          </a:p>
          <a:p>
            <a:pPr algn="l">
              <a:lnSpc>
                <a:spcPct val="100000"/>
              </a:lnSpc>
              <a:spcAft>
                <a:spcPts val="0"/>
              </a:spcAft>
            </a:pPr>
            <a:r>
              <a:rPr sz="2400" b="0" i="0">
                <a:solidFill>
                  <a:srgbClr val="E6EDF3"/>
                </a:solidFill>
                <a:latin typeface="Consolas"/>
              </a:rPr>
              <a:t>Serving model     : RandomForestClassifier-v2</a:t>
            </a:r>
          </a:p>
          <a:p>
            <a:pPr algn="l">
              <a:lnSpc>
                <a:spcPct val="100000"/>
              </a:lnSpc>
              <a:spcAft>
                <a:spcPts val="0"/>
              </a:spcAft>
            </a:pPr>
            <a:r>
              <a:rPr sz="2400" b="0" i="0">
                <a:solidFill>
                  <a:srgbClr val="E6EDF3"/>
                </a:solidFill>
                <a:latin typeface="Consolas"/>
              </a:rPr>
              <a:t>Live accuracy     : 0.490 (49/100)</a:t>
            </a:r>
          </a:p>
          <a:p>
            <a:pPr algn="l">
              <a:lnSpc>
                <a:spcPct val="100000"/>
              </a:lnSpc>
              <a:spcAft>
                <a:spcPts val="0"/>
              </a:spcAft>
            </a:pPr>
            <a:r>
              <a:rPr sz="2400" b="0" i="0">
                <a:solidFill>
                  <a:srgbClr val="FF8A80"/>
                </a:solidFill>
                <a:latin typeface="Consolas"/>
              </a:rPr>
              <a:t>ALERT: accuracy 0.490 &lt; threshold 0.85 -- open an incident!</a:t>
            </a:r>
          </a:p>
          <a:p>
            <a:pPr algn="l">
              <a:lnSpc>
                <a:spcPct val="100000"/>
              </a:lnSpc>
              <a:spcAft>
                <a:spcPts val="0"/>
              </a:spcAft>
            </a:pPr>
            <a:r>
              <a:rPr sz="2400" b="0" i="0">
                <a:solidFill>
                  <a:srgbClr val="F5C66B"/>
                </a:solidFill>
                <a:latin typeface="Consolas"/>
              </a:rPr>
              <a:t>$ make gate</a:t>
            </a:r>
          </a:p>
          <a:p>
            <a:pPr algn="l">
              <a:lnSpc>
                <a:spcPct val="100000"/>
              </a:lnSpc>
              <a:spcAft>
                <a:spcPts val="0"/>
              </a:spcAft>
            </a:pPr>
            <a:r>
              <a:rPr sz="2400" b="0" i="0">
                <a:solidFill>
                  <a:srgbClr val="FF8A80"/>
                </a:solidFill>
                <a:latin typeface="Consolas"/>
              </a:rPr>
              <a:t>QUALITY GATE: FAILED -- this model must not be released.</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Rollback and an Audit Trail in the Registry</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DRILL — MITIGATE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60</a:t>
            </a:r>
          </a:p>
        </p:txBody>
      </p:sp>
      <p:sp>
        <p:nvSpPr>
          <p:cNvPr id="6" name="Rounded Rectangle 5"/>
          <p:cNvSpPr/>
          <p:nvPr/>
        </p:nvSpPr>
        <p:spPr>
          <a:xfrm>
            <a:off x="1014984" y="2514600"/>
            <a:ext cx="22347936" cy="3931920"/>
          </a:xfrm>
          <a:prstGeom prst="roundRect">
            <a:avLst>
              <a:gd name="adj" fmla="val 4186"/>
            </a:avLst>
          </a:prstGeom>
          <a:solidFill>
            <a:srgbClr val="1420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344168" y="2788920"/>
            <a:ext cx="182880" cy="182880"/>
          </a:xfrm>
          <a:prstGeom prst="ellipse">
            <a:avLst/>
          </a:prstGeom>
          <a:solidFill>
            <a:srgbClr val="FF5F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28216" y="2788920"/>
            <a:ext cx="182880" cy="182880"/>
          </a:xfrm>
          <a:prstGeom prst="ellipse">
            <a:avLst/>
          </a:prstGeom>
          <a:solidFill>
            <a:srgbClr val="FFBD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12264" y="2788920"/>
            <a:ext cx="182880" cy="182880"/>
          </a:xfrm>
          <a:prstGeom prst="ellipse">
            <a:avLst/>
          </a:prstGeom>
          <a:solidFill>
            <a:srgbClr val="27C9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60904" y="2697480"/>
            <a:ext cx="20336256" cy="384048"/>
          </a:xfrm>
          <a:prstGeom prst="rect">
            <a:avLst/>
          </a:prstGeom>
          <a:noFill/>
        </p:spPr>
        <p:txBody>
          <a:bodyPr wrap="square" lIns="0" tIns="0" rIns="0" bIns="0" anchor="t">
            <a:spAutoFit/>
          </a:bodyPr>
          <a:lstStyle/>
          <a:p>
            <a:pPr algn="l">
              <a:lnSpc>
                <a:spcPct val="120000"/>
              </a:lnSpc>
              <a:spcAft>
                <a:spcPts val="600"/>
              </a:spcAft>
            </a:pPr>
            <a:r>
              <a:rPr sz="1800" b="0" i="0">
                <a:solidFill>
                  <a:srgbClr val="8B9BB4"/>
                </a:solidFill>
                <a:latin typeface="Consolas"/>
              </a:rPr>
              <a:t>bash — terminal (real output)</a:t>
            </a:r>
          </a:p>
        </p:txBody>
      </p:sp>
      <p:sp>
        <p:nvSpPr>
          <p:cNvPr id="11" name="TextBox 10"/>
          <p:cNvSpPr txBox="1"/>
          <p:nvPr/>
        </p:nvSpPr>
        <p:spPr>
          <a:xfrm>
            <a:off x="1426464" y="3227832"/>
            <a:ext cx="21616416" cy="3063239"/>
          </a:xfrm>
          <a:prstGeom prst="rect">
            <a:avLst/>
          </a:prstGeom>
          <a:noFill/>
        </p:spPr>
        <p:txBody>
          <a:bodyPr wrap="square" lIns="0" tIns="0" rIns="0" bIns="0" anchor="t">
            <a:spAutoFit/>
          </a:bodyPr>
          <a:lstStyle/>
          <a:p>
            <a:pPr algn="l">
              <a:lnSpc>
                <a:spcPct val="100000"/>
              </a:lnSpc>
              <a:spcAft>
                <a:spcPts val="0"/>
              </a:spcAft>
            </a:pPr>
            <a:r>
              <a:rPr sz="2300" b="0" i="0">
                <a:solidFill>
                  <a:srgbClr val="F5C66B"/>
                </a:solidFill>
                <a:latin typeface="Consolas"/>
              </a:rPr>
              <a:t>$ make drill-rollback</a:t>
            </a:r>
          </a:p>
          <a:p>
            <a:pPr algn="l">
              <a:lnSpc>
                <a:spcPct val="100000"/>
              </a:lnSpc>
              <a:spcAft>
                <a:spcPts val="0"/>
              </a:spcAft>
            </a:pPr>
            <a:r>
              <a:rPr sz="2300" b="0" i="0">
                <a:solidFill>
                  <a:srgbClr val="E6EDF3"/>
                </a:solidFill>
                <a:latin typeface="Consolas"/>
              </a:rPr>
              <a:t>ROLLBACK: @champion v2 -&gt; v1</a:t>
            </a:r>
          </a:p>
          <a:p>
            <a:pPr algn="l">
              <a:lnSpc>
                <a:spcPct val="100000"/>
              </a:lnSpc>
              <a:spcAft>
                <a:spcPts val="0"/>
              </a:spcAft>
            </a:pPr>
            <a:r>
              <a:rPr sz="2300" b="0" i="0">
                <a:solidFill>
                  <a:srgbClr val="E6EDF3"/>
                </a:solidFill>
                <a:latin typeface="Consolas"/>
              </a:rPr>
              <a:t>v2 tagged incident=rolled-back (audit trail for the postmortem)</a:t>
            </a:r>
          </a:p>
          <a:p>
            <a:pPr algn="l">
              <a:lnSpc>
                <a:spcPct val="100000"/>
              </a:lnSpc>
              <a:spcAft>
                <a:spcPts val="0"/>
              </a:spcAft>
            </a:pPr>
            <a:r>
              <a:rPr sz="2300" b="0" i="0">
                <a:solidFill>
                  <a:srgbClr val="F5C66B"/>
                </a:solidFill>
                <a:latin typeface="Consolas"/>
              </a:rPr>
              <a:t>$ make drill-check                       # after restarting the API</a:t>
            </a:r>
          </a:p>
          <a:p>
            <a:pPr algn="l">
              <a:lnSpc>
                <a:spcPct val="100000"/>
              </a:lnSpc>
              <a:spcAft>
                <a:spcPts val="0"/>
              </a:spcAft>
            </a:pPr>
            <a:r>
              <a:rPr sz="2300" b="0" i="0">
                <a:solidFill>
                  <a:srgbClr val="E6EDF3"/>
                </a:solidFill>
                <a:latin typeface="Consolas"/>
              </a:rPr>
              <a:t>Serving model : RandomForestClassifier-v1   |   Live accuracy : 0.950   |   OK: above threshold.</a:t>
            </a:r>
          </a:p>
        </p:txBody>
      </p:sp>
      <p:pic>
        <p:nvPicPr>
          <p:cNvPr id="12" name="Picture 11" descr="crop_registry.png"/>
          <p:cNvPicPr>
            <a:picLocks noChangeAspect="1"/>
          </p:cNvPicPr>
          <p:nvPr/>
        </p:nvPicPr>
        <p:blipFill>
          <a:blip r:embed="rId3"/>
          <a:stretch>
            <a:fillRect/>
          </a:stretch>
        </p:blipFill>
        <p:spPr>
          <a:xfrm>
            <a:off x="2893244" y="6720840"/>
            <a:ext cx="18591414" cy="5760720"/>
          </a:xfrm>
          <a:prstGeom prst="rect">
            <a:avLst/>
          </a:prstGeom>
          <a:ln w="19050">
            <a:solidFill>
              <a:srgbClr val="E0DCD3"/>
            </a:solid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A Minimal Model Incident Runbook</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RUNBOOK</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61</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Symptoms &amp; signals</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Which alert fires, which dashboard or log to open first, the smoke-test command.</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Mitigation steps</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Copy-paste-ready alias and traffic rollback commands; who is authorised to run them.</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Verification</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What "recovered" means: live accuracy, latency and error rate back to normal.</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Escalation &amp; comms</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On-call contacts, model owner, service owner; a status message template.</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Blameless Postmortems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POSTMORTEM</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62</a:t>
            </a:r>
          </a:p>
        </p:txBody>
      </p:sp>
      <p:sp>
        <p:nvSpPr>
          <p:cNvPr id="6" name="Rounded Rectangle 5"/>
          <p:cNvSpPr/>
          <p:nvPr/>
        </p:nvSpPr>
        <p:spPr>
          <a:xfrm>
            <a:off x="1014984" y="2514600"/>
            <a:ext cx="10945368" cy="9966960"/>
          </a:xfrm>
          <a:prstGeom prst="roundRect">
            <a:avLst>
              <a:gd name="adj" fmla="val 3211"/>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875520"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What the document covers</a:t>
            </a:r>
          </a:p>
        </p:txBody>
      </p:sp>
      <p:sp>
        <p:nvSpPr>
          <p:cNvPr id="8" name="TextBox 7"/>
          <p:cNvSpPr txBox="1"/>
          <p:nvPr/>
        </p:nvSpPr>
        <p:spPr>
          <a:xfrm>
            <a:off x="1563624" y="4023360"/>
            <a:ext cx="9875520" cy="8229600"/>
          </a:xfrm>
          <a:prstGeom prst="rect">
            <a:avLst/>
          </a:prstGeom>
          <a:noFill/>
        </p:spPr>
        <p:txBody>
          <a:bodyPr wrap="square" lIns="0" tIns="0" rIns="0" bIns="0" anchor="t">
            <a:spAutoFit/>
          </a:bodyPr>
          <a:lstStyle/>
          <a:p>
            <a:pPr marL="408939" indent="-408939" algn="l">
              <a:lnSpc>
                <a:spcPct val="125000"/>
              </a:lnSpc>
              <a:spcAft>
                <a:spcPts val="2000"/>
              </a:spcAft>
              <a:buClr>
                <a:srgbClr val="D4A03A"/>
              </a:buClr>
              <a:buFont typeface="Arial"/>
              <a:buChar char="•"/>
            </a:pPr>
            <a:r>
              <a:rPr sz="2800" b="0" i="0">
                <a:solidFill>
                  <a:srgbClr val="1E293B"/>
                </a:solidFill>
                <a:latin typeface="Quattrocento Sans"/>
              </a:rPr>
              <a:t>Impact summary &amp; duration</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Timeline (detect → mitigate → recover)</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Root cause &amp; contributing factors</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What went well / badly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Action items with owners &amp; due dates</a:t>
            </a:r>
          </a:p>
        </p:txBody>
      </p:sp>
      <p:sp>
        <p:nvSpPr>
          <p:cNvPr id="9" name="Rounded Rectangle 8"/>
          <p:cNvSpPr/>
          <p:nvPr/>
        </p:nvSpPr>
        <p:spPr>
          <a:xfrm>
            <a:off x="12417552" y="2514600"/>
            <a:ext cx="10945368" cy="9966960"/>
          </a:xfrm>
          <a:prstGeom prst="roundRect">
            <a:avLst>
              <a:gd name="adj" fmla="val 3211"/>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12966192" y="3017520"/>
            <a:ext cx="822960" cy="73152"/>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66192" y="3246120"/>
            <a:ext cx="9875520" cy="731520"/>
          </a:xfrm>
          <a:prstGeom prst="rect">
            <a:avLst/>
          </a:prstGeom>
          <a:noFill/>
        </p:spPr>
        <p:txBody>
          <a:bodyPr wrap="square" lIns="0" tIns="0" rIns="0" bIns="0" anchor="t">
            <a:spAutoFit/>
          </a:bodyPr>
          <a:lstStyle/>
          <a:p>
            <a:pPr algn="l">
              <a:lnSpc>
                <a:spcPct val="120000"/>
              </a:lnSpc>
              <a:spcAft>
                <a:spcPts val="600"/>
              </a:spcAft>
            </a:pPr>
            <a:r>
              <a:rPr sz="3000" b="1" i="0">
                <a:solidFill>
                  <a:srgbClr val="1B2A4A"/>
                </a:solidFill>
                <a:latin typeface="Liter"/>
              </a:rPr>
              <a:t>Action items from the drill</a:t>
            </a:r>
          </a:p>
        </p:txBody>
      </p:sp>
      <p:sp>
        <p:nvSpPr>
          <p:cNvPr id="12" name="TextBox 11"/>
          <p:cNvSpPr txBox="1"/>
          <p:nvPr/>
        </p:nvSpPr>
        <p:spPr>
          <a:xfrm>
            <a:off x="12966192" y="4343400"/>
            <a:ext cx="9875520" cy="7863840"/>
          </a:xfrm>
          <a:prstGeom prst="rect">
            <a:avLst/>
          </a:prstGeom>
          <a:noFill/>
        </p:spPr>
        <p:txBody>
          <a:bodyPr wrap="square" lIns="0" tIns="0" rIns="0" bIns="0" anchor="t">
            <a:spAutoFit/>
          </a:bodyPr>
          <a:lstStyle/>
          <a:p>
            <a:pPr marL="408939" indent="-408939" algn="l">
              <a:lnSpc>
                <a:spcPct val="125000"/>
              </a:lnSpc>
              <a:spcAft>
                <a:spcPts val="2000"/>
              </a:spcAft>
              <a:buClr>
                <a:srgbClr val="D4A03A"/>
              </a:buClr>
              <a:buFont typeface="Arial"/>
              <a:buChar char="•"/>
            </a:pPr>
            <a:r>
              <a:rPr sz="2800" b="0" i="0">
                <a:solidFill>
                  <a:srgbClr val="1E293B"/>
                </a:solidFill>
                <a:latin typeface="Quattrocento Sans"/>
              </a:rPr>
              <a:t>Pipeline: quality gate + automatic rollback (orchestration/pipeline.py)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Validate the label distribution in the data pipeline</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Labelled smoke test scheduled hourly</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Every model release goes through a canary first</a:t>
            </a:r>
          </a:p>
          <a:p>
            <a:pPr marL="408939" indent="-408939" algn="l">
              <a:lnSpc>
                <a:spcPct val="125000"/>
              </a:lnSpc>
              <a:spcAft>
                <a:spcPts val="2000"/>
              </a:spcAft>
              <a:buClr>
                <a:srgbClr val="D4A03A"/>
              </a:buClr>
              <a:buFont typeface="Arial"/>
              <a:buChar char="•"/>
            </a:pPr>
            <a:r>
              <a:rPr sz="2800" b="0" i="0">
                <a:solidFill>
                  <a:srgbClr val="1E293B"/>
                </a:solidFill>
                <a:latin typeface="Quattrocento Sans"/>
              </a:rPr>
              <a:t>Automate alias rollback after repeated ALERTs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Group Discussion (15 minutes)</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TABLETOP EXERCISE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63</a:t>
            </a:r>
          </a:p>
        </p:txBody>
      </p:sp>
      <p:sp>
        <p:nvSpPr>
          <p:cNvPr id="6" name="Rounded Rectangle 5"/>
          <p:cNvSpPr/>
          <p:nvPr/>
        </p:nvSpPr>
        <p:spPr>
          <a:xfrm>
            <a:off x="1014984" y="2514600"/>
            <a:ext cx="22347936" cy="2194560"/>
          </a:xfrm>
          <a:prstGeom prst="roundRect">
            <a:avLst>
              <a:gd name="adj" fmla="val 5000"/>
            </a:avLst>
          </a:prstGeom>
          <a:solidFill>
            <a:srgbClr val="F2E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014984" y="2514600"/>
            <a:ext cx="128016" cy="2194560"/>
          </a:xfrm>
          <a:prstGeom prst="rect">
            <a:avLst/>
          </a:prstGeom>
          <a:solidFill>
            <a:srgbClr val="1B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17904" y="2514600"/>
            <a:ext cx="21524976" cy="2194560"/>
          </a:xfrm>
          <a:prstGeom prst="rect">
            <a:avLst/>
          </a:prstGeom>
          <a:noFill/>
        </p:spPr>
        <p:txBody>
          <a:bodyPr wrap="square" lIns="0" tIns="0" rIns="0" bIns="0" anchor="ctr">
            <a:spAutoFit/>
          </a:bodyPr>
          <a:lstStyle/>
          <a:p>
            <a:pPr algn="l">
              <a:lnSpc>
                <a:spcPct val="120000"/>
              </a:lnSpc>
              <a:spcAft>
                <a:spcPts val="600"/>
              </a:spcAft>
            </a:pPr>
            <a:r>
              <a:rPr sz="2600" b="0" i="1">
                <a:solidFill>
                  <a:srgbClr val="1B2A4A"/>
                </a:solidFill>
                <a:latin typeface="Quattrocento Sans"/>
              </a:rPr>
              <a:t>Scenario: an audit-prioritisation model suddenly flags far more cases as "high risk" than usual, right after a data format change in a source system. Business users start complaining.</a:t>
            </a:r>
          </a:p>
        </p:txBody>
      </p:sp>
      <p:sp>
        <p:nvSpPr>
          <p:cNvPr id="9" name="Rounded Rectangle 8"/>
          <p:cNvSpPr/>
          <p:nvPr/>
        </p:nvSpPr>
        <p:spPr>
          <a:xfrm>
            <a:off x="1014984" y="51206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563624" y="553212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11" name="TextBox 10"/>
          <p:cNvSpPr txBox="1"/>
          <p:nvPr/>
        </p:nvSpPr>
        <p:spPr>
          <a:xfrm>
            <a:off x="2615184" y="553212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Severity?</a:t>
            </a:r>
          </a:p>
        </p:txBody>
      </p:sp>
      <p:sp>
        <p:nvSpPr>
          <p:cNvPr id="12" name="TextBox 11"/>
          <p:cNvSpPr txBox="1"/>
          <p:nvPr/>
        </p:nvSpPr>
        <p:spPr>
          <a:xfrm>
            <a:off x="1563624" y="6537959"/>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Which level is this, and who is the incident commander?</a:t>
            </a:r>
          </a:p>
        </p:txBody>
      </p:sp>
      <p:sp>
        <p:nvSpPr>
          <p:cNvPr id="13" name="Rounded Rectangle 12"/>
          <p:cNvSpPr/>
          <p:nvPr/>
        </p:nvSpPr>
        <p:spPr>
          <a:xfrm>
            <a:off x="12394692" y="51206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2943332" y="553212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5" name="TextBox 14"/>
          <p:cNvSpPr txBox="1"/>
          <p:nvPr/>
        </p:nvSpPr>
        <p:spPr>
          <a:xfrm>
            <a:off x="13994892" y="553212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First mitigation?</a:t>
            </a:r>
          </a:p>
        </p:txBody>
      </p:sp>
      <p:sp>
        <p:nvSpPr>
          <p:cNvPr id="16" name="TextBox 15"/>
          <p:cNvSpPr txBox="1"/>
          <p:nvPr/>
        </p:nvSpPr>
        <p:spPr>
          <a:xfrm>
            <a:off x="12943332" y="6537959"/>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Roll back the model, roll back the data, or fall back to a manual process?</a:t>
            </a:r>
          </a:p>
        </p:txBody>
      </p:sp>
      <p:sp>
        <p:nvSpPr>
          <p:cNvPr id="17" name="Rounded Rectangle 16"/>
          <p:cNvSpPr/>
          <p:nvPr/>
        </p:nvSpPr>
        <p:spPr>
          <a:xfrm>
            <a:off x="1014984" y="90068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63624" y="9418319"/>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9" name="TextBox 18"/>
          <p:cNvSpPr txBox="1"/>
          <p:nvPr/>
        </p:nvSpPr>
        <p:spPr>
          <a:xfrm>
            <a:off x="2615184" y="9418319"/>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Missed signals?</a:t>
            </a:r>
          </a:p>
        </p:txBody>
      </p:sp>
      <p:sp>
        <p:nvSpPr>
          <p:cNvPr id="20" name="TextBox 19"/>
          <p:cNvSpPr txBox="1"/>
          <p:nvPr/>
        </p:nvSpPr>
        <p:spPr>
          <a:xfrm>
            <a:off x="1563624" y="10424160"/>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Which monitoring should have warned us earlier?</a:t>
            </a:r>
          </a:p>
        </p:txBody>
      </p:sp>
      <p:sp>
        <p:nvSpPr>
          <p:cNvPr id="21" name="Rounded Rectangle 20"/>
          <p:cNvSpPr/>
          <p:nvPr/>
        </p:nvSpPr>
        <p:spPr>
          <a:xfrm>
            <a:off x="12394692" y="9006840"/>
            <a:ext cx="10968228" cy="3474720"/>
          </a:xfrm>
          <a:prstGeom prst="roundRect">
            <a:avLst>
              <a:gd name="adj" fmla="val 8000"/>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2943332" y="9418319"/>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3" name="TextBox 22"/>
          <p:cNvSpPr txBox="1"/>
          <p:nvPr/>
        </p:nvSpPr>
        <p:spPr>
          <a:xfrm>
            <a:off x="13994892" y="9418319"/>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Prevention?</a:t>
            </a:r>
          </a:p>
        </p:txBody>
      </p:sp>
      <p:sp>
        <p:nvSpPr>
          <p:cNvPr id="24" name="TextBox 23"/>
          <p:cNvSpPr txBox="1"/>
          <p:nvPr/>
        </p:nvSpPr>
        <p:spPr>
          <a:xfrm>
            <a:off x="12943332" y="10424160"/>
            <a:ext cx="9870948" cy="1828800"/>
          </a:xfrm>
          <a:prstGeom prst="rect">
            <a:avLst/>
          </a:prstGeom>
          <a:noFill/>
        </p:spPr>
        <p:txBody>
          <a:bodyPr wrap="square" lIns="0" tIns="0" rIns="0" bIns="0" anchor="t">
            <a:spAutoFit/>
          </a:bodyPr>
          <a:lstStyle/>
          <a:p>
            <a:pPr algn="l">
              <a:lnSpc>
                <a:spcPct val="130000"/>
              </a:lnSpc>
              <a:spcAft>
                <a:spcPts val="600"/>
              </a:spcAft>
            </a:pPr>
            <a:r>
              <a:rPr sz="2800" b="0" i="0">
                <a:solidFill>
                  <a:srgbClr val="1E293B"/>
                </a:solidFill>
                <a:latin typeface="Quattrocento Sans"/>
              </a:rPr>
              <a:t>Which gate or validation should be added to the pipeline?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Governance &amp; Responsible AI</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GOVERNANCE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64</a:t>
            </a:r>
          </a:p>
        </p:txBody>
      </p:sp>
      <p:sp>
        <p:nvSpPr>
          <p:cNvPr id="6" name="Rounded Rectangle 5"/>
          <p:cNvSpPr/>
          <p:nvPr/>
        </p:nvSpPr>
        <p:spPr>
          <a:xfrm>
            <a:off x="1014984" y="2514600"/>
            <a:ext cx="7174992" cy="7132320"/>
          </a:xfrm>
          <a:prstGeom prst="roundRect">
            <a:avLst>
              <a:gd name="adj" fmla="val 448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Model cards</a:t>
            </a:r>
          </a:p>
        </p:txBody>
      </p:sp>
      <p:sp>
        <p:nvSpPr>
          <p:cNvPr id="9" name="TextBox 8"/>
          <p:cNvSpPr txBox="1"/>
          <p:nvPr/>
        </p:nvSpPr>
        <p:spPr>
          <a:xfrm>
            <a:off x="1563624" y="3931920"/>
            <a:ext cx="6077712" cy="548640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Structured documentation of training data, intended use, limitations and fairness metrics — not a bare .pkl file.</a:t>
            </a:r>
          </a:p>
        </p:txBody>
      </p:sp>
      <p:sp>
        <p:nvSpPr>
          <p:cNvPr id="10" name="Rounded Rectangle 9"/>
          <p:cNvSpPr/>
          <p:nvPr/>
        </p:nvSpPr>
        <p:spPr>
          <a:xfrm>
            <a:off x="8601456" y="2514600"/>
            <a:ext cx="7174992" cy="7132320"/>
          </a:xfrm>
          <a:prstGeom prst="roundRect">
            <a:avLst>
              <a:gd name="adj" fmla="val 448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150096"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0201656"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Audit trail</a:t>
            </a:r>
          </a:p>
        </p:txBody>
      </p:sp>
      <p:sp>
        <p:nvSpPr>
          <p:cNvPr id="13" name="TextBox 12"/>
          <p:cNvSpPr txBox="1"/>
          <p:nvPr/>
        </p:nvSpPr>
        <p:spPr>
          <a:xfrm>
            <a:off x="9150096" y="3931920"/>
            <a:ext cx="6077712" cy="548640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The registry already records who registered which version, when, from which run — plus tags such as incident=rolled-back.</a:t>
            </a:r>
          </a:p>
        </p:txBody>
      </p:sp>
      <p:sp>
        <p:nvSpPr>
          <p:cNvPr id="14" name="Rounded Rectangle 13"/>
          <p:cNvSpPr/>
          <p:nvPr/>
        </p:nvSpPr>
        <p:spPr>
          <a:xfrm>
            <a:off x="16187928" y="2514600"/>
            <a:ext cx="7174992" cy="7132320"/>
          </a:xfrm>
          <a:prstGeom prst="roundRect">
            <a:avLst>
              <a:gd name="adj" fmla="val 4487"/>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6736568"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17788128" y="2926080"/>
            <a:ext cx="5209032" cy="731520"/>
          </a:xfrm>
          <a:prstGeom prst="rect">
            <a:avLst/>
          </a:prstGeom>
          <a:noFill/>
        </p:spPr>
        <p:txBody>
          <a:bodyPr wrap="square" lIns="0" tIns="0" rIns="0" bIns="0" anchor="ctr">
            <a:spAutoFit/>
          </a:bodyPr>
          <a:lstStyle/>
          <a:p>
            <a:pPr algn="l">
              <a:lnSpc>
                <a:spcPct val="120000"/>
              </a:lnSpc>
              <a:spcAft>
                <a:spcPts val="600"/>
              </a:spcAft>
            </a:pPr>
            <a:r>
              <a:rPr sz="2800" b="1" i="0">
                <a:solidFill>
                  <a:srgbClr val="1B2A4A"/>
                </a:solidFill>
                <a:latin typeface="Liter"/>
              </a:rPr>
              <a:t>Reproducibility = compliance</a:t>
            </a:r>
          </a:p>
        </p:txBody>
      </p:sp>
      <p:sp>
        <p:nvSpPr>
          <p:cNvPr id="17" name="TextBox 16"/>
          <p:cNvSpPr txBox="1"/>
          <p:nvPr/>
        </p:nvSpPr>
        <p:spPr>
          <a:xfrm>
            <a:off x="16736568" y="3931920"/>
            <a:ext cx="6077712" cy="548640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In regulated settings, being able to reproduce an old model and its decision is an obligation, not a nice-to-have.</a:t>
            </a:r>
          </a:p>
        </p:txBody>
      </p:sp>
      <p:sp>
        <p:nvSpPr>
          <p:cNvPr id="18" name="Rounded Rectangle 17"/>
          <p:cNvSpPr/>
          <p:nvPr/>
        </p:nvSpPr>
        <p:spPr>
          <a:xfrm>
            <a:off x="1014984" y="10515600"/>
            <a:ext cx="22347936" cy="1371600"/>
          </a:xfrm>
          <a:prstGeom prst="roundRect">
            <a:avLst>
              <a:gd name="adj" fmla="val 8000"/>
            </a:avLst>
          </a:prstGeom>
          <a:solidFill>
            <a:srgbClr val="FB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14984" y="10515600"/>
            <a:ext cx="128016" cy="1371600"/>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517904" y="10515600"/>
            <a:ext cx="21524976" cy="1371600"/>
          </a:xfrm>
          <a:prstGeom prst="rect">
            <a:avLst/>
          </a:prstGeom>
          <a:noFill/>
        </p:spPr>
        <p:txBody>
          <a:bodyPr wrap="square" lIns="0" tIns="0" rIns="0" bIns="0" anchor="ctr">
            <a:spAutoFit/>
          </a:bodyPr>
          <a:lstStyle/>
          <a:p>
            <a:pPr algn="l">
              <a:lnSpc>
                <a:spcPct val="120000"/>
              </a:lnSpc>
              <a:spcAft>
                <a:spcPts val="600"/>
              </a:spcAft>
            </a:pPr>
            <a:r>
              <a:rPr sz="2400" b="0" i="1">
                <a:solidFill>
                  <a:srgbClr val="1B2A4A"/>
                </a:solidFill>
                <a:latin typeface="Quattrocento Sans"/>
              </a:rPr>
              <a:t>Discussion: which DJP decisions supported by a model must be explainable to a taxpayer or an auditor?</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From Workshop-Grade to Production-Grade</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NEXT STEPS</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65</a:t>
            </a:r>
          </a:p>
        </p:txBody>
      </p:sp>
      <p:sp>
        <p:nvSpPr>
          <p:cNvPr id="6" name="Rounded Rectangle 5"/>
          <p:cNvSpPr/>
          <p:nvPr/>
        </p:nvSpPr>
        <p:spPr>
          <a:xfrm>
            <a:off x="1014984"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63624"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01</a:t>
            </a:r>
          </a:p>
        </p:txBody>
      </p:sp>
      <p:sp>
        <p:nvSpPr>
          <p:cNvPr id="8" name="TextBox 7"/>
          <p:cNvSpPr txBox="1"/>
          <p:nvPr/>
        </p:nvSpPr>
        <p:spPr>
          <a:xfrm>
            <a:off x="2615184"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Infrastructure as Code</a:t>
            </a:r>
          </a:p>
        </p:txBody>
      </p:sp>
      <p:sp>
        <p:nvSpPr>
          <p:cNvPr id="9" name="TextBox 8"/>
          <p:cNvSpPr txBox="1"/>
          <p:nvPr/>
        </p:nvSpPr>
        <p:spPr>
          <a:xfrm>
            <a:off x="1563624"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Define projects, registries and services with Terraform instead of one-off gcloud commands.</a:t>
            </a:r>
          </a:p>
        </p:txBody>
      </p:sp>
      <p:sp>
        <p:nvSpPr>
          <p:cNvPr id="10" name="Rounded Rectangle 9"/>
          <p:cNvSpPr/>
          <p:nvPr/>
        </p:nvSpPr>
        <p:spPr>
          <a:xfrm>
            <a:off x="12394692" y="251460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2943332" y="292608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02</a:t>
            </a:r>
          </a:p>
        </p:txBody>
      </p:sp>
      <p:sp>
        <p:nvSpPr>
          <p:cNvPr id="12" name="TextBox 11"/>
          <p:cNvSpPr txBox="1"/>
          <p:nvPr/>
        </p:nvSpPr>
        <p:spPr>
          <a:xfrm>
            <a:off x="13994892" y="292608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Multiple environments</a:t>
            </a:r>
          </a:p>
        </p:txBody>
      </p:sp>
      <p:sp>
        <p:nvSpPr>
          <p:cNvPr id="13" name="TextBox 12"/>
          <p:cNvSpPr txBox="1"/>
          <p:nvPr/>
        </p:nvSpPr>
        <p:spPr>
          <a:xfrm>
            <a:off x="12943332" y="393192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Separate dev, staging and prod, with promotion between them instead of deploying straight to prod.</a:t>
            </a:r>
          </a:p>
        </p:txBody>
      </p:sp>
      <p:sp>
        <p:nvSpPr>
          <p:cNvPr id="14" name="Rounded Rectangle 13"/>
          <p:cNvSpPr/>
          <p:nvPr/>
        </p:nvSpPr>
        <p:spPr>
          <a:xfrm>
            <a:off x="1014984"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563624"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03</a:t>
            </a:r>
          </a:p>
        </p:txBody>
      </p:sp>
      <p:sp>
        <p:nvSpPr>
          <p:cNvPr id="16" name="TextBox 15"/>
          <p:cNvSpPr txBox="1"/>
          <p:nvPr/>
        </p:nvSpPr>
        <p:spPr>
          <a:xfrm>
            <a:off x="2615184"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Secret management</a:t>
            </a:r>
          </a:p>
        </p:txBody>
      </p:sp>
      <p:sp>
        <p:nvSpPr>
          <p:cNvPr id="17" name="TextBox 16"/>
          <p:cNvSpPr txBox="1"/>
          <p:nvPr/>
        </p:nvSpPr>
        <p:spPr>
          <a:xfrm>
            <a:off x="1563624"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.env file is fine for one person; teams need Secret Manager or Vault with fine-grained access.</a:t>
            </a:r>
          </a:p>
        </p:txBody>
      </p:sp>
      <p:sp>
        <p:nvSpPr>
          <p:cNvPr id="18" name="Rounded Rectangle 17"/>
          <p:cNvSpPr/>
          <p:nvPr/>
        </p:nvSpPr>
        <p:spPr>
          <a:xfrm>
            <a:off x="12394692" y="7703820"/>
            <a:ext cx="10968228" cy="4777740"/>
          </a:xfrm>
          <a:prstGeom prst="roundRect">
            <a:avLst>
              <a:gd name="adj" fmla="val 6698"/>
            </a:avLst>
          </a:prstGeom>
          <a:solidFill>
            <a:srgbClr val="FFFFFF"/>
          </a:solidFill>
          <a:ln>
            <a:noFill/>
          </a:ln>
          <a:effectLst>
            <a:outerShdw blurRad="254000" dist="50800" dir="5400000" algn="bl" rotWithShape="0">
              <a:srgbClr val="000000">
                <a:alpha val="6275"/>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2943332" y="8115300"/>
            <a:ext cx="914400" cy="731520"/>
          </a:xfrm>
          <a:prstGeom prst="rect">
            <a:avLst/>
          </a:prstGeom>
          <a:noFill/>
        </p:spPr>
        <p:txBody>
          <a:bodyPr wrap="square" lIns="0" tIns="0" rIns="0" bIns="0" anchor="ctr">
            <a:spAutoFit/>
          </a:bodyPr>
          <a:lstStyle/>
          <a:p>
            <a:pPr algn="l">
              <a:lnSpc>
                <a:spcPct val="120000"/>
              </a:lnSpc>
              <a:spcAft>
                <a:spcPts val="600"/>
              </a:spcAft>
            </a:pPr>
            <a:r>
              <a:rPr sz="3600" b="1" i="0">
                <a:solidFill>
                  <a:srgbClr val="D4A03A"/>
                </a:solidFill>
                <a:latin typeface="Liter"/>
              </a:rPr>
              <a:t>04</a:t>
            </a:r>
          </a:p>
        </p:txBody>
      </p:sp>
      <p:sp>
        <p:nvSpPr>
          <p:cNvPr id="20" name="TextBox 19"/>
          <p:cNvSpPr txBox="1"/>
          <p:nvPr/>
        </p:nvSpPr>
        <p:spPr>
          <a:xfrm>
            <a:off x="13994892" y="8115300"/>
            <a:ext cx="9002268" cy="731520"/>
          </a:xfrm>
          <a:prstGeom prst="rect">
            <a:avLst/>
          </a:prstGeom>
          <a:noFill/>
        </p:spPr>
        <p:txBody>
          <a:bodyPr wrap="square" lIns="0" tIns="0" rIns="0" bIns="0" anchor="ctr">
            <a:spAutoFit/>
          </a:bodyPr>
          <a:lstStyle/>
          <a:p>
            <a:pPr algn="l">
              <a:lnSpc>
                <a:spcPct val="120000"/>
              </a:lnSpc>
              <a:spcAft>
                <a:spcPts val="600"/>
              </a:spcAft>
            </a:pPr>
            <a:r>
              <a:rPr sz="3400" b="1" i="0">
                <a:solidFill>
                  <a:srgbClr val="1B2A4A"/>
                </a:solidFill>
                <a:latin typeface="Liter"/>
              </a:rPr>
              <a:t>Shared services</a:t>
            </a:r>
          </a:p>
        </p:txBody>
      </p:sp>
      <p:sp>
        <p:nvSpPr>
          <p:cNvPr id="21" name="TextBox 20"/>
          <p:cNvSpPr txBox="1"/>
          <p:nvPr/>
        </p:nvSpPr>
        <p:spPr>
          <a:xfrm>
            <a:off x="12943332" y="9121140"/>
            <a:ext cx="9870948" cy="3131820"/>
          </a:xfrm>
          <a:prstGeom prst="rect">
            <a:avLst/>
          </a:prstGeom>
          <a:noFill/>
        </p:spPr>
        <p:txBody>
          <a:bodyPr wrap="square" lIns="0" tIns="0" rIns="0" bIns="0" anchor="t">
            <a:spAutoFit/>
          </a:bodyPr>
          <a:lstStyle/>
          <a:p>
            <a:pPr algn="l">
              <a:lnSpc>
                <a:spcPct val="130000"/>
              </a:lnSpc>
              <a:spcAft>
                <a:spcPts val="600"/>
              </a:spcAft>
            </a:pPr>
            <a:r>
              <a:rPr sz="3200" b="0" i="0">
                <a:solidFill>
                  <a:srgbClr val="1E293B"/>
                </a:solidFill>
                <a:latin typeface="Quattrocento Sans"/>
              </a:rPr>
              <a:t>A central MLflow server and database (e.g. docker compose or managed services) instead of a local mlflow.db.</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14984" y="566928"/>
            <a:ext cx="15910559" cy="960120"/>
          </a:xfrm>
          <a:prstGeom prst="rect">
            <a:avLst/>
          </a:prstGeom>
          <a:noFill/>
        </p:spPr>
        <p:txBody>
          <a:bodyPr wrap="square" lIns="0" tIns="0" rIns="0" bIns="0" anchor="ctr">
            <a:spAutoFit/>
          </a:bodyPr>
          <a:lstStyle/>
          <a:p>
            <a:pPr algn="l">
              <a:lnSpc>
                <a:spcPct val="120000"/>
              </a:lnSpc>
              <a:spcAft>
                <a:spcPts val="600"/>
              </a:spcAft>
            </a:pPr>
            <a:r>
              <a:rPr sz="4400" b="1" i="0">
                <a:solidFill>
                  <a:srgbClr val="1B2A4A"/>
                </a:solidFill>
                <a:latin typeface="Liter"/>
              </a:rPr>
              <a:t>Troubleshooting</a:t>
            </a:r>
          </a:p>
        </p:txBody>
      </p:sp>
      <p:sp>
        <p:nvSpPr>
          <p:cNvPr id="3" name="Rectangle 2"/>
          <p:cNvSpPr/>
          <p:nvPr/>
        </p:nvSpPr>
        <p:spPr>
          <a:xfrm>
            <a:off x="1014984" y="1655064"/>
            <a:ext cx="758952" cy="54864"/>
          </a:xfrm>
          <a:prstGeom prst="rect">
            <a:avLst/>
          </a:prstGeom>
          <a:solidFill>
            <a:srgbClr val="D4A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011680" y="1499616"/>
            <a:ext cx="10972800" cy="384048"/>
          </a:xfrm>
          <a:prstGeom prst="rect">
            <a:avLst/>
          </a:prstGeom>
          <a:noFill/>
        </p:spPr>
        <p:txBody>
          <a:bodyPr wrap="square" lIns="0" tIns="0" rIns="0" bIns="0" anchor="ctr">
            <a:spAutoFit/>
          </a:bodyPr>
          <a:lstStyle/>
          <a:p>
            <a:pPr algn="l">
              <a:lnSpc>
                <a:spcPct val="120000"/>
              </a:lnSpc>
              <a:spcAft>
                <a:spcPts val="600"/>
              </a:spcAft>
            </a:pPr>
            <a:r>
              <a:rPr sz="1600" b="1" i="0" spc="300">
                <a:solidFill>
                  <a:srgbClr val="D4A03A"/>
                </a:solidFill>
                <a:latin typeface="Liter"/>
              </a:rPr>
              <a:t>QUICK REFERENCE</a:t>
            </a:r>
          </a:p>
        </p:txBody>
      </p:sp>
      <p:sp>
        <p:nvSpPr>
          <p:cNvPr id="5" name="TextBox 4"/>
          <p:cNvSpPr txBox="1"/>
          <p:nvPr/>
        </p:nvSpPr>
        <p:spPr>
          <a:xfrm>
            <a:off x="21396960" y="12847320"/>
            <a:ext cx="2011680" cy="457200"/>
          </a:xfrm>
          <a:prstGeom prst="rect">
            <a:avLst/>
          </a:prstGeom>
          <a:noFill/>
        </p:spPr>
        <p:txBody>
          <a:bodyPr wrap="square" lIns="0" tIns="0" rIns="0" bIns="0" anchor="t">
            <a:spAutoFit/>
          </a:bodyPr>
          <a:lstStyle/>
          <a:p>
            <a:pPr algn="r">
              <a:lnSpc>
                <a:spcPct val="120000"/>
              </a:lnSpc>
              <a:spcAft>
                <a:spcPts val="600"/>
              </a:spcAft>
            </a:pPr>
            <a:r>
              <a:rPr sz="1800" b="0" i="0">
                <a:solidFill>
                  <a:srgbClr val="6B7B8D"/>
                </a:solidFill>
                <a:latin typeface="Quattrocento Sans"/>
              </a:rPr>
              <a:t>67</a:t>
            </a:r>
          </a:p>
        </p:txBody>
      </p:sp>
      <p:graphicFrame>
        <p:nvGraphicFramePr>
          <p:cNvPr id="6" name="Table 5"/>
          <p:cNvGraphicFramePr>
            <a:graphicFrameLocks noGrp="1"/>
          </p:cNvGraphicFramePr>
          <p:nvPr/>
        </p:nvGraphicFramePr>
        <p:xfrm>
          <a:off x="1014984" y="2514600"/>
          <a:ext cx="22347935" cy="10360152"/>
        </p:xfrm>
        <a:graphic>
          <a:graphicData uri="http://schemas.openxmlformats.org/drawingml/2006/table">
            <a:tbl>
              <a:tblPr/>
              <a:tblGrid>
                <a:gridCol w="7753365">
                  <a:extLst>
                    <a:ext uri="{9D8B030D-6E8A-4147-A177-3AD203B41FA5}">
                      <a16:colId xmlns:a16="http://schemas.microsoft.com/office/drawing/2014/main" val="20000"/>
                    </a:ext>
                  </a:extLst>
                </a:gridCol>
                <a:gridCol w="7297285">
                  <a:extLst>
                    <a:ext uri="{9D8B030D-6E8A-4147-A177-3AD203B41FA5}">
                      <a16:colId xmlns:a16="http://schemas.microsoft.com/office/drawing/2014/main" val="20001"/>
                    </a:ext>
                  </a:extLst>
                </a:gridCol>
                <a:gridCol w="7297285">
                  <a:extLst>
                    <a:ext uri="{9D8B030D-6E8A-4147-A177-3AD203B41FA5}">
                      <a16:colId xmlns:a16="http://schemas.microsoft.com/office/drawing/2014/main" val="20002"/>
                    </a:ext>
                  </a:extLst>
                </a:gridCol>
              </a:tblGrid>
              <a:tr h="941832">
                <a:tc>
                  <a:txBody>
                    <a:bodyPr/>
                    <a:lstStyle/>
                    <a:p>
                      <a:r>
                        <a:rPr sz="2200" b="1">
                          <a:solidFill>
                            <a:srgbClr val="FFFFFF"/>
                          </a:solidFill>
                          <a:latin typeface="Quattrocento Sans"/>
                        </a:rPr>
                        <a:t>Symptom</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200" b="1">
                          <a:solidFill>
                            <a:srgbClr val="FFFFFF"/>
                          </a:solidFill>
                          <a:latin typeface="Quattrocento Sans"/>
                        </a:rPr>
                        <a:t>Cause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tc>
                  <a:txBody>
                    <a:bodyPr/>
                    <a:lstStyle/>
                    <a:p>
                      <a:r>
                        <a:rPr sz="2200" b="1">
                          <a:solidFill>
                            <a:srgbClr val="FFFFFF"/>
                          </a:solidFill>
                          <a:latin typeface="Quattrocento Sans"/>
                        </a:rPr>
                        <a:t>Fix</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1B2A4A"/>
                    </a:solidFill>
                  </a:tcPr>
                </a:tc>
                <a:extLst>
                  <a:ext uri="{0D108BD9-81ED-4DB2-BD59-A6C34878D82A}">
                    <a16:rowId xmlns:a16="http://schemas.microsoft.com/office/drawing/2014/main" val="10000"/>
                  </a:ext>
                </a:extLst>
              </a:tr>
              <a:tr h="941832">
                <a:tc>
                  <a:txBody>
                    <a:bodyPr/>
                    <a:lstStyle/>
                    <a:p>
                      <a:r>
                        <a:rPr sz="2200" b="1">
                          <a:solidFill>
                            <a:srgbClr val="1B2A4A"/>
                          </a:solidFill>
                          <a:latin typeface="Quattrocento Sans"/>
                        </a:rPr>
                        <a:t>FileNotFoundError: data/train.csv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Data ignored by Git (DVC pattern)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The Day 3 repo commits data/*.csv</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1"/>
                  </a:ext>
                </a:extLst>
              </a:tr>
              <a:tr h="941832">
                <a:tc>
                  <a:txBody>
                    <a:bodyPr/>
                    <a:lstStyle/>
                    <a:p>
                      <a:r>
                        <a:rPr sz="2200" b="1">
                          <a:solidFill>
                            <a:srgbClr val="1B2A4A"/>
                          </a:solidFill>
                          <a:latin typeface="Quattrocento Sans"/>
                        </a:rPr>
                        <a:t>AttributeError: np.float_ was removed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numpy 2.x with evidently 0.4.23</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pip install "numpy&lt;2"</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2"/>
                  </a:ext>
                </a:extLst>
              </a:tr>
              <a:tr h="941832">
                <a:tc>
                  <a:txBody>
                    <a:bodyPr/>
                    <a:lstStyle/>
                    <a:p>
                      <a:r>
                        <a:rPr sz="2200" b="1">
                          <a:solidFill>
                            <a:srgbClr val="1B2A4A"/>
                          </a:solidFill>
                          <a:latin typeface="Quattrocento Sans"/>
                        </a:rPr>
                        <a:t>champion alias not found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Training has not been run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make mlflow</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3"/>
                  </a:ext>
                </a:extLst>
              </a:tr>
              <a:tr h="941832">
                <a:tc>
                  <a:txBody>
                    <a:bodyPr/>
                    <a:lstStyle/>
                    <a:p>
                      <a:r>
                        <a:rPr sz="2200" b="1">
                          <a:solidFill>
                            <a:srgbClr val="1B2A4A"/>
                          </a:solidFill>
                          <a:latin typeface="Quattrocento Sans"/>
                        </a:rPr>
                        <a:t>mlflow ui misbehaves on macOS</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Port 5000 is used by AirPlay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Use --port 5001 (the default here)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4"/>
                  </a:ext>
                </a:extLst>
              </a:tr>
              <a:tr h="941832">
                <a:tc>
                  <a:txBody>
                    <a:bodyPr/>
                    <a:lstStyle/>
                    <a:p>
                      <a:r>
                        <a:rPr sz="2200" b="1">
                          <a:solidFill>
                            <a:srgbClr val="1B2A4A"/>
                          </a:solidFill>
                          <a:latin typeface="Quattrocento Sans"/>
                        </a:rPr>
                        <a:t>/docs page is blank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Swagger CDN blocked by the network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Use curl / make drill-check</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5"/>
                  </a:ext>
                </a:extLst>
              </a:tr>
              <a:tr h="941832">
                <a:tc>
                  <a:txBody>
                    <a:bodyPr/>
                    <a:lstStyle/>
                    <a:p>
                      <a:r>
                        <a:rPr sz="2200" b="1">
                          <a:solidFill>
                            <a:srgbClr val="1B2A4A"/>
                          </a:solidFill>
                          <a:latin typeface="Quattrocento Sans"/>
                        </a:rPr>
                        <a:t>exec format error on Cloud Run</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arm64 image from an M-series Mac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Build remotely: make deploy</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6"/>
                  </a:ext>
                </a:extLst>
              </a:tr>
              <a:tr h="941832">
                <a:tc>
                  <a:txBody>
                    <a:bodyPr/>
                    <a:lstStyle/>
                    <a:p>
                      <a:r>
                        <a:rPr sz="2200" b="1">
                          <a:solidFill>
                            <a:srgbClr val="1B2A4A"/>
                          </a:solidFill>
                          <a:latin typeface="Quattrocento Sans"/>
                        </a:rPr>
                        <a:t>Cloud Build: model file missing</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.gitignore drops model.pkl</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Keep .gcloudignore in the repo</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7"/>
                  </a:ext>
                </a:extLst>
              </a:tr>
              <a:tr h="941832">
                <a:tc>
                  <a:txBody>
                    <a:bodyPr/>
                    <a:lstStyle/>
                    <a:p>
                      <a:r>
                        <a:rPr sz="2200" b="1">
                          <a:solidFill>
                            <a:srgbClr val="1B2A4A"/>
                          </a:solidFill>
                          <a:latin typeface="Quattrocento Sans"/>
                        </a:rPr>
                        <a:t>Rollback has no effect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The model is loaded at startup</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Restart the API / shift traffic</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08"/>
                  </a:ext>
                </a:extLst>
              </a:tr>
              <a:tr h="941832">
                <a:tc>
                  <a:txBody>
                    <a:bodyPr/>
                    <a:lstStyle/>
                    <a:p>
                      <a:r>
                        <a:rPr sz="2200" b="1">
                          <a:solidFill>
                            <a:srgbClr val="1B2A4A"/>
                          </a:solidFill>
                          <a:latin typeface="Quattrocento Sans"/>
                        </a:rPr>
                        <a:t>MlflowException: untrusted types (Tree)</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skops 0.15 installed (unpinned)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tc>
                  <a:txBody>
                    <a:bodyPr/>
                    <a:lstStyle/>
                    <a:p>
                      <a:r>
                        <a:rPr sz="2200" b="0">
                          <a:solidFill>
                            <a:srgbClr val="1E293B"/>
                          </a:solidFill>
                          <a:latin typeface="Quattrocento Sans"/>
                        </a:rPr>
                        <a:t>pip install skops==0.14.0 or use requirements-lock.txt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FFFFF"/>
                    </a:solidFill>
                  </a:tcPr>
                </a:tc>
                <a:extLst>
                  <a:ext uri="{0D108BD9-81ED-4DB2-BD59-A6C34878D82A}">
                    <a16:rowId xmlns:a16="http://schemas.microsoft.com/office/drawing/2014/main" val="10009"/>
                  </a:ext>
                </a:extLst>
              </a:tr>
              <a:tr h="941832">
                <a:tc>
                  <a:txBody>
                    <a:bodyPr/>
                    <a:lstStyle/>
                    <a:p>
                      <a:r>
                        <a:rPr sz="2200" b="1">
                          <a:solidFill>
                            <a:srgbClr val="1B2A4A"/>
                          </a:solidFill>
                          <a:latin typeface="Quattrocento Sans"/>
                        </a:rPr>
                        <a:t>prefect: module not found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Orchestration extras not installed</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tc>
                  <a:txBody>
                    <a:bodyPr/>
                    <a:lstStyle/>
                    <a:p>
                      <a:r>
                        <a:rPr sz="2200" b="0">
                          <a:solidFill>
                            <a:srgbClr val="1E293B"/>
                          </a:solidFill>
                          <a:latin typeface="Quattrocento Sans"/>
                        </a:rPr>
                        <a:t>pip install -r orchestration/requirements.txt</a:t>
                      </a:r>
                    </a:p>
                  </a:txBody>
                  <a:tcPr marL="201168" marR="201168" marT="73152" marB="73152" anchor="ctr">
                    <a:lnL w="12700">
                      <a:solidFill>
                        <a:srgbClr val="E0DCD3"/>
                      </a:solidFill>
                    </a:lnL>
                    <a:lnR w="12700">
                      <a:solidFill>
                        <a:srgbClr val="E0DCD3"/>
                      </a:solidFill>
                    </a:lnR>
                    <a:lnT w="12700">
                      <a:solidFill>
                        <a:srgbClr val="E0DCD3"/>
                      </a:solidFill>
                    </a:lnT>
                    <a:lnB w="12700">
                      <a:solidFill>
                        <a:srgbClr val="E0DCD3"/>
                      </a:solidFill>
                    </a:lnB>
                    <a:solidFill>
                      <a:srgbClr val="F2EFE8"/>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grpSp>
        <p:nvGrpSpPr>
          <p:cNvPr id="10" name="Google Shape;272;p27">
            <a:extLst>
              <a:ext uri="{FF2B5EF4-FFF2-40B4-BE49-F238E27FC236}">
                <a16:creationId xmlns:a16="http://schemas.microsoft.com/office/drawing/2014/main" id="{B89AAB6A-F13D-8CC7-0517-87D74E8CC787}"/>
              </a:ext>
            </a:extLst>
          </p:cNvPr>
          <p:cNvGrpSpPr/>
          <p:nvPr/>
        </p:nvGrpSpPr>
        <p:grpSpPr>
          <a:xfrm>
            <a:off x="0" y="-530942"/>
            <a:ext cx="24384000" cy="14106483"/>
            <a:chOff x="0" y="-19050"/>
            <a:chExt cx="2589314" cy="2728383"/>
          </a:xfrm>
        </p:grpSpPr>
        <p:sp>
          <p:nvSpPr>
            <p:cNvPr id="11" name="Google Shape;273;p27">
              <a:extLst>
                <a:ext uri="{FF2B5EF4-FFF2-40B4-BE49-F238E27FC236}">
                  <a16:creationId xmlns:a16="http://schemas.microsoft.com/office/drawing/2014/main" id="{C71A158A-81DF-9970-C443-0402AFAFDC05}"/>
                </a:ext>
              </a:extLst>
            </p:cNvPr>
            <p:cNvSpPr/>
            <p:nvPr/>
          </p:nvSpPr>
          <p:spPr>
            <a:xfrm>
              <a:off x="0" y="0"/>
              <a:ext cx="2589314" cy="2709333"/>
            </a:xfrm>
            <a:custGeom>
              <a:avLst/>
              <a:gdLst/>
              <a:ahLst/>
              <a:cxnLst/>
              <a:rect l="l" t="t" r="r" b="b"/>
              <a:pathLst>
                <a:path w="2589314" h="2709333" extrusionOk="0">
                  <a:moveTo>
                    <a:pt x="0" y="0"/>
                  </a:moveTo>
                  <a:lnTo>
                    <a:pt x="2589314" y="0"/>
                  </a:lnTo>
                  <a:lnTo>
                    <a:pt x="2589314" y="2709333"/>
                  </a:lnTo>
                  <a:lnTo>
                    <a:pt x="0" y="2709333"/>
                  </a:lnTo>
                  <a:close/>
                </a:path>
              </a:pathLst>
            </a:custGeom>
            <a:solidFill>
              <a:srgbClr val="FFC054"/>
            </a:solidFill>
            <a:ln>
              <a:noFill/>
            </a:ln>
          </p:spPr>
          <p:txBody>
            <a:bodyPr/>
            <a:lstStyle/>
            <a:p>
              <a:endParaRPr lang="en-US"/>
            </a:p>
          </p:txBody>
        </p:sp>
        <p:sp>
          <p:nvSpPr>
            <p:cNvPr id="12" name="Google Shape;274;p27">
              <a:extLst>
                <a:ext uri="{FF2B5EF4-FFF2-40B4-BE49-F238E27FC236}">
                  <a16:creationId xmlns:a16="http://schemas.microsoft.com/office/drawing/2014/main" id="{0E2BE8AB-0851-1662-D1F0-5BCAA16D5151}"/>
                </a:ext>
              </a:extLst>
            </p:cNvPr>
            <p:cNvSpPr txBox="1"/>
            <p:nvPr/>
          </p:nvSpPr>
          <p:spPr>
            <a:xfrm>
              <a:off x="0" y="-19050"/>
              <a:ext cx="2589314" cy="2728383"/>
            </a:xfrm>
            <a:prstGeom prst="rect">
              <a:avLst/>
            </a:prstGeom>
            <a:noFill/>
            <a:ln>
              <a:noFill/>
            </a:ln>
          </p:spPr>
          <p:txBody>
            <a:bodyPr spcFirstLastPara="1" wrap="square" lIns="50800" tIns="50800" rIns="50800" bIns="50800" anchor="ctr" anchorCtr="0">
              <a:noAutofit/>
            </a:bodyPr>
            <a:lstStyle/>
            <a:p>
              <a:pPr marL="0" marR="0" lvl="0" indent="0" algn="ctr" rtl="0">
                <a:lnSpc>
                  <a:spcPct val="151666"/>
                </a:lnSpc>
                <a:spcBef>
                  <a:spcPts val="0"/>
                </a:spcBef>
                <a:spcAft>
                  <a:spcPts val="0"/>
                </a:spcAft>
                <a:buNone/>
              </a:pPr>
              <a:endParaRPr sz="1800" b="0" i="0" u="none" strike="noStrike" cap="none">
                <a:solidFill>
                  <a:schemeClr val="dk1"/>
                </a:solidFill>
                <a:latin typeface="Calibri"/>
                <a:ea typeface="Calibri"/>
                <a:cs typeface="Calibri"/>
                <a:sym typeface="Calibri"/>
              </a:endParaRPr>
            </a:p>
          </p:txBody>
        </p:sp>
      </p:grpSp>
      <p:sp>
        <p:nvSpPr>
          <p:cNvPr id="3" name="Text 0"/>
          <p:cNvSpPr/>
          <p:nvPr/>
        </p:nvSpPr>
        <p:spPr>
          <a:xfrm>
            <a:off x="3302000" y="5588000"/>
            <a:ext cx="17780000" cy="1778000"/>
          </a:xfrm>
          <a:prstGeom prst="rect">
            <a:avLst/>
          </a:prstGeom>
          <a:noFill/>
          <a:ln/>
        </p:spPr>
        <p:txBody>
          <a:bodyPr wrap="none" lIns="0" tIns="0" rIns="0" bIns="0" rtlCol="0" anchor="ctr"/>
          <a:lstStyle/>
          <a:p>
            <a:pPr algn="ctr">
              <a:lnSpc>
                <a:spcPct val="120000"/>
              </a:lnSpc>
            </a:pPr>
            <a:r>
              <a:rPr lang="en-US" sz="12000" b="1" dirty="0">
                <a:solidFill>
                  <a:srgbClr val="FFFFFF"/>
                </a:solidFill>
                <a:latin typeface="Liter" pitchFamily="34" charset="0"/>
                <a:ea typeface="Liter" pitchFamily="34" charset="-122"/>
                <a:cs typeface="Liter" pitchFamily="34" charset="-120"/>
              </a:rPr>
              <a:t>Thank you!</a:t>
            </a:r>
            <a:endParaRPr lang="en-US" sz="12000" dirty="0"/>
          </a:p>
        </p:txBody>
      </p:sp>
      <p:sp>
        <p:nvSpPr>
          <p:cNvPr id="4" name="Text 1"/>
          <p:cNvSpPr/>
          <p:nvPr/>
        </p:nvSpPr>
        <p:spPr>
          <a:xfrm>
            <a:off x="4572000" y="7620000"/>
            <a:ext cx="15240000" cy="762000"/>
          </a:xfrm>
          <a:prstGeom prst="rect">
            <a:avLst/>
          </a:prstGeom>
          <a:noFill/>
          <a:ln/>
        </p:spPr>
        <p:txBody>
          <a:bodyPr wrap="none" lIns="0" tIns="0" rIns="0" bIns="0" rtlCol="0" anchor="ctr"/>
          <a:lstStyle/>
          <a:p>
            <a:pPr algn="ctr">
              <a:lnSpc>
                <a:spcPct val="120000"/>
              </a:lnSpc>
            </a:pPr>
            <a:r>
              <a:rPr lang="en-US" sz="3600" dirty="0">
                <a:solidFill>
                  <a:srgbClr val="FFFFFF"/>
                </a:solidFill>
                <a:latin typeface="Quattrocento Sans" pitchFamily="34" charset="0"/>
                <a:ea typeface="Quattrocento Sans" pitchFamily="34" charset="-122"/>
                <a:cs typeface="Quattrocento Sans" pitchFamily="34" charset="-120"/>
              </a:rPr>
              <a:t>Any question?</a:t>
            </a:r>
            <a:endParaRPr lang="en-US" sz="3600" dirty="0"/>
          </a:p>
        </p:txBody>
      </p:sp>
      <p:sp>
        <p:nvSpPr>
          <p:cNvPr id="5" name="Shape 2"/>
          <p:cNvSpPr/>
          <p:nvPr/>
        </p:nvSpPr>
        <p:spPr>
          <a:xfrm>
            <a:off x="10922000" y="8890000"/>
            <a:ext cx="2540000" cy="50800"/>
          </a:xfrm>
          <a:prstGeom prst="rect">
            <a:avLst/>
          </a:prstGeom>
          <a:solidFill>
            <a:srgbClr val="FFFFFF">
              <a:alpha val="37647"/>
            </a:srgbClr>
          </a:solidFill>
          <a:ln/>
        </p:spPr>
        <p:txBody>
          <a:bodyPr/>
          <a:lstStyle/>
          <a:p>
            <a:endParaRPr lang="en-ID"/>
          </a:p>
        </p:txBody>
      </p:sp>
      <p:pic>
        <p:nvPicPr>
          <p:cNvPr id="15" name="Image 1" descr="https://kimi-img.moonshot.cn/pub/slides/okc/h44u3mrm4tle6/mnt/agents/output/converted/images/image_2.jpg">
            <a:extLst>
              <a:ext uri="{FF2B5EF4-FFF2-40B4-BE49-F238E27FC236}">
                <a16:creationId xmlns:a16="http://schemas.microsoft.com/office/drawing/2014/main" id="{2DCE4F3C-F494-A2BF-84FC-B5A6741D1B49}"/>
              </a:ext>
            </a:extLst>
          </p:cNvPr>
          <p:cNvPicPr>
            <a:picLocks noChangeAspect="1"/>
          </p:cNvPicPr>
          <p:nvPr/>
        </p:nvPicPr>
        <p:blipFill>
          <a:blip r:embed="rId3"/>
          <a:srcRect/>
          <a:stretch/>
        </p:blipFill>
        <p:spPr>
          <a:xfrm>
            <a:off x="21662571" y="435429"/>
            <a:ext cx="2286000" cy="1143000"/>
          </a:xfrm>
          <a:prstGeom prst="rect">
            <a:avLst/>
          </a:prstGeom>
        </p:spPr>
      </p:pic>
    </p:spTree>
  </p:cSld>
  <p:clrMapOvr>
    <a:masterClrMapping/>
  </p:clrMapOvr>
  <p:transition>
    <p:fade/>
  </p:transition>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443</TotalTime>
  <Words>8792</Words>
  <Application>Microsoft Macintosh PowerPoint</Application>
  <PresentationFormat>Custom</PresentationFormat>
  <Paragraphs>1186</Paragraphs>
  <Slides>70</Slides>
  <Notes>43</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70</vt:i4>
      </vt:variant>
    </vt:vector>
  </HeadingPairs>
  <TitlesOfParts>
    <vt:vector size="77" baseType="lpstr">
      <vt:lpstr>Arial</vt:lpstr>
      <vt:lpstr>Consolas</vt:lpstr>
      <vt:lpstr>Liter</vt:lpstr>
      <vt:lpstr>Menlo</vt:lpstr>
      <vt:lpstr>Calibri</vt:lpstr>
      <vt:lpstr>Quattrocento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Moonshot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Pusilkom UI Training Bootcamp Data Analytics, AI, dan Big Data</dc:title>
  <dc:subject>Pusilkom UI Training Bootcamp Data Analytics, AI, dan Big Data</dc:subject>
  <dc:creator>Kimi</dc:creator>
  <cp:lastModifiedBy>Made Harta</cp:lastModifiedBy>
  <cp:revision>52</cp:revision>
  <dcterms:created xsi:type="dcterms:W3CDTF">2026-06-30T03:03:03Z</dcterms:created>
  <dcterms:modified xsi:type="dcterms:W3CDTF">2026-09-20T10:37:49Z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{"Label":"Pusilkom UI Training Bootcamp Data Analytics, AI, dan Big Data","ContentProducer":"001191110108MACG2KBH8F10000","ProduceID":"19f1654a-1dd2-8d63-8000-00002e0d93c0","ReservedCode1":"","ContentPropagator":"001191110108MACG2KBH8F20000","PropagateID":"19f164f6-d1a2-8017-8000-094b092ed10c","ReservedCode2":""}</vt:lpwstr>
  </property>
</Properties>
</file>